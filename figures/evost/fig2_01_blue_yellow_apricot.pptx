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9715500"/>
  <p:notesSz cx="6858000" cy="9144000"/>
  <p:embeddedFontLst>
    <p:embeddedFont>
      <p:font typeface="等线" panose="02010600030101010101" pitchFamily="2" charset="-122"/>
      <p:regular r:id="rId4"/>
      <p:bold r:id="rId5"/>
    </p:embeddedFont>
    <p:embeddedFont>
      <p:font typeface="Canva Sans" panose="020B0503030501040103" pitchFamily="3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0" autoAdjust="0"/>
    <p:restoredTop sz="94616" autoAdjust="0"/>
  </p:normalViewPr>
  <p:slideViewPr>
    <p:cSldViewPr>
      <p:cViewPr>
        <p:scale>
          <a:sx n="156" d="100"/>
          <a:sy n="156" d="100"/>
        </p:scale>
        <p:origin x="144" y="-5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FE5C8-9314-C84D-AC51-9186B9C9FF15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ACF9B-7F41-6140-9E2F-F4D5945A5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6478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EvoST method, aligned with the g41 all-sensor handover and 2026-10-18 abstract brief. Shared weights theta remain frozen. Mature identity refresh uses 2,048 recent labelled windows, including 512 held out for early stopping. Newly arrived sensors borrow five behaviour-nearest mature identities from post-arrival observations without training. At stream window 1,024, ALL identity rows (K union U) are refitted using the latest 1,024 released windows; ALL calibrators are reinitialized from base forecasts recomputed with the refitted identities. No cross-fitting. RLS, not the identities, receives the every-64-window streaming updates. H=12; predictions precede label release. Two distinct identity write paths show immediate new-row borrowing and the subsequent all-row refit. The existing mature-row refresh path remains. Paper Libertine/newtxmath formulas are native vector glyph groups with TeX in descriptions. All algorithm flow connectors are horizontal or vertical. No bitmap illustrations.</a:t>
            </a:r>
          </a:p>
          <a:p>
            <a:r>
              <a:t>Palette 01 — 蓝 × 奶黄 × 杏桃. 蓝色共享权重、奶黄色身份模块、杏桃色校准，柔粉色突出全部传感器的重拟合。</a:t>
            </a:r>
          </a:p>
          <a:p>
            <a:r>
              <a:t>Reference colours applied to panels, inner module cards, feature headers, matrices, nodes and update paths. The reference paper methods, layout and artwork were not copied.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ACF9B-7F41-6140-9E2F-F4D5945A5A3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9211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7750" y="5762146"/>
            <a:ext cx="2987535" cy="2924654"/>
            <a:chOff x="0" y="0"/>
            <a:chExt cx="786845" cy="7700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6845" cy="770019"/>
            </a:xfrm>
            <a:custGeom>
              <a:avLst/>
              <a:gdLst/>
              <a:ahLst/>
              <a:cxnLst/>
              <a:rect l="l" t="t" r="r" b="b"/>
              <a:pathLst>
                <a:path w="786845" h="770019">
                  <a:moveTo>
                    <a:pt x="786845" y="25914"/>
                  </a:moveTo>
                  <a:lnTo>
                    <a:pt x="786845" y="744105"/>
                  </a:lnTo>
                  <a:cubicBezTo>
                    <a:pt x="786845" y="758417"/>
                    <a:pt x="775243" y="770019"/>
                    <a:pt x="760931" y="770019"/>
                  </a:cubicBezTo>
                  <a:lnTo>
                    <a:pt x="25914" y="770019"/>
                  </a:lnTo>
                  <a:cubicBezTo>
                    <a:pt x="11602" y="770019"/>
                    <a:pt x="0" y="758417"/>
                    <a:pt x="0" y="744105"/>
                  </a:cubicBezTo>
                  <a:lnTo>
                    <a:pt x="0" y="25914"/>
                  </a:lnTo>
                  <a:cubicBezTo>
                    <a:pt x="0" y="11602"/>
                    <a:pt x="11602" y="0"/>
                    <a:pt x="25914" y="0"/>
                  </a:cubicBezTo>
                  <a:lnTo>
                    <a:pt x="760931" y="0"/>
                  </a:lnTo>
                  <a:cubicBezTo>
                    <a:pt x="775243" y="0"/>
                    <a:pt x="786845" y="11602"/>
                    <a:pt x="786845" y="25914"/>
                  </a:cubicBezTo>
                  <a:close/>
                </a:path>
              </a:pathLst>
            </a:custGeom>
            <a:solidFill>
              <a:srgbClr val="EDF5E7">
                <a:alpha val="69804"/>
              </a:srgbClr>
            </a:solidFill>
            <a:ln cap="sq">
              <a:noFill/>
              <a:prstDash val="solid"/>
              <a:miter/>
            </a:ln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86845" cy="808119"/>
            </a:xfrm>
            <a:prstGeom prst="rect">
              <a:avLst/>
            </a:prstGeom>
            <a:effectLst/>
          </p:spPr>
          <p:txBody>
            <a:bodyPr wrap="none" lIns="50800" tIns="50800" rIns="50800" bIns="50800" rtlCol="0" anchor="ctr">
              <a:no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272C">
                      <a:alpha val="69804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7750" y="526913"/>
            <a:ext cx="2987535" cy="1923713"/>
            <a:chOff x="0" y="0"/>
            <a:chExt cx="786845" cy="5064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86845" cy="506486"/>
            </a:xfrm>
            <a:custGeom>
              <a:avLst/>
              <a:gdLst/>
              <a:ahLst/>
              <a:cxnLst/>
              <a:rect l="l" t="t" r="r" b="b"/>
              <a:pathLst>
                <a:path w="786845" h="506486">
                  <a:moveTo>
                    <a:pt x="786845" y="25914"/>
                  </a:moveTo>
                  <a:lnTo>
                    <a:pt x="786845" y="480571"/>
                  </a:lnTo>
                  <a:cubicBezTo>
                    <a:pt x="786845" y="494883"/>
                    <a:pt x="775243" y="506486"/>
                    <a:pt x="760931" y="506486"/>
                  </a:cubicBezTo>
                  <a:lnTo>
                    <a:pt x="25914" y="506486"/>
                  </a:lnTo>
                  <a:cubicBezTo>
                    <a:pt x="11602" y="506486"/>
                    <a:pt x="0" y="494883"/>
                    <a:pt x="0" y="480571"/>
                  </a:cubicBezTo>
                  <a:lnTo>
                    <a:pt x="0" y="25914"/>
                  </a:lnTo>
                  <a:cubicBezTo>
                    <a:pt x="0" y="11602"/>
                    <a:pt x="11602" y="0"/>
                    <a:pt x="25914" y="0"/>
                  </a:cubicBezTo>
                  <a:lnTo>
                    <a:pt x="760931" y="0"/>
                  </a:lnTo>
                  <a:cubicBezTo>
                    <a:pt x="775243" y="0"/>
                    <a:pt x="786845" y="11602"/>
                    <a:pt x="786845" y="25914"/>
                  </a:cubicBezTo>
                  <a:close/>
                </a:path>
              </a:pathLst>
            </a:custGeom>
            <a:solidFill>
              <a:srgbClr val="F2F7FA">
                <a:alpha val="69804"/>
              </a:srgbClr>
            </a:solidFill>
            <a:ln cap="sq">
              <a:noFill/>
              <a:prstDash val="solid"/>
              <a:miter/>
            </a:ln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86845" cy="544586"/>
            </a:xfrm>
            <a:prstGeom prst="rect">
              <a:avLst/>
            </a:prstGeom>
            <a:effectLst/>
          </p:spPr>
          <p:txBody>
            <a:bodyPr wrap="none" lIns="50800" tIns="50800" rIns="50800" bIns="50800" rtlCol="0" anchor="ctr">
              <a:no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272C">
                      <a:alpha val="69804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65977" y="1063156"/>
            <a:ext cx="857118" cy="706810"/>
            <a:chOff x="0" y="0"/>
            <a:chExt cx="225744" cy="1860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5744" cy="186093"/>
            </a:xfrm>
            <a:custGeom>
              <a:avLst/>
              <a:gdLst/>
              <a:ahLst/>
              <a:cxnLst/>
              <a:rect l="l" t="t" r="r" b="b"/>
              <a:pathLst>
                <a:path w="225744" h="186093">
                  <a:moveTo>
                    <a:pt x="225744" y="45163"/>
                  </a:moveTo>
                  <a:lnTo>
                    <a:pt x="225744" y="140930"/>
                  </a:lnTo>
                  <a:cubicBezTo>
                    <a:pt x="225744" y="165873"/>
                    <a:pt x="205524" y="186093"/>
                    <a:pt x="180582" y="186093"/>
                  </a:cubicBezTo>
                  <a:lnTo>
                    <a:pt x="45163" y="186093"/>
                  </a:lnTo>
                  <a:cubicBezTo>
                    <a:pt x="20220" y="186093"/>
                    <a:pt x="0" y="165873"/>
                    <a:pt x="0" y="140930"/>
                  </a:cubicBezTo>
                  <a:lnTo>
                    <a:pt x="0" y="45163"/>
                  </a:lnTo>
                  <a:cubicBezTo>
                    <a:pt x="0" y="20220"/>
                    <a:pt x="20220" y="0"/>
                    <a:pt x="45163" y="0"/>
                  </a:cubicBezTo>
                  <a:lnTo>
                    <a:pt x="180582" y="0"/>
                  </a:lnTo>
                  <a:cubicBezTo>
                    <a:pt x="205524" y="0"/>
                    <a:pt x="225744" y="20220"/>
                    <a:pt x="225744" y="451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45B66"/>
              </a:solidFill>
              <a:prstDash val="dash"/>
              <a:miter/>
            </a:ln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5744" cy="224193"/>
            </a:xfrm>
            <a:prstGeom prst="rect">
              <a:avLst/>
            </a:prstGeom>
            <a:effectLst/>
          </p:spPr>
          <p:txBody>
            <a:bodyPr wrap="none" lIns="50800" tIns="50800" rIns="50800" bIns="50800" rtlCol="0" anchor="ctr">
              <a:no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272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grpSp>
        <p:nvGrpSpPr>
          <p:cNvPr id="11" name="Group 12"/>
          <p:cNvGrpSpPr/>
          <p:nvPr/>
        </p:nvGrpSpPr>
        <p:grpSpPr>
          <a:xfrm>
            <a:off x="777750" y="3029669"/>
            <a:ext cx="2987535" cy="2232598"/>
            <a:chOff x="0" y="0"/>
            <a:chExt cx="786845" cy="587811"/>
          </a:xfrm>
        </p:grpSpPr>
        <p:sp>
          <p:nvSpPr>
            <p:cNvPr id="12" name="Freeform 13"/>
            <p:cNvSpPr/>
            <p:nvPr/>
          </p:nvSpPr>
          <p:spPr>
            <a:xfrm>
              <a:off x="0" y="0"/>
              <a:ext cx="786845" cy="587811"/>
            </a:xfrm>
            <a:custGeom>
              <a:avLst/>
              <a:gdLst/>
              <a:ahLst/>
              <a:cxnLst/>
              <a:rect l="l" t="t" r="r" b="b"/>
              <a:pathLst>
                <a:path w="786845" h="587811">
                  <a:moveTo>
                    <a:pt x="786845" y="25914"/>
                  </a:moveTo>
                  <a:lnTo>
                    <a:pt x="786845" y="561896"/>
                  </a:lnTo>
                  <a:cubicBezTo>
                    <a:pt x="786845" y="576208"/>
                    <a:pt x="775243" y="587811"/>
                    <a:pt x="760931" y="587811"/>
                  </a:cubicBezTo>
                  <a:lnTo>
                    <a:pt x="25914" y="587811"/>
                  </a:lnTo>
                  <a:cubicBezTo>
                    <a:pt x="11602" y="587811"/>
                    <a:pt x="0" y="576208"/>
                    <a:pt x="0" y="561896"/>
                  </a:cubicBezTo>
                  <a:lnTo>
                    <a:pt x="0" y="25914"/>
                  </a:lnTo>
                  <a:cubicBezTo>
                    <a:pt x="0" y="11602"/>
                    <a:pt x="11602" y="0"/>
                    <a:pt x="25914" y="0"/>
                  </a:cubicBezTo>
                  <a:lnTo>
                    <a:pt x="760931" y="0"/>
                  </a:lnTo>
                  <a:cubicBezTo>
                    <a:pt x="775243" y="0"/>
                    <a:pt x="786845" y="11602"/>
                    <a:pt x="786845" y="25914"/>
                  </a:cubicBezTo>
                  <a:close/>
                </a:path>
              </a:pathLst>
            </a:custGeom>
            <a:solidFill>
              <a:srgbClr val="FFF9E6">
                <a:alpha val="80000"/>
              </a:srgbClr>
            </a:solidFill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  <p:sp>
          <p:nvSpPr>
            <p:cNvPr id="13" name="TextBox 14"/>
            <p:cNvSpPr txBox="1"/>
            <p:nvPr/>
          </p:nvSpPr>
          <p:spPr>
            <a:xfrm>
              <a:off x="0" y="-38100"/>
              <a:ext cx="786845" cy="625911"/>
            </a:xfrm>
            <a:prstGeom prst="rect">
              <a:avLst/>
            </a:prstGeom>
            <a:effectLst/>
          </p:spPr>
          <p:txBody>
            <a:bodyPr wrap="none" lIns="50800" tIns="50800" rIns="50800" bIns="50800" rtlCol="0" anchor="ctr">
              <a:no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272C">
                      <a:alpha val="8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1475756" y="4520177"/>
            <a:ext cx="1761479" cy="517971"/>
            <a:chOff x="0" y="0"/>
            <a:chExt cx="2348638" cy="690628"/>
          </a:xfrm>
        </p:grpSpPr>
        <p:grpSp>
          <p:nvGrpSpPr>
            <p:cNvPr id="15" name="Editable vector · Freeform 54"/>
            <p:cNvGrpSpPr/>
            <p:nvPr/>
          </p:nvGrpSpPr>
          <p:grpSpPr>
            <a:xfrm>
              <a:off x="305642" y="0"/>
              <a:ext cx="792898" cy="451952"/>
              <a:chOff x="0" y="0"/>
              <a:chExt cx="792898" cy="451952"/>
            </a:xfrm>
          </p:grpSpPr>
          <p:sp>
            <p:nvSpPr>
              <p:cNvPr id="16" name="Freeform 54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7" name="Freeform 54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8" name="Freeform 54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9" name="Freeform 54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0" name="Freeform 54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1" name="Freeform 54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2" name="Freeform 54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23" name="Freeform 54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4" name="Freeform 54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25" name="Freeform 54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6" name="Freeform 54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7" name="Freeform 54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8" name="Freeform 54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29" name="Freeform 54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30" name="Editable vector · Freeform 55"/>
            <p:cNvGrpSpPr/>
            <p:nvPr/>
          </p:nvGrpSpPr>
          <p:grpSpPr>
            <a:xfrm>
              <a:off x="923089" y="0"/>
              <a:ext cx="792898" cy="451952"/>
              <a:chOff x="0" y="0"/>
              <a:chExt cx="792898" cy="451952"/>
            </a:xfrm>
          </p:grpSpPr>
          <p:sp>
            <p:nvSpPr>
              <p:cNvPr id="31" name="Freeform 55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2" name="Freeform 55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3" name="Freeform 55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34" name="Freeform 55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5" name="Freeform 55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36" name="Freeform 55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7" name="Freeform 55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38" name="Freeform 55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9" name="Freeform 55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40" name="Freeform 55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1" name="Freeform 55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2" name="Freeform 55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3" name="Freeform 55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44" name="Freeform 55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45" name="Editable vector · Freeform 56"/>
            <p:cNvGrpSpPr/>
            <p:nvPr/>
          </p:nvGrpSpPr>
          <p:grpSpPr>
            <a:xfrm>
              <a:off x="1555740" y="0"/>
              <a:ext cx="792898" cy="451952"/>
              <a:chOff x="0" y="0"/>
              <a:chExt cx="792898" cy="451952"/>
            </a:xfrm>
          </p:grpSpPr>
          <p:sp>
            <p:nvSpPr>
              <p:cNvPr id="46" name="Freeform 56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7" name="Freeform 56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8" name="Freeform 56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49" name="Freeform 56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50" name="Freeform 56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51" name="Freeform 56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52" name="Freeform 56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53" name="Freeform 56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54" name="Freeform 56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55" name="Freeform 56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56" name="Freeform 56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57" name="Freeform 56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58" name="Freeform 56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59" name="Freeform 56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60" name="Editable vector · Freeform 57"/>
            <p:cNvGrpSpPr/>
            <p:nvPr/>
          </p:nvGrpSpPr>
          <p:grpSpPr>
            <a:xfrm>
              <a:off x="146722" y="123657"/>
              <a:ext cx="792898" cy="451952"/>
              <a:chOff x="0" y="0"/>
              <a:chExt cx="792898" cy="451952"/>
            </a:xfrm>
          </p:grpSpPr>
          <p:sp>
            <p:nvSpPr>
              <p:cNvPr id="61" name="Freeform 57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2" name="Freeform 57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3" name="Freeform 57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4" name="Freeform 57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5" name="Freeform 57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6" name="Freeform 57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7" name="Freeform 57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68" name="Freeform 57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9" name="Freeform 57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70" name="Freeform 57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1" name="Freeform 57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72" name="Freeform 57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3" name="Freeform 57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74" name="Freeform 57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75" name="Editable vector · Freeform 58"/>
            <p:cNvGrpSpPr/>
            <p:nvPr/>
          </p:nvGrpSpPr>
          <p:grpSpPr>
            <a:xfrm>
              <a:off x="775222" y="123657"/>
              <a:ext cx="792898" cy="451952"/>
              <a:chOff x="0" y="0"/>
              <a:chExt cx="792898" cy="451952"/>
            </a:xfrm>
          </p:grpSpPr>
          <p:sp>
            <p:nvSpPr>
              <p:cNvPr id="76" name="Freeform 58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7" name="Freeform 58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8" name="Freeform 58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79" name="Freeform 58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0" name="Freeform 58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1" name="Freeform 58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2" name="Freeform 58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83" name="Freeform 58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4" name="Freeform 58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5" name="Freeform 58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6" name="Freeform 58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7" name="Freeform 58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8" name="Freeform 58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89" name="Freeform 58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90" name="Editable vector · Freeform 59"/>
            <p:cNvGrpSpPr/>
            <p:nvPr/>
          </p:nvGrpSpPr>
          <p:grpSpPr>
            <a:xfrm>
              <a:off x="1400271" y="123657"/>
              <a:ext cx="792898" cy="451952"/>
              <a:chOff x="0" y="0"/>
              <a:chExt cx="792898" cy="451952"/>
            </a:xfrm>
          </p:grpSpPr>
          <p:sp>
            <p:nvSpPr>
              <p:cNvPr id="91" name="Freeform 59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92" name="Freeform 59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93" name="Freeform 59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94" name="Freeform 59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95" name="Freeform 59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96" name="Freeform 59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97" name="Freeform 59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98" name="Freeform 59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99" name="Freeform 59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0" name="Freeform 59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1" name="Freeform 59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2" name="Freeform 59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3" name="Freeform 59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04" name="Freeform 59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105" name="Editable vector · Freeform 60"/>
            <p:cNvGrpSpPr/>
            <p:nvPr/>
          </p:nvGrpSpPr>
          <p:grpSpPr>
            <a:xfrm>
              <a:off x="0" y="238676"/>
              <a:ext cx="792898" cy="451952"/>
              <a:chOff x="0" y="0"/>
              <a:chExt cx="792898" cy="451952"/>
            </a:xfrm>
          </p:grpSpPr>
          <p:sp>
            <p:nvSpPr>
              <p:cNvPr id="106" name="Freeform 60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7" name="Freeform 60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8" name="Freeform 60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9" name="Freeform 60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0" name="Freeform 60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11" name="Freeform 60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2" name="Freeform 60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13" name="Freeform 60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4" name="Freeform 60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15" name="Freeform 60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6" name="Freeform 60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17" name="Freeform 60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8" name="Freeform 60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19" name="Freeform 60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120" name="Editable vector · Freeform 61"/>
            <p:cNvGrpSpPr/>
            <p:nvPr/>
          </p:nvGrpSpPr>
          <p:grpSpPr>
            <a:xfrm>
              <a:off x="623056" y="238676"/>
              <a:ext cx="792898" cy="451952"/>
              <a:chOff x="0" y="0"/>
              <a:chExt cx="792898" cy="451952"/>
            </a:xfrm>
          </p:grpSpPr>
          <p:sp>
            <p:nvSpPr>
              <p:cNvPr id="121" name="Freeform 61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22" name="Freeform 61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23" name="Freeform 61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24" name="Freeform 61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25" name="Freeform 61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26" name="Freeform 61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27" name="Freeform 61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28" name="Freeform 61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29" name="Freeform 61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30" name="Freeform 61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31" name="Freeform 61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32" name="Freeform 61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33" name="Freeform 61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34" name="Freeform 61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135" name="Editable vector · Freeform 62"/>
            <p:cNvGrpSpPr/>
            <p:nvPr/>
          </p:nvGrpSpPr>
          <p:grpSpPr>
            <a:xfrm>
              <a:off x="1261947" y="238676"/>
              <a:ext cx="792898" cy="451952"/>
              <a:chOff x="0" y="0"/>
              <a:chExt cx="792898" cy="451952"/>
            </a:xfrm>
          </p:grpSpPr>
          <p:sp>
            <p:nvSpPr>
              <p:cNvPr id="136" name="Freeform 62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37" name="Freeform 62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38" name="Freeform 62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39" name="Freeform 62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0" name="Freeform 62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41" name="Freeform 62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2" name="Freeform 62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43" name="Freeform 62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4" name="Freeform 62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45" name="Freeform 62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6" name="Freeform 62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47" name="Freeform 62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8" name="Freeform 62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49" name="Freeform 62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</p:grpSp>
      <p:grpSp>
        <p:nvGrpSpPr>
          <p:cNvPr id="150" name="Group 63"/>
          <p:cNvGrpSpPr/>
          <p:nvPr/>
        </p:nvGrpSpPr>
        <p:grpSpPr>
          <a:xfrm>
            <a:off x="1474824" y="4111449"/>
            <a:ext cx="1761479" cy="517971"/>
            <a:chOff x="0" y="0"/>
            <a:chExt cx="2348638" cy="690628"/>
          </a:xfrm>
        </p:grpSpPr>
        <p:grpSp>
          <p:nvGrpSpPr>
            <p:cNvPr id="151" name="Editable vector · Freeform 64"/>
            <p:cNvGrpSpPr/>
            <p:nvPr/>
          </p:nvGrpSpPr>
          <p:grpSpPr>
            <a:xfrm>
              <a:off x="305642" y="0"/>
              <a:ext cx="792898" cy="451952"/>
              <a:chOff x="0" y="0"/>
              <a:chExt cx="792898" cy="451952"/>
            </a:xfrm>
          </p:grpSpPr>
          <p:sp>
            <p:nvSpPr>
              <p:cNvPr id="152" name="Freeform 64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53" name="Freeform 64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54" name="Freeform 64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55" name="Freeform 64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56" name="Freeform 64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57" name="Freeform 64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58" name="Freeform 64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59" name="Freeform 64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60" name="Freeform 64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61" name="Freeform 64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62" name="Freeform 64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63" name="Freeform 64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64" name="Freeform 64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65" name="Freeform 64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66" name="Editable vector · Freeform 65"/>
            <p:cNvGrpSpPr/>
            <p:nvPr/>
          </p:nvGrpSpPr>
          <p:grpSpPr>
            <a:xfrm>
              <a:off x="923089" y="0"/>
              <a:ext cx="792898" cy="451952"/>
              <a:chOff x="0" y="0"/>
              <a:chExt cx="792898" cy="451952"/>
            </a:xfrm>
          </p:grpSpPr>
          <p:sp>
            <p:nvSpPr>
              <p:cNvPr id="167" name="Freeform 65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68" name="Freeform 65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69" name="Freeform 65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70" name="Freeform 65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71" name="Freeform 65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72" name="Freeform 65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73" name="Freeform 65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74" name="Freeform 65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75" name="Freeform 65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76" name="Freeform 65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77" name="Freeform 65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78" name="Freeform 65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79" name="Freeform 65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80" name="Freeform 65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81" name="Editable vector · Freeform 66"/>
            <p:cNvGrpSpPr/>
            <p:nvPr/>
          </p:nvGrpSpPr>
          <p:grpSpPr>
            <a:xfrm>
              <a:off x="1555740" y="0"/>
              <a:ext cx="792898" cy="451952"/>
              <a:chOff x="0" y="0"/>
              <a:chExt cx="792898" cy="451952"/>
            </a:xfrm>
          </p:grpSpPr>
          <p:sp>
            <p:nvSpPr>
              <p:cNvPr id="182" name="Freeform 66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83" name="Freeform 66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84" name="Freeform 66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85" name="Freeform 66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86" name="Freeform 66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87" name="Freeform 66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88" name="Freeform 66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89" name="Freeform 66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90" name="Freeform 66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91" name="Freeform 66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92" name="Freeform 66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93" name="Freeform 66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94" name="Freeform 66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95" name="Freeform 66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96" name="Editable vector · Freeform 67"/>
            <p:cNvGrpSpPr/>
            <p:nvPr/>
          </p:nvGrpSpPr>
          <p:grpSpPr>
            <a:xfrm>
              <a:off x="146722" y="123657"/>
              <a:ext cx="792898" cy="451952"/>
              <a:chOff x="0" y="0"/>
              <a:chExt cx="792898" cy="451952"/>
            </a:xfrm>
          </p:grpSpPr>
          <p:sp>
            <p:nvSpPr>
              <p:cNvPr id="197" name="Freeform 67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98" name="Freeform 67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99" name="Freeform 67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00" name="Freeform 67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01" name="Freeform 67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02" name="Freeform 67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03" name="Freeform 67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204" name="Freeform 67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05" name="Freeform 67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06" name="Freeform 67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07" name="Freeform 67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08" name="Freeform 67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09" name="Freeform 67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210" name="Freeform 67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211" name="Editable vector · Freeform 68"/>
            <p:cNvGrpSpPr/>
            <p:nvPr/>
          </p:nvGrpSpPr>
          <p:grpSpPr>
            <a:xfrm>
              <a:off x="775222" y="123657"/>
              <a:ext cx="792898" cy="451952"/>
              <a:chOff x="0" y="0"/>
              <a:chExt cx="792898" cy="451952"/>
            </a:xfrm>
          </p:grpSpPr>
          <p:sp>
            <p:nvSpPr>
              <p:cNvPr id="212" name="Freeform 68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13" name="Freeform 68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14" name="Freeform 68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15" name="Freeform 68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16" name="Freeform 68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17" name="Freeform 68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18" name="Freeform 68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219" name="Freeform 68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20" name="Freeform 68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21" name="Freeform 68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22" name="Freeform 68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23" name="Freeform 68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24" name="Freeform 68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225" name="Freeform 68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226" name="Editable vector · Freeform 69"/>
            <p:cNvGrpSpPr/>
            <p:nvPr/>
          </p:nvGrpSpPr>
          <p:grpSpPr>
            <a:xfrm>
              <a:off x="1400271" y="123657"/>
              <a:ext cx="792898" cy="451952"/>
              <a:chOff x="0" y="0"/>
              <a:chExt cx="792898" cy="451952"/>
            </a:xfrm>
          </p:grpSpPr>
          <p:sp>
            <p:nvSpPr>
              <p:cNvPr id="227" name="Freeform 69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28" name="Freeform 69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29" name="Freeform 69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30" name="Freeform 69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31" name="Freeform 69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32" name="Freeform 69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33" name="Freeform 69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234" name="Freeform 69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35" name="Freeform 69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36" name="Freeform 69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37" name="Freeform 69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238" name="Freeform 69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239" name="Freeform 69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240" name="Freeform 69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241" name="Editable vector · Freeform 70"/>
            <p:cNvGrpSpPr/>
            <p:nvPr/>
          </p:nvGrpSpPr>
          <p:grpSpPr>
            <a:xfrm>
              <a:off x="0" y="238676"/>
              <a:ext cx="792898" cy="451952"/>
              <a:chOff x="0" y="0"/>
              <a:chExt cx="792898" cy="451952"/>
            </a:xfrm>
          </p:grpSpPr>
          <p:sp>
            <p:nvSpPr>
              <p:cNvPr id="242" name="Freeform 70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43" name="Freeform 70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44" name="Freeform 70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45" name="Freeform 70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46" name="Freeform 70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247" name="Freeform 70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48" name="Freeform 70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249" name="Freeform 70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50" name="Freeform 70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51" name="Freeform 70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52" name="Freeform 70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253" name="Freeform 70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54" name="Freeform 70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255" name="Freeform 70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256" name="Editable vector · Freeform 71"/>
            <p:cNvGrpSpPr/>
            <p:nvPr/>
          </p:nvGrpSpPr>
          <p:grpSpPr>
            <a:xfrm>
              <a:off x="623056" y="238676"/>
              <a:ext cx="792898" cy="451952"/>
              <a:chOff x="0" y="0"/>
              <a:chExt cx="792898" cy="451952"/>
            </a:xfrm>
          </p:grpSpPr>
          <p:sp>
            <p:nvSpPr>
              <p:cNvPr id="257" name="Freeform 71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58" name="Freeform 71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59" name="Freeform 71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60" name="Freeform 71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61" name="Freeform 71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262" name="Freeform 71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63" name="Freeform 71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264" name="Freeform 71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65" name="Freeform 71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66" name="Freeform 71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67" name="Freeform 71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268" name="Freeform 71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69" name="Freeform 71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270" name="Freeform 71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271" name="Editable vector · Freeform 72"/>
            <p:cNvGrpSpPr/>
            <p:nvPr/>
          </p:nvGrpSpPr>
          <p:grpSpPr>
            <a:xfrm>
              <a:off x="1261947" y="238676"/>
              <a:ext cx="792898" cy="451952"/>
              <a:chOff x="0" y="0"/>
              <a:chExt cx="792898" cy="451952"/>
            </a:xfrm>
          </p:grpSpPr>
          <p:sp>
            <p:nvSpPr>
              <p:cNvPr id="272" name="Freeform 72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73" name="Freeform 72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74" name="Freeform 72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75" name="Freeform 72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76" name="Freeform 72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277" name="Freeform 72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78" name="Freeform 72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279" name="Freeform 72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80" name="Freeform 72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81" name="Freeform 72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82" name="Freeform 72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283" name="Freeform 72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284" name="Freeform 72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285" name="Freeform 72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</p:grpSp>
      <p:grpSp>
        <p:nvGrpSpPr>
          <p:cNvPr id="286" name="Group 73"/>
          <p:cNvGrpSpPr/>
          <p:nvPr/>
        </p:nvGrpSpPr>
        <p:grpSpPr>
          <a:xfrm>
            <a:off x="1474824" y="3715398"/>
            <a:ext cx="1761479" cy="517971"/>
            <a:chOff x="0" y="0"/>
            <a:chExt cx="2348638" cy="690628"/>
          </a:xfrm>
        </p:grpSpPr>
        <p:grpSp>
          <p:nvGrpSpPr>
            <p:cNvPr id="287" name="Editable vector · Freeform 74"/>
            <p:cNvGrpSpPr/>
            <p:nvPr/>
          </p:nvGrpSpPr>
          <p:grpSpPr>
            <a:xfrm>
              <a:off x="305642" y="0"/>
              <a:ext cx="792898" cy="451952"/>
              <a:chOff x="0" y="0"/>
              <a:chExt cx="792898" cy="451952"/>
            </a:xfrm>
          </p:grpSpPr>
          <p:sp>
            <p:nvSpPr>
              <p:cNvPr id="288" name="Freeform 74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89" name="Freeform 74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90" name="Freeform 74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291" name="Freeform 74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92" name="Freeform 74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93" name="Freeform 74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94" name="Freeform 74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295" name="Freeform 74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96" name="Freeform 74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297" name="Freeform 74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298" name="Freeform 74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299" name="Freeform 74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00" name="Freeform 74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301" name="Freeform 74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302" name="Editable vector · Freeform 75"/>
            <p:cNvGrpSpPr/>
            <p:nvPr/>
          </p:nvGrpSpPr>
          <p:grpSpPr>
            <a:xfrm>
              <a:off x="923089" y="0"/>
              <a:ext cx="792898" cy="451952"/>
              <a:chOff x="0" y="0"/>
              <a:chExt cx="792898" cy="451952"/>
            </a:xfrm>
          </p:grpSpPr>
          <p:sp>
            <p:nvSpPr>
              <p:cNvPr id="303" name="Freeform 75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04" name="Freeform 75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05" name="Freeform 75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306" name="Freeform 75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07" name="Freeform 75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308" name="Freeform 75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09" name="Freeform 75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310" name="Freeform 75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11" name="Freeform 75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312" name="Freeform 75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13" name="Freeform 75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314" name="Freeform 75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15" name="Freeform 75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316" name="Freeform 75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317" name="Editable vector · Freeform 76"/>
            <p:cNvGrpSpPr/>
            <p:nvPr/>
          </p:nvGrpSpPr>
          <p:grpSpPr>
            <a:xfrm>
              <a:off x="1555740" y="0"/>
              <a:ext cx="792898" cy="451952"/>
              <a:chOff x="0" y="0"/>
              <a:chExt cx="792898" cy="451952"/>
            </a:xfrm>
          </p:grpSpPr>
          <p:sp>
            <p:nvSpPr>
              <p:cNvPr id="318" name="Freeform 76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19" name="Freeform 76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20" name="Freeform 76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321" name="Freeform 76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22" name="Freeform 76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323" name="Freeform 76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24" name="Freeform 76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325" name="Freeform 76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26" name="Freeform 76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327" name="Freeform 76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28" name="Freeform 76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329" name="Freeform 76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330" name="Freeform 76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331" name="Freeform 76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332" name="Editable vector · Freeform 77"/>
            <p:cNvGrpSpPr/>
            <p:nvPr/>
          </p:nvGrpSpPr>
          <p:grpSpPr>
            <a:xfrm>
              <a:off x="146722" y="123657"/>
              <a:ext cx="792898" cy="451952"/>
              <a:chOff x="0" y="0"/>
              <a:chExt cx="792898" cy="451952"/>
            </a:xfrm>
          </p:grpSpPr>
          <p:sp>
            <p:nvSpPr>
              <p:cNvPr id="333" name="Freeform 77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34" name="Freeform 77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35" name="Freeform 77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36" name="Freeform 77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37" name="Freeform 77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38" name="Freeform 77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39" name="Freeform 77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340" name="Freeform 77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41" name="Freeform 77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42" name="Freeform 77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43" name="Freeform 77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44" name="Freeform 77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45" name="Freeform 77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346" name="Freeform 77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347" name="Editable vector · Freeform 78"/>
            <p:cNvGrpSpPr/>
            <p:nvPr/>
          </p:nvGrpSpPr>
          <p:grpSpPr>
            <a:xfrm>
              <a:off x="775222" y="123657"/>
              <a:ext cx="792898" cy="451952"/>
              <a:chOff x="0" y="0"/>
              <a:chExt cx="792898" cy="451952"/>
            </a:xfrm>
          </p:grpSpPr>
          <p:sp>
            <p:nvSpPr>
              <p:cNvPr id="348" name="Freeform 78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49" name="Freeform 78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50" name="Freeform 78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51" name="Freeform 78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52" name="Freeform 78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53" name="Freeform 78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54" name="Freeform 78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355" name="Freeform 78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56" name="Freeform 78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57" name="Freeform 78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58" name="Freeform 78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59" name="Freeform 78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60" name="Freeform 78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361" name="Freeform 78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362" name="Editable vector · Freeform 79"/>
            <p:cNvGrpSpPr/>
            <p:nvPr/>
          </p:nvGrpSpPr>
          <p:grpSpPr>
            <a:xfrm>
              <a:off x="1400271" y="123657"/>
              <a:ext cx="792898" cy="451952"/>
              <a:chOff x="0" y="0"/>
              <a:chExt cx="792898" cy="451952"/>
            </a:xfrm>
          </p:grpSpPr>
          <p:sp>
            <p:nvSpPr>
              <p:cNvPr id="363" name="Freeform 79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64" name="Freeform 79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65" name="Freeform 79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66" name="Freeform 79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67" name="Freeform 79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68" name="Freeform 79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69" name="Freeform 79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370" name="Freeform 79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71" name="Freeform 79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72" name="Freeform 79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73" name="Freeform 79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374" name="Freeform 79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375" name="Freeform 79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376" name="Freeform 79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377" name="Editable vector · Freeform 80"/>
            <p:cNvGrpSpPr/>
            <p:nvPr/>
          </p:nvGrpSpPr>
          <p:grpSpPr>
            <a:xfrm>
              <a:off x="0" y="238676"/>
              <a:ext cx="792898" cy="451952"/>
              <a:chOff x="0" y="0"/>
              <a:chExt cx="792898" cy="451952"/>
            </a:xfrm>
          </p:grpSpPr>
          <p:sp>
            <p:nvSpPr>
              <p:cNvPr id="378" name="Freeform 80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79" name="Freeform 80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80" name="Freeform 80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381" name="Freeform 80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82" name="Freeform 80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383" name="Freeform 80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84" name="Freeform 80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385" name="Freeform 80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86" name="Freeform 80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387" name="Freeform 80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88" name="Freeform 80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389" name="Freeform 80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90" name="Freeform 80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391" name="Freeform 80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392" name="Editable vector · Freeform 81"/>
            <p:cNvGrpSpPr/>
            <p:nvPr/>
          </p:nvGrpSpPr>
          <p:grpSpPr>
            <a:xfrm>
              <a:off x="623056" y="238676"/>
              <a:ext cx="792898" cy="451952"/>
              <a:chOff x="0" y="0"/>
              <a:chExt cx="792898" cy="451952"/>
            </a:xfrm>
          </p:grpSpPr>
          <p:sp>
            <p:nvSpPr>
              <p:cNvPr id="393" name="Freeform 81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94" name="Freeform 81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95" name="Freeform 81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396" name="Freeform 81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97" name="Freeform 81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398" name="Freeform 81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399" name="Freeform 81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400" name="Freeform 81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01" name="Freeform 81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02" name="Freeform 81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03" name="Freeform 81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404" name="Freeform 81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05" name="Freeform 81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406" name="Freeform 81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407" name="Editable vector · Freeform 82"/>
            <p:cNvGrpSpPr/>
            <p:nvPr/>
          </p:nvGrpSpPr>
          <p:grpSpPr>
            <a:xfrm>
              <a:off x="1261947" y="238676"/>
              <a:ext cx="792898" cy="451952"/>
              <a:chOff x="0" y="0"/>
              <a:chExt cx="792898" cy="451952"/>
            </a:xfrm>
          </p:grpSpPr>
          <p:sp>
            <p:nvSpPr>
              <p:cNvPr id="408" name="Freeform 82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09" name="Freeform 82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10" name="Freeform 82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11" name="Freeform 82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12" name="Freeform 82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413" name="Freeform 82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14" name="Freeform 82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415" name="Freeform 82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16" name="Freeform 82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17" name="Freeform 82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18" name="Freeform 82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419" name="Freeform 82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420" name="Freeform 82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421" name="Freeform 82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</p:grpSp>
      <p:grpSp>
        <p:nvGrpSpPr>
          <p:cNvPr id="422" name="Group 104"/>
          <p:cNvGrpSpPr/>
          <p:nvPr/>
        </p:nvGrpSpPr>
        <p:grpSpPr>
          <a:xfrm>
            <a:off x="916733" y="3450603"/>
            <a:ext cx="1354784" cy="179070"/>
            <a:chOff x="0" y="0"/>
            <a:chExt cx="1806379" cy="238760"/>
          </a:xfrm>
        </p:grpSpPr>
        <p:grpSp>
          <p:nvGrpSpPr>
            <p:cNvPr id="423" name="Group 105"/>
            <p:cNvGrpSpPr/>
            <p:nvPr/>
          </p:nvGrpSpPr>
          <p:grpSpPr>
            <a:xfrm>
              <a:off x="0" y="0"/>
              <a:ext cx="1806379" cy="238760"/>
              <a:chOff x="0" y="0"/>
              <a:chExt cx="311116" cy="41108"/>
            </a:xfrm>
          </p:grpSpPr>
          <p:sp>
            <p:nvSpPr>
              <p:cNvPr id="424" name="Freeform 106"/>
              <p:cNvSpPr/>
              <p:nvPr/>
            </p:nvSpPr>
            <p:spPr>
              <a:xfrm>
                <a:off x="0" y="0"/>
                <a:ext cx="311116" cy="41108"/>
              </a:xfrm>
              <a:custGeom>
                <a:avLst/>
                <a:gdLst/>
                <a:ahLst/>
                <a:cxnLst/>
                <a:rect l="l" t="t" r="r" b="b"/>
                <a:pathLst>
                  <a:path w="311116" h="41108">
                    <a:moveTo>
                      <a:pt x="311116" y="0"/>
                    </a:moveTo>
                    <a:lnTo>
                      <a:pt x="311116" y="41108"/>
                    </a:lnTo>
                    <a:lnTo>
                      <a:pt x="0" y="41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E695"/>
              </a:solidFill>
              <a:effectLst/>
            </p:spPr>
            <p:txBody>
              <a:bodyPr wrap="none">
                <a:noAutofit/>
              </a:bodyPr>
              <a:lstStyle/>
              <a:p>
                <a:endParaRPr/>
              </a:p>
            </p:txBody>
          </p:sp>
          <p:sp>
            <p:nvSpPr>
              <p:cNvPr id="425" name="TextBox 107"/>
              <p:cNvSpPr txBox="1"/>
              <p:nvPr/>
            </p:nvSpPr>
            <p:spPr>
              <a:xfrm>
                <a:off x="0" y="-38100"/>
                <a:ext cx="311116" cy="79208"/>
              </a:xfrm>
              <a:prstGeom prst="rect">
                <a:avLst/>
              </a:prstGeom>
              <a:effectLst/>
            </p:spPr>
            <p:txBody>
              <a:bodyPr wrap="none" lIns="50800" tIns="50800" rIns="50800" bIns="50800" rtlCol="0" anchor="ctr">
                <a:noAutofit/>
              </a:bodyPr>
              <a:lstStyle/>
              <a:p>
                <a:pPr algn="ctr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6" name="TextBox 108"/>
            <p:cNvSpPr txBox="1"/>
            <p:nvPr/>
          </p:nvSpPr>
          <p:spPr>
            <a:xfrm>
              <a:off x="97879" y="-38100"/>
              <a:ext cx="1686821" cy="276860"/>
            </a:xfrm>
            <a:prstGeom prst="rect">
              <a:avLst/>
            </a:prstGeom>
            <a:effectLst/>
          </p:spPr>
          <p:txBody>
            <a:bodyPr wrap="none" lIns="0" tIns="0" rIns="0" bIns="0" rtlCol="0" anchor="t">
              <a:no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2627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Labels Unavailable</a:t>
              </a:r>
            </a:p>
          </p:txBody>
        </p:sp>
      </p:grpSp>
      <p:grpSp>
        <p:nvGrpSpPr>
          <p:cNvPr id="427" name="Group 109"/>
          <p:cNvGrpSpPr/>
          <p:nvPr/>
        </p:nvGrpSpPr>
        <p:grpSpPr>
          <a:xfrm>
            <a:off x="942308" y="6197283"/>
            <a:ext cx="1247789" cy="179070"/>
            <a:chOff x="0" y="0"/>
            <a:chExt cx="1663718" cy="238760"/>
          </a:xfrm>
        </p:grpSpPr>
        <p:grpSp>
          <p:nvGrpSpPr>
            <p:cNvPr id="428" name="Group 110"/>
            <p:cNvGrpSpPr/>
            <p:nvPr/>
          </p:nvGrpSpPr>
          <p:grpSpPr>
            <a:xfrm>
              <a:off x="0" y="22180"/>
              <a:ext cx="1663718" cy="216580"/>
              <a:chOff x="0" y="0"/>
              <a:chExt cx="286545" cy="37289"/>
            </a:xfrm>
          </p:grpSpPr>
          <p:sp>
            <p:nvSpPr>
              <p:cNvPr id="429" name="Freeform 111"/>
              <p:cNvSpPr/>
              <p:nvPr/>
            </p:nvSpPr>
            <p:spPr>
              <a:xfrm>
                <a:off x="0" y="0"/>
                <a:ext cx="286545" cy="37289"/>
              </a:xfrm>
              <a:custGeom>
                <a:avLst/>
                <a:gdLst/>
                <a:ahLst/>
                <a:cxnLst/>
                <a:rect l="l" t="t" r="r" b="b"/>
                <a:pathLst>
                  <a:path w="286545" h="37289">
                    <a:moveTo>
                      <a:pt x="286545" y="0"/>
                    </a:moveTo>
                    <a:lnTo>
                      <a:pt x="286545" y="37289"/>
                    </a:lnTo>
                    <a:lnTo>
                      <a:pt x="0" y="37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E1B8"/>
              </a:solidFill>
              <a:effectLst/>
            </p:spPr>
            <p:txBody>
              <a:bodyPr wrap="none">
                <a:noAutofit/>
              </a:bodyPr>
              <a:lstStyle/>
              <a:p>
                <a:endParaRPr/>
              </a:p>
            </p:txBody>
          </p:sp>
          <p:sp>
            <p:nvSpPr>
              <p:cNvPr id="430" name="TextBox 112"/>
              <p:cNvSpPr txBox="1"/>
              <p:nvPr/>
            </p:nvSpPr>
            <p:spPr>
              <a:xfrm>
                <a:off x="0" y="-38100"/>
                <a:ext cx="286545" cy="75389"/>
              </a:xfrm>
              <a:prstGeom prst="rect">
                <a:avLst/>
              </a:prstGeom>
              <a:effectLst/>
            </p:spPr>
            <p:txBody>
              <a:bodyPr wrap="none" lIns="50800" tIns="50800" rIns="50800" bIns="50800" rtlCol="0" anchor="ctr">
                <a:noAutofit/>
              </a:bodyPr>
              <a:lstStyle/>
              <a:p>
                <a:pPr algn="ctr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1" name="TextBox 113"/>
            <p:cNvSpPr txBox="1"/>
            <p:nvPr/>
          </p:nvSpPr>
          <p:spPr>
            <a:xfrm>
              <a:off x="165840" y="-38100"/>
              <a:ext cx="1422994" cy="276860"/>
            </a:xfrm>
            <a:prstGeom prst="rect">
              <a:avLst/>
            </a:prstGeom>
            <a:effectLst/>
          </p:spPr>
          <p:txBody>
            <a:bodyPr wrap="none" lIns="0" tIns="0" rIns="0" bIns="0" rtlCol="0" anchor="t">
              <a:no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2627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Labels Available</a:t>
              </a:r>
            </a:p>
          </p:txBody>
        </p:sp>
      </p:grpSp>
      <p:grpSp>
        <p:nvGrpSpPr>
          <p:cNvPr id="432" name="Editable vector · Freeform 115"/>
          <p:cNvGrpSpPr/>
          <p:nvPr/>
        </p:nvGrpSpPr>
        <p:grpSpPr>
          <a:xfrm>
            <a:off x="1426546" y="5399453"/>
            <a:ext cx="245846" cy="245846"/>
            <a:chOff x="0" y="0"/>
            <a:chExt cx="245846" cy="245846"/>
          </a:xfrm>
        </p:grpSpPr>
        <p:sp>
          <p:nvSpPr>
            <p:cNvPr id="433" name="Freeform 115 · vector path 1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910180" y="3840"/>
                  </a:moveTo>
                  <a:cubicBezTo>
                    <a:pt x="1458850" y="-44160"/>
                    <a:pt x="1942650" y="362920"/>
                    <a:pt x="1990790" y="913080"/>
                  </a:cubicBezTo>
                  <a:cubicBezTo>
                    <a:pt x="2038920" y="1463240"/>
                    <a:pt x="1633160" y="1948150"/>
                    <a:pt x="1084490" y="1996150"/>
                  </a:cubicBezTo>
                  <a:cubicBezTo>
                    <a:pt x="535820" y="2044150"/>
                    <a:pt x="52020" y="1637070"/>
                    <a:pt x="3880" y="1086910"/>
                  </a:cubicBezTo>
                  <a:cubicBezTo>
                    <a:pt x="-44260" y="536750"/>
                    <a:pt x="361510" y="51850"/>
                    <a:pt x="910180" y="3840"/>
                  </a:cubicBezTo>
                  <a:close/>
                  <a:moveTo>
                    <a:pt x="810650" y="165020"/>
                  </a:moveTo>
                  <a:cubicBezTo>
                    <a:pt x="350850" y="267800"/>
                    <a:pt x="61700" y="725030"/>
                    <a:pt x="164800" y="1186290"/>
                  </a:cubicBezTo>
                  <a:cubicBezTo>
                    <a:pt x="267900" y="1647540"/>
                    <a:pt x="724220" y="1938140"/>
                    <a:pt x="1184010" y="1835370"/>
                  </a:cubicBezTo>
                  <a:cubicBezTo>
                    <a:pt x="1643800" y="1732600"/>
                    <a:pt x="1932960" y="1275360"/>
                    <a:pt x="1829860" y="814110"/>
                  </a:cubicBezTo>
                  <a:cubicBezTo>
                    <a:pt x="1829860" y="814110"/>
                    <a:pt x="1829860" y="814110"/>
                    <a:pt x="1829860" y="814110"/>
                  </a:cubicBezTo>
                  <a:cubicBezTo>
                    <a:pt x="1726760" y="352850"/>
                    <a:pt x="1270440" y="62250"/>
                    <a:pt x="810650" y="165020"/>
                  </a:cubicBezTo>
                  <a:lnTo>
                    <a:pt x="810650" y="16502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34" name="Freeform 115 · vector path 2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989100" y="199340"/>
                  </a:moveTo>
                  <a:lnTo>
                    <a:pt x="995680" y="199420"/>
                  </a:lnTo>
                  <a:cubicBezTo>
                    <a:pt x="1009680" y="199590"/>
                    <a:pt x="1020890" y="211080"/>
                    <a:pt x="1020720" y="225080"/>
                  </a:cubicBezTo>
                  <a:lnTo>
                    <a:pt x="1019600" y="316810"/>
                  </a:lnTo>
                  <a:cubicBezTo>
                    <a:pt x="1019430" y="330810"/>
                    <a:pt x="1007940" y="342020"/>
                    <a:pt x="993940" y="341850"/>
                  </a:cubicBezTo>
                  <a:lnTo>
                    <a:pt x="987360" y="341770"/>
                  </a:lnTo>
                  <a:cubicBezTo>
                    <a:pt x="973360" y="341600"/>
                    <a:pt x="962150" y="330110"/>
                    <a:pt x="962320" y="316110"/>
                  </a:cubicBezTo>
                  <a:lnTo>
                    <a:pt x="963440" y="224380"/>
                  </a:lnTo>
                  <a:cubicBezTo>
                    <a:pt x="963620" y="210380"/>
                    <a:pt x="975100" y="199170"/>
                    <a:pt x="989100" y="19934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35" name="Freeform 115 · vector path 3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589580" y="324480"/>
                  </a:moveTo>
                  <a:lnTo>
                    <a:pt x="601710" y="316870"/>
                  </a:lnTo>
                  <a:cubicBezTo>
                    <a:pt x="611850" y="310510"/>
                    <a:pt x="625230" y="313570"/>
                    <a:pt x="631590" y="323710"/>
                  </a:cubicBezTo>
                  <a:lnTo>
                    <a:pt x="671490" y="387320"/>
                  </a:lnTo>
                  <a:cubicBezTo>
                    <a:pt x="677850" y="397460"/>
                    <a:pt x="674790" y="410840"/>
                    <a:pt x="664650" y="417200"/>
                  </a:cubicBezTo>
                  <a:lnTo>
                    <a:pt x="652520" y="424810"/>
                  </a:lnTo>
                  <a:cubicBezTo>
                    <a:pt x="642380" y="431170"/>
                    <a:pt x="629000" y="428110"/>
                    <a:pt x="622640" y="417970"/>
                  </a:cubicBezTo>
                  <a:lnTo>
                    <a:pt x="582740" y="354360"/>
                  </a:lnTo>
                  <a:cubicBezTo>
                    <a:pt x="576370" y="344220"/>
                    <a:pt x="579440" y="330840"/>
                    <a:pt x="589580" y="32448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36" name="Freeform 115 · vector path 4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391220" y="317980"/>
                  </a:moveTo>
                  <a:lnTo>
                    <a:pt x="1396110" y="321120"/>
                  </a:lnTo>
                  <a:cubicBezTo>
                    <a:pt x="1408340" y="328970"/>
                    <a:pt x="1411890" y="345260"/>
                    <a:pt x="1404040" y="357490"/>
                  </a:cubicBezTo>
                  <a:lnTo>
                    <a:pt x="1367870" y="413840"/>
                  </a:lnTo>
                  <a:cubicBezTo>
                    <a:pt x="1360020" y="426070"/>
                    <a:pt x="1343730" y="429620"/>
                    <a:pt x="1331500" y="421770"/>
                  </a:cubicBezTo>
                  <a:lnTo>
                    <a:pt x="1326610" y="418630"/>
                  </a:lnTo>
                  <a:cubicBezTo>
                    <a:pt x="1314380" y="410780"/>
                    <a:pt x="1310830" y="394490"/>
                    <a:pt x="1318680" y="382260"/>
                  </a:cubicBezTo>
                  <a:lnTo>
                    <a:pt x="1354850" y="325910"/>
                  </a:lnTo>
                  <a:cubicBezTo>
                    <a:pt x="1362710" y="313680"/>
                    <a:pt x="1378990" y="310130"/>
                    <a:pt x="1391220" y="31798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37" name="Freeform 115 · vector path 5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968690" y="443220"/>
                  </a:moveTo>
                  <a:cubicBezTo>
                    <a:pt x="968700" y="430820"/>
                    <a:pt x="978670" y="420760"/>
                    <a:pt x="990960" y="420750"/>
                  </a:cubicBezTo>
                  <a:cubicBezTo>
                    <a:pt x="992380" y="420750"/>
                    <a:pt x="993800" y="420890"/>
                    <a:pt x="995200" y="421160"/>
                  </a:cubicBezTo>
                  <a:lnTo>
                    <a:pt x="1008360" y="423680"/>
                  </a:lnTo>
                  <a:cubicBezTo>
                    <a:pt x="1020370" y="425920"/>
                    <a:pt x="1029070" y="436330"/>
                    <a:pt x="1029070" y="448450"/>
                  </a:cubicBezTo>
                  <a:lnTo>
                    <a:pt x="1031970" y="913690"/>
                  </a:lnTo>
                  <a:cubicBezTo>
                    <a:pt x="1031970" y="918900"/>
                    <a:pt x="1033230" y="924010"/>
                    <a:pt x="1035650" y="928590"/>
                  </a:cubicBezTo>
                  <a:cubicBezTo>
                    <a:pt x="1046750" y="949750"/>
                    <a:pt x="1059070" y="965880"/>
                    <a:pt x="1072610" y="976970"/>
                  </a:cubicBezTo>
                  <a:cubicBezTo>
                    <a:pt x="1078070" y="981410"/>
                    <a:pt x="1084600" y="984410"/>
                    <a:pt x="1091580" y="985680"/>
                  </a:cubicBezTo>
                  <a:lnTo>
                    <a:pt x="1428320" y="1048960"/>
                  </a:lnTo>
                  <a:cubicBezTo>
                    <a:pt x="1445380" y="1052110"/>
                    <a:pt x="1456920" y="1068170"/>
                    <a:pt x="1454450" y="1085340"/>
                  </a:cubicBezTo>
                  <a:lnTo>
                    <a:pt x="1454450" y="1085920"/>
                  </a:lnTo>
                  <a:cubicBezTo>
                    <a:pt x="1450970" y="1101310"/>
                    <a:pt x="1435850" y="1111100"/>
                    <a:pt x="1420390" y="1107980"/>
                  </a:cubicBezTo>
                  <a:lnTo>
                    <a:pt x="1090230" y="1041410"/>
                  </a:lnTo>
                  <a:cubicBezTo>
                    <a:pt x="1083380" y="1039920"/>
                    <a:pt x="1076190" y="1041090"/>
                    <a:pt x="1070100" y="1044700"/>
                  </a:cubicBezTo>
                  <a:cubicBezTo>
                    <a:pt x="1069070" y="1045220"/>
                    <a:pt x="1061070" y="1050510"/>
                    <a:pt x="1046100" y="1060570"/>
                  </a:cubicBezTo>
                  <a:cubicBezTo>
                    <a:pt x="967910" y="1113210"/>
                    <a:pt x="888370" y="1024570"/>
                    <a:pt x="950690" y="952390"/>
                  </a:cubicBezTo>
                  <a:cubicBezTo>
                    <a:pt x="962300" y="938900"/>
                    <a:pt x="968680" y="921670"/>
                    <a:pt x="968690" y="903810"/>
                  </a:cubicBezTo>
                  <a:lnTo>
                    <a:pt x="968690" y="44322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38" name="Freeform 115 · vector path 6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689360" y="599596"/>
                  </a:moveTo>
                  <a:cubicBezTo>
                    <a:pt x="1698228" y="615334"/>
                    <a:pt x="1680205" y="642300"/>
                    <a:pt x="1649103" y="659824"/>
                  </a:cubicBezTo>
                  <a:cubicBezTo>
                    <a:pt x="1618002" y="677349"/>
                    <a:pt x="1585600" y="678798"/>
                    <a:pt x="1576731" y="663059"/>
                  </a:cubicBezTo>
                  <a:cubicBezTo>
                    <a:pt x="1567863" y="647321"/>
                    <a:pt x="1585887" y="620356"/>
                    <a:pt x="1616988" y="602831"/>
                  </a:cubicBezTo>
                  <a:cubicBezTo>
                    <a:pt x="1648090" y="585306"/>
                    <a:pt x="1680492" y="583857"/>
                    <a:pt x="1689360" y="599596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39" name="Freeform 115 · vector path 7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347920" y="595810"/>
                  </a:moveTo>
                  <a:lnTo>
                    <a:pt x="402220" y="628690"/>
                  </a:lnTo>
                  <a:cubicBezTo>
                    <a:pt x="414930" y="636390"/>
                    <a:pt x="418990" y="652930"/>
                    <a:pt x="411290" y="665630"/>
                  </a:cubicBezTo>
                  <a:lnTo>
                    <a:pt x="409490" y="668610"/>
                  </a:lnTo>
                  <a:cubicBezTo>
                    <a:pt x="401790" y="681320"/>
                    <a:pt x="385250" y="685380"/>
                    <a:pt x="372550" y="677680"/>
                  </a:cubicBezTo>
                  <a:lnTo>
                    <a:pt x="318250" y="644800"/>
                  </a:lnTo>
                  <a:cubicBezTo>
                    <a:pt x="305540" y="637100"/>
                    <a:pt x="301480" y="620560"/>
                    <a:pt x="309180" y="607860"/>
                  </a:cubicBezTo>
                  <a:lnTo>
                    <a:pt x="310980" y="604880"/>
                  </a:lnTo>
                  <a:cubicBezTo>
                    <a:pt x="318680" y="592170"/>
                    <a:pt x="335220" y="588110"/>
                    <a:pt x="347920" y="59581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40" name="Freeform 115 · vector path 8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682190" y="965420"/>
                  </a:moveTo>
                  <a:lnTo>
                    <a:pt x="1772350" y="963370"/>
                  </a:lnTo>
                  <a:cubicBezTo>
                    <a:pt x="1783140" y="963130"/>
                    <a:pt x="1792090" y="971680"/>
                    <a:pt x="1792330" y="982470"/>
                  </a:cubicBezTo>
                  <a:lnTo>
                    <a:pt x="1792700" y="998720"/>
                  </a:lnTo>
                  <a:cubicBezTo>
                    <a:pt x="1792940" y="1009510"/>
                    <a:pt x="1784390" y="1018460"/>
                    <a:pt x="1773600" y="1018700"/>
                  </a:cubicBezTo>
                  <a:lnTo>
                    <a:pt x="1683440" y="1020750"/>
                  </a:lnTo>
                  <a:cubicBezTo>
                    <a:pt x="1672650" y="1020990"/>
                    <a:pt x="1663700" y="1012440"/>
                    <a:pt x="1663460" y="1001650"/>
                  </a:cubicBezTo>
                  <a:lnTo>
                    <a:pt x="1663090" y="985400"/>
                  </a:lnTo>
                  <a:cubicBezTo>
                    <a:pt x="1662850" y="974610"/>
                    <a:pt x="1671400" y="965670"/>
                    <a:pt x="1682190" y="96542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41" name="Freeform 115 · vector path 9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221350" y="970470"/>
                  </a:moveTo>
                  <a:lnTo>
                    <a:pt x="309970" y="971860"/>
                  </a:lnTo>
                  <a:cubicBezTo>
                    <a:pt x="321940" y="972050"/>
                    <a:pt x="331490" y="981900"/>
                    <a:pt x="331300" y="993870"/>
                  </a:cubicBezTo>
                  <a:lnTo>
                    <a:pt x="331090" y="1007420"/>
                  </a:lnTo>
                  <a:cubicBezTo>
                    <a:pt x="330900" y="1019390"/>
                    <a:pt x="321050" y="1028940"/>
                    <a:pt x="309080" y="1028750"/>
                  </a:cubicBezTo>
                  <a:lnTo>
                    <a:pt x="220460" y="1027360"/>
                  </a:lnTo>
                  <a:cubicBezTo>
                    <a:pt x="208490" y="1027170"/>
                    <a:pt x="198940" y="1017320"/>
                    <a:pt x="199130" y="1005350"/>
                  </a:cubicBezTo>
                  <a:lnTo>
                    <a:pt x="199340" y="991800"/>
                  </a:lnTo>
                  <a:cubicBezTo>
                    <a:pt x="199520" y="979830"/>
                    <a:pt x="209380" y="970280"/>
                    <a:pt x="221350" y="97047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42" name="Freeform 115 · vector path 10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624280" y="1315310"/>
                  </a:moveTo>
                  <a:lnTo>
                    <a:pt x="1676830" y="1345040"/>
                  </a:lnTo>
                  <a:cubicBezTo>
                    <a:pt x="1690600" y="1352830"/>
                    <a:pt x="1695440" y="1370310"/>
                    <a:pt x="1687650" y="1384070"/>
                  </a:cubicBezTo>
                  <a:lnTo>
                    <a:pt x="1686320" y="1386430"/>
                  </a:lnTo>
                  <a:cubicBezTo>
                    <a:pt x="1678530" y="1400200"/>
                    <a:pt x="1661050" y="1405040"/>
                    <a:pt x="1647290" y="1397250"/>
                  </a:cubicBezTo>
                  <a:lnTo>
                    <a:pt x="1594740" y="1367520"/>
                  </a:lnTo>
                  <a:cubicBezTo>
                    <a:pt x="1580970" y="1359730"/>
                    <a:pt x="1576130" y="1342250"/>
                    <a:pt x="1583920" y="1328490"/>
                  </a:cubicBezTo>
                  <a:lnTo>
                    <a:pt x="1585250" y="1326130"/>
                  </a:lnTo>
                  <a:cubicBezTo>
                    <a:pt x="1593030" y="1312370"/>
                    <a:pt x="1610510" y="1307520"/>
                    <a:pt x="1624280" y="131531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43" name="Freeform 115 · vector path 11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314940" y="1349910"/>
                  </a:moveTo>
                  <a:lnTo>
                    <a:pt x="370410" y="1317490"/>
                  </a:lnTo>
                  <a:cubicBezTo>
                    <a:pt x="382780" y="1310260"/>
                    <a:pt x="398660" y="1314430"/>
                    <a:pt x="405880" y="1326800"/>
                  </a:cubicBezTo>
                  <a:lnTo>
                    <a:pt x="410180" y="1334150"/>
                  </a:lnTo>
                  <a:cubicBezTo>
                    <a:pt x="417410" y="1346520"/>
                    <a:pt x="413240" y="1362400"/>
                    <a:pt x="400870" y="1369620"/>
                  </a:cubicBezTo>
                  <a:lnTo>
                    <a:pt x="345400" y="1402040"/>
                  </a:lnTo>
                  <a:cubicBezTo>
                    <a:pt x="333030" y="1409270"/>
                    <a:pt x="317150" y="1405100"/>
                    <a:pt x="309930" y="1392730"/>
                  </a:cubicBezTo>
                  <a:lnTo>
                    <a:pt x="305630" y="1385380"/>
                  </a:lnTo>
                  <a:cubicBezTo>
                    <a:pt x="298410" y="1373020"/>
                    <a:pt x="302580" y="1357140"/>
                    <a:pt x="314940" y="134991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44" name="Freeform 115 · vector path 12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657750" y="1579300"/>
                  </a:moveTo>
                  <a:lnTo>
                    <a:pt x="661670" y="1581790"/>
                  </a:lnTo>
                  <a:cubicBezTo>
                    <a:pt x="673580" y="1589350"/>
                    <a:pt x="677110" y="1605130"/>
                    <a:pt x="669550" y="1617050"/>
                  </a:cubicBezTo>
                  <a:lnTo>
                    <a:pt x="630560" y="1678490"/>
                  </a:lnTo>
                  <a:cubicBezTo>
                    <a:pt x="623000" y="1690400"/>
                    <a:pt x="607220" y="1693930"/>
                    <a:pt x="595300" y="1686370"/>
                  </a:cubicBezTo>
                  <a:lnTo>
                    <a:pt x="591380" y="1683880"/>
                  </a:lnTo>
                  <a:cubicBezTo>
                    <a:pt x="579470" y="1676320"/>
                    <a:pt x="575940" y="1660540"/>
                    <a:pt x="583500" y="1648620"/>
                  </a:cubicBezTo>
                  <a:lnTo>
                    <a:pt x="622490" y="1587180"/>
                  </a:lnTo>
                  <a:cubicBezTo>
                    <a:pt x="630060" y="1575270"/>
                    <a:pt x="645840" y="1571740"/>
                    <a:pt x="657750" y="157930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45" name="Freeform 115 · vector path 13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332140" y="1588340"/>
                  </a:moveTo>
                  <a:lnTo>
                    <a:pt x="1341640" y="1582360"/>
                  </a:lnTo>
                  <a:cubicBezTo>
                    <a:pt x="1352040" y="1575810"/>
                    <a:pt x="1365780" y="1578930"/>
                    <a:pt x="1372330" y="1589330"/>
                  </a:cubicBezTo>
                  <a:lnTo>
                    <a:pt x="1411110" y="1650900"/>
                  </a:lnTo>
                  <a:cubicBezTo>
                    <a:pt x="1417660" y="1661300"/>
                    <a:pt x="1414540" y="1675040"/>
                    <a:pt x="1404140" y="1681590"/>
                  </a:cubicBezTo>
                  <a:lnTo>
                    <a:pt x="1394640" y="1687570"/>
                  </a:lnTo>
                  <a:cubicBezTo>
                    <a:pt x="1384240" y="1694120"/>
                    <a:pt x="1370500" y="1691000"/>
                    <a:pt x="1363950" y="1680600"/>
                  </a:cubicBezTo>
                  <a:lnTo>
                    <a:pt x="1325170" y="1619030"/>
                  </a:lnTo>
                  <a:cubicBezTo>
                    <a:pt x="1318610" y="1608630"/>
                    <a:pt x="1321730" y="1594890"/>
                    <a:pt x="1332140" y="158834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446" name="Freeform 115 · vector path 14"/>
            <p:cNvSpPr/>
            <p:nvPr/>
          </p:nvSpPr>
          <p:spPr>
            <a:xfrm>
              <a:off x="0" y="0"/>
              <a:ext cx="245846" cy="245846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983940" y="1667320"/>
                  </a:moveTo>
                  <a:lnTo>
                    <a:pt x="1005620" y="1667240"/>
                  </a:lnTo>
                  <a:cubicBezTo>
                    <a:pt x="1015030" y="1667210"/>
                    <a:pt x="1022680" y="1674810"/>
                    <a:pt x="1022710" y="1684210"/>
                  </a:cubicBezTo>
                  <a:lnTo>
                    <a:pt x="1023050" y="1782520"/>
                  </a:lnTo>
                  <a:cubicBezTo>
                    <a:pt x="1023080" y="1791930"/>
                    <a:pt x="1015480" y="1799580"/>
                    <a:pt x="1006080" y="1799610"/>
                  </a:cubicBezTo>
                  <a:lnTo>
                    <a:pt x="984410" y="1799690"/>
                  </a:lnTo>
                  <a:cubicBezTo>
                    <a:pt x="975000" y="1799720"/>
                    <a:pt x="967350" y="1792120"/>
                    <a:pt x="967320" y="1782720"/>
                  </a:cubicBezTo>
                  <a:lnTo>
                    <a:pt x="966980" y="1684410"/>
                  </a:lnTo>
                  <a:cubicBezTo>
                    <a:pt x="966940" y="1675010"/>
                    <a:pt x="974530" y="1667360"/>
                    <a:pt x="983940" y="166732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447" name="Group 117"/>
          <p:cNvGrpSpPr/>
          <p:nvPr/>
        </p:nvGrpSpPr>
        <p:grpSpPr>
          <a:xfrm>
            <a:off x="1474824" y="7633449"/>
            <a:ext cx="1936427" cy="655224"/>
            <a:chOff x="0" y="0"/>
            <a:chExt cx="2581903" cy="873631"/>
          </a:xfrm>
        </p:grpSpPr>
        <p:grpSp>
          <p:nvGrpSpPr>
            <p:cNvPr id="448" name="Editable vector · Freeform 118"/>
            <p:cNvGrpSpPr/>
            <p:nvPr/>
          </p:nvGrpSpPr>
          <p:grpSpPr>
            <a:xfrm>
              <a:off x="538906" y="0"/>
              <a:ext cx="792898" cy="451952"/>
              <a:chOff x="0" y="0"/>
              <a:chExt cx="792898" cy="451952"/>
            </a:xfrm>
          </p:grpSpPr>
          <p:sp>
            <p:nvSpPr>
              <p:cNvPr id="449" name="Freeform 118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50" name="Freeform 118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51" name="Freeform 118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452" name="Freeform 118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53" name="Freeform 118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54" name="Freeform 118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55" name="Freeform 118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456" name="Freeform 118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57" name="Freeform 118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458" name="Freeform 118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59" name="Freeform 118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60" name="Freeform 118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61" name="Freeform 118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462" name="Freeform 118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463" name="Editable vector · Freeform 119"/>
            <p:cNvGrpSpPr/>
            <p:nvPr/>
          </p:nvGrpSpPr>
          <p:grpSpPr>
            <a:xfrm>
              <a:off x="1156354" y="0"/>
              <a:ext cx="792898" cy="451952"/>
              <a:chOff x="0" y="0"/>
              <a:chExt cx="792898" cy="451952"/>
            </a:xfrm>
          </p:grpSpPr>
          <p:sp>
            <p:nvSpPr>
              <p:cNvPr id="464" name="Freeform 119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65" name="Freeform 119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66" name="Freeform 119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467" name="Freeform 119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68" name="Freeform 119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69" name="Freeform 119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70" name="Freeform 119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471" name="Freeform 119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72" name="Freeform 119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473" name="Freeform 119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74" name="Freeform 119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75" name="Freeform 119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76" name="Freeform 119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477" name="Freeform 119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478" name="Editable vector · Freeform 120"/>
            <p:cNvGrpSpPr/>
            <p:nvPr/>
          </p:nvGrpSpPr>
          <p:grpSpPr>
            <a:xfrm>
              <a:off x="1789005" y="0"/>
              <a:ext cx="792898" cy="451952"/>
              <a:chOff x="0" y="0"/>
              <a:chExt cx="792898" cy="451952"/>
            </a:xfrm>
          </p:grpSpPr>
          <p:sp>
            <p:nvSpPr>
              <p:cNvPr id="479" name="Freeform 120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80" name="Freeform 120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81" name="Freeform 120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482" name="Freeform 120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83" name="Freeform 120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84" name="Freeform 120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85" name="Freeform 120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486" name="Freeform 120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87" name="Freeform 120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488" name="Freeform 120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89" name="Freeform 120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490" name="Freeform 120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491" name="Freeform 120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492" name="Freeform 120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493" name="Editable vector · Freeform 121"/>
            <p:cNvGrpSpPr/>
            <p:nvPr/>
          </p:nvGrpSpPr>
          <p:grpSpPr>
            <a:xfrm>
              <a:off x="379986" y="123657"/>
              <a:ext cx="792898" cy="451952"/>
              <a:chOff x="0" y="0"/>
              <a:chExt cx="792898" cy="451952"/>
            </a:xfrm>
          </p:grpSpPr>
          <p:sp>
            <p:nvSpPr>
              <p:cNvPr id="494" name="Freeform 121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495" name="Freeform 121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496" name="Freeform 121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497" name="Freeform 121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498" name="Freeform 121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499" name="Freeform 121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00" name="Freeform 121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501" name="Freeform 121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02" name="Freeform 121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03" name="Freeform 121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04" name="Freeform 121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05" name="Freeform 121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06" name="Freeform 121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507" name="Freeform 121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508" name="Editable vector · Freeform 122"/>
            <p:cNvGrpSpPr/>
            <p:nvPr/>
          </p:nvGrpSpPr>
          <p:grpSpPr>
            <a:xfrm>
              <a:off x="1008487" y="123657"/>
              <a:ext cx="792898" cy="451952"/>
              <a:chOff x="0" y="0"/>
              <a:chExt cx="792898" cy="451952"/>
            </a:xfrm>
          </p:grpSpPr>
          <p:sp>
            <p:nvSpPr>
              <p:cNvPr id="509" name="Freeform 122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10" name="Freeform 122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11" name="Freeform 122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12" name="Freeform 122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13" name="Freeform 122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14" name="Freeform 122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15" name="Freeform 122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516" name="Freeform 122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17" name="Freeform 122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18" name="Freeform 122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19" name="Freeform 122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20" name="Freeform 122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21" name="Freeform 122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522" name="Freeform 122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523" name="Editable vector · Freeform 123"/>
            <p:cNvGrpSpPr/>
            <p:nvPr/>
          </p:nvGrpSpPr>
          <p:grpSpPr>
            <a:xfrm>
              <a:off x="1633536" y="123657"/>
              <a:ext cx="792898" cy="451952"/>
              <a:chOff x="0" y="0"/>
              <a:chExt cx="792898" cy="451952"/>
            </a:xfrm>
          </p:grpSpPr>
          <p:sp>
            <p:nvSpPr>
              <p:cNvPr id="524" name="Freeform 123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25" name="Freeform 123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26" name="Freeform 123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27" name="Freeform 123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28" name="Freeform 123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29" name="Freeform 123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30" name="Freeform 123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531" name="Freeform 123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32" name="Freeform 123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33" name="Freeform 123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34" name="Freeform 123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535" name="Freeform 123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536" name="Freeform 123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537" name="Freeform 123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538" name="Editable vector · Freeform 124"/>
            <p:cNvGrpSpPr/>
            <p:nvPr/>
          </p:nvGrpSpPr>
          <p:grpSpPr>
            <a:xfrm>
              <a:off x="233265" y="238676"/>
              <a:ext cx="792898" cy="451952"/>
              <a:chOff x="0" y="0"/>
              <a:chExt cx="792898" cy="451952"/>
            </a:xfrm>
          </p:grpSpPr>
          <p:sp>
            <p:nvSpPr>
              <p:cNvPr id="539" name="Freeform 124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40" name="Freeform 124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41" name="Freeform 124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542" name="Freeform 124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43" name="Freeform 124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544" name="Freeform 124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45" name="Freeform 124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546" name="Freeform 124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47" name="Freeform 124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548" name="Freeform 124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49" name="Freeform 124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550" name="Freeform 124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51" name="Freeform 124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552" name="Freeform 124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553" name="Editable vector · Freeform 125"/>
            <p:cNvGrpSpPr/>
            <p:nvPr/>
          </p:nvGrpSpPr>
          <p:grpSpPr>
            <a:xfrm>
              <a:off x="856321" y="238676"/>
              <a:ext cx="792898" cy="451952"/>
              <a:chOff x="0" y="0"/>
              <a:chExt cx="792898" cy="451952"/>
            </a:xfrm>
          </p:grpSpPr>
          <p:sp>
            <p:nvSpPr>
              <p:cNvPr id="554" name="Freeform 125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55" name="Freeform 125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56" name="Freeform 125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557" name="Freeform 125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58" name="Freeform 125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559" name="Freeform 125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60" name="Freeform 125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561" name="Freeform 125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62" name="Freeform 125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563" name="Freeform 125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64" name="Freeform 125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565" name="Freeform 125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66" name="Freeform 125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567" name="Freeform 125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568" name="Editable vector · Freeform 126"/>
            <p:cNvGrpSpPr/>
            <p:nvPr/>
          </p:nvGrpSpPr>
          <p:grpSpPr>
            <a:xfrm>
              <a:off x="1495212" y="238676"/>
              <a:ext cx="792898" cy="451952"/>
              <a:chOff x="0" y="0"/>
              <a:chExt cx="792898" cy="451952"/>
            </a:xfrm>
          </p:grpSpPr>
          <p:sp>
            <p:nvSpPr>
              <p:cNvPr id="569" name="Freeform 126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70" name="Freeform 126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71" name="Freeform 126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572" name="Freeform 126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73" name="Freeform 126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574" name="Freeform 126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75" name="Freeform 126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576" name="Freeform 126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77" name="Freeform 126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578" name="Freeform 126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79" name="Freeform 126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580" name="Freeform 126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581" name="Freeform 126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582" name="Freeform 126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583" name="Editable vector · Freeform 127"/>
            <p:cNvGrpSpPr/>
            <p:nvPr/>
          </p:nvGrpSpPr>
          <p:grpSpPr>
            <a:xfrm>
              <a:off x="0" y="422202"/>
              <a:ext cx="791981" cy="451429"/>
              <a:chOff x="0" y="0"/>
              <a:chExt cx="791981" cy="451429"/>
            </a:xfrm>
          </p:grpSpPr>
          <p:sp>
            <p:nvSpPr>
              <p:cNvPr id="584" name="Freeform 127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585" name="Freeform 127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586" name="Freeform 127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587" name="Freeform 127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588" name="Freeform 127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589" name="Freeform 127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590" name="Freeform 127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591" name="Freeform 127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592" name="Freeform 127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593" name="Freeform 127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594" name="Freeform 127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595" name="Freeform 127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596" name="Freeform 127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597" name="Freeform 127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  <p:grpSp>
          <p:nvGrpSpPr>
            <p:cNvPr id="598" name="Editable vector · Freeform 128"/>
            <p:cNvGrpSpPr/>
            <p:nvPr/>
          </p:nvGrpSpPr>
          <p:grpSpPr>
            <a:xfrm>
              <a:off x="636087" y="422202"/>
              <a:ext cx="791981" cy="451429"/>
              <a:chOff x="0" y="0"/>
              <a:chExt cx="791981" cy="451429"/>
            </a:xfrm>
          </p:grpSpPr>
          <p:sp>
            <p:nvSpPr>
              <p:cNvPr id="599" name="Freeform 128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00" name="Freeform 128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01" name="Freeform 128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602" name="Freeform 128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03" name="Freeform 128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604" name="Freeform 128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05" name="Freeform 128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606" name="Freeform 128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07" name="Freeform 128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608" name="Freeform 128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09" name="Freeform 128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610" name="Freeform 128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11" name="Freeform 128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612" name="Freeform 128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  <p:grpSp>
          <p:nvGrpSpPr>
            <p:cNvPr id="613" name="Editable vector · Freeform 129"/>
            <p:cNvGrpSpPr/>
            <p:nvPr/>
          </p:nvGrpSpPr>
          <p:grpSpPr>
            <a:xfrm>
              <a:off x="1271218" y="422202"/>
              <a:ext cx="791981" cy="451429"/>
              <a:chOff x="0" y="0"/>
              <a:chExt cx="791981" cy="451429"/>
            </a:xfrm>
          </p:grpSpPr>
          <p:sp>
            <p:nvSpPr>
              <p:cNvPr id="614" name="Freeform 129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15" name="Freeform 129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16" name="Freeform 129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617" name="Freeform 129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18" name="Freeform 129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619" name="Freeform 129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20" name="Freeform 129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621" name="Freeform 129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22" name="Freeform 129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623" name="Freeform 129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24" name="Freeform 129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625" name="Freeform 129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626" name="Freeform 129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627" name="Freeform 129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</p:grpSp>
      <p:grpSp>
        <p:nvGrpSpPr>
          <p:cNvPr id="628" name="Group 130"/>
          <p:cNvGrpSpPr/>
          <p:nvPr/>
        </p:nvGrpSpPr>
        <p:grpSpPr>
          <a:xfrm>
            <a:off x="1474824" y="7074683"/>
            <a:ext cx="1936427" cy="655224"/>
            <a:chOff x="0" y="0"/>
            <a:chExt cx="2581903" cy="873631"/>
          </a:xfrm>
        </p:grpSpPr>
        <p:grpSp>
          <p:nvGrpSpPr>
            <p:cNvPr id="629" name="Editable vector · Freeform 131"/>
            <p:cNvGrpSpPr/>
            <p:nvPr/>
          </p:nvGrpSpPr>
          <p:grpSpPr>
            <a:xfrm>
              <a:off x="538906" y="0"/>
              <a:ext cx="792898" cy="451952"/>
              <a:chOff x="0" y="0"/>
              <a:chExt cx="792898" cy="451952"/>
            </a:xfrm>
          </p:grpSpPr>
          <p:sp>
            <p:nvSpPr>
              <p:cNvPr id="630" name="Freeform 131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31" name="Freeform 131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32" name="Freeform 131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633" name="Freeform 131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34" name="Freeform 131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635" name="Freeform 131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36" name="Freeform 131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637" name="Freeform 131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38" name="Freeform 131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639" name="Freeform 131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40" name="Freeform 131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641" name="Freeform 131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42" name="Freeform 131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643" name="Freeform 131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644" name="Editable vector · Freeform 132"/>
            <p:cNvGrpSpPr/>
            <p:nvPr/>
          </p:nvGrpSpPr>
          <p:grpSpPr>
            <a:xfrm>
              <a:off x="1156354" y="0"/>
              <a:ext cx="792898" cy="451952"/>
              <a:chOff x="0" y="0"/>
              <a:chExt cx="792898" cy="451952"/>
            </a:xfrm>
          </p:grpSpPr>
          <p:sp>
            <p:nvSpPr>
              <p:cNvPr id="645" name="Freeform 132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46" name="Freeform 132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47" name="Freeform 132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648" name="Freeform 132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49" name="Freeform 132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650" name="Freeform 132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51" name="Freeform 132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652" name="Freeform 132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53" name="Freeform 132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654" name="Freeform 132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55" name="Freeform 132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656" name="Freeform 132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57" name="Freeform 132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658" name="Freeform 132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659" name="Editable vector · Freeform 133"/>
            <p:cNvGrpSpPr/>
            <p:nvPr/>
          </p:nvGrpSpPr>
          <p:grpSpPr>
            <a:xfrm>
              <a:off x="1789005" y="0"/>
              <a:ext cx="792898" cy="451952"/>
              <a:chOff x="0" y="0"/>
              <a:chExt cx="792898" cy="451952"/>
            </a:xfrm>
          </p:grpSpPr>
          <p:sp>
            <p:nvSpPr>
              <p:cNvPr id="660" name="Freeform 133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61" name="Freeform 133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62" name="Freeform 133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663" name="Freeform 133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64" name="Freeform 133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665" name="Freeform 133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66" name="Freeform 133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667" name="Freeform 133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68" name="Freeform 133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669" name="Freeform 133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70" name="Freeform 133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671" name="Freeform 133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672" name="Freeform 133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673" name="Freeform 133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674" name="Editable vector · Freeform 134"/>
            <p:cNvGrpSpPr/>
            <p:nvPr/>
          </p:nvGrpSpPr>
          <p:grpSpPr>
            <a:xfrm>
              <a:off x="379986" y="123657"/>
              <a:ext cx="792898" cy="451952"/>
              <a:chOff x="0" y="0"/>
              <a:chExt cx="792898" cy="451952"/>
            </a:xfrm>
          </p:grpSpPr>
          <p:sp>
            <p:nvSpPr>
              <p:cNvPr id="675" name="Freeform 134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76" name="Freeform 134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77" name="Freeform 134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78" name="Freeform 134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79" name="Freeform 134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80" name="Freeform 134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81" name="Freeform 134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682" name="Freeform 134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83" name="Freeform 134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84" name="Freeform 134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85" name="Freeform 134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86" name="Freeform 134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87" name="Freeform 134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688" name="Freeform 134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689" name="Editable vector · Freeform 135"/>
            <p:cNvGrpSpPr/>
            <p:nvPr/>
          </p:nvGrpSpPr>
          <p:grpSpPr>
            <a:xfrm>
              <a:off x="1008487" y="123657"/>
              <a:ext cx="792898" cy="451952"/>
              <a:chOff x="0" y="0"/>
              <a:chExt cx="792898" cy="451952"/>
            </a:xfrm>
          </p:grpSpPr>
          <p:sp>
            <p:nvSpPr>
              <p:cNvPr id="690" name="Freeform 135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91" name="Freeform 135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92" name="Freeform 135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93" name="Freeform 135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94" name="Freeform 135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95" name="Freeform 135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96" name="Freeform 135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697" name="Freeform 135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698" name="Freeform 135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699" name="Freeform 135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00" name="Freeform 135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701" name="Freeform 135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02" name="Freeform 135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703" name="Freeform 135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704" name="Editable vector · Freeform 136"/>
            <p:cNvGrpSpPr/>
            <p:nvPr/>
          </p:nvGrpSpPr>
          <p:grpSpPr>
            <a:xfrm>
              <a:off x="1633536" y="123657"/>
              <a:ext cx="792898" cy="451952"/>
              <a:chOff x="0" y="0"/>
              <a:chExt cx="792898" cy="451952"/>
            </a:xfrm>
          </p:grpSpPr>
          <p:sp>
            <p:nvSpPr>
              <p:cNvPr id="705" name="Freeform 136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06" name="Freeform 136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07" name="Freeform 136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708" name="Freeform 136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09" name="Freeform 136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710" name="Freeform 136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11" name="Freeform 136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712" name="Freeform 136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13" name="Freeform 136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714" name="Freeform 136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15" name="Freeform 136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716" name="Freeform 136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717" name="Freeform 136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718" name="Freeform 136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719" name="Editable vector · Freeform 137"/>
            <p:cNvGrpSpPr/>
            <p:nvPr/>
          </p:nvGrpSpPr>
          <p:grpSpPr>
            <a:xfrm>
              <a:off x="233265" y="238676"/>
              <a:ext cx="792898" cy="451952"/>
              <a:chOff x="0" y="0"/>
              <a:chExt cx="792898" cy="451952"/>
            </a:xfrm>
          </p:grpSpPr>
          <p:sp>
            <p:nvSpPr>
              <p:cNvPr id="720" name="Freeform 137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21" name="Freeform 137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22" name="Freeform 137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723" name="Freeform 137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24" name="Freeform 137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725" name="Freeform 137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26" name="Freeform 137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727" name="Freeform 137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28" name="Freeform 137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729" name="Freeform 137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30" name="Freeform 137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731" name="Freeform 137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32" name="Freeform 137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733" name="Freeform 137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734" name="Editable vector · Freeform 138"/>
            <p:cNvGrpSpPr/>
            <p:nvPr/>
          </p:nvGrpSpPr>
          <p:grpSpPr>
            <a:xfrm>
              <a:off x="856321" y="238676"/>
              <a:ext cx="792898" cy="451952"/>
              <a:chOff x="0" y="0"/>
              <a:chExt cx="792898" cy="451952"/>
            </a:xfrm>
          </p:grpSpPr>
          <p:sp>
            <p:nvSpPr>
              <p:cNvPr id="735" name="Freeform 138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36" name="Freeform 138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37" name="Freeform 138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738" name="Freeform 138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39" name="Freeform 138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740" name="Freeform 138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41" name="Freeform 138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742" name="Freeform 138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43" name="Freeform 138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744" name="Freeform 138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45" name="Freeform 138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746" name="Freeform 138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47" name="Freeform 138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748" name="Freeform 138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749" name="Editable vector · Freeform 139"/>
            <p:cNvGrpSpPr/>
            <p:nvPr/>
          </p:nvGrpSpPr>
          <p:grpSpPr>
            <a:xfrm>
              <a:off x="1495212" y="238676"/>
              <a:ext cx="792898" cy="451952"/>
              <a:chOff x="0" y="0"/>
              <a:chExt cx="792898" cy="451952"/>
            </a:xfrm>
          </p:grpSpPr>
          <p:sp>
            <p:nvSpPr>
              <p:cNvPr id="750" name="Freeform 139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51" name="Freeform 139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52" name="Freeform 139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753" name="Freeform 139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54" name="Freeform 139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755" name="Freeform 139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56" name="Freeform 139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757" name="Freeform 139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58" name="Freeform 139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759" name="Freeform 139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60" name="Freeform 139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761" name="Freeform 139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762" name="Freeform 139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763" name="Freeform 139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764" name="Editable vector · Freeform 140"/>
            <p:cNvGrpSpPr/>
            <p:nvPr/>
          </p:nvGrpSpPr>
          <p:grpSpPr>
            <a:xfrm>
              <a:off x="0" y="422202"/>
              <a:ext cx="791981" cy="451429"/>
              <a:chOff x="0" y="0"/>
              <a:chExt cx="791981" cy="451429"/>
            </a:xfrm>
          </p:grpSpPr>
          <p:sp>
            <p:nvSpPr>
              <p:cNvPr id="765" name="Freeform 140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66" name="Freeform 140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67" name="Freeform 140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768" name="Freeform 140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69" name="Freeform 140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770" name="Freeform 140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71" name="Freeform 140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772" name="Freeform 140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73" name="Freeform 140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774" name="Freeform 140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75" name="Freeform 140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776" name="Freeform 140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77" name="Freeform 140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778" name="Freeform 140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  <p:grpSp>
          <p:nvGrpSpPr>
            <p:cNvPr id="779" name="Editable vector · Freeform 141"/>
            <p:cNvGrpSpPr/>
            <p:nvPr/>
          </p:nvGrpSpPr>
          <p:grpSpPr>
            <a:xfrm>
              <a:off x="636087" y="422202"/>
              <a:ext cx="791981" cy="451429"/>
              <a:chOff x="0" y="0"/>
              <a:chExt cx="791981" cy="451429"/>
            </a:xfrm>
          </p:grpSpPr>
          <p:sp>
            <p:nvSpPr>
              <p:cNvPr id="780" name="Freeform 141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81" name="Freeform 141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82" name="Freeform 141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783" name="Freeform 141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84" name="Freeform 141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785" name="Freeform 141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86" name="Freeform 141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787" name="Freeform 141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88" name="Freeform 141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789" name="Freeform 141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90" name="Freeform 141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791" name="Freeform 141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92" name="Freeform 141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793" name="Freeform 141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  <p:grpSp>
          <p:nvGrpSpPr>
            <p:cNvPr id="794" name="Editable vector · Freeform 142"/>
            <p:cNvGrpSpPr/>
            <p:nvPr/>
          </p:nvGrpSpPr>
          <p:grpSpPr>
            <a:xfrm>
              <a:off x="1271218" y="422202"/>
              <a:ext cx="791981" cy="451429"/>
              <a:chOff x="0" y="0"/>
              <a:chExt cx="791981" cy="451429"/>
            </a:xfrm>
          </p:grpSpPr>
          <p:sp>
            <p:nvSpPr>
              <p:cNvPr id="795" name="Freeform 142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96" name="Freeform 142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97" name="Freeform 142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798" name="Freeform 142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799" name="Freeform 142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800" name="Freeform 142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801" name="Freeform 142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802" name="Freeform 142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803" name="Freeform 142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804" name="Freeform 142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805" name="Freeform 142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806" name="Freeform 142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807" name="Freeform 142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808" name="Freeform 142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</p:grpSp>
      <p:grpSp>
        <p:nvGrpSpPr>
          <p:cNvPr id="809" name="Group 143"/>
          <p:cNvGrpSpPr/>
          <p:nvPr/>
        </p:nvGrpSpPr>
        <p:grpSpPr>
          <a:xfrm>
            <a:off x="1474824" y="6514709"/>
            <a:ext cx="1936427" cy="655224"/>
            <a:chOff x="0" y="0"/>
            <a:chExt cx="2581903" cy="873631"/>
          </a:xfrm>
        </p:grpSpPr>
        <p:grpSp>
          <p:nvGrpSpPr>
            <p:cNvPr id="810" name="Editable vector · Freeform 144"/>
            <p:cNvGrpSpPr/>
            <p:nvPr/>
          </p:nvGrpSpPr>
          <p:grpSpPr>
            <a:xfrm>
              <a:off x="538906" y="0"/>
              <a:ext cx="792898" cy="451952"/>
              <a:chOff x="0" y="0"/>
              <a:chExt cx="792898" cy="451952"/>
            </a:xfrm>
          </p:grpSpPr>
          <p:sp>
            <p:nvSpPr>
              <p:cNvPr id="811" name="Freeform 144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12" name="Freeform 144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13" name="Freeform 144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814" name="Freeform 144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15" name="Freeform 144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816" name="Freeform 144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17" name="Freeform 144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818" name="Freeform 144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19" name="Freeform 144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820" name="Freeform 144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21" name="Freeform 144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822" name="Freeform 144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23" name="Freeform 144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824" name="Freeform 144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825" name="Editable vector · Freeform 145"/>
            <p:cNvGrpSpPr/>
            <p:nvPr/>
          </p:nvGrpSpPr>
          <p:grpSpPr>
            <a:xfrm>
              <a:off x="1156354" y="0"/>
              <a:ext cx="792898" cy="451952"/>
              <a:chOff x="0" y="0"/>
              <a:chExt cx="792898" cy="451952"/>
            </a:xfrm>
          </p:grpSpPr>
          <p:sp>
            <p:nvSpPr>
              <p:cNvPr id="826" name="Freeform 145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27" name="Freeform 145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28" name="Freeform 145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829" name="Freeform 145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30" name="Freeform 145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831" name="Freeform 145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32" name="Freeform 145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833" name="Freeform 145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34" name="Freeform 145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835" name="Freeform 145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36" name="Freeform 145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837" name="Freeform 145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38" name="Freeform 145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839" name="Freeform 145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840" name="Editable vector · Freeform 146"/>
            <p:cNvGrpSpPr/>
            <p:nvPr/>
          </p:nvGrpSpPr>
          <p:grpSpPr>
            <a:xfrm>
              <a:off x="1789005" y="0"/>
              <a:ext cx="792898" cy="451952"/>
              <a:chOff x="0" y="0"/>
              <a:chExt cx="792898" cy="451952"/>
            </a:xfrm>
          </p:grpSpPr>
          <p:sp>
            <p:nvSpPr>
              <p:cNvPr id="841" name="Freeform 146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42" name="Freeform 146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43" name="Freeform 146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844" name="Freeform 146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45" name="Freeform 146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846" name="Freeform 146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47" name="Freeform 146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848" name="Freeform 146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49" name="Freeform 146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850" name="Freeform 146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51" name="Freeform 146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852" name="Freeform 146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853" name="Freeform 146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854" name="Freeform 146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855" name="Editable vector · Freeform 147"/>
            <p:cNvGrpSpPr/>
            <p:nvPr/>
          </p:nvGrpSpPr>
          <p:grpSpPr>
            <a:xfrm>
              <a:off x="379986" y="123657"/>
              <a:ext cx="792898" cy="451952"/>
              <a:chOff x="0" y="0"/>
              <a:chExt cx="792898" cy="451952"/>
            </a:xfrm>
          </p:grpSpPr>
          <p:sp>
            <p:nvSpPr>
              <p:cNvPr id="856" name="Freeform 147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57" name="Freeform 147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58" name="Freeform 147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59" name="Freeform 147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60" name="Freeform 147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61" name="Freeform 147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62" name="Freeform 147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863" name="Freeform 147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64" name="Freeform 147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65" name="Freeform 147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66" name="Freeform 147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67" name="Freeform 147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68" name="Freeform 147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869" name="Freeform 147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870" name="Editable vector · Freeform 148"/>
            <p:cNvGrpSpPr/>
            <p:nvPr/>
          </p:nvGrpSpPr>
          <p:grpSpPr>
            <a:xfrm>
              <a:off x="1008487" y="123657"/>
              <a:ext cx="792898" cy="451952"/>
              <a:chOff x="0" y="0"/>
              <a:chExt cx="792898" cy="451952"/>
            </a:xfrm>
          </p:grpSpPr>
          <p:sp>
            <p:nvSpPr>
              <p:cNvPr id="871" name="Freeform 148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72" name="Freeform 148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73" name="Freeform 148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74" name="Freeform 148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75" name="Freeform 148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76" name="Freeform 148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77" name="Freeform 148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878" name="Freeform 148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79" name="Freeform 148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80" name="Freeform 148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81" name="Freeform 148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82" name="Freeform 148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83" name="Freeform 148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884" name="Freeform 148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885" name="Editable vector · Freeform 149"/>
            <p:cNvGrpSpPr/>
            <p:nvPr/>
          </p:nvGrpSpPr>
          <p:grpSpPr>
            <a:xfrm>
              <a:off x="1633536" y="123657"/>
              <a:ext cx="792898" cy="451952"/>
              <a:chOff x="0" y="0"/>
              <a:chExt cx="792898" cy="451952"/>
            </a:xfrm>
          </p:grpSpPr>
          <p:sp>
            <p:nvSpPr>
              <p:cNvPr id="886" name="Freeform 149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87" name="Freeform 149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88" name="Freeform 149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89" name="Freeform 149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90" name="Freeform 149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91" name="Freeform 149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92" name="Freeform 149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893" name="Freeform 149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94" name="Freeform 149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95" name="Freeform 149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96" name="Freeform 149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897" name="Freeform 149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898" name="Freeform 149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899" name="Freeform 149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900" name="Editable vector · Freeform 150"/>
            <p:cNvGrpSpPr/>
            <p:nvPr/>
          </p:nvGrpSpPr>
          <p:grpSpPr>
            <a:xfrm>
              <a:off x="233265" y="238676"/>
              <a:ext cx="792898" cy="451952"/>
              <a:chOff x="0" y="0"/>
              <a:chExt cx="792898" cy="451952"/>
            </a:xfrm>
          </p:grpSpPr>
          <p:sp>
            <p:nvSpPr>
              <p:cNvPr id="901" name="Freeform 150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02" name="Freeform 150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03" name="Freeform 150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904" name="Freeform 150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05" name="Freeform 150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906" name="Freeform 150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07" name="Freeform 150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908" name="Freeform 150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09" name="Freeform 150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910" name="Freeform 150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11" name="Freeform 150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912" name="Freeform 150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13" name="Freeform 150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914" name="Freeform 150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915" name="Editable vector · Freeform 151"/>
            <p:cNvGrpSpPr/>
            <p:nvPr/>
          </p:nvGrpSpPr>
          <p:grpSpPr>
            <a:xfrm>
              <a:off x="856321" y="238676"/>
              <a:ext cx="792898" cy="451952"/>
              <a:chOff x="0" y="0"/>
              <a:chExt cx="792898" cy="451952"/>
            </a:xfrm>
          </p:grpSpPr>
          <p:sp>
            <p:nvSpPr>
              <p:cNvPr id="916" name="Freeform 151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17" name="Freeform 151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18" name="Freeform 151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919" name="Freeform 151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20" name="Freeform 151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921" name="Freeform 151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22" name="Freeform 151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923" name="Freeform 151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24" name="Freeform 151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925" name="Freeform 151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26" name="Freeform 151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927" name="Freeform 151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28" name="Freeform 151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929" name="Freeform 151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930" name="Editable vector · Freeform 152"/>
            <p:cNvGrpSpPr/>
            <p:nvPr/>
          </p:nvGrpSpPr>
          <p:grpSpPr>
            <a:xfrm>
              <a:off x="1495212" y="238676"/>
              <a:ext cx="792898" cy="451952"/>
              <a:chOff x="0" y="0"/>
              <a:chExt cx="792898" cy="451952"/>
            </a:xfrm>
          </p:grpSpPr>
          <p:sp>
            <p:nvSpPr>
              <p:cNvPr id="931" name="Freeform 152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32" name="Freeform 152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33" name="Freeform 152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934" name="Freeform 152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35" name="Freeform 152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936" name="Freeform 152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37" name="Freeform 152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938" name="Freeform 152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39" name="Freeform 152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940" name="Freeform 152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41" name="Freeform 152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942" name="Freeform 152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943" name="Freeform 152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944" name="Freeform 152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945" name="Editable vector · Freeform 153"/>
            <p:cNvGrpSpPr/>
            <p:nvPr/>
          </p:nvGrpSpPr>
          <p:grpSpPr>
            <a:xfrm>
              <a:off x="0" y="422202"/>
              <a:ext cx="791981" cy="451429"/>
              <a:chOff x="0" y="0"/>
              <a:chExt cx="791981" cy="451429"/>
            </a:xfrm>
          </p:grpSpPr>
          <p:sp>
            <p:nvSpPr>
              <p:cNvPr id="946" name="Freeform 153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47" name="Freeform 153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48" name="Freeform 153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949" name="Freeform 153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50" name="Freeform 153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951" name="Freeform 153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52" name="Freeform 153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953" name="Freeform 153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54" name="Freeform 153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955" name="Freeform 153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56" name="Freeform 153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957" name="Freeform 153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58" name="Freeform 153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959" name="Freeform 153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  <p:grpSp>
          <p:nvGrpSpPr>
            <p:cNvPr id="960" name="Editable vector · Freeform 154"/>
            <p:cNvGrpSpPr/>
            <p:nvPr/>
          </p:nvGrpSpPr>
          <p:grpSpPr>
            <a:xfrm>
              <a:off x="636087" y="422202"/>
              <a:ext cx="791981" cy="451429"/>
              <a:chOff x="0" y="0"/>
              <a:chExt cx="791981" cy="451429"/>
            </a:xfrm>
          </p:grpSpPr>
          <p:sp>
            <p:nvSpPr>
              <p:cNvPr id="961" name="Freeform 154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62" name="Freeform 154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63" name="Freeform 154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964" name="Freeform 154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65" name="Freeform 154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966" name="Freeform 154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67" name="Freeform 154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968" name="Freeform 154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69" name="Freeform 154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970" name="Freeform 154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71" name="Freeform 154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972" name="Freeform 154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73" name="Freeform 154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974" name="Freeform 154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  <p:grpSp>
          <p:nvGrpSpPr>
            <p:cNvPr id="975" name="Editable vector · Freeform 155"/>
            <p:cNvGrpSpPr/>
            <p:nvPr/>
          </p:nvGrpSpPr>
          <p:grpSpPr>
            <a:xfrm>
              <a:off x="1271218" y="422202"/>
              <a:ext cx="791981" cy="451429"/>
              <a:chOff x="0" y="0"/>
              <a:chExt cx="791981" cy="451429"/>
            </a:xfrm>
          </p:grpSpPr>
          <p:sp>
            <p:nvSpPr>
              <p:cNvPr id="976" name="Freeform 155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77" name="Freeform 155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78" name="Freeform 155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979" name="Freeform 155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80" name="Freeform 155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981" name="Freeform 155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82" name="Freeform 155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983" name="Freeform 155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84" name="Freeform 155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985" name="Freeform 155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86" name="Freeform 155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987" name="Freeform 155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988" name="Freeform 155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989" name="Freeform 155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</p:grpSp>
      <p:grpSp>
        <p:nvGrpSpPr>
          <p:cNvPr id="990" name="Group 323"/>
          <p:cNvGrpSpPr/>
          <p:nvPr/>
        </p:nvGrpSpPr>
        <p:grpSpPr>
          <a:xfrm>
            <a:off x="1001046" y="1116247"/>
            <a:ext cx="1525414" cy="521857"/>
            <a:chOff x="0" y="0"/>
            <a:chExt cx="2033886" cy="695809"/>
          </a:xfrm>
        </p:grpSpPr>
        <p:grpSp>
          <p:nvGrpSpPr>
            <p:cNvPr id="991" name="Editable vector · Freeform 324"/>
            <p:cNvGrpSpPr/>
            <p:nvPr/>
          </p:nvGrpSpPr>
          <p:grpSpPr>
            <a:xfrm>
              <a:off x="305642" y="2590"/>
              <a:ext cx="792898" cy="451952"/>
              <a:chOff x="0" y="0"/>
              <a:chExt cx="792898" cy="451952"/>
            </a:xfrm>
          </p:grpSpPr>
          <p:sp>
            <p:nvSpPr>
              <p:cNvPr id="992" name="Freeform 324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993" name="Freeform 324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994" name="Freeform 324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995" name="Freeform 324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996" name="Freeform 324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997" name="Freeform 324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998" name="Freeform 324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999" name="Freeform 324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00" name="Freeform 324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001" name="Freeform 324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02" name="Freeform 324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03" name="Freeform 324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04" name="Freeform 324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005" name="Freeform 324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006" name="Editable vector · Freeform 325"/>
            <p:cNvGrpSpPr/>
            <p:nvPr/>
          </p:nvGrpSpPr>
          <p:grpSpPr>
            <a:xfrm>
              <a:off x="923089" y="2590"/>
              <a:ext cx="792898" cy="451952"/>
              <a:chOff x="0" y="0"/>
              <a:chExt cx="792898" cy="451952"/>
            </a:xfrm>
          </p:grpSpPr>
          <p:sp>
            <p:nvSpPr>
              <p:cNvPr id="1007" name="Freeform 325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08" name="Freeform 325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09" name="Freeform 325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010" name="Freeform 325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11" name="Freeform 325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12" name="Freeform 325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13" name="Freeform 325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014" name="Freeform 325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15" name="Freeform 325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016" name="Freeform 325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17" name="Freeform 325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18" name="Freeform 325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19" name="Freeform 325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020" name="Freeform 325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021" name="Editable vector · Freeform 326"/>
            <p:cNvGrpSpPr/>
            <p:nvPr/>
          </p:nvGrpSpPr>
          <p:grpSpPr>
            <a:xfrm>
              <a:off x="146722" y="126247"/>
              <a:ext cx="792898" cy="451952"/>
              <a:chOff x="0" y="0"/>
              <a:chExt cx="792898" cy="451952"/>
            </a:xfrm>
          </p:grpSpPr>
          <p:sp>
            <p:nvSpPr>
              <p:cNvPr id="1022" name="Freeform 326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23" name="Freeform 326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24" name="Freeform 326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25" name="Freeform 326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26" name="Freeform 326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27" name="Freeform 326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28" name="Freeform 326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029" name="Freeform 326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30" name="Freeform 326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31" name="Freeform 326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32" name="Freeform 326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33" name="Freeform 326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34" name="Freeform 326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035" name="Freeform 326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1036" name="Editable vector · Freeform 327"/>
            <p:cNvGrpSpPr/>
            <p:nvPr/>
          </p:nvGrpSpPr>
          <p:grpSpPr>
            <a:xfrm>
              <a:off x="775222" y="126247"/>
              <a:ext cx="792898" cy="451952"/>
              <a:chOff x="0" y="0"/>
              <a:chExt cx="792898" cy="451952"/>
            </a:xfrm>
          </p:grpSpPr>
          <p:sp>
            <p:nvSpPr>
              <p:cNvPr id="1037" name="Freeform 327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38" name="Freeform 327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39" name="Freeform 327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40" name="Freeform 327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41" name="Freeform 327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42" name="Freeform 327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43" name="Freeform 327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044" name="Freeform 327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45" name="Freeform 327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46" name="Freeform 327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47" name="Freeform 327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48" name="Freeform 327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49" name="Freeform 327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050" name="Freeform 327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1051" name="Editable vector · Freeform 328"/>
            <p:cNvGrpSpPr/>
            <p:nvPr/>
          </p:nvGrpSpPr>
          <p:grpSpPr>
            <a:xfrm>
              <a:off x="0" y="241266"/>
              <a:ext cx="792898" cy="451952"/>
              <a:chOff x="0" y="0"/>
              <a:chExt cx="792898" cy="451952"/>
            </a:xfrm>
          </p:grpSpPr>
          <p:sp>
            <p:nvSpPr>
              <p:cNvPr id="1052" name="Freeform 328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53" name="Freeform 328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54" name="Freeform 328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55" name="Freeform 328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56" name="Freeform 328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057" name="Freeform 328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58" name="Freeform 328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059" name="Freeform 328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60" name="Freeform 328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61" name="Freeform 328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62" name="Freeform 328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063" name="Freeform 328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64" name="Freeform 328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065" name="Freeform 328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1066" name="Editable vector · Freeform 329"/>
            <p:cNvGrpSpPr/>
            <p:nvPr/>
          </p:nvGrpSpPr>
          <p:grpSpPr>
            <a:xfrm>
              <a:off x="623056" y="241266"/>
              <a:ext cx="792898" cy="451952"/>
              <a:chOff x="0" y="0"/>
              <a:chExt cx="792898" cy="451952"/>
            </a:xfrm>
          </p:grpSpPr>
          <p:sp>
            <p:nvSpPr>
              <p:cNvPr id="1067" name="Freeform 329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68" name="Freeform 329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69" name="Freeform 329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70" name="Freeform 329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71" name="Freeform 329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072" name="Freeform 329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73" name="Freeform 329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074" name="Freeform 329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75" name="Freeform 329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76" name="Freeform 329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77" name="Freeform 329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078" name="Freeform 329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079" name="Freeform 329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080" name="Freeform 329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1081" name="Editable vector · Freeform 330"/>
            <p:cNvGrpSpPr/>
            <p:nvPr/>
          </p:nvGrpSpPr>
          <p:grpSpPr>
            <a:xfrm>
              <a:off x="1555420" y="0"/>
              <a:ext cx="478466" cy="454542"/>
              <a:chOff x="0" y="0"/>
              <a:chExt cx="478466" cy="454542"/>
            </a:xfrm>
          </p:grpSpPr>
          <p:sp>
            <p:nvSpPr>
              <p:cNvPr id="1082" name="Freeform 330 · vector path 1"/>
              <p:cNvSpPr/>
              <p:nvPr/>
            </p:nvSpPr>
            <p:spPr>
              <a:xfrm>
                <a:off x="0" y="0"/>
                <a:ext cx="478466" cy="454542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235214" y="5400"/>
                    </a:lnTo>
                    <a:lnTo>
                      <a:pt x="5400" y="198236"/>
                    </a:lnTo>
                    <a:lnTo>
                      <a:pt x="5400" y="698236"/>
                    </a:lnTo>
                    <a:lnTo>
                      <a:pt x="505399" y="698236"/>
                    </a:lnTo>
                    <a:lnTo>
                      <a:pt x="505399" y="698237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735213" y="505401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83" name="Freeform 330 · vector path 2"/>
              <p:cNvSpPr/>
              <p:nvPr/>
            </p:nvSpPr>
            <p:spPr>
              <a:xfrm>
                <a:off x="0" y="0"/>
                <a:ext cx="478466" cy="454542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703237"/>
                    </a:moveTo>
                    <a:cubicBezTo>
                      <a:pt x="4074" y="703237"/>
                      <a:pt x="2802" y="702711"/>
                      <a:pt x="1865" y="701772"/>
                    </a:cubicBezTo>
                    <a:cubicBezTo>
                      <a:pt x="926" y="700835"/>
                      <a:pt x="400" y="699563"/>
                      <a:pt x="400" y="698237"/>
                    </a:cubicBezTo>
                    <a:lnTo>
                      <a:pt x="400" y="198236"/>
                    </a:lnTo>
                    <a:cubicBezTo>
                      <a:pt x="400" y="196758"/>
                      <a:pt x="1054" y="195356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975" y="400"/>
                      <a:pt x="740213" y="2638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4" y="702066"/>
                    </a:lnTo>
                    <a:cubicBezTo>
                      <a:pt x="507714" y="702822"/>
                      <a:pt x="506576" y="703236"/>
                      <a:pt x="505400" y="703236"/>
                    </a:cubicBezTo>
                    <a:lnTo>
                      <a:pt x="5400" y="703237"/>
                    </a:lnTo>
                    <a:close/>
                    <a:moveTo>
                      <a:pt x="10400" y="693237"/>
                    </a:moveTo>
                    <a:lnTo>
                      <a:pt x="503579" y="693237"/>
                    </a:lnTo>
                    <a:lnTo>
                      <a:pt x="730213" y="503069"/>
                    </a:lnTo>
                    <a:lnTo>
                      <a:pt x="730213" y="10400"/>
                    </a:lnTo>
                    <a:lnTo>
                      <a:pt x="237034" y="10400"/>
                    </a:lnTo>
                    <a:lnTo>
                      <a:pt x="10400" y="200567"/>
                    </a:lnTo>
                    <a:lnTo>
                      <a:pt x="10400" y="693237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84" name="Freeform 330 · vector path 3"/>
              <p:cNvSpPr/>
              <p:nvPr/>
            </p:nvSpPr>
            <p:spPr>
              <a:xfrm>
                <a:off x="0" y="0"/>
                <a:ext cx="478466" cy="454542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198236"/>
                    </a:moveTo>
                    <a:lnTo>
                      <a:pt x="505400" y="198236"/>
                    </a:lnTo>
                    <a:lnTo>
                      <a:pt x="505400" y="698236"/>
                    </a:lnTo>
                    <a:lnTo>
                      <a:pt x="5400" y="698236"/>
                    </a:lnTo>
                    <a:lnTo>
                      <a:pt x="5400" y="198236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085" name="Freeform 330 · vector path 4"/>
              <p:cNvSpPr/>
              <p:nvPr/>
            </p:nvSpPr>
            <p:spPr>
              <a:xfrm>
                <a:off x="0" y="0"/>
                <a:ext cx="478466" cy="454542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400" y="703236"/>
                    </a:moveTo>
                    <a:lnTo>
                      <a:pt x="5400" y="703236"/>
                    </a:lnTo>
                    <a:cubicBezTo>
                      <a:pt x="2638" y="703236"/>
                      <a:pt x="400" y="700998"/>
                      <a:pt x="400" y="698236"/>
                    </a:cubicBezTo>
                    <a:lnTo>
                      <a:pt x="400" y="198236"/>
                    </a:lnTo>
                    <a:cubicBezTo>
                      <a:pt x="400" y="195474"/>
                      <a:pt x="2638" y="193236"/>
                      <a:pt x="5400" y="193236"/>
                    </a:cubicBezTo>
                    <a:lnTo>
                      <a:pt x="505400" y="193236"/>
                    </a:lnTo>
                    <a:cubicBezTo>
                      <a:pt x="508162" y="193236"/>
                      <a:pt x="510400" y="195474"/>
                      <a:pt x="510400" y="198236"/>
                    </a:cubicBezTo>
                    <a:lnTo>
                      <a:pt x="510400" y="698236"/>
                    </a:lnTo>
                    <a:cubicBezTo>
                      <a:pt x="510400" y="700998"/>
                      <a:pt x="508162" y="703236"/>
                      <a:pt x="505400" y="703236"/>
                    </a:cubicBezTo>
                    <a:close/>
                    <a:moveTo>
                      <a:pt x="10400" y="693236"/>
                    </a:moveTo>
                    <a:lnTo>
                      <a:pt x="500400" y="693236"/>
                    </a:lnTo>
                    <a:lnTo>
                      <a:pt x="500400" y="203236"/>
                    </a:lnTo>
                    <a:lnTo>
                      <a:pt x="10400" y="203236"/>
                    </a:lnTo>
                    <a:lnTo>
                      <a:pt x="10400" y="693236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86" name="Freeform 330 · vector path 5"/>
              <p:cNvSpPr/>
              <p:nvPr/>
            </p:nvSpPr>
            <p:spPr>
              <a:xfrm>
                <a:off x="0" y="0"/>
                <a:ext cx="478466" cy="454542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198236"/>
                    </a:moveTo>
                    <a:lnTo>
                      <a:pt x="735213" y="5400"/>
                    </a:lnTo>
                    <a:lnTo>
                      <a:pt x="735213" y="505401"/>
                    </a:lnTo>
                    <a:lnTo>
                      <a:pt x="505399" y="698237"/>
                    </a:lnTo>
                    <a:lnTo>
                      <a:pt x="505399" y="198236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087" name="Freeform 330 · vector path 6"/>
              <p:cNvSpPr/>
              <p:nvPr/>
            </p:nvSpPr>
            <p:spPr>
              <a:xfrm>
                <a:off x="0" y="0"/>
                <a:ext cx="478466" cy="454542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8" y="703237"/>
                    </a:moveTo>
                    <a:cubicBezTo>
                      <a:pt x="504681" y="703237"/>
                      <a:pt x="503960" y="703083"/>
                      <a:pt x="503286" y="702768"/>
                    </a:cubicBezTo>
                    <a:cubicBezTo>
                      <a:pt x="501525" y="701947"/>
                      <a:pt x="500399" y="700180"/>
                      <a:pt x="500399" y="698237"/>
                    </a:cubicBezTo>
                    <a:lnTo>
                      <a:pt x="500399" y="198236"/>
                    </a:lnTo>
                    <a:cubicBezTo>
                      <a:pt x="500399" y="196758"/>
                      <a:pt x="501053" y="195356"/>
                      <a:pt x="502185" y="194406"/>
                    </a:cubicBezTo>
                    <a:lnTo>
                      <a:pt x="731999" y="1570"/>
                    </a:lnTo>
                    <a:cubicBezTo>
                      <a:pt x="733486" y="321"/>
                      <a:pt x="735564" y="48"/>
                      <a:pt x="737326" y="869"/>
                    </a:cubicBezTo>
                    <a:cubicBezTo>
                      <a:pt x="739087" y="1690"/>
                      <a:pt x="740213" y="3457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3" y="702067"/>
                    </a:lnTo>
                    <a:cubicBezTo>
                      <a:pt x="507695" y="702838"/>
                      <a:pt x="506552" y="703237"/>
                      <a:pt x="505398" y="703237"/>
                    </a:cubicBezTo>
                    <a:close/>
                    <a:moveTo>
                      <a:pt x="510399" y="200567"/>
                    </a:moveTo>
                    <a:lnTo>
                      <a:pt x="510399" y="687514"/>
                    </a:lnTo>
                    <a:lnTo>
                      <a:pt x="730212" y="503069"/>
                    </a:lnTo>
                    <a:lnTo>
                      <a:pt x="730212" y="16123"/>
                    </a:lnTo>
                    <a:lnTo>
                      <a:pt x="510399" y="200567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088" name="Freeform 330 · vector path 7"/>
              <p:cNvSpPr/>
              <p:nvPr/>
            </p:nvSpPr>
            <p:spPr>
              <a:xfrm>
                <a:off x="0" y="0"/>
                <a:ext cx="478466" cy="454542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505399" y="198236"/>
                    </a:lnTo>
                    <a:lnTo>
                      <a:pt x="5400" y="198236"/>
                    </a:lnTo>
                    <a:lnTo>
                      <a:pt x="235213" y="5400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089" name="Freeform 330 · vector path 8"/>
              <p:cNvSpPr/>
              <p:nvPr/>
            </p:nvSpPr>
            <p:spPr>
              <a:xfrm>
                <a:off x="0" y="0"/>
                <a:ext cx="478466" cy="454542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203236"/>
                    </a:moveTo>
                    <a:lnTo>
                      <a:pt x="5400" y="203236"/>
                    </a:lnTo>
                    <a:cubicBezTo>
                      <a:pt x="3298" y="203236"/>
                      <a:pt x="1421" y="201922"/>
                      <a:pt x="702" y="199946"/>
                    </a:cubicBezTo>
                    <a:cubicBezTo>
                      <a:pt x="-17" y="197970"/>
                      <a:pt x="576" y="195757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315" y="400"/>
                      <a:pt x="739192" y="1714"/>
                      <a:pt x="739911" y="3690"/>
                    </a:cubicBezTo>
                    <a:cubicBezTo>
                      <a:pt x="740630" y="5666"/>
                      <a:pt x="740037" y="7879"/>
                      <a:pt x="738427" y="9230"/>
                    </a:cubicBezTo>
                    <a:lnTo>
                      <a:pt x="508613" y="202066"/>
                    </a:lnTo>
                    <a:cubicBezTo>
                      <a:pt x="507712" y="202822"/>
                      <a:pt x="506575" y="203236"/>
                      <a:pt x="505399" y="203236"/>
                    </a:cubicBezTo>
                    <a:close/>
                    <a:moveTo>
                      <a:pt x="19137" y="193236"/>
                    </a:moveTo>
                    <a:lnTo>
                      <a:pt x="503578" y="193236"/>
                    </a:lnTo>
                    <a:lnTo>
                      <a:pt x="721475" y="10400"/>
                    </a:lnTo>
                    <a:lnTo>
                      <a:pt x="237034" y="10400"/>
                    </a:lnTo>
                    <a:lnTo>
                      <a:pt x="19137" y="193236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090" name="Editable vector · Freeform 331"/>
            <p:cNvGrpSpPr/>
            <p:nvPr/>
          </p:nvGrpSpPr>
          <p:grpSpPr>
            <a:xfrm>
              <a:off x="1393094" y="128812"/>
              <a:ext cx="481192" cy="457133"/>
              <a:chOff x="0" y="0"/>
              <a:chExt cx="481192" cy="457133"/>
            </a:xfrm>
          </p:grpSpPr>
          <p:sp>
            <p:nvSpPr>
              <p:cNvPr id="1091" name="Freeform 331 · vector path 1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235214" y="5400"/>
                    </a:lnTo>
                    <a:lnTo>
                      <a:pt x="5400" y="198236"/>
                    </a:lnTo>
                    <a:lnTo>
                      <a:pt x="5400" y="698236"/>
                    </a:lnTo>
                    <a:lnTo>
                      <a:pt x="505399" y="698236"/>
                    </a:lnTo>
                    <a:lnTo>
                      <a:pt x="505399" y="698237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735213" y="505401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92" name="Freeform 331 · vector path 2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703237"/>
                    </a:moveTo>
                    <a:cubicBezTo>
                      <a:pt x="4074" y="703237"/>
                      <a:pt x="2802" y="702711"/>
                      <a:pt x="1865" y="701772"/>
                    </a:cubicBezTo>
                    <a:cubicBezTo>
                      <a:pt x="926" y="700835"/>
                      <a:pt x="400" y="699563"/>
                      <a:pt x="400" y="698237"/>
                    </a:cubicBezTo>
                    <a:lnTo>
                      <a:pt x="400" y="198236"/>
                    </a:lnTo>
                    <a:cubicBezTo>
                      <a:pt x="400" y="196758"/>
                      <a:pt x="1054" y="195356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975" y="400"/>
                      <a:pt x="740213" y="2638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4" y="702066"/>
                    </a:lnTo>
                    <a:cubicBezTo>
                      <a:pt x="507714" y="702822"/>
                      <a:pt x="506576" y="703236"/>
                      <a:pt x="505400" y="703236"/>
                    </a:cubicBezTo>
                    <a:lnTo>
                      <a:pt x="5400" y="703237"/>
                    </a:lnTo>
                    <a:close/>
                    <a:moveTo>
                      <a:pt x="10400" y="693237"/>
                    </a:moveTo>
                    <a:lnTo>
                      <a:pt x="503579" y="693237"/>
                    </a:lnTo>
                    <a:lnTo>
                      <a:pt x="730213" y="503069"/>
                    </a:lnTo>
                    <a:lnTo>
                      <a:pt x="730213" y="10400"/>
                    </a:lnTo>
                    <a:lnTo>
                      <a:pt x="237034" y="10400"/>
                    </a:lnTo>
                    <a:lnTo>
                      <a:pt x="10400" y="200567"/>
                    </a:lnTo>
                    <a:lnTo>
                      <a:pt x="10400" y="693237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93" name="Freeform 331 · vector path 3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198236"/>
                    </a:moveTo>
                    <a:lnTo>
                      <a:pt x="505400" y="198236"/>
                    </a:lnTo>
                    <a:lnTo>
                      <a:pt x="505400" y="698236"/>
                    </a:lnTo>
                    <a:lnTo>
                      <a:pt x="5400" y="698236"/>
                    </a:lnTo>
                    <a:lnTo>
                      <a:pt x="5400" y="198236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94" name="Freeform 331 · vector path 4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400" y="703236"/>
                    </a:moveTo>
                    <a:lnTo>
                      <a:pt x="5400" y="703236"/>
                    </a:lnTo>
                    <a:cubicBezTo>
                      <a:pt x="2638" y="703236"/>
                      <a:pt x="400" y="700998"/>
                      <a:pt x="400" y="698236"/>
                    </a:cubicBezTo>
                    <a:lnTo>
                      <a:pt x="400" y="198236"/>
                    </a:lnTo>
                    <a:cubicBezTo>
                      <a:pt x="400" y="195474"/>
                      <a:pt x="2638" y="193236"/>
                      <a:pt x="5400" y="193236"/>
                    </a:cubicBezTo>
                    <a:lnTo>
                      <a:pt x="505400" y="193236"/>
                    </a:lnTo>
                    <a:cubicBezTo>
                      <a:pt x="508162" y="193236"/>
                      <a:pt x="510400" y="195474"/>
                      <a:pt x="510400" y="198236"/>
                    </a:cubicBezTo>
                    <a:lnTo>
                      <a:pt x="510400" y="698236"/>
                    </a:lnTo>
                    <a:cubicBezTo>
                      <a:pt x="510400" y="700998"/>
                      <a:pt x="508162" y="703236"/>
                      <a:pt x="505400" y="703236"/>
                    </a:cubicBezTo>
                    <a:close/>
                    <a:moveTo>
                      <a:pt x="10400" y="693236"/>
                    </a:moveTo>
                    <a:lnTo>
                      <a:pt x="500400" y="693236"/>
                    </a:lnTo>
                    <a:lnTo>
                      <a:pt x="500400" y="203236"/>
                    </a:lnTo>
                    <a:lnTo>
                      <a:pt x="10400" y="203236"/>
                    </a:lnTo>
                    <a:lnTo>
                      <a:pt x="10400" y="693236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95" name="Freeform 331 · vector path 5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198236"/>
                    </a:moveTo>
                    <a:lnTo>
                      <a:pt x="735213" y="5400"/>
                    </a:lnTo>
                    <a:lnTo>
                      <a:pt x="735213" y="505401"/>
                    </a:lnTo>
                    <a:lnTo>
                      <a:pt x="505399" y="698237"/>
                    </a:lnTo>
                    <a:lnTo>
                      <a:pt x="505399" y="198236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096" name="Freeform 331 · vector path 6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8" y="703237"/>
                    </a:moveTo>
                    <a:cubicBezTo>
                      <a:pt x="504681" y="703237"/>
                      <a:pt x="503960" y="703083"/>
                      <a:pt x="503286" y="702768"/>
                    </a:cubicBezTo>
                    <a:cubicBezTo>
                      <a:pt x="501525" y="701947"/>
                      <a:pt x="500399" y="700180"/>
                      <a:pt x="500399" y="698237"/>
                    </a:cubicBezTo>
                    <a:lnTo>
                      <a:pt x="500399" y="198236"/>
                    </a:lnTo>
                    <a:cubicBezTo>
                      <a:pt x="500399" y="196758"/>
                      <a:pt x="501053" y="195356"/>
                      <a:pt x="502185" y="194406"/>
                    </a:cubicBezTo>
                    <a:lnTo>
                      <a:pt x="731999" y="1570"/>
                    </a:lnTo>
                    <a:cubicBezTo>
                      <a:pt x="733486" y="321"/>
                      <a:pt x="735564" y="48"/>
                      <a:pt x="737326" y="869"/>
                    </a:cubicBezTo>
                    <a:cubicBezTo>
                      <a:pt x="739087" y="1690"/>
                      <a:pt x="740213" y="3457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3" y="702067"/>
                    </a:lnTo>
                    <a:cubicBezTo>
                      <a:pt x="507695" y="702838"/>
                      <a:pt x="506552" y="703237"/>
                      <a:pt x="505398" y="703237"/>
                    </a:cubicBezTo>
                    <a:close/>
                    <a:moveTo>
                      <a:pt x="510399" y="200567"/>
                    </a:moveTo>
                    <a:lnTo>
                      <a:pt x="510399" y="687514"/>
                    </a:lnTo>
                    <a:lnTo>
                      <a:pt x="730212" y="503069"/>
                    </a:lnTo>
                    <a:lnTo>
                      <a:pt x="730212" y="16123"/>
                    </a:lnTo>
                    <a:lnTo>
                      <a:pt x="510399" y="200567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097" name="Freeform 331 · vector path 7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505399" y="198236"/>
                    </a:lnTo>
                    <a:lnTo>
                      <a:pt x="5400" y="198236"/>
                    </a:lnTo>
                    <a:lnTo>
                      <a:pt x="235213" y="5400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098" name="Freeform 331 · vector path 8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203236"/>
                    </a:moveTo>
                    <a:lnTo>
                      <a:pt x="5400" y="203236"/>
                    </a:lnTo>
                    <a:cubicBezTo>
                      <a:pt x="3298" y="203236"/>
                      <a:pt x="1421" y="201922"/>
                      <a:pt x="702" y="199946"/>
                    </a:cubicBezTo>
                    <a:cubicBezTo>
                      <a:pt x="-17" y="197970"/>
                      <a:pt x="576" y="195757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315" y="400"/>
                      <a:pt x="739192" y="1714"/>
                      <a:pt x="739911" y="3690"/>
                    </a:cubicBezTo>
                    <a:cubicBezTo>
                      <a:pt x="740630" y="5666"/>
                      <a:pt x="740037" y="7879"/>
                      <a:pt x="738427" y="9230"/>
                    </a:cubicBezTo>
                    <a:lnTo>
                      <a:pt x="508613" y="202066"/>
                    </a:lnTo>
                    <a:cubicBezTo>
                      <a:pt x="507712" y="202822"/>
                      <a:pt x="506575" y="203236"/>
                      <a:pt x="505399" y="203236"/>
                    </a:cubicBezTo>
                    <a:close/>
                    <a:moveTo>
                      <a:pt x="19137" y="193236"/>
                    </a:moveTo>
                    <a:lnTo>
                      <a:pt x="503578" y="193236"/>
                    </a:lnTo>
                    <a:lnTo>
                      <a:pt x="721475" y="10400"/>
                    </a:lnTo>
                    <a:lnTo>
                      <a:pt x="237034" y="10400"/>
                    </a:lnTo>
                    <a:lnTo>
                      <a:pt x="19137" y="193236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1099" name="Editable vector · Freeform 332"/>
            <p:cNvGrpSpPr/>
            <p:nvPr/>
          </p:nvGrpSpPr>
          <p:grpSpPr>
            <a:xfrm>
              <a:off x="1262735" y="238676"/>
              <a:ext cx="481192" cy="457133"/>
              <a:chOff x="0" y="0"/>
              <a:chExt cx="481192" cy="457133"/>
            </a:xfrm>
          </p:grpSpPr>
          <p:sp>
            <p:nvSpPr>
              <p:cNvPr id="1100" name="Freeform 332 · vector path 1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235214" y="5400"/>
                    </a:lnTo>
                    <a:lnTo>
                      <a:pt x="5400" y="198236"/>
                    </a:lnTo>
                    <a:lnTo>
                      <a:pt x="5400" y="698236"/>
                    </a:lnTo>
                    <a:lnTo>
                      <a:pt x="505399" y="698236"/>
                    </a:lnTo>
                    <a:lnTo>
                      <a:pt x="505399" y="698237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735213" y="505401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01" name="Freeform 332 · vector path 2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703237"/>
                    </a:moveTo>
                    <a:cubicBezTo>
                      <a:pt x="4074" y="703237"/>
                      <a:pt x="2802" y="702711"/>
                      <a:pt x="1865" y="701772"/>
                    </a:cubicBezTo>
                    <a:cubicBezTo>
                      <a:pt x="926" y="700835"/>
                      <a:pt x="400" y="699563"/>
                      <a:pt x="400" y="698237"/>
                    </a:cubicBezTo>
                    <a:lnTo>
                      <a:pt x="400" y="198236"/>
                    </a:lnTo>
                    <a:cubicBezTo>
                      <a:pt x="400" y="196758"/>
                      <a:pt x="1054" y="195356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975" y="400"/>
                      <a:pt x="740213" y="2638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4" y="702066"/>
                    </a:lnTo>
                    <a:cubicBezTo>
                      <a:pt x="507714" y="702822"/>
                      <a:pt x="506576" y="703236"/>
                      <a:pt x="505400" y="703236"/>
                    </a:cubicBezTo>
                    <a:lnTo>
                      <a:pt x="5400" y="703237"/>
                    </a:lnTo>
                    <a:close/>
                    <a:moveTo>
                      <a:pt x="10400" y="693237"/>
                    </a:moveTo>
                    <a:lnTo>
                      <a:pt x="503579" y="693237"/>
                    </a:lnTo>
                    <a:lnTo>
                      <a:pt x="730213" y="503069"/>
                    </a:lnTo>
                    <a:lnTo>
                      <a:pt x="730213" y="10400"/>
                    </a:lnTo>
                    <a:lnTo>
                      <a:pt x="237034" y="10400"/>
                    </a:lnTo>
                    <a:lnTo>
                      <a:pt x="10400" y="200567"/>
                    </a:lnTo>
                    <a:lnTo>
                      <a:pt x="10400" y="693237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02" name="Freeform 332 · vector path 3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198236"/>
                    </a:moveTo>
                    <a:lnTo>
                      <a:pt x="505400" y="198236"/>
                    </a:lnTo>
                    <a:lnTo>
                      <a:pt x="505400" y="698236"/>
                    </a:lnTo>
                    <a:lnTo>
                      <a:pt x="5400" y="698236"/>
                    </a:lnTo>
                    <a:lnTo>
                      <a:pt x="5400" y="198236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103" name="Freeform 332 · vector path 4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400" y="703236"/>
                    </a:moveTo>
                    <a:lnTo>
                      <a:pt x="5400" y="703236"/>
                    </a:lnTo>
                    <a:cubicBezTo>
                      <a:pt x="2638" y="703236"/>
                      <a:pt x="400" y="700998"/>
                      <a:pt x="400" y="698236"/>
                    </a:cubicBezTo>
                    <a:lnTo>
                      <a:pt x="400" y="198236"/>
                    </a:lnTo>
                    <a:cubicBezTo>
                      <a:pt x="400" y="195474"/>
                      <a:pt x="2638" y="193236"/>
                      <a:pt x="5400" y="193236"/>
                    </a:cubicBezTo>
                    <a:lnTo>
                      <a:pt x="505400" y="193236"/>
                    </a:lnTo>
                    <a:cubicBezTo>
                      <a:pt x="508162" y="193236"/>
                      <a:pt x="510400" y="195474"/>
                      <a:pt x="510400" y="198236"/>
                    </a:cubicBezTo>
                    <a:lnTo>
                      <a:pt x="510400" y="698236"/>
                    </a:lnTo>
                    <a:cubicBezTo>
                      <a:pt x="510400" y="700998"/>
                      <a:pt x="508162" y="703236"/>
                      <a:pt x="505400" y="703236"/>
                    </a:cubicBezTo>
                    <a:close/>
                    <a:moveTo>
                      <a:pt x="10400" y="693236"/>
                    </a:moveTo>
                    <a:lnTo>
                      <a:pt x="500400" y="693236"/>
                    </a:lnTo>
                    <a:lnTo>
                      <a:pt x="500400" y="203236"/>
                    </a:lnTo>
                    <a:lnTo>
                      <a:pt x="10400" y="203236"/>
                    </a:lnTo>
                    <a:lnTo>
                      <a:pt x="10400" y="693236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04" name="Freeform 332 · vector path 5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198236"/>
                    </a:moveTo>
                    <a:lnTo>
                      <a:pt x="735213" y="5400"/>
                    </a:lnTo>
                    <a:lnTo>
                      <a:pt x="735213" y="505401"/>
                    </a:lnTo>
                    <a:lnTo>
                      <a:pt x="505399" y="698237"/>
                    </a:lnTo>
                    <a:lnTo>
                      <a:pt x="505399" y="198236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105" name="Freeform 332 · vector path 6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8" y="703237"/>
                    </a:moveTo>
                    <a:cubicBezTo>
                      <a:pt x="504681" y="703237"/>
                      <a:pt x="503960" y="703083"/>
                      <a:pt x="503286" y="702768"/>
                    </a:cubicBezTo>
                    <a:cubicBezTo>
                      <a:pt x="501525" y="701947"/>
                      <a:pt x="500399" y="700180"/>
                      <a:pt x="500399" y="698237"/>
                    </a:cubicBezTo>
                    <a:lnTo>
                      <a:pt x="500399" y="198236"/>
                    </a:lnTo>
                    <a:cubicBezTo>
                      <a:pt x="500399" y="196758"/>
                      <a:pt x="501053" y="195356"/>
                      <a:pt x="502185" y="194406"/>
                    </a:cubicBezTo>
                    <a:lnTo>
                      <a:pt x="731999" y="1570"/>
                    </a:lnTo>
                    <a:cubicBezTo>
                      <a:pt x="733486" y="321"/>
                      <a:pt x="735564" y="48"/>
                      <a:pt x="737326" y="869"/>
                    </a:cubicBezTo>
                    <a:cubicBezTo>
                      <a:pt x="739087" y="1690"/>
                      <a:pt x="740213" y="3457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3" y="702067"/>
                    </a:lnTo>
                    <a:cubicBezTo>
                      <a:pt x="507695" y="702838"/>
                      <a:pt x="506552" y="703237"/>
                      <a:pt x="505398" y="703237"/>
                    </a:cubicBezTo>
                    <a:close/>
                    <a:moveTo>
                      <a:pt x="510399" y="200567"/>
                    </a:moveTo>
                    <a:lnTo>
                      <a:pt x="510399" y="687514"/>
                    </a:lnTo>
                    <a:lnTo>
                      <a:pt x="730212" y="503069"/>
                    </a:lnTo>
                    <a:lnTo>
                      <a:pt x="730212" y="16123"/>
                    </a:lnTo>
                    <a:lnTo>
                      <a:pt x="510399" y="200567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106" name="Freeform 332 · vector path 7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505399" y="198236"/>
                    </a:lnTo>
                    <a:lnTo>
                      <a:pt x="5400" y="198236"/>
                    </a:lnTo>
                    <a:lnTo>
                      <a:pt x="235213" y="5400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107" name="Freeform 332 · vector path 8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203236"/>
                    </a:moveTo>
                    <a:lnTo>
                      <a:pt x="5400" y="203236"/>
                    </a:lnTo>
                    <a:cubicBezTo>
                      <a:pt x="3298" y="203236"/>
                      <a:pt x="1421" y="201922"/>
                      <a:pt x="702" y="199946"/>
                    </a:cubicBezTo>
                    <a:cubicBezTo>
                      <a:pt x="-17" y="197970"/>
                      <a:pt x="576" y="195757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315" y="400"/>
                      <a:pt x="739192" y="1714"/>
                      <a:pt x="739911" y="3690"/>
                    </a:cubicBezTo>
                    <a:cubicBezTo>
                      <a:pt x="740630" y="5666"/>
                      <a:pt x="740037" y="7879"/>
                      <a:pt x="738427" y="9230"/>
                    </a:cubicBezTo>
                    <a:lnTo>
                      <a:pt x="508613" y="202066"/>
                    </a:lnTo>
                    <a:cubicBezTo>
                      <a:pt x="507712" y="202822"/>
                      <a:pt x="506575" y="203236"/>
                      <a:pt x="505399" y="203236"/>
                    </a:cubicBezTo>
                    <a:close/>
                    <a:moveTo>
                      <a:pt x="19137" y="193236"/>
                    </a:moveTo>
                    <a:lnTo>
                      <a:pt x="503578" y="193236"/>
                    </a:lnTo>
                    <a:lnTo>
                      <a:pt x="721475" y="10400"/>
                    </a:lnTo>
                    <a:lnTo>
                      <a:pt x="237034" y="10400"/>
                    </a:lnTo>
                    <a:lnTo>
                      <a:pt x="19137" y="193236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</p:grpSp>
      <p:grpSp>
        <p:nvGrpSpPr>
          <p:cNvPr id="1108" name="Group 333"/>
          <p:cNvGrpSpPr/>
          <p:nvPr/>
        </p:nvGrpSpPr>
        <p:grpSpPr>
          <a:xfrm>
            <a:off x="2901193" y="1150700"/>
            <a:ext cx="586688" cy="531722"/>
            <a:chOff x="0" y="0"/>
            <a:chExt cx="782250" cy="708962"/>
          </a:xfrm>
        </p:grpSpPr>
        <p:grpSp>
          <p:nvGrpSpPr>
            <p:cNvPr id="1109" name="Editable vector · Freeform 334"/>
            <p:cNvGrpSpPr/>
            <p:nvPr/>
          </p:nvGrpSpPr>
          <p:grpSpPr>
            <a:xfrm>
              <a:off x="300580" y="0"/>
              <a:ext cx="481670" cy="457586"/>
              <a:chOff x="0" y="0"/>
              <a:chExt cx="481670" cy="457586"/>
            </a:xfrm>
          </p:grpSpPr>
          <p:sp>
            <p:nvSpPr>
              <p:cNvPr id="1110" name="Freeform 334 · vector path 1"/>
              <p:cNvSpPr/>
              <p:nvPr/>
            </p:nvSpPr>
            <p:spPr>
              <a:xfrm>
                <a:off x="0" y="0"/>
                <a:ext cx="481670" cy="457586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235214" y="5400"/>
                    </a:lnTo>
                    <a:lnTo>
                      <a:pt x="5400" y="198236"/>
                    </a:lnTo>
                    <a:lnTo>
                      <a:pt x="5400" y="698236"/>
                    </a:lnTo>
                    <a:lnTo>
                      <a:pt x="505399" y="698236"/>
                    </a:lnTo>
                    <a:lnTo>
                      <a:pt x="505399" y="698237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735213" y="505401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11" name="Freeform 334 · vector path 2"/>
              <p:cNvSpPr/>
              <p:nvPr/>
            </p:nvSpPr>
            <p:spPr>
              <a:xfrm>
                <a:off x="0" y="0"/>
                <a:ext cx="481670" cy="457586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703237"/>
                    </a:moveTo>
                    <a:cubicBezTo>
                      <a:pt x="4074" y="703237"/>
                      <a:pt x="2802" y="702711"/>
                      <a:pt x="1865" y="701772"/>
                    </a:cubicBezTo>
                    <a:cubicBezTo>
                      <a:pt x="926" y="700835"/>
                      <a:pt x="400" y="699563"/>
                      <a:pt x="400" y="698237"/>
                    </a:cubicBezTo>
                    <a:lnTo>
                      <a:pt x="400" y="198236"/>
                    </a:lnTo>
                    <a:cubicBezTo>
                      <a:pt x="400" y="196758"/>
                      <a:pt x="1054" y="195356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975" y="400"/>
                      <a:pt x="740213" y="2638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4" y="702066"/>
                    </a:lnTo>
                    <a:cubicBezTo>
                      <a:pt x="507714" y="702822"/>
                      <a:pt x="506576" y="703236"/>
                      <a:pt x="505400" y="703236"/>
                    </a:cubicBezTo>
                    <a:lnTo>
                      <a:pt x="5400" y="703237"/>
                    </a:lnTo>
                    <a:close/>
                    <a:moveTo>
                      <a:pt x="10400" y="693237"/>
                    </a:moveTo>
                    <a:lnTo>
                      <a:pt x="503579" y="693237"/>
                    </a:lnTo>
                    <a:lnTo>
                      <a:pt x="730213" y="503069"/>
                    </a:lnTo>
                    <a:lnTo>
                      <a:pt x="730213" y="10400"/>
                    </a:lnTo>
                    <a:lnTo>
                      <a:pt x="237034" y="10400"/>
                    </a:lnTo>
                    <a:lnTo>
                      <a:pt x="10400" y="200567"/>
                    </a:lnTo>
                    <a:lnTo>
                      <a:pt x="10400" y="693237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12" name="Freeform 334 · vector path 3"/>
              <p:cNvSpPr/>
              <p:nvPr/>
            </p:nvSpPr>
            <p:spPr>
              <a:xfrm>
                <a:off x="0" y="0"/>
                <a:ext cx="481670" cy="457586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198236"/>
                    </a:moveTo>
                    <a:lnTo>
                      <a:pt x="505400" y="198236"/>
                    </a:lnTo>
                    <a:lnTo>
                      <a:pt x="505400" y="698236"/>
                    </a:lnTo>
                    <a:lnTo>
                      <a:pt x="5400" y="698236"/>
                    </a:lnTo>
                    <a:lnTo>
                      <a:pt x="5400" y="198236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113" name="Freeform 334 · vector path 4"/>
              <p:cNvSpPr/>
              <p:nvPr/>
            </p:nvSpPr>
            <p:spPr>
              <a:xfrm>
                <a:off x="0" y="0"/>
                <a:ext cx="481670" cy="457586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400" y="703236"/>
                    </a:moveTo>
                    <a:lnTo>
                      <a:pt x="5400" y="703236"/>
                    </a:lnTo>
                    <a:cubicBezTo>
                      <a:pt x="2638" y="703236"/>
                      <a:pt x="400" y="700998"/>
                      <a:pt x="400" y="698236"/>
                    </a:cubicBezTo>
                    <a:lnTo>
                      <a:pt x="400" y="198236"/>
                    </a:lnTo>
                    <a:cubicBezTo>
                      <a:pt x="400" y="195474"/>
                      <a:pt x="2638" y="193236"/>
                      <a:pt x="5400" y="193236"/>
                    </a:cubicBezTo>
                    <a:lnTo>
                      <a:pt x="505400" y="193236"/>
                    </a:lnTo>
                    <a:cubicBezTo>
                      <a:pt x="508162" y="193236"/>
                      <a:pt x="510400" y="195474"/>
                      <a:pt x="510400" y="198236"/>
                    </a:cubicBezTo>
                    <a:lnTo>
                      <a:pt x="510400" y="698236"/>
                    </a:lnTo>
                    <a:cubicBezTo>
                      <a:pt x="510400" y="700998"/>
                      <a:pt x="508162" y="703236"/>
                      <a:pt x="505400" y="703236"/>
                    </a:cubicBezTo>
                    <a:close/>
                    <a:moveTo>
                      <a:pt x="10400" y="693236"/>
                    </a:moveTo>
                    <a:lnTo>
                      <a:pt x="500400" y="693236"/>
                    </a:lnTo>
                    <a:lnTo>
                      <a:pt x="500400" y="203236"/>
                    </a:lnTo>
                    <a:lnTo>
                      <a:pt x="10400" y="203236"/>
                    </a:lnTo>
                    <a:lnTo>
                      <a:pt x="10400" y="693236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14" name="Freeform 334 · vector path 5"/>
              <p:cNvSpPr/>
              <p:nvPr/>
            </p:nvSpPr>
            <p:spPr>
              <a:xfrm>
                <a:off x="0" y="0"/>
                <a:ext cx="481670" cy="457586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198236"/>
                    </a:moveTo>
                    <a:lnTo>
                      <a:pt x="735213" y="5400"/>
                    </a:lnTo>
                    <a:lnTo>
                      <a:pt x="735213" y="505401"/>
                    </a:lnTo>
                    <a:lnTo>
                      <a:pt x="505399" y="698237"/>
                    </a:lnTo>
                    <a:lnTo>
                      <a:pt x="505399" y="198236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115" name="Freeform 334 · vector path 6"/>
              <p:cNvSpPr/>
              <p:nvPr/>
            </p:nvSpPr>
            <p:spPr>
              <a:xfrm>
                <a:off x="0" y="0"/>
                <a:ext cx="481670" cy="457586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8" y="703237"/>
                    </a:moveTo>
                    <a:cubicBezTo>
                      <a:pt x="504681" y="703237"/>
                      <a:pt x="503960" y="703083"/>
                      <a:pt x="503286" y="702768"/>
                    </a:cubicBezTo>
                    <a:cubicBezTo>
                      <a:pt x="501525" y="701947"/>
                      <a:pt x="500399" y="700180"/>
                      <a:pt x="500399" y="698237"/>
                    </a:cubicBezTo>
                    <a:lnTo>
                      <a:pt x="500399" y="198236"/>
                    </a:lnTo>
                    <a:cubicBezTo>
                      <a:pt x="500399" y="196758"/>
                      <a:pt x="501053" y="195356"/>
                      <a:pt x="502185" y="194406"/>
                    </a:cubicBezTo>
                    <a:lnTo>
                      <a:pt x="731999" y="1570"/>
                    </a:lnTo>
                    <a:cubicBezTo>
                      <a:pt x="733486" y="321"/>
                      <a:pt x="735564" y="48"/>
                      <a:pt x="737326" y="869"/>
                    </a:cubicBezTo>
                    <a:cubicBezTo>
                      <a:pt x="739087" y="1690"/>
                      <a:pt x="740213" y="3457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3" y="702067"/>
                    </a:lnTo>
                    <a:cubicBezTo>
                      <a:pt x="507695" y="702838"/>
                      <a:pt x="506552" y="703237"/>
                      <a:pt x="505398" y="703237"/>
                    </a:cubicBezTo>
                    <a:close/>
                    <a:moveTo>
                      <a:pt x="510399" y="200567"/>
                    </a:moveTo>
                    <a:lnTo>
                      <a:pt x="510399" y="687514"/>
                    </a:lnTo>
                    <a:lnTo>
                      <a:pt x="730212" y="503069"/>
                    </a:lnTo>
                    <a:lnTo>
                      <a:pt x="730212" y="16123"/>
                    </a:lnTo>
                    <a:lnTo>
                      <a:pt x="510399" y="200567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16" name="Freeform 334 · vector path 7"/>
              <p:cNvSpPr/>
              <p:nvPr/>
            </p:nvSpPr>
            <p:spPr>
              <a:xfrm>
                <a:off x="0" y="0"/>
                <a:ext cx="481670" cy="457586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505399" y="198236"/>
                    </a:lnTo>
                    <a:lnTo>
                      <a:pt x="5400" y="198236"/>
                    </a:lnTo>
                    <a:lnTo>
                      <a:pt x="235213" y="5400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117" name="Freeform 334 · vector path 8"/>
              <p:cNvSpPr/>
              <p:nvPr/>
            </p:nvSpPr>
            <p:spPr>
              <a:xfrm>
                <a:off x="0" y="0"/>
                <a:ext cx="481670" cy="457586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203236"/>
                    </a:moveTo>
                    <a:lnTo>
                      <a:pt x="5400" y="203236"/>
                    </a:lnTo>
                    <a:cubicBezTo>
                      <a:pt x="3298" y="203236"/>
                      <a:pt x="1421" y="201922"/>
                      <a:pt x="702" y="199946"/>
                    </a:cubicBezTo>
                    <a:cubicBezTo>
                      <a:pt x="-17" y="197970"/>
                      <a:pt x="576" y="195757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315" y="400"/>
                      <a:pt x="739192" y="1714"/>
                      <a:pt x="739911" y="3690"/>
                    </a:cubicBezTo>
                    <a:cubicBezTo>
                      <a:pt x="740630" y="5666"/>
                      <a:pt x="740037" y="7879"/>
                      <a:pt x="738427" y="9230"/>
                    </a:cubicBezTo>
                    <a:lnTo>
                      <a:pt x="508613" y="202066"/>
                    </a:lnTo>
                    <a:cubicBezTo>
                      <a:pt x="507712" y="202822"/>
                      <a:pt x="506575" y="203236"/>
                      <a:pt x="505399" y="203236"/>
                    </a:cubicBezTo>
                    <a:close/>
                    <a:moveTo>
                      <a:pt x="19137" y="193236"/>
                    </a:moveTo>
                    <a:lnTo>
                      <a:pt x="503578" y="193236"/>
                    </a:lnTo>
                    <a:lnTo>
                      <a:pt x="721475" y="10400"/>
                    </a:lnTo>
                    <a:lnTo>
                      <a:pt x="237034" y="10400"/>
                    </a:lnTo>
                    <a:lnTo>
                      <a:pt x="19137" y="193236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</p:grpSp>
        <p:grpSp>
          <p:nvGrpSpPr>
            <p:cNvPr id="1118" name="Editable vector · Freeform 335"/>
            <p:cNvGrpSpPr/>
            <p:nvPr/>
          </p:nvGrpSpPr>
          <p:grpSpPr>
            <a:xfrm>
              <a:off x="153308" y="124111"/>
              <a:ext cx="481192" cy="457133"/>
              <a:chOff x="0" y="0"/>
              <a:chExt cx="481192" cy="457133"/>
            </a:xfrm>
          </p:grpSpPr>
          <p:sp>
            <p:nvSpPr>
              <p:cNvPr id="1119" name="Freeform 335 · vector path 1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235214" y="5400"/>
                    </a:lnTo>
                    <a:lnTo>
                      <a:pt x="5400" y="198236"/>
                    </a:lnTo>
                    <a:lnTo>
                      <a:pt x="5400" y="698236"/>
                    </a:lnTo>
                    <a:lnTo>
                      <a:pt x="505399" y="698236"/>
                    </a:lnTo>
                    <a:lnTo>
                      <a:pt x="505399" y="698237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735213" y="505401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20" name="Freeform 335 · vector path 2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703237"/>
                    </a:moveTo>
                    <a:cubicBezTo>
                      <a:pt x="4074" y="703237"/>
                      <a:pt x="2802" y="702711"/>
                      <a:pt x="1865" y="701772"/>
                    </a:cubicBezTo>
                    <a:cubicBezTo>
                      <a:pt x="926" y="700835"/>
                      <a:pt x="400" y="699563"/>
                      <a:pt x="400" y="698237"/>
                    </a:cubicBezTo>
                    <a:lnTo>
                      <a:pt x="400" y="198236"/>
                    </a:lnTo>
                    <a:cubicBezTo>
                      <a:pt x="400" y="196758"/>
                      <a:pt x="1054" y="195356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975" y="400"/>
                      <a:pt x="740213" y="2638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4" y="702066"/>
                    </a:lnTo>
                    <a:cubicBezTo>
                      <a:pt x="507714" y="702822"/>
                      <a:pt x="506576" y="703236"/>
                      <a:pt x="505400" y="703236"/>
                    </a:cubicBezTo>
                    <a:lnTo>
                      <a:pt x="5400" y="703237"/>
                    </a:lnTo>
                    <a:close/>
                    <a:moveTo>
                      <a:pt x="10400" y="693237"/>
                    </a:moveTo>
                    <a:lnTo>
                      <a:pt x="503579" y="693237"/>
                    </a:lnTo>
                    <a:lnTo>
                      <a:pt x="730213" y="503069"/>
                    </a:lnTo>
                    <a:lnTo>
                      <a:pt x="730213" y="10400"/>
                    </a:lnTo>
                    <a:lnTo>
                      <a:pt x="237034" y="10400"/>
                    </a:lnTo>
                    <a:lnTo>
                      <a:pt x="10400" y="200567"/>
                    </a:lnTo>
                    <a:lnTo>
                      <a:pt x="10400" y="693237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21" name="Freeform 335 · vector path 3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198236"/>
                    </a:moveTo>
                    <a:lnTo>
                      <a:pt x="505400" y="198236"/>
                    </a:lnTo>
                    <a:lnTo>
                      <a:pt x="505400" y="698236"/>
                    </a:lnTo>
                    <a:lnTo>
                      <a:pt x="5400" y="698236"/>
                    </a:lnTo>
                    <a:lnTo>
                      <a:pt x="5400" y="198236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122" name="Freeform 335 · vector path 4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400" y="703236"/>
                    </a:moveTo>
                    <a:lnTo>
                      <a:pt x="5400" y="703236"/>
                    </a:lnTo>
                    <a:cubicBezTo>
                      <a:pt x="2638" y="703236"/>
                      <a:pt x="400" y="700998"/>
                      <a:pt x="400" y="698236"/>
                    </a:cubicBezTo>
                    <a:lnTo>
                      <a:pt x="400" y="198236"/>
                    </a:lnTo>
                    <a:cubicBezTo>
                      <a:pt x="400" y="195474"/>
                      <a:pt x="2638" y="193236"/>
                      <a:pt x="5400" y="193236"/>
                    </a:cubicBezTo>
                    <a:lnTo>
                      <a:pt x="505400" y="193236"/>
                    </a:lnTo>
                    <a:cubicBezTo>
                      <a:pt x="508162" y="193236"/>
                      <a:pt x="510400" y="195474"/>
                      <a:pt x="510400" y="198236"/>
                    </a:cubicBezTo>
                    <a:lnTo>
                      <a:pt x="510400" y="698236"/>
                    </a:lnTo>
                    <a:cubicBezTo>
                      <a:pt x="510400" y="700998"/>
                      <a:pt x="508162" y="703236"/>
                      <a:pt x="505400" y="703236"/>
                    </a:cubicBezTo>
                    <a:close/>
                    <a:moveTo>
                      <a:pt x="10400" y="693236"/>
                    </a:moveTo>
                    <a:lnTo>
                      <a:pt x="500400" y="693236"/>
                    </a:lnTo>
                    <a:lnTo>
                      <a:pt x="500400" y="203236"/>
                    </a:lnTo>
                    <a:lnTo>
                      <a:pt x="10400" y="203236"/>
                    </a:lnTo>
                    <a:lnTo>
                      <a:pt x="10400" y="693236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23" name="Freeform 335 · vector path 5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198236"/>
                    </a:moveTo>
                    <a:lnTo>
                      <a:pt x="735213" y="5400"/>
                    </a:lnTo>
                    <a:lnTo>
                      <a:pt x="735213" y="505401"/>
                    </a:lnTo>
                    <a:lnTo>
                      <a:pt x="505399" y="698237"/>
                    </a:lnTo>
                    <a:lnTo>
                      <a:pt x="505399" y="198236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124" name="Freeform 335 · vector path 6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8" y="703237"/>
                    </a:moveTo>
                    <a:cubicBezTo>
                      <a:pt x="504681" y="703237"/>
                      <a:pt x="503960" y="703083"/>
                      <a:pt x="503286" y="702768"/>
                    </a:cubicBezTo>
                    <a:cubicBezTo>
                      <a:pt x="501525" y="701947"/>
                      <a:pt x="500399" y="700180"/>
                      <a:pt x="500399" y="698237"/>
                    </a:cubicBezTo>
                    <a:lnTo>
                      <a:pt x="500399" y="198236"/>
                    </a:lnTo>
                    <a:cubicBezTo>
                      <a:pt x="500399" y="196758"/>
                      <a:pt x="501053" y="195356"/>
                      <a:pt x="502185" y="194406"/>
                    </a:cubicBezTo>
                    <a:lnTo>
                      <a:pt x="731999" y="1570"/>
                    </a:lnTo>
                    <a:cubicBezTo>
                      <a:pt x="733486" y="321"/>
                      <a:pt x="735564" y="48"/>
                      <a:pt x="737326" y="869"/>
                    </a:cubicBezTo>
                    <a:cubicBezTo>
                      <a:pt x="739087" y="1690"/>
                      <a:pt x="740213" y="3457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3" y="702067"/>
                    </a:lnTo>
                    <a:cubicBezTo>
                      <a:pt x="507695" y="702838"/>
                      <a:pt x="506552" y="703237"/>
                      <a:pt x="505398" y="703237"/>
                    </a:cubicBezTo>
                    <a:close/>
                    <a:moveTo>
                      <a:pt x="510399" y="200567"/>
                    </a:moveTo>
                    <a:lnTo>
                      <a:pt x="510399" y="687514"/>
                    </a:lnTo>
                    <a:lnTo>
                      <a:pt x="730212" y="503069"/>
                    </a:lnTo>
                    <a:lnTo>
                      <a:pt x="730212" y="16123"/>
                    </a:lnTo>
                    <a:lnTo>
                      <a:pt x="510399" y="200567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25" name="Freeform 335 · vector path 7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505399" y="198236"/>
                    </a:lnTo>
                    <a:lnTo>
                      <a:pt x="5400" y="198236"/>
                    </a:lnTo>
                    <a:lnTo>
                      <a:pt x="235213" y="5400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126" name="Freeform 335 · vector path 8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203236"/>
                    </a:moveTo>
                    <a:lnTo>
                      <a:pt x="5400" y="203236"/>
                    </a:lnTo>
                    <a:cubicBezTo>
                      <a:pt x="3298" y="203236"/>
                      <a:pt x="1421" y="201922"/>
                      <a:pt x="702" y="199946"/>
                    </a:cubicBezTo>
                    <a:cubicBezTo>
                      <a:pt x="-17" y="197970"/>
                      <a:pt x="576" y="195757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315" y="400"/>
                      <a:pt x="739192" y="1714"/>
                      <a:pt x="739911" y="3690"/>
                    </a:cubicBezTo>
                    <a:cubicBezTo>
                      <a:pt x="740630" y="5666"/>
                      <a:pt x="740037" y="7879"/>
                      <a:pt x="738427" y="9230"/>
                    </a:cubicBezTo>
                    <a:lnTo>
                      <a:pt x="508613" y="202066"/>
                    </a:lnTo>
                    <a:cubicBezTo>
                      <a:pt x="507712" y="202822"/>
                      <a:pt x="506575" y="203236"/>
                      <a:pt x="505399" y="203236"/>
                    </a:cubicBezTo>
                    <a:close/>
                    <a:moveTo>
                      <a:pt x="19137" y="193236"/>
                    </a:moveTo>
                    <a:lnTo>
                      <a:pt x="503578" y="193236"/>
                    </a:lnTo>
                    <a:lnTo>
                      <a:pt x="721475" y="10400"/>
                    </a:lnTo>
                    <a:lnTo>
                      <a:pt x="237034" y="10400"/>
                    </a:lnTo>
                    <a:lnTo>
                      <a:pt x="19137" y="193236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</p:grpSp>
        <p:grpSp>
          <p:nvGrpSpPr>
            <p:cNvPr id="1127" name="Editable vector · Freeform 336"/>
            <p:cNvGrpSpPr/>
            <p:nvPr/>
          </p:nvGrpSpPr>
          <p:grpSpPr>
            <a:xfrm>
              <a:off x="0" y="251830"/>
              <a:ext cx="481192" cy="457133"/>
              <a:chOff x="0" y="0"/>
              <a:chExt cx="481192" cy="457133"/>
            </a:xfrm>
          </p:grpSpPr>
          <p:sp>
            <p:nvSpPr>
              <p:cNvPr id="1128" name="Freeform 336 · vector path 1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235214" y="5400"/>
                    </a:lnTo>
                    <a:lnTo>
                      <a:pt x="5400" y="198236"/>
                    </a:lnTo>
                    <a:lnTo>
                      <a:pt x="5400" y="698236"/>
                    </a:lnTo>
                    <a:lnTo>
                      <a:pt x="505399" y="698236"/>
                    </a:lnTo>
                    <a:lnTo>
                      <a:pt x="505399" y="698237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505400" y="698236"/>
                    </a:lnTo>
                    <a:lnTo>
                      <a:pt x="735213" y="505401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29" name="Freeform 336 · vector path 2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703237"/>
                    </a:moveTo>
                    <a:cubicBezTo>
                      <a:pt x="4074" y="703237"/>
                      <a:pt x="2802" y="702711"/>
                      <a:pt x="1865" y="701772"/>
                    </a:cubicBezTo>
                    <a:cubicBezTo>
                      <a:pt x="926" y="700835"/>
                      <a:pt x="400" y="699563"/>
                      <a:pt x="400" y="698237"/>
                    </a:cubicBezTo>
                    <a:lnTo>
                      <a:pt x="400" y="198236"/>
                    </a:lnTo>
                    <a:cubicBezTo>
                      <a:pt x="400" y="196758"/>
                      <a:pt x="1054" y="195356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975" y="400"/>
                      <a:pt x="740213" y="2638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4" y="702066"/>
                    </a:lnTo>
                    <a:cubicBezTo>
                      <a:pt x="507714" y="702822"/>
                      <a:pt x="506576" y="703236"/>
                      <a:pt x="505400" y="703236"/>
                    </a:cubicBezTo>
                    <a:lnTo>
                      <a:pt x="5400" y="703237"/>
                    </a:lnTo>
                    <a:close/>
                    <a:moveTo>
                      <a:pt x="10400" y="693237"/>
                    </a:moveTo>
                    <a:lnTo>
                      <a:pt x="503579" y="693237"/>
                    </a:lnTo>
                    <a:lnTo>
                      <a:pt x="730213" y="503069"/>
                    </a:lnTo>
                    <a:lnTo>
                      <a:pt x="730213" y="10400"/>
                    </a:lnTo>
                    <a:lnTo>
                      <a:pt x="237034" y="10400"/>
                    </a:lnTo>
                    <a:lnTo>
                      <a:pt x="10400" y="200567"/>
                    </a:lnTo>
                    <a:lnTo>
                      <a:pt x="10400" y="693237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30" name="Freeform 336 · vector path 3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400" y="198236"/>
                    </a:moveTo>
                    <a:lnTo>
                      <a:pt x="505400" y="198236"/>
                    </a:lnTo>
                    <a:lnTo>
                      <a:pt x="505400" y="698236"/>
                    </a:lnTo>
                    <a:lnTo>
                      <a:pt x="5400" y="698236"/>
                    </a:lnTo>
                    <a:lnTo>
                      <a:pt x="5400" y="198236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131" name="Freeform 336 · vector path 4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400" y="703236"/>
                    </a:moveTo>
                    <a:lnTo>
                      <a:pt x="5400" y="703236"/>
                    </a:lnTo>
                    <a:cubicBezTo>
                      <a:pt x="2638" y="703236"/>
                      <a:pt x="400" y="700998"/>
                      <a:pt x="400" y="698236"/>
                    </a:cubicBezTo>
                    <a:lnTo>
                      <a:pt x="400" y="198236"/>
                    </a:lnTo>
                    <a:cubicBezTo>
                      <a:pt x="400" y="195474"/>
                      <a:pt x="2638" y="193236"/>
                      <a:pt x="5400" y="193236"/>
                    </a:cubicBezTo>
                    <a:lnTo>
                      <a:pt x="505400" y="193236"/>
                    </a:lnTo>
                    <a:cubicBezTo>
                      <a:pt x="508162" y="193236"/>
                      <a:pt x="510400" y="195474"/>
                      <a:pt x="510400" y="198236"/>
                    </a:cubicBezTo>
                    <a:lnTo>
                      <a:pt x="510400" y="698236"/>
                    </a:lnTo>
                    <a:cubicBezTo>
                      <a:pt x="510400" y="700998"/>
                      <a:pt x="508162" y="703236"/>
                      <a:pt x="505400" y="703236"/>
                    </a:cubicBezTo>
                    <a:close/>
                    <a:moveTo>
                      <a:pt x="10400" y="693236"/>
                    </a:moveTo>
                    <a:lnTo>
                      <a:pt x="500400" y="693236"/>
                    </a:lnTo>
                    <a:lnTo>
                      <a:pt x="500400" y="203236"/>
                    </a:lnTo>
                    <a:lnTo>
                      <a:pt x="10400" y="203236"/>
                    </a:lnTo>
                    <a:lnTo>
                      <a:pt x="10400" y="693236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32" name="Freeform 336 · vector path 5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198236"/>
                    </a:moveTo>
                    <a:lnTo>
                      <a:pt x="735213" y="5400"/>
                    </a:lnTo>
                    <a:lnTo>
                      <a:pt x="735213" y="505401"/>
                    </a:lnTo>
                    <a:lnTo>
                      <a:pt x="505399" y="698237"/>
                    </a:lnTo>
                    <a:lnTo>
                      <a:pt x="505399" y="198236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133" name="Freeform 336 · vector path 6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8" y="703237"/>
                    </a:moveTo>
                    <a:cubicBezTo>
                      <a:pt x="504681" y="703237"/>
                      <a:pt x="503960" y="703083"/>
                      <a:pt x="503286" y="702768"/>
                    </a:cubicBezTo>
                    <a:cubicBezTo>
                      <a:pt x="501525" y="701947"/>
                      <a:pt x="500399" y="700180"/>
                      <a:pt x="500399" y="698237"/>
                    </a:cubicBezTo>
                    <a:lnTo>
                      <a:pt x="500399" y="198236"/>
                    </a:lnTo>
                    <a:cubicBezTo>
                      <a:pt x="500399" y="196758"/>
                      <a:pt x="501053" y="195356"/>
                      <a:pt x="502185" y="194406"/>
                    </a:cubicBezTo>
                    <a:lnTo>
                      <a:pt x="731999" y="1570"/>
                    </a:lnTo>
                    <a:cubicBezTo>
                      <a:pt x="733486" y="321"/>
                      <a:pt x="735564" y="48"/>
                      <a:pt x="737326" y="869"/>
                    </a:cubicBezTo>
                    <a:cubicBezTo>
                      <a:pt x="739087" y="1690"/>
                      <a:pt x="740213" y="3457"/>
                      <a:pt x="740213" y="5400"/>
                    </a:cubicBezTo>
                    <a:lnTo>
                      <a:pt x="740213" y="505401"/>
                    </a:lnTo>
                    <a:cubicBezTo>
                      <a:pt x="740213" y="506879"/>
                      <a:pt x="739559" y="508281"/>
                      <a:pt x="738427" y="509231"/>
                    </a:cubicBezTo>
                    <a:lnTo>
                      <a:pt x="508613" y="702067"/>
                    </a:lnTo>
                    <a:cubicBezTo>
                      <a:pt x="507695" y="702838"/>
                      <a:pt x="506552" y="703237"/>
                      <a:pt x="505398" y="703237"/>
                    </a:cubicBezTo>
                    <a:close/>
                    <a:moveTo>
                      <a:pt x="510399" y="200567"/>
                    </a:moveTo>
                    <a:lnTo>
                      <a:pt x="510399" y="687514"/>
                    </a:lnTo>
                    <a:lnTo>
                      <a:pt x="730212" y="503069"/>
                    </a:lnTo>
                    <a:lnTo>
                      <a:pt x="730212" y="16123"/>
                    </a:lnTo>
                    <a:lnTo>
                      <a:pt x="510399" y="200567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  <p:sp>
            <p:nvSpPr>
              <p:cNvPr id="1134" name="Freeform 336 · vector path 7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735213" y="5400"/>
                    </a:moveTo>
                    <a:lnTo>
                      <a:pt x="505399" y="198236"/>
                    </a:lnTo>
                    <a:lnTo>
                      <a:pt x="5400" y="198236"/>
                    </a:lnTo>
                    <a:lnTo>
                      <a:pt x="235213" y="5400"/>
                    </a:lnTo>
                    <a:lnTo>
                      <a:pt x="735213" y="5400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135" name="Freeform 336 · vector path 8"/>
              <p:cNvSpPr/>
              <p:nvPr/>
            </p:nvSpPr>
            <p:spPr>
              <a:xfrm>
                <a:off x="0" y="0"/>
                <a:ext cx="481192" cy="457133"/>
              </a:xfrm>
              <a:custGeom>
                <a:avLst/>
                <a:gdLst/>
                <a:ahLst/>
                <a:cxnLst/>
                <a:rect l="0" t="0" r="r" b="b"/>
                <a:pathLst>
                  <a:path w="740600" h="703200" stroke="0" extrusionOk="0">
                    <a:moveTo>
                      <a:pt x="505399" y="203236"/>
                    </a:moveTo>
                    <a:lnTo>
                      <a:pt x="5400" y="203236"/>
                    </a:lnTo>
                    <a:cubicBezTo>
                      <a:pt x="3298" y="203236"/>
                      <a:pt x="1421" y="201922"/>
                      <a:pt x="702" y="199946"/>
                    </a:cubicBezTo>
                    <a:cubicBezTo>
                      <a:pt x="-17" y="197970"/>
                      <a:pt x="576" y="195757"/>
                      <a:pt x="2186" y="194406"/>
                    </a:cubicBezTo>
                    <a:lnTo>
                      <a:pt x="232000" y="1570"/>
                    </a:lnTo>
                    <a:cubicBezTo>
                      <a:pt x="232900" y="814"/>
                      <a:pt x="234038" y="400"/>
                      <a:pt x="235214" y="400"/>
                    </a:cubicBezTo>
                    <a:lnTo>
                      <a:pt x="735213" y="400"/>
                    </a:lnTo>
                    <a:cubicBezTo>
                      <a:pt x="737315" y="400"/>
                      <a:pt x="739192" y="1714"/>
                      <a:pt x="739911" y="3690"/>
                    </a:cubicBezTo>
                    <a:cubicBezTo>
                      <a:pt x="740630" y="5666"/>
                      <a:pt x="740037" y="7879"/>
                      <a:pt x="738427" y="9230"/>
                    </a:cubicBezTo>
                    <a:lnTo>
                      <a:pt x="508613" y="202066"/>
                    </a:lnTo>
                    <a:cubicBezTo>
                      <a:pt x="507712" y="202822"/>
                      <a:pt x="506575" y="203236"/>
                      <a:pt x="505399" y="203236"/>
                    </a:cubicBezTo>
                    <a:close/>
                    <a:moveTo>
                      <a:pt x="19137" y="193236"/>
                    </a:moveTo>
                    <a:lnTo>
                      <a:pt x="503578" y="193236"/>
                    </a:lnTo>
                    <a:lnTo>
                      <a:pt x="721475" y="10400"/>
                    </a:lnTo>
                    <a:lnTo>
                      <a:pt x="237034" y="10400"/>
                    </a:lnTo>
                    <a:lnTo>
                      <a:pt x="19137" y="193236"/>
                    </a:lnTo>
                    <a:close/>
                  </a:path>
                </a:pathLst>
              </a:custGeom>
              <a:solidFill>
                <a:srgbClr val="26272C"/>
              </a:solidFill>
              <a:ln>
                <a:noFill/>
              </a:ln>
              <a:effectLst/>
            </p:spPr>
          </p:sp>
        </p:grpSp>
      </p:grpSp>
      <p:sp>
        <p:nvSpPr>
          <p:cNvPr id="1136" name="TextBox 339"/>
          <p:cNvSpPr txBox="1"/>
          <p:nvPr/>
        </p:nvSpPr>
        <p:spPr>
          <a:xfrm>
            <a:off x="911065" y="561173"/>
            <a:ext cx="1564596" cy="257175"/>
          </a:xfrm>
          <a:prstGeom prst="rect">
            <a:avLst/>
          </a:prstGeom>
          <a:effectLst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99"/>
              </a:lnSpc>
            </a:pPr>
            <a:r>
              <a:rPr lang="en-US" sz="1499" b="1">
                <a:solidFill>
                  <a:srgbClr val="262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window</a:t>
            </a:r>
          </a:p>
        </p:txBody>
      </p:sp>
      <p:grpSp>
        <p:nvGrpSpPr>
          <p:cNvPr id="1137" name="Group 350"/>
          <p:cNvGrpSpPr/>
          <p:nvPr/>
        </p:nvGrpSpPr>
        <p:grpSpPr>
          <a:xfrm rot="5400000">
            <a:off x="2139815" y="1841931"/>
            <a:ext cx="355701" cy="703191"/>
            <a:chOff x="0" y="0"/>
            <a:chExt cx="474268" cy="937588"/>
          </a:xfrm>
        </p:grpSpPr>
        <p:grpSp>
          <p:nvGrpSpPr>
            <p:cNvPr id="1138" name="Group 351"/>
            <p:cNvGrpSpPr/>
            <p:nvPr/>
          </p:nvGrpSpPr>
          <p:grpSpPr>
            <a:xfrm>
              <a:off x="213391" y="804907"/>
              <a:ext cx="132681" cy="132681"/>
              <a:chOff x="0" y="0"/>
              <a:chExt cx="812800" cy="812800"/>
            </a:xfrm>
          </p:grpSpPr>
          <p:sp>
            <p:nvSpPr>
              <p:cNvPr id="1139" name="Freeform 3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C7EA"/>
              </a:solidFill>
              <a:ln w="9525" cap="sq">
                <a:solidFill>
                  <a:srgbClr val="26272C"/>
                </a:solidFill>
                <a:prstDash val="solid"/>
                <a:miter/>
              </a:ln>
              <a:effectLst/>
            </p:spPr>
            <p:txBody>
              <a:bodyPr wrap="none">
                <a:noAutofit/>
              </a:bodyPr>
              <a:lstStyle/>
              <a:p>
                <a:endParaRPr/>
              </a:p>
            </p:txBody>
          </p:sp>
          <p:sp>
            <p:nvSpPr>
              <p:cNvPr id="1140" name="TextBox 35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effectLst/>
            </p:spPr>
            <p:txBody>
              <a:bodyPr wrap="none" lIns="36591" tIns="36591" rIns="36591" bIns="36591" rtlCol="0" anchor="ctr">
                <a:noAutofit/>
              </a:bodyPr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41" name="Group 354"/>
            <p:cNvGrpSpPr/>
            <p:nvPr/>
          </p:nvGrpSpPr>
          <p:grpSpPr>
            <a:xfrm>
              <a:off x="0" y="498583"/>
              <a:ext cx="132681" cy="132681"/>
              <a:chOff x="0" y="0"/>
              <a:chExt cx="812800" cy="812800"/>
            </a:xfrm>
          </p:grpSpPr>
          <p:sp>
            <p:nvSpPr>
              <p:cNvPr id="1142" name="Freeform 3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C7EA"/>
              </a:solidFill>
              <a:ln w="9525" cap="sq">
                <a:solidFill>
                  <a:srgbClr val="26272C"/>
                </a:solidFill>
                <a:prstDash val="solid"/>
                <a:miter/>
              </a:ln>
              <a:effectLst/>
            </p:spPr>
            <p:txBody>
              <a:bodyPr wrap="none">
                <a:noAutofit/>
              </a:bodyPr>
              <a:lstStyle/>
              <a:p>
                <a:endParaRPr/>
              </a:p>
            </p:txBody>
          </p:sp>
          <p:sp>
            <p:nvSpPr>
              <p:cNvPr id="1143" name="TextBox 35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effectLst/>
            </p:spPr>
            <p:txBody>
              <a:bodyPr wrap="none" lIns="36591" tIns="36591" rIns="36591" bIns="36591" rtlCol="0" anchor="ctr">
                <a:noAutofit/>
              </a:bodyPr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44" name="Group 357"/>
            <p:cNvGrpSpPr/>
            <p:nvPr/>
          </p:nvGrpSpPr>
          <p:grpSpPr>
            <a:xfrm>
              <a:off x="177913" y="155136"/>
              <a:ext cx="132681" cy="132681"/>
              <a:chOff x="0" y="0"/>
              <a:chExt cx="812800" cy="812800"/>
            </a:xfrm>
          </p:grpSpPr>
          <p:sp>
            <p:nvSpPr>
              <p:cNvPr id="1145" name="Freeform 3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C7EA"/>
              </a:solidFill>
              <a:ln w="9525" cap="sq">
                <a:solidFill>
                  <a:srgbClr val="26272C"/>
                </a:solidFill>
                <a:prstDash val="solid"/>
                <a:miter/>
              </a:ln>
              <a:effectLst/>
            </p:spPr>
            <p:txBody>
              <a:bodyPr wrap="none">
                <a:noAutofit/>
              </a:bodyPr>
              <a:lstStyle/>
              <a:p>
                <a:endParaRPr/>
              </a:p>
            </p:txBody>
          </p:sp>
          <p:sp>
            <p:nvSpPr>
              <p:cNvPr id="1146" name="TextBox 35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effectLst/>
            </p:spPr>
            <p:txBody>
              <a:bodyPr wrap="none" lIns="36591" tIns="36591" rIns="36591" bIns="36591" rtlCol="0" anchor="ctr">
                <a:noAutofit/>
              </a:bodyPr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47" name="Group 360"/>
            <p:cNvGrpSpPr/>
            <p:nvPr/>
          </p:nvGrpSpPr>
          <p:grpSpPr>
            <a:xfrm>
              <a:off x="341587" y="365902"/>
              <a:ext cx="132681" cy="132681"/>
              <a:chOff x="0" y="0"/>
              <a:chExt cx="812800" cy="812800"/>
            </a:xfrm>
          </p:grpSpPr>
          <p:sp>
            <p:nvSpPr>
              <p:cNvPr id="1148" name="Freeform 3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C7EA"/>
              </a:solidFill>
              <a:ln w="9525" cap="sq">
                <a:solidFill>
                  <a:srgbClr val="26272C"/>
                </a:solidFill>
                <a:prstDash val="solid"/>
                <a:miter/>
              </a:ln>
              <a:effectLst/>
            </p:spPr>
            <p:txBody>
              <a:bodyPr wrap="none">
                <a:noAutofit/>
              </a:bodyPr>
              <a:lstStyle/>
              <a:p>
                <a:endParaRPr/>
              </a:p>
            </p:txBody>
          </p:sp>
          <p:sp>
            <p:nvSpPr>
              <p:cNvPr id="1149" name="TextBox 36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effectLst/>
            </p:spPr>
            <p:txBody>
              <a:bodyPr wrap="none" lIns="36591" tIns="36591" rIns="36591" bIns="36591" rtlCol="0" anchor="ctr">
                <a:noAutofit/>
              </a:bodyPr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50" name="AutoShape 363"/>
            <p:cNvSpPr/>
            <p:nvPr/>
          </p:nvSpPr>
          <p:spPr>
            <a:xfrm>
              <a:off x="284945" y="273876"/>
              <a:ext cx="82291" cy="105968"/>
            </a:xfrm>
            <a:prstGeom prst="line">
              <a:avLst/>
            </a:prstGeom>
            <a:ln w="10930" cap="flat">
              <a:solidFill>
                <a:srgbClr val="26272C"/>
              </a:solidFill>
              <a:prstDash val="solid"/>
              <a:headEnd type="none" w="sm" len="sm"/>
              <a:tailEnd type="none" w="sm" len="sm"/>
            </a:ln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  <p:sp>
          <p:nvSpPr>
            <p:cNvPr id="1151" name="AutoShape 364"/>
            <p:cNvSpPr/>
            <p:nvPr/>
          </p:nvSpPr>
          <p:spPr>
            <a:xfrm flipH="1">
              <a:off x="96861" y="280395"/>
              <a:ext cx="116871" cy="225611"/>
            </a:xfrm>
            <a:prstGeom prst="line">
              <a:avLst/>
            </a:prstGeom>
            <a:ln w="10930" cap="flat">
              <a:solidFill>
                <a:srgbClr val="26272C"/>
              </a:solidFill>
              <a:prstDash val="solid"/>
              <a:headEnd type="none" w="sm" len="sm"/>
              <a:tailEnd type="none" w="sm" len="sm"/>
            </a:ln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  <p:sp>
          <p:nvSpPr>
            <p:cNvPr id="1152" name="AutoShape 365"/>
            <p:cNvSpPr/>
            <p:nvPr/>
          </p:nvSpPr>
          <p:spPr>
            <a:xfrm flipV="1">
              <a:off x="128196" y="456269"/>
              <a:ext cx="217875" cy="84628"/>
            </a:xfrm>
            <a:prstGeom prst="line">
              <a:avLst/>
            </a:prstGeom>
            <a:ln w="10930" cap="flat">
              <a:solidFill>
                <a:srgbClr val="26272C"/>
              </a:solidFill>
              <a:prstDash val="solid"/>
              <a:headEnd type="none" w="sm" len="sm"/>
              <a:tailEnd type="none" w="sm" len="sm"/>
            </a:ln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  <p:sp>
          <p:nvSpPr>
            <p:cNvPr id="1153" name="AutoShape 366"/>
            <p:cNvSpPr/>
            <p:nvPr/>
          </p:nvSpPr>
          <p:spPr>
            <a:xfrm>
              <a:off x="109684" y="615149"/>
              <a:ext cx="133347" cy="200826"/>
            </a:xfrm>
            <a:prstGeom prst="line">
              <a:avLst/>
            </a:prstGeom>
            <a:ln w="10930" cap="flat">
              <a:solidFill>
                <a:srgbClr val="26272C"/>
              </a:solidFill>
              <a:prstDash val="solid"/>
              <a:headEnd type="none" w="sm" len="sm"/>
              <a:tailEnd type="none" w="sm" len="sm"/>
            </a:ln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  <p:grpSp>
          <p:nvGrpSpPr>
            <p:cNvPr id="1154" name="Group 367"/>
            <p:cNvGrpSpPr/>
            <p:nvPr/>
          </p:nvGrpSpPr>
          <p:grpSpPr>
            <a:xfrm>
              <a:off x="0" y="0"/>
              <a:ext cx="132681" cy="132681"/>
              <a:chOff x="0" y="0"/>
              <a:chExt cx="812800" cy="812800"/>
            </a:xfrm>
          </p:grpSpPr>
          <p:sp>
            <p:nvSpPr>
              <p:cNvPr id="1155" name="Freeform 36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C7EA"/>
              </a:solidFill>
              <a:ln w="9525" cap="sq">
                <a:solidFill>
                  <a:srgbClr val="26272C"/>
                </a:solidFill>
                <a:prstDash val="solid"/>
                <a:miter/>
              </a:ln>
              <a:effectLst/>
            </p:spPr>
            <p:txBody>
              <a:bodyPr wrap="none">
                <a:noAutofit/>
              </a:bodyPr>
              <a:lstStyle/>
              <a:p>
                <a:endParaRPr/>
              </a:p>
            </p:txBody>
          </p:sp>
          <p:sp>
            <p:nvSpPr>
              <p:cNvPr id="1156" name="TextBox 36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effectLst/>
            </p:spPr>
            <p:txBody>
              <a:bodyPr wrap="none" lIns="36591" tIns="36591" rIns="36591" bIns="36591" rtlCol="0" anchor="ctr">
                <a:noAutofit/>
              </a:bodyPr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57" name="AutoShape 370"/>
            <p:cNvSpPr/>
            <p:nvPr/>
          </p:nvSpPr>
          <p:spPr>
            <a:xfrm>
              <a:off x="116342" y="109941"/>
              <a:ext cx="77909" cy="67935"/>
            </a:xfrm>
            <a:prstGeom prst="line">
              <a:avLst/>
            </a:prstGeom>
            <a:ln w="10930" cap="flat">
              <a:solidFill>
                <a:srgbClr val="26272C"/>
              </a:solidFill>
              <a:prstDash val="solid"/>
              <a:headEnd type="none" w="sm" len="sm"/>
              <a:tailEnd type="none" w="sm" len="sm"/>
            </a:ln>
            <a:effectLst/>
          </p:spPr>
          <p:txBody>
            <a:bodyPr wrap="none">
              <a:noAutofit/>
            </a:bodyPr>
            <a:lstStyle/>
            <a:p>
              <a:endParaRPr/>
            </a:p>
          </p:txBody>
        </p:sp>
      </p:grpSp>
      <p:sp>
        <p:nvSpPr>
          <p:cNvPr id="1158" name="TextBox 406"/>
          <p:cNvSpPr txBox="1"/>
          <p:nvPr/>
        </p:nvSpPr>
        <p:spPr>
          <a:xfrm>
            <a:off x="792497" y="7438251"/>
            <a:ext cx="879895" cy="217170"/>
          </a:xfrm>
          <a:prstGeom prst="rect">
            <a:avLst/>
          </a:prstGeom>
          <a:effectLst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 i="1">
                <a:solidFill>
                  <a:srgbClr val="262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</a:p>
        </p:txBody>
      </p:sp>
      <p:sp>
        <p:nvSpPr>
          <p:cNvPr id="1159" name="TextBox 407"/>
          <p:cNvSpPr txBox="1"/>
          <p:nvPr/>
        </p:nvSpPr>
        <p:spPr>
          <a:xfrm>
            <a:off x="951833" y="5870295"/>
            <a:ext cx="1126629" cy="257175"/>
          </a:xfrm>
          <a:prstGeom prst="rect">
            <a:avLst/>
          </a:prstGeom>
          <a:effectLst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99"/>
              </a:lnSpc>
            </a:pPr>
            <a:r>
              <a:rPr lang="en-US" sz="1499" b="1">
                <a:solidFill>
                  <a:srgbClr val="262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Released Pool</a:t>
            </a:r>
          </a:p>
        </p:txBody>
      </p:sp>
      <p:sp>
        <p:nvSpPr>
          <p:cNvPr id="1160" name="TextBox 408"/>
          <p:cNvSpPr txBox="1"/>
          <p:nvPr/>
        </p:nvSpPr>
        <p:spPr>
          <a:xfrm>
            <a:off x="927739" y="3100838"/>
            <a:ext cx="1243459" cy="257175"/>
          </a:xfrm>
          <a:prstGeom prst="rect">
            <a:avLst/>
          </a:prstGeom>
          <a:effectLst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99"/>
              </a:lnSpc>
            </a:pPr>
            <a:r>
              <a:rPr lang="en-US" sz="1499" b="1">
                <a:solidFill>
                  <a:srgbClr val="262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Pending Queue</a:t>
            </a:r>
          </a:p>
        </p:txBody>
      </p:sp>
      <p:sp>
        <p:nvSpPr>
          <p:cNvPr id="1161" name="TextBox 414"/>
          <p:cNvSpPr txBox="1"/>
          <p:nvPr/>
        </p:nvSpPr>
        <p:spPr>
          <a:xfrm>
            <a:off x="828423" y="4406724"/>
            <a:ext cx="578245" cy="217170"/>
          </a:xfrm>
          <a:prstGeom prst="rect">
            <a:avLst/>
          </a:prstGeom>
          <a:effectLst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i="1">
                <a:solidFill>
                  <a:srgbClr val="262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</a:p>
        </p:txBody>
      </p:sp>
      <p:sp>
        <p:nvSpPr>
          <p:cNvPr id="1162" name="TextBox 422"/>
          <p:cNvSpPr txBox="1"/>
          <p:nvPr/>
        </p:nvSpPr>
        <p:spPr>
          <a:xfrm>
            <a:off x="951833" y="836483"/>
            <a:ext cx="1177199" cy="217170"/>
          </a:xfrm>
          <a:prstGeom prst="rect">
            <a:avLst/>
          </a:prstGeom>
          <a:effectLst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62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Readings</a:t>
            </a:r>
          </a:p>
        </p:txBody>
      </p:sp>
      <p:sp>
        <p:nvSpPr>
          <p:cNvPr id="1163" name="TextBox 423"/>
          <p:cNvSpPr txBox="1"/>
          <p:nvPr/>
        </p:nvSpPr>
        <p:spPr>
          <a:xfrm>
            <a:off x="951833" y="1787227"/>
            <a:ext cx="1866246" cy="217170"/>
          </a:xfrm>
          <a:prstGeom prst="rect">
            <a:avLst/>
          </a:prstGeom>
          <a:effectLst/>
        </p:spPr>
        <p:txBody>
          <a:bodyPr wrap="none" lIns="0" tIns="0" rIns="0" bIns="0" rtlCol="0" anchor="t">
            <a:no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262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Road-network Graph</a:t>
            </a:r>
          </a:p>
        </p:txBody>
      </p:sp>
      <p:sp>
        <p:nvSpPr>
          <p:cNvPr id="1164" name="TextBox 424"/>
          <p:cNvSpPr txBox="1"/>
          <p:nvPr/>
        </p:nvSpPr>
        <p:spPr>
          <a:xfrm>
            <a:off x="3163790" y="1804723"/>
            <a:ext cx="414858" cy="217170"/>
          </a:xfrm>
          <a:prstGeom prst="rect">
            <a:avLst/>
          </a:prstGeom>
          <a:effectLst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2627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</a:t>
            </a:r>
          </a:p>
        </p:txBody>
      </p:sp>
      <p:sp>
        <p:nvSpPr>
          <p:cNvPr id="1165" name="Text · Enqueue"/>
          <p:cNvSpPr txBox="1"/>
          <p:nvPr/>
        </p:nvSpPr>
        <p:spPr>
          <a:xfrm>
            <a:off x="2390775" y="2667000"/>
            <a:ext cx="895350" cy="2286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6272C"/>
                </a:solidFill>
                <a:latin typeface="Times New Roman"/>
              </a:defRPr>
            </a:pPr>
            <a:r>
              <a:t>Enqueue</a:t>
            </a:r>
          </a:p>
        </p:txBody>
      </p:sp>
      <p:sp>
        <p:nvSpPr>
          <p:cNvPr id="1166" name="Text · Wait H Steps"/>
          <p:cNvSpPr txBox="1"/>
          <p:nvPr/>
        </p:nvSpPr>
        <p:spPr>
          <a:xfrm>
            <a:off x="2371725" y="5429250"/>
            <a:ext cx="12954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6272C"/>
                </a:solidFill>
                <a:latin typeface="Times New Roman"/>
              </a:defRPr>
            </a:pPr>
            <a:r>
              <a:rPr i="0"/>
              <a:t>Wait </a:t>
            </a:r>
            <a:r>
              <a:rPr i="1"/>
              <a:t>H</a:t>
            </a:r>
            <a:r>
              <a:rPr i="0"/>
              <a:t> Steps</a:t>
            </a:r>
          </a:p>
        </p:txBody>
      </p:sp>
      <p:sp>
        <p:nvSpPr>
          <p:cNvPr id="1167" name="Label · sensors"/>
          <p:cNvSpPr txBox="1"/>
          <p:nvPr/>
        </p:nvSpPr>
        <p:spPr>
          <a:xfrm>
            <a:off x="1400175" y="1647825"/>
            <a:ext cx="542925" cy="200025"/>
          </a:xfrm>
          <a:prstGeom prst="rect">
            <a:avLst/>
          </a:prstGeom>
          <a:noFill/>
          <a:effectLst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272C"/>
                </a:solidFill>
                <a:latin typeface="Times New Roman"/>
              </a:defRPr>
            </a:pPr>
            <a:r>
              <a:t>sensors</a:t>
            </a:r>
          </a:p>
        </p:txBody>
      </p:sp>
      <p:grpSp>
        <p:nvGrpSpPr>
          <p:cNvPr id="1168" name="Formula · \mathbf{X}_t" descr="Editable LaTeX source: $\mathbf{X}_t$; native vector glyphs."/>
          <p:cNvGrpSpPr/>
          <p:nvPr/>
        </p:nvGrpSpPr>
        <p:grpSpPr>
          <a:xfrm>
            <a:off x="2085975" y="809625"/>
            <a:ext cx="196900" cy="167567"/>
            <a:chOff x="0" y="0"/>
            <a:chExt cx="196900" cy="167567"/>
          </a:xfrm>
        </p:grpSpPr>
        <p:sp>
          <p:nvSpPr>
            <p:cNvPr id="1169" name="Paper math native glyph 1"/>
            <p:cNvSpPr/>
            <p:nvPr/>
          </p:nvSpPr>
          <p:spPr>
            <a:xfrm>
              <a:off x="0" y="0"/>
              <a:ext cx="196900" cy="167567"/>
            </a:xfrm>
            <a:custGeom>
              <a:avLst/>
              <a:gdLst/>
              <a:ahLst/>
              <a:cxnLst/>
              <a:rect l="0" t="0" r="r" b="b"/>
              <a:pathLst>
                <a:path w="15504" h="13194" stroke="0" extrusionOk="0">
                  <a:moveTo>
                    <a:pt x="312" y="427"/>
                  </a:moveTo>
                  <a:cubicBezTo>
                    <a:pt x="312" y="510"/>
                    <a:pt x="378" y="543"/>
                    <a:pt x="493" y="543"/>
                  </a:cubicBezTo>
                  <a:cubicBezTo>
                    <a:pt x="773" y="543"/>
                    <a:pt x="1397" y="674"/>
                    <a:pt x="2038" y="1594"/>
                  </a:cubicBezTo>
                  <a:lnTo>
                    <a:pt x="4406" y="4960"/>
                  </a:lnTo>
                  <a:cubicBezTo>
                    <a:pt x="4734" y="5420"/>
                    <a:pt x="4751" y="5502"/>
                    <a:pt x="4471" y="5831"/>
                  </a:cubicBezTo>
                  <a:lnTo>
                    <a:pt x="2071" y="8902"/>
                  </a:lnTo>
                  <a:cubicBezTo>
                    <a:pt x="1562" y="9543"/>
                    <a:pt x="1151" y="10085"/>
                    <a:pt x="181" y="10085"/>
                  </a:cubicBezTo>
                  <a:cubicBezTo>
                    <a:pt x="82" y="10085"/>
                    <a:pt x="0" y="10117"/>
                    <a:pt x="0" y="10200"/>
                  </a:cubicBezTo>
                  <a:lnTo>
                    <a:pt x="0" y="10611"/>
                  </a:lnTo>
                  <a:lnTo>
                    <a:pt x="17" y="10643"/>
                  </a:lnTo>
                  <a:cubicBezTo>
                    <a:pt x="17" y="10643"/>
                    <a:pt x="1315" y="10611"/>
                    <a:pt x="1397" y="10611"/>
                  </a:cubicBezTo>
                  <a:cubicBezTo>
                    <a:pt x="1627" y="10611"/>
                    <a:pt x="3551" y="10643"/>
                    <a:pt x="3551" y="10643"/>
                  </a:cubicBezTo>
                  <a:lnTo>
                    <a:pt x="3600" y="10611"/>
                  </a:lnTo>
                  <a:lnTo>
                    <a:pt x="3600" y="10216"/>
                  </a:lnTo>
                  <a:cubicBezTo>
                    <a:pt x="3600" y="10150"/>
                    <a:pt x="3567" y="10085"/>
                    <a:pt x="3501" y="10085"/>
                  </a:cubicBezTo>
                  <a:cubicBezTo>
                    <a:pt x="3123" y="10085"/>
                    <a:pt x="2515" y="10035"/>
                    <a:pt x="2926" y="9346"/>
                  </a:cubicBezTo>
                  <a:cubicBezTo>
                    <a:pt x="3518" y="8377"/>
                    <a:pt x="4241" y="7309"/>
                    <a:pt x="4964" y="6373"/>
                  </a:cubicBezTo>
                  <a:cubicBezTo>
                    <a:pt x="5195" y="6061"/>
                    <a:pt x="5244" y="6061"/>
                    <a:pt x="5589" y="6570"/>
                  </a:cubicBezTo>
                  <a:lnTo>
                    <a:pt x="7595" y="9411"/>
                  </a:lnTo>
                  <a:cubicBezTo>
                    <a:pt x="8005" y="9986"/>
                    <a:pt x="8038" y="10085"/>
                    <a:pt x="7052" y="10085"/>
                  </a:cubicBezTo>
                  <a:cubicBezTo>
                    <a:pt x="7003" y="10085"/>
                    <a:pt x="6953" y="10134"/>
                    <a:pt x="6953" y="10200"/>
                  </a:cubicBezTo>
                  <a:lnTo>
                    <a:pt x="6953" y="10611"/>
                  </a:lnTo>
                  <a:lnTo>
                    <a:pt x="7003" y="10643"/>
                  </a:lnTo>
                  <a:cubicBezTo>
                    <a:pt x="7003" y="10643"/>
                    <a:pt x="9633" y="10611"/>
                    <a:pt x="9732" y="10611"/>
                  </a:cubicBezTo>
                  <a:cubicBezTo>
                    <a:pt x="9929" y="10611"/>
                    <a:pt x="11014" y="10627"/>
                    <a:pt x="11474" y="10643"/>
                  </a:cubicBezTo>
                  <a:lnTo>
                    <a:pt x="11490" y="10611"/>
                  </a:lnTo>
                  <a:lnTo>
                    <a:pt x="11490" y="10216"/>
                  </a:lnTo>
                  <a:cubicBezTo>
                    <a:pt x="11490" y="10150"/>
                    <a:pt x="11458" y="10085"/>
                    <a:pt x="11375" y="10085"/>
                  </a:cubicBezTo>
                  <a:cubicBezTo>
                    <a:pt x="10652" y="10085"/>
                    <a:pt x="10093" y="9575"/>
                    <a:pt x="9633" y="8935"/>
                  </a:cubicBezTo>
                  <a:lnTo>
                    <a:pt x="7118" y="5486"/>
                  </a:lnTo>
                  <a:cubicBezTo>
                    <a:pt x="6559" y="4731"/>
                    <a:pt x="6543" y="4665"/>
                    <a:pt x="6838" y="4320"/>
                  </a:cubicBezTo>
                  <a:lnTo>
                    <a:pt x="9205" y="1544"/>
                  </a:lnTo>
                  <a:cubicBezTo>
                    <a:pt x="9682" y="986"/>
                    <a:pt x="10175" y="543"/>
                    <a:pt x="11014" y="543"/>
                  </a:cubicBezTo>
                  <a:cubicBezTo>
                    <a:pt x="11162" y="543"/>
                    <a:pt x="11162" y="477"/>
                    <a:pt x="11162" y="427"/>
                  </a:cubicBezTo>
                  <a:lnTo>
                    <a:pt x="11162" y="16"/>
                  </a:lnTo>
                  <a:lnTo>
                    <a:pt x="11129" y="0"/>
                  </a:lnTo>
                  <a:cubicBezTo>
                    <a:pt x="10833" y="0"/>
                    <a:pt x="9600" y="16"/>
                    <a:pt x="9518" y="16"/>
                  </a:cubicBezTo>
                  <a:cubicBezTo>
                    <a:pt x="9337" y="16"/>
                    <a:pt x="7907" y="0"/>
                    <a:pt x="7545" y="0"/>
                  </a:cubicBezTo>
                  <a:lnTo>
                    <a:pt x="7512" y="16"/>
                  </a:lnTo>
                  <a:lnTo>
                    <a:pt x="7512" y="427"/>
                  </a:lnTo>
                  <a:cubicBezTo>
                    <a:pt x="7512" y="510"/>
                    <a:pt x="7578" y="543"/>
                    <a:pt x="7627" y="543"/>
                  </a:cubicBezTo>
                  <a:cubicBezTo>
                    <a:pt x="8005" y="543"/>
                    <a:pt x="8565" y="608"/>
                    <a:pt x="8236" y="1216"/>
                  </a:cubicBezTo>
                  <a:cubicBezTo>
                    <a:pt x="7792" y="2004"/>
                    <a:pt x="6953" y="3039"/>
                    <a:pt x="6296" y="3844"/>
                  </a:cubicBezTo>
                  <a:cubicBezTo>
                    <a:pt x="6082" y="4090"/>
                    <a:pt x="6049" y="4106"/>
                    <a:pt x="5836" y="3811"/>
                  </a:cubicBezTo>
                  <a:lnTo>
                    <a:pt x="4077" y="1216"/>
                  </a:lnTo>
                  <a:cubicBezTo>
                    <a:pt x="3748" y="707"/>
                    <a:pt x="3847" y="543"/>
                    <a:pt x="4685" y="543"/>
                  </a:cubicBezTo>
                  <a:cubicBezTo>
                    <a:pt x="4734" y="543"/>
                    <a:pt x="4767" y="510"/>
                    <a:pt x="4767" y="427"/>
                  </a:cubicBezTo>
                  <a:lnTo>
                    <a:pt x="4767" y="16"/>
                  </a:lnTo>
                  <a:cubicBezTo>
                    <a:pt x="4751" y="16"/>
                    <a:pt x="4702" y="0"/>
                    <a:pt x="4702" y="0"/>
                  </a:cubicBezTo>
                  <a:cubicBezTo>
                    <a:pt x="4192" y="0"/>
                    <a:pt x="2137" y="16"/>
                    <a:pt x="2055" y="16"/>
                  </a:cubicBezTo>
                  <a:cubicBezTo>
                    <a:pt x="1874" y="16"/>
                    <a:pt x="822" y="0"/>
                    <a:pt x="395" y="0"/>
                  </a:cubicBezTo>
                  <a:lnTo>
                    <a:pt x="312" y="16"/>
                  </a:lnTo>
                  <a:lnTo>
                    <a:pt x="312" y="427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70" name="Paper math native glyph 2"/>
            <p:cNvSpPr/>
            <p:nvPr/>
          </p:nvSpPr>
          <p:spPr>
            <a:xfrm>
              <a:off x="0" y="0"/>
              <a:ext cx="196900" cy="167567"/>
            </a:xfrm>
            <a:custGeom>
              <a:avLst/>
              <a:gdLst/>
              <a:ahLst/>
              <a:cxnLst/>
              <a:rect l="0" t="0" r="r" b="b"/>
              <a:pathLst>
                <a:path w="15504" h="13194" stroke="0" extrusionOk="0">
                  <a:moveTo>
                    <a:pt x="13368" y="7922"/>
                  </a:moveTo>
                  <a:lnTo>
                    <a:pt x="12732" y="7958"/>
                  </a:lnTo>
                  <a:cubicBezTo>
                    <a:pt x="12504" y="7970"/>
                    <a:pt x="12420" y="8066"/>
                    <a:pt x="12396" y="8162"/>
                  </a:cubicBezTo>
                  <a:cubicBezTo>
                    <a:pt x="12384" y="8198"/>
                    <a:pt x="12348" y="8342"/>
                    <a:pt x="12348" y="8366"/>
                  </a:cubicBezTo>
                  <a:cubicBezTo>
                    <a:pt x="12348" y="8390"/>
                    <a:pt x="12384" y="8390"/>
                    <a:pt x="12420" y="8390"/>
                  </a:cubicBezTo>
                  <a:lnTo>
                    <a:pt x="13260" y="8390"/>
                  </a:lnTo>
                  <a:lnTo>
                    <a:pt x="12528" y="11657"/>
                  </a:lnTo>
                  <a:cubicBezTo>
                    <a:pt x="12444" y="12042"/>
                    <a:pt x="12360" y="12414"/>
                    <a:pt x="12360" y="12642"/>
                  </a:cubicBezTo>
                  <a:cubicBezTo>
                    <a:pt x="12360" y="13074"/>
                    <a:pt x="12576" y="13194"/>
                    <a:pt x="12948" y="13194"/>
                  </a:cubicBezTo>
                  <a:cubicBezTo>
                    <a:pt x="13488" y="13194"/>
                    <a:pt x="14280" y="12702"/>
                    <a:pt x="14688" y="11958"/>
                  </a:cubicBezTo>
                  <a:cubicBezTo>
                    <a:pt x="14652" y="11802"/>
                    <a:pt x="14568" y="11729"/>
                    <a:pt x="14424" y="11729"/>
                  </a:cubicBezTo>
                  <a:cubicBezTo>
                    <a:pt x="13872" y="12354"/>
                    <a:pt x="13656" y="12474"/>
                    <a:pt x="13464" y="12474"/>
                  </a:cubicBezTo>
                  <a:cubicBezTo>
                    <a:pt x="13428" y="12474"/>
                    <a:pt x="13308" y="12450"/>
                    <a:pt x="13308" y="12306"/>
                  </a:cubicBezTo>
                  <a:cubicBezTo>
                    <a:pt x="13308" y="12198"/>
                    <a:pt x="13344" y="11958"/>
                    <a:pt x="13440" y="11549"/>
                  </a:cubicBezTo>
                  <a:lnTo>
                    <a:pt x="14148" y="8390"/>
                  </a:lnTo>
                  <a:lnTo>
                    <a:pt x="15324" y="8390"/>
                  </a:lnTo>
                  <a:cubicBezTo>
                    <a:pt x="15468" y="8330"/>
                    <a:pt x="15576" y="8018"/>
                    <a:pt x="15444" y="7922"/>
                  </a:cubicBezTo>
                  <a:lnTo>
                    <a:pt x="14256" y="7922"/>
                  </a:lnTo>
                  <a:lnTo>
                    <a:pt x="14376" y="7382"/>
                  </a:lnTo>
                  <a:cubicBezTo>
                    <a:pt x="14424" y="7154"/>
                    <a:pt x="14532" y="6806"/>
                    <a:pt x="14532" y="6662"/>
                  </a:cubicBezTo>
                  <a:cubicBezTo>
                    <a:pt x="14532" y="6458"/>
                    <a:pt x="14436" y="6338"/>
                    <a:pt x="14052" y="6338"/>
                  </a:cubicBezTo>
                  <a:cubicBezTo>
                    <a:pt x="13620" y="6338"/>
                    <a:pt x="13644" y="6878"/>
                    <a:pt x="13524" y="7322"/>
                  </a:cubicBezTo>
                  <a:lnTo>
                    <a:pt x="13368" y="792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171" name="Formula · \mathbf{A}_t" descr="Editable LaTeX source: $\mathbf{A}_t$; native vector glyphs."/>
          <p:cNvGrpSpPr/>
          <p:nvPr/>
        </p:nvGrpSpPr>
        <p:grpSpPr>
          <a:xfrm>
            <a:off x="1000125" y="2076450"/>
            <a:ext cx="195645" cy="170214"/>
            <a:chOff x="0" y="0"/>
            <a:chExt cx="195645" cy="170214"/>
          </a:xfrm>
        </p:grpSpPr>
        <p:sp>
          <p:nvSpPr>
            <p:cNvPr id="1172" name="Paper math native glyph 1"/>
            <p:cNvSpPr/>
            <p:nvPr/>
          </p:nvSpPr>
          <p:spPr>
            <a:xfrm>
              <a:off x="0" y="0"/>
              <a:ext cx="195645" cy="170214"/>
            </a:xfrm>
            <a:custGeom>
              <a:avLst/>
              <a:gdLst/>
              <a:ahLst/>
              <a:cxnLst/>
              <a:rect l="0" t="0" r="r" b="b"/>
              <a:pathLst>
                <a:path w="15405" h="13403" stroke="0" extrusionOk="0">
                  <a:moveTo>
                    <a:pt x="4126" y="6084"/>
                  </a:moveTo>
                  <a:cubicBezTo>
                    <a:pt x="3830" y="6084"/>
                    <a:pt x="3814" y="6035"/>
                    <a:pt x="3814" y="5887"/>
                  </a:cubicBezTo>
                  <a:lnTo>
                    <a:pt x="5227" y="2368"/>
                  </a:lnTo>
                  <a:lnTo>
                    <a:pt x="6592" y="6084"/>
                  </a:lnTo>
                  <a:lnTo>
                    <a:pt x="4126" y="6084"/>
                  </a:lnTo>
                  <a:moveTo>
                    <a:pt x="2400" y="9521"/>
                  </a:moveTo>
                  <a:lnTo>
                    <a:pt x="3337" y="7087"/>
                  </a:lnTo>
                  <a:cubicBezTo>
                    <a:pt x="3436" y="6873"/>
                    <a:pt x="3518" y="6857"/>
                    <a:pt x="3846" y="6857"/>
                  </a:cubicBezTo>
                  <a:lnTo>
                    <a:pt x="6871" y="6857"/>
                  </a:lnTo>
                  <a:lnTo>
                    <a:pt x="7890" y="9619"/>
                  </a:lnTo>
                  <a:cubicBezTo>
                    <a:pt x="7923" y="9669"/>
                    <a:pt x="7923" y="9767"/>
                    <a:pt x="7923" y="9850"/>
                  </a:cubicBezTo>
                  <a:cubicBezTo>
                    <a:pt x="7923" y="10096"/>
                    <a:pt x="7792" y="10277"/>
                    <a:pt x="7512" y="10277"/>
                  </a:cubicBezTo>
                  <a:lnTo>
                    <a:pt x="7068" y="10277"/>
                  </a:lnTo>
                  <a:cubicBezTo>
                    <a:pt x="6772" y="10277"/>
                    <a:pt x="6641" y="10310"/>
                    <a:pt x="6641" y="10442"/>
                  </a:cubicBezTo>
                  <a:lnTo>
                    <a:pt x="6641" y="10754"/>
                  </a:lnTo>
                  <a:lnTo>
                    <a:pt x="6772" y="10836"/>
                  </a:lnTo>
                  <a:cubicBezTo>
                    <a:pt x="6772" y="10836"/>
                    <a:pt x="8548" y="10803"/>
                    <a:pt x="9140" y="10803"/>
                  </a:cubicBezTo>
                  <a:cubicBezTo>
                    <a:pt x="9764" y="10803"/>
                    <a:pt x="11343" y="10836"/>
                    <a:pt x="11343" y="10836"/>
                  </a:cubicBezTo>
                  <a:lnTo>
                    <a:pt x="11425" y="10770"/>
                  </a:lnTo>
                  <a:lnTo>
                    <a:pt x="11425" y="10442"/>
                  </a:lnTo>
                  <a:cubicBezTo>
                    <a:pt x="11425" y="10310"/>
                    <a:pt x="11425" y="10277"/>
                    <a:pt x="11178" y="10277"/>
                  </a:cubicBezTo>
                  <a:lnTo>
                    <a:pt x="10718" y="10277"/>
                  </a:lnTo>
                  <a:cubicBezTo>
                    <a:pt x="10307" y="10277"/>
                    <a:pt x="10077" y="9932"/>
                    <a:pt x="9847" y="9323"/>
                  </a:cubicBezTo>
                  <a:lnTo>
                    <a:pt x="6526" y="510"/>
                  </a:lnTo>
                  <a:cubicBezTo>
                    <a:pt x="6394" y="165"/>
                    <a:pt x="6132" y="0"/>
                    <a:pt x="5786" y="0"/>
                  </a:cubicBezTo>
                  <a:cubicBezTo>
                    <a:pt x="5605" y="0"/>
                    <a:pt x="5260" y="115"/>
                    <a:pt x="5096" y="510"/>
                  </a:cubicBezTo>
                  <a:lnTo>
                    <a:pt x="1430" y="9323"/>
                  </a:lnTo>
                  <a:cubicBezTo>
                    <a:pt x="1151" y="9998"/>
                    <a:pt x="657" y="10277"/>
                    <a:pt x="329" y="10277"/>
                  </a:cubicBezTo>
                  <a:cubicBezTo>
                    <a:pt x="131" y="10277"/>
                    <a:pt x="0" y="10277"/>
                    <a:pt x="0" y="10442"/>
                  </a:cubicBezTo>
                  <a:lnTo>
                    <a:pt x="0" y="10787"/>
                  </a:lnTo>
                  <a:lnTo>
                    <a:pt x="131" y="10836"/>
                  </a:lnTo>
                  <a:cubicBezTo>
                    <a:pt x="131" y="10836"/>
                    <a:pt x="1118" y="10803"/>
                    <a:pt x="1529" y="10803"/>
                  </a:cubicBezTo>
                  <a:cubicBezTo>
                    <a:pt x="1923" y="10803"/>
                    <a:pt x="3436" y="10836"/>
                    <a:pt x="3436" y="10836"/>
                  </a:cubicBezTo>
                  <a:lnTo>
                    <a:pt x="3518" y="10770"/>
                  </a:lnTo>
                  <a:lnTo>
                    <a:pt x="3518" y="10442"/>
                  </a:lnTo>
                  <a:cubicBezTo>
                    <a:pt x="3518" y="10310"/>
                    <a:pt x="3436" y="10277"/>
                    <a:pt x="3172" y="10277"/>
                  </a:cubicBezTo>
                  <a:cubicBezTo>
                    <a:pt x="2203" y="10277"/>
                    <a:pt x="2219" y="9998"/>
                    <a:pt x="2400" y="9521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73" name="Paper math native glyph 2"/>
            <p:cNvSpPr/>
            <p:nvPr/>
          </p:nvSpPr>
          <p:spPr>
            <a:xfrm>
              <a:off x="0" y="0"/>
              <a:ext cx="195645" cy="170214"/>
            </a:xfrm>
            <a:custGeom>
              <a:avLst/>
              <a:gdLst/>
              <a:ahLst/>
              <a:cxnLst/>
              <a:rect l="0" t="0" r="r" b="b"/>
              <a:pathLst>
                <a:path w="15405" h="13403" stroke="0" extrusionOk="0">
                  <a:moveTo>
                    <a:pt x="13269" y="8130"/>
                  </a:moveTo>
                  <a:lnTo>
                    <a:pt x="12633" y="8166"/>
                  </a:lnTo>
                  <a:cubicBezTo>
                    <a:pt x="12406" y="8178"/>
                    <a:pt x="12321" y="8274"/>
                    <a:pt x="12298" y="8370"/>
                  </a:cubicBezTo>
                  <a:cubicBezTo>
                    <a:pt x="12285" y="8406"/>
                    <a:pt x="12250" y="8550"/>
                    <a:pt x="12250" y="8574"/>
                  </a:cubicBezTo>
                  <a:cubicBezTo>
                    <a:pt x="12250" y="8598"/>
                    <a:pt x="12285" y="8598"/>
                    <a:pt x="12321" y="8598"/>
                  </a:cubicBezTo>
                  <a:lnTo>
                    <a:pt x="13161" y="8598"/>
                  </a:lnTo>
                  <a:lnTo>
                    <a:pt x="12430" y="11866"/>
                  </a:lnTo>
                  <a:cubicBezTo>
                    <a:pt x="12345" y="12250"/>
                    <a:pt x="12261" y="12623"/>
                    <a:pt x="12261" y="12851"/>
                  </a:cubicBezTo>
                  <a:cubicBezTo>
                    <a:pt x="12261" y="13283"/>
                    <a:pt x="12477" y="13403"/>
                    <a:pt x="12849" y="13403"/>
                  </a:cubicBezTo>
                  <a:cubicBezTo>
                    <a:pt x="13390" y="13403"/>
                    <a:pt x="14181" y="12911"/>
                    <a:pt x="14589" y="12166"/>
                  </a:cubicBezTo>
                  <a:cubicBezTo>
                    <a:pt x="14554" y="12010"/>
                    <a:pt x="14469" y="11938"/>
                    <a:pt x="14325" y="11938"/>
                  </a:cubicBezTo>
                  <a:cubicBezTo>
                    <a:pt x="13774" y="12563"/>
                    <a:pt x="13557" y="12683"/>
                    <a:pt x="13366" y="12683"/>
                  </a:cubicBezTo>
                  <a:cubicBezTo>
                    <a:pt x="13329" y="12683"/>
                    <a:pt x="13210" y="12659"/>
                    <a:pt x="13210" y="12515"/>
                  </a:cubicBezTo>
                  <a:cubicBezTo>
                    <a:pt x="13210" y="12406"/>
                    <a:pt x="13245" y="12166"/>
                    <a:pt x="13341" y="11758"/>
                  </a:cubicBezTo>
                  <a:lnTo>
                    <a:pt x="14049" y="8598"/>
                  </a:lnTo>
                  <a:lnTo>
                    <a:pt x="15226" y="8598"/>
                  </a:lnTo>
                  <a:cubicBezTo>
                    <a:pt x="15369" y="8538"/>
                    <a:pt x="15477" y="8226"/>
                    <a:pt x="15345" y="8130"/>
                  </a:cubicBezTo>
                  <a:lnTo>
                    <a:pt x="14157" y="8130"/>
                  </a:lnTo>
                  <a:lnTo>
                    <a:pt x="14277" y="7590"/>
                  </a:lnTo>
                  <a:cubicBezTo>
                    <a:pt x="14325" y="7362"/>
                    <a:pt x="14433" y="7014"/>
                    <a:pt x="14433" y="6870"/>
                  </a:cubicBezTo>
                  <a:cubicBezTo>
                    <a:pt x="14433" y="6666"/>
                    <a:pt x="14337" y="6546"/>
                    <a:pt x="13953" y="6546"/>
                  </a:cubicBezTo>
                  <a:cubicBezTo>
                    <a:pt x="13521" y="6546"/>
                    <a:pt x="13546" y="7086"/>
                    <a:pt x="13425" y="7530"/>
                  </a:cubicBezTo>
                  <a:lnTo>
                    <a:pt x="13269" y="813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174" name="Formula · n^{\mathrm{th}}" descr="Editable LaTeX source: $n^{\mathrm{th}}$; native vector glyphs."/>
          <p:cNvGrpSpPr/>
          <p:nvPr/>
        </p:nvGrpSpPr>
        <p:grpSpPr>
          <a:xfrm>
            <a:off x="2924175" y="1809750"/>
            <a:ext cx="184340" cy="159276"/>
            <a:chOff x="0" y="0"/>
            <a:chExt cx="184340" cy="159276"/>
          </a:xfrm>
        </p:grpSpPr>
        <p:sp>
          <p:nvSpPr>
            <p:cNvPr id="1175" name="Paper math native glyph 1"/>
            <p:cNvSpPr/>
            <p:nvPr/>
          </p:nvSpPr>
          <p:spPr>
            <a:xfrm>
              <a:off x="0" y="0"/>
              <a:ext cx="184340" cy="159276"/>
            </a:xfrm>
            <a:custGeom>
              <a:avLst/>
              <a:gdLst/>
              <a:ahLst/>
              <a:cxnLst/>
              <a:rect l="0" t="0" r="r" b="b"/>
              <a:pathLst>
                <a:path w="14515" h="12541" stroke="0" extrusionOk="0">
                  <a:moveTo>
                    <a:pt x="4627" y="10739"/>
                  </a:moveTo>
                  <a:lnTo>
                    <a:pt x="5138" y="8599"/>
                  </a:lnTo>
                  <a:cubicBezTo>
                    <a:pt x="5245" y="8128"/>
                    <a:pt x="5313" y="7818"/>
                    <a:pt x="5313" y="7576"/>
                  </a:cubicBezTo>
                  <a:cubicBezTo>
                    <a:pt x="5313" y="6769"/>
                    <a:pt x="4950" y="6500"/>
                    <a:pt x="4425" y="6500"/>
                  </a:cubicBezTo>
                  <a:cubicBezTo>
                    <a:pt x="3726" y="6500"/>
                    <a:pt x="3147" y="6782"/>
                    <a:pt x="1910" y="8235"/>
                  </a:cubicBezTo>
                  <a:lnTo>
                    <a:pt x="1896" y="8222"/>
                  </a:lnTo>
                  <a:lnTo>
                    <a:pt x="1923" y="8101"/>
                  </a:lnTo>
                  <a:cubicBezTo>
                    <a:pt x="2058" y="7576"/>
                    <a:pt x="2219" y="7051"/>
                    <a:pt x="2219" y="6822"/>
                  </a:cubicBezTo>
                  <a:cubicBezTo>
                    <a:pt x="2219" y="6634"/>
                    <a:pt x="2125" y="6540"/>
                    <a:pt x="1950" y="6540"/>
                  </a:cubicBezTo>
                  <a:cubicBezTo>
                    <a:pt x="1520" y="6539"/>
                    <a:pt x="888" y="6633"/>
                    <a:pt x="256" y="6714"/>
                  </a:cubicBezTo>
                  <a:cubicBezTo>
                    <a:pt x="162" y="6822"/>
                    <a:pt x="188" y="6970"/>
                    <a:pt x="269" y="7091"/>
                  </a:cubicBezTo>
                  <a:lnTo>
                    <a:pt x="807" y="7131"/>
                  </a:lnTo>
                  <a:cubicBezTo>
                    <a:pt x="968" y="7145"/>
                    <a:pt x="1049" y="7266"/>
                    <a:pt x="1049" y="7400"/>
                  </a:cubicBezTo>
                  <a:cubicBezTo>
                    <a:pt x="1049" y="7521"/>
                    <a:pt x="1009" y="7710"/>
                    <a:pt x="928" y="8087"/>
                  </a:cubicBezTo>
                  <a:lnTo>
                    <a:pt x="175" y="11438"/>
                  </a:lnTo>
                  <a:cubicBezTo>
                    <a:pt x="108" y="11708"/>
                    <a:pt x="0" y="12044"/>
                    <a:pt x="0" y="12178"/>
                  </a:cubicBezTo>
                  <a:cubicBezTo>
                    <a:pt x="0" y="12407"/>
                    <a:pt x="148" y="12541"/>
                    <a:pt x="578" y="12541"/>
                  </a:cubicBezTo>
                  <a:cubicBezTo>
                    <a:pt x="1090" y="12541"/>
                    <a:pt x="1076" y="11950"/>
                    <a:pt x="1197" y="11438"/>
                  </a:cubicBezTo>
                  <a:lnTo>
                    <a:pt x="1708" y="9204"/>
                  </a:lnTo>
                  <a:cubicBezTo>
                    <a:pt x="2555" y="8101"/>
                    <a:pt x="3295" y="7307"/>
                    <a:pt x="3779" y="7307"/>
                  </a:cubicBezTo>
                  <a:cubicBezTo>
                    <a:pt x="4062" y="7307"/>
                    <a:pt x="4250" y="7374"/>
                    <a:pt x="4250" y="7791"/>
                  </a:cubicBezTo>
                  <a:cubicBezTo>
                    <a:pt x="4250" y="7980"/>
                    <a:pt x="4183" y="8249"/>
                    <a:pt x="4075" y="8706"/>
                  </a:cubicBezTo>
                  <a:lnTo>
                    <a:pt x="3564" y="10860"/>
                  </a:lnTo>
                  <a:cubicBezTo>
                    <a:pt x="3457" y="11290"/>
                    <a:pt x="3336" y="11842"/>
                    <a:pt x="3336" y="12098"/>
                  </a:cubicBezTo>
                  <a:cubicBezTo>
                    <a:pt x="3336" y="12353"/>
                    <a:pt x="3483" y="12541"/>
                    <a:pt x="3887" y="12541"/>
                  </a:cubicBezTo>
                  <a:cubicBezTo>
                    <a:pt x="4533" y="12541"/>
                    <a:pt x="5178" y="12084"/>
                    <a:pt x="5797" y="11290"/>
                  </a:cubicBezTo>
                  <a:cubicBezTo>
                    <a:pt x="5757" y="11169"/>
                    <a:pt x="5676" y="11062"/>
                    <a:pt x="5487" y="11062"/>
                  </a:cubicBezTo>
                  <a:cubicBezTo>
                    <a:pt x="5138" y="11465"/>
                    <a:pt x="4748" y="11734"/>
                    <a:pt x="4613" y="11734"/>
                  </a:cubicBezTo>
                  <a:cubicBezTo>
                    <a:pt x="4519" y="11734"/>
                    <a:pt x="4479" y="11667"/>
                    <a:pt x="4479" y="11506"/>
                  </a:cubicBezTo>
                  <a:cubicBezTo>
                    <a:pt x="4479" y="11385"/>
                    <a:pt x="4546" y="11089"/>
                    <a:pt x="4627" y="1073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76" name="Paper math native glyph 2"/>
            <p:cNvSpPr/>
            <p:nvPr/>
          </p:nvSpPr>
          <p:spPr>
            <a:xfrm>
              <a:off x="0" y="0"/>
              <a:ext cx="184340" cy="159276"/>
            </a:xfrm>
            <a:custGeom>
              <a:avLst/>
              <a:gdLst/>
              <a:ahLst/>
              <a:cxnLst/>
              <a:rect l="0" t="0" r="r" b="b"/>
              <a:pathLst>
                <a:path w="14515" h="12541" stroke="0" extrusionOk="0">
                  <a:moveTo>
                    <a:pt x="6663" y="2646"/>
                  </a:moveTo>
                  <a:cubicBezTo>
                    <a:pt x="6525" y="2646"/>
                    <a:pt x="6486" y="2764"/>
                    <a:pt x="6486" y="2843"/>
                  </a:cubicBezTo>
                  <a:lnTo>
                    <a:pt x="6486" y="2970"/>
                  </a:lnTo>
                  <a:cubicBezTo>
                    <a:pt x="6486" y="3019"/>
                    <a:pt x="6496" y="3029"/>
                    <a:pt x="6535" y="3029"/>
                  </a:cubicBezTo>
                  <a:lnTo>
                    <a:pt x="7114" y="3029"/>
                  </a:lnTo>
                  <a:lnTo>
                    <a:pt x="7114" y="5980"/>
                  </a:lnTo>
                  <a:cubicBezTo>
                    <a:pt x="7114" y="6676"/>
                    <a:pt x="7419" y="6951"/>
                    <a:pt x="7870" y="6951"/>
                  </a:cubicBezTo>
                  <a:cubicBezTo>
                    <a:pt x="8322" y="6951"/>
                    <a:pt x="8813" y="6735"/>
                    <a:pt x="9196" y="6304"/>
                  </a:cubicBezTo>
                  <a:cubicBezTo>
                    <a:pt x="9176" y="6206"/>
                    <a:pt x="9117" y="6147"/>
                    <a:pt x="9019" y="6137"/>
                  </a:cubicBezTo>
                  <a:cubicBezTo>
                    <a:pt x="8764" y="6333"/>
                    <a:pt x="8469" y="6411"/>
                    <a:pt x="8214" y="6411"/>
                  </a:cubicBezTo>
                  <a:cubicBezTo>
                    <a:pt x="7949" y="6411"/>
                    <a:pt x="7890" y="6117"/>
                    <a:pt x="7890" y="5510"/>
                  </a:cubicBezTo>
                  <a:lnTo>
                    <a:pt x="7890" y="3029"/>
                  </a:lnTo>
                  <a:lnTo>
                    <a:pt x="8911" y="3029"/>
                  </a:lnTo>
                  <a:cubicBezTo>
                    <a:pt x="9009" y="3029"/>
                    <a:pt x="9147" y="2990"/>
                    <a:pt x="9147" y="2902"/>
                  </a:cubicBezTo>
                  <a:lnTo>
                    <a:pt x="9147" y="2705"/>
                  </a:lnTo>
                  <a:cubicBezTo>
                    <a:pt x="9147" y="2666"/>
                    <a:pt x="9117" y="2646"/>
                    <a:pt x="9068" y="2646"/>
                  </a:cubicBezTo>
                  <a:lnTo>
                    <a:pt x="7890" y="2646"/>
                  </a:lnTo>
                  <a:lnTo>
                    <a:pt x="7890" y="2264"/>
                  </a:lnTo>
                  <a:cubicBezTo>
                    <a:pt x="7890" y="1625"/>
                    <a:pt x="7929" y="1233"/>
                    <a:pt x="7929" y="1233"/>
                  </a:cubicBezTo>
                  <a:cubicBezTo>
                    <a:pt x="7929" y="1174"/>
                    <a:pt x="7900" y="1144"/>
                    <a:pt x="7851" y="1144"/>
                  </a:cubicBezTo>
                  <a:cubicBezTo>
                    <a:pt x="7812" y="1144"/>
                    <a:pt x="7723" y="1184"/>
                    <a:pt x="7635" y="1233"/>
                  </a:cubicBezTo>
                  <a:cubicBezTo>
                    <a:pt x="7527" y="1292"/>
                    <a:pt x="7429" y="1341"/>
                    <a:pt x="7301" y="1370"/>
                  </a:cubicBezTo>
                  <a:cubicBezTo>
                    <a:pt x="7183" y="1409"/>
                    <a:pt x="7085" y="1439"/>
                    <a:pt x="7085" y="1507"/>
                  </a:cubicBezTo>
                  <a:cubicBezTo>
                    <a:pt x="7085" y="1625"/>
                    <a:pt x="7114" y="1557"/>
                    <a:pt x="7114" y="2646"/>
                  </a:cubicBezTo>
                  <a:lnTo>
                    <a:pt x="6663" y="264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77" name="Paper math native glyph 3"/>
            <p:cNvSpPr/>
            <p:nvPr/>
          </p:nvSpPr>
          <p:spPr>
            <a:xfrm>
              <a:off x="0" y="0"/>
              <a:ext cx="184340" cy="159276"/>
            </a:xfrm>
            <a:custGeom>
              <a:avLst/>
              <a:gdLst/>
              <a:ahLst/>
              <a:cxnLst/>
              <a:rect l="0" t="0" r="r" b="b"/>
              <a:pathLst>
                <a:path w="14515" h="12541" stroke="0" extrusionOk="0">
                  <a:moveTo>
                    <a:pt x="10983" y="4044"/>
                  </a:moveTo>
                  <a:cubicBezTo>
                    <a:pt x="10983" y="3838"/>
                    <a:pt x="11071" y="3720"/>
                    <a:pt x="11150" y="3631"/>
                  </a:cubicBezTo>
                  <a:cubicBezTo>
                    <a:pt x="11523" y="3268"/>
                    <a:pt x="12024" y="3051"/>
                    <a:pt x="12406" y="3051"/>
                  </a:cubicBezTo>
                  <a:cubicBezTo>
                    <a:pt x="12603" y="3051"/>
                    <a:pt x="12809" y="3179"/>
                    <a:pt x="12927" y="3405"/>
                  </a:cubicBezTo>
                  <a:cubicBezTo>
                    <a:pt x="13025" y="3602"/>
                    <a:pt x="13045" y="3867"/>
                    <a:pt x="13045" y="4162"/>
                  </a:cubicBezTo>
                  <a:lnTo>
                    <a:pt x="13045" y="5656"/>
                  </a:lnTo>
                  <a:cubicBezTo>
                    <a:pt x="13045" y="6462"/>
                    <a:pt x="12946" y="6502"/>
                    <a:pt x="12436" y="6551"/>
                  </a:cubicBezTo>
                  <a:cubicBezTo>
                    <a:pt x="12387" y="6610"/>
                    <a:pt x="12387" y="6816"/>
                    <a:pt x="12436" y="6875"/>
                  </a:cubicBezTo>
                  <a:cubicBezTo>
                    <a:pt x="12711" y="6865"/>
                    <a:pt x="13045" y="6855"/>
                    <a:pt x="13437" y="6855"/>
                  </a:cubicBezTo>
                  <a:cubicBezTo>
                    <a:pt x="13830" y="6855"/>
                    <a:pt x="14154" y="6865"/>
                    <a:pt x="14478" y="6875"/>
                  </a:cubicBezTo>
                  <a:cubicBezTo>
                    <a:pt x="14527" y="6816"/>
                    <a:pt x="14527" y="6610"/>
                    <a:pt x="14478" y="6551"/>
                  </a:cubicBezTo>
                  <a:cubicBezTo>
                    <a:pt x="13928" y="6502"/>
                    <a:pt x="13820" y="6462"/>
                    <a:pt x="13820" y="5656"/>
                  </a:cubicBezTo>
                  <a:lnTo>
                    <a:pt x="13820" y="4192"/>
                  </a:lnTo>
                  <a:cubicBezTo>
                    <a:pt x="13820" y="3651"/>
                    <a:pt x="13781" y="3169"/>
                    <a:pt x="13555" y="2875"/>
                  </a:cubicBezTo>
                  <a:cubicBezTo>
                    <a:pt x="13388" y="2659"/>
                    <a:pt x="13084" y="2541"/>
                    <a:pt x="12740" y="2541"/>
                  </a:cubicBezTo>
                  <a:cubicBezTo>
                    <a:pt x="12259" y="2541"/>
                    <a:pt x="11670" y="2668"/>
                    <a:pt x="11071" y="3336"/>
                  </a:cubicBezTo>
                  <a:cubicBezTo>
                    <a:pt x="11042" y="3376"/>
                    <a:pt x="10973" y="3474"/>
                    <a:pt x="10973" y="3336"/>
                  </a:cubicBezTo>
                  <a:lnTo>
                    <a:pt x="10983" y="1126"/>
                  </a:lnTo>
                  <a:cubicBezTo>
                    <a:pt x="10983" y="487"/>
                    <a:pt x="11022" y="97"/>
                    <a:pt x="11022" y="97"/>
                  </a:cubicBezTo>
                  <a:cubicBezTo>
                    <a:pt x="11022" y="29"/>
                    <a:pt x="10983" y="0"/>
                    <a:pt x="10894" y="0"/>
                  </a:cubicBezTo>
                  <a:cubicBezTo>
                    <a:pt x="10649" y="97"/>
                    <a:pt x="9913" y="233"/>
                    <a:pt x="9520" y="262"/>
                  </a:cubicBezTo>
                  <a:cubicBezTo>
                    <a:pt x="9500" y="340"/>
                    <a:pt x="9520" y="497"/>
                    <a:pt x="9579" y="556"/>
                  </a:cubicBezTo>
                  <a:cubicBezTo>
                    <a:pt x="10089" y="586"/>
                    <a:pt x="10207" y="536"/>
                    <a:pt x="10207" y="1362"/>
                  </a:cubicBezTo>
                  <a:lnTo>
                    <a:pt x="10207" y="5656"/>
                  </a:lnTo>
                  <a:cubicBezTo>
                    <a:pt x="10207" y="6472"/>
                    <a:pt x="10089" y="6511"/>
                    <a:pt x="9520" y="6551"/>
                  </a:cubicBezTo>
                  <a:cubicBezTo>
                    <a:pt x="9461" y="6610"/>
                    <a:pt x="9461" y="6816"/>
                    <a:pt x="9520" y="6875"/>
                  </a:cubicBezTo>
                  <a:cubicBezTo>
                    <a:pt x="9844" y="6865"/>
                    <a:pt x="10207" y="6855"/>
                    <a:pt x="10600" y="6855"/>
                  </a:cubicBezTo>
                  <a:cubicBezTo>
                    <a:pt x="10973" y="6855"/>
                    <a:pt x="11297" y="6865"/>
                    <a:pt x="11572" y="6875"/>
                  </a:cubicBezTo>
                  <a:cubicBezTo>
                    <a:pt x="11631" y="6816"/>
                    <a:pt x="11631" y="6610"/>
                    <a:pt x="11572" y="6551"/>
                  </a:cubicBezTo>
                  <a:cubicBezTo>
                    <a:pt x="11071" y="6511"/>
                    <a:pt x="10983" y="6472"/>
                    <a:pt x="10983" y="5656"/>
                  </a:cubicBezTo>
                  <a:lnTo>
                    <a:pt x="10983" y="4044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178" name="Formula · N_y" descr="Editable LaTeX source: $N_y$; native vector glyphs."/>
          <p:cNvGrpSpPr/>
          <p:nvPr/>
        </p:nvGrpSpPr>
        <p:grpSpPr>
          <a:xfrm>
            <a:off x="1152525" y="1647825"/>
            <a:ext cx="159067" cy="137821"/>
            <a:chOff x="0" y="0"/>
            <a:chExt cx="159067" cy="137821"/>
          </a:xfrm>
        </p:grpSpPr>
        <p:sp>
          <p:nvSpPr>
            <p:cNvPr id="1179" name="Paper math native glyph 1"/>
            <p:cNvSpPr/>
            <p:nvPr/>
          </p:nvSpPr>
          <p:spPr>
            <a:xfrm>
              <a:off x="0" y="0"/>
              <a:ext cx="159067" cy="137821"/>
            </a:xfrm>
            <a:custGeom>
              <a:avLst/>
              <a:gdLst/>
              <a:ahLst/>
              <a:cxnLst/>
              <a:rect l="0" t="0" r="r" b="b"/>
              <a:pathLst>
                <a:path w="12525" h="10852" stroke="0" extrusionOk="0">
                  <a:moveTo>
                    <a:pt x="7565" y="1009"/>
                  </a:moveTo>
                  <a:cubicBezTo>
                    <a:pt x="7633" y="673"/>
                    <a:pt x="7846" y="381"/>
                    <a:pt x="8272" y="348"/>
                  </a:cubicBezTo>
                  <a:lnTo>
                    <a:pt x="8574" y="325"/>
                  </a:lnTo>
                  <a:cubicBezTo>
                    <a:pt x="8608" y="325"/>
                    <a:pt x="8675" y="291"/>
                    <a:pt x="8675" y="235"/>
                  </a:cubicBezTo>
                  <a:lnTo>
                    <a:pt x="8697" y="22"/>
                  </a:lnTo>
                  <a:lnTo>
                    <a:pt x="8675" y="0"/>
                  </a:lnTo>
                  <a:cubicBezTo>
                    <a:pt x="8171" y="11"/>
                    <a:pt x="7767" y="22"/>
                    <a:pt x="7509" y="22"/>
                  </a:cubicBezTo>
                  <a:cubicBezTo>
                    <a:pt x="7240" y="22"/>
                    <a:pt x="6781" y="11"/>
                    <a:pt x="6276" y="0"/>
                  </a:cubicBezTo>
                  <a:lnTo>
                    <a:pt x="6254" y="22"/>
                  </a:lnTo>
                  <a:lnTo>
                    <a:pt x="6220" y="235"/>
                  </a:lnTo>
                  <a:cubicBezTo>
                    <a:pt x="6209" y="280"/>
                    <a:pt x="6299" y="325"/>
                    <a:pt x="6355" y="325"/>
                  </a:cubicBezTo>
                  <a:lnTo>
                    <a:pt x="6624" y="348"/>
                  </a:lnTo>
                  <a:cubicBezTo>
                    <a:pt x="6983" y="370"/>
                    <a:pt x="7106" y="594"/>
                    <a:pt x="7106" y="841"/>
                  </a:cubicBezTo>
                  <a:cubicBezTo>
                    <a:pt x="7106" y="897"/>
                    <a:pt x="7095" y="953"/>
                    <a:pt x="7083" y="1009"/>
                  </a:cubicBezTo>
                  <a:lnTo>
                    <a:pt x="6254" y="5257"/>
                  </a:lnTo>
                  <a:cubicBezTo>
                    <a:pt x="6209" y="5471"/>
                    <a:pt x="6187" y="5594"/>
                    <a:pt x="6120" y="5594"/>
                  </a:cubicBezTo>
                  <a:cubicBezTo>
                    <a:pt x="6030" y="5594"/>
                    <a:pt x="5929" y="5392"/>
                    <a:pt x="5694" y="4977"/>
                  </a:cubicBezTo>
                  <a:lnTo>
                    <a:pt x="2970" y="0"/>
                  </a:lnTo>
                  <a:lnTo>
                    <a:pt x="1491" y="0"/>
                  </a:lnTo>
                  <a:lnTo>
                    <a:pt x="1457" y="22"/>
                  </a:lnTo>
                  <a:lnTo>
                    <a:pt x="1435" y="235"/>
                  </a:lnTo>
                  <a:cubicBezTo>
                    <a:pt x="1435" y="291"/>
                    <a:pt x="1513" y="314"/>
                    <a:pt x="1592" y="325"/>
                  </a:cubicBezTo>
                  <a:cubicBezTo>
                    <a:pt x="1939" y="359"/>
                    <a:pt x="2174" y="796"/>
                    <a:pt x="2185" y="1087"/>
                  </a:cubicBezTo>
                  <a:lnTo>
                    <a:pt x="1177" y="6266"/>
                  </a:lnTo>
                  <a:cubicBezTo>
                    <a:pt x="1110" y="6569"/>
                    <a:pt x="897" y="6894"/>
                    <a:pt x="460" y="6928"/>
                  </a:cubicBezTo>
                  <a:lnTo>
                    <a:pt x="179" y="6950"/>
                  </a:lnTo>
                  <a:cubicBezTo>
                    <a:pt x="78" y="6961"/>
                    <a:pt x="22" y="6995"/>
                    <a:pt x="22" y="7051"/>
                  </a:cubicBezTo>
                  <a:lnTo>
                    <a:pt x="0" y="7253"/>
                  </a:lnTo>
                  <a:lnTo>
                    <a:pt x="22" y="7275"/>
                  </a:lnTo>
                  <a:cubicBezTo>
                    <a:pt x="527" y="7264"/>
                    <a:pt x="986" y="7253"/>
                    <a:pt x="1255" y="7253"/>
                  </a:cubicBezTo>
                  <a:cubicBezTo>
                    <a:pt x="1524" y="7253"/>
                    <a:pt x="1917" y="7264"/>
                    <a:pt x="2421" y="7275"/>
                  </a:cubicBezTo>
                  <a:lnTo>
                    <a:pt x="2443" y="7253"/>
                  </a:lnTo>
                  <a:lnTo>
                    <a:pt x="2466" y="7040"/>
                  </a:lnTo>
                  <a:cubicBezTo>
                    <a:pt x="2477" y="6984"/>
                    <a:pt x="2443" y="6950"/>
                    <a:pt x="2399" y="6950"/>
                  </a:cubicBezTo>
                  <a:lnTo>
                    <a:pt x="2118" y="6928"/>
                  </a:lnTo>
                  <a:cubicBezTo>
                    <a:pt x="1771" y="6905"/>
                    <a:pt x="1636" y="6692"/>
                    <a:pt x="1636" y="6435"/>
                  </a:cubicBezTo>
                  <a:cubicBezTo>
                    <a:pt x="1636" y="6379"/>
                    <a:pt x="1648" y="6322"/>
                    <a:pt x="1659" y="6266"/>
                  </a:cubicBezTo>
                  <a:lnTo>
                    <a:pt x="2421" y="2332"/>
                  </a:lnTo>
                  <a:cubicBezTo>
                    <a:pt x="2499" y="1950"/>
                    <a:pt x="2555" y="1782"/>
                    <a:pt x="2634" y="1782"/>
                  </a:cubicBezTo>
                  <a:cubicBezTo>
                    <a:pt x="2701" y="1782"/>
                    <a:pt x="2791" y="1906"/>
                    <a:pt x="2936" y="2152"/>
                  </a:cubicBezTo>
                  <a:lnTo>
                    <a:pt x="5727" y="7096"/>
                  </a:lnTo>
                  <a:cubicBezTo>
                    <a:pt x="5806" y="7262"/>
                    <a:pt x="5929" y="7363"/>
                    <a:pt x="6108" y="7363"/>
                  </a:cubicBezTo>
                  <a:cubicBezTo>
                    <a:pt x="6254" y="7363"/>
                    <a:pt x="6355" y="7228"/>
                    <a:pt x="6400" y="7015"/>
                  </a:cubicBezTo>
                  <a:lnTo>
                    <a:pt x="7565" y="100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80" name="Paper math native glyph 2"/>
            <p:cNvSpPr/>
            <p:nvPr/>
          </p:nvSpPr>
          <p:spPr>
            <a:xfrm>
              <a:off x="0" y="0"/>
              <a:ext cx="159067" cy="137821"/>
            </a:xfrm>
            <a:custGeom>
              <a:avLst/>
              <a:gdLst/>
              <a:ahLst/>
              <a:cxnLst/>
              <a:rect l="0" t="0" r="r" b="b"/>
              <a:pathLst>
                <a:path w="12525" h="10852" stroke="0" extrusionOk="0">
                  <a:moveTo>
                    <a:pt x="11715" y="6013"/>
                  </a:moveTo>
                  <a:lnTo>
                    <a:pt x="11281" y="8000"/>
                  </a:lnTo>
                  <a:cubicBezTo>
                    <a:pt x="11167" y="8115"/>
                    <a:pt x="10635" y="8564"/>
                    <a:pt x="10201" y="8564"/>
                  </a:cubicBezTo>
                  <a:cubicBezTo>
                    <a:pt x="10005" y="8564"/>
                    <a:pt x="9784" y="8564"/>
                    <a:pt x="9784" y="8123"/>
                  </a:cubicBezTo>
                  <a:cubicBezTo>
                    <a:pt x="9784" y="8025"/>
                    <a:pt x="9817" y="7910"/>
                    <a:pt x="9841" y="7780"/>
                  </a:cubicBezTo>
                  <a:lnTo>
                    <a:pt x="10161" y="6365"/>
                  </a:lnTo>
                  <a:cubicBezTo>
                    <a:pt x="10250" y="6103"/>
                    <a:pt x="10390" y="5768"/>
                    <a:pt x="10390" y="5613"/>
                  </a:cubicBezTo>
                  <a:cubicBezTo>
                    <a:pt x="10390" y="5457"/>
                    <a:pt x="10340" y="5343"/>
                    <a:pt x="10071" y="5343"/>
                  </a:cubicBezTo>
                  <a:cubicBezTo>
                    <a:pt x="9629" y="5343"/>
                    <a:pt x="9105" y="5621"/>
                    <a:pt x="8688" y="6103"/>
                  </a:cubicBezTo>
                  <a:cubicBezTo>
                    <a:pt x="8712" y="6177"/>
                    <a:pt x="8761" y="6242"/>
                    <a:pt x="8876" y="6242"/>
                  </a:cubicBezTo>
                  <a:cubicBezTo>
                    <a:pt x="9113" y="5997"/>
                    <a:pt x="9400" y="5874"/>
                    <a:pt x="9490" y="5874"/>
                  </a:cubicBezTo>
                  <a:cubicBezTo>
                    <a:pt x="9547" y="5874"/>
                    <a:pt x="9571" y="5915"/>
                    <a:pt x="9571" y="6013"/>
                  </a:cubicBezTo>
                  <a:cubicBezTo>
                    <a:pt x="9571" y="6087"/>
                    <a:pt x="9514" y="6226"/>
                    <a:pt x="9457" y="6439"/>
                  </a:cubicBezTo>
                  <a:lnTo>
                    <a:pt x="9130" y="7902"/>
                  </a:lnTo>
                  <a:cubicBezTo>
                    <a:pt x="9105" y="8033"/>
                    <a:pt x="9072" y="8172"/>
                    <a:pt x="9072" y="8295"/>
                  </a:cubicBezTo>
                  <a:cubicBezTo>
                    <a:pt x="9072" y="8704"/>
                    <a:pt x="9203" y="9014"/>
                    <a:pt x="9866" y="9014"/>
                  </a:cubicBezTo>
                  <a:cubicBezTo>
                    <a:pt x="10226" y="9014"/>
                    <a:pt x="10643" y="8900"/>
                    <a:pt x="11232" y="8409"/>
                  </a:cubicBezTo>
                  <a:cubicBezTo>
                    <a:pt x="11020" y="9831"/>
                    <a:pt x="10651" y="10558"/>
                    <a:pt x="9874" y="10558"/>
                  </a:cubicBezTo>
                  <a:cubicBezTo>
                    <a:pt x="9318" y="10558"/>
                    <a:pt x="9514" y="10125"/>
                    <a:pt x="9072" y="10125"/>
                  </a:cubicBezTo>
                  <a:cubicBezTo>
                    <a:pt x="8974" y="10125"/>
                    <a:pt x="8737" y="10239"/>
                    <a:pt x="8737" y="10443"/>
                  </a:cubicBezTo>
                  <a:cubicBezTo>
                    <a:pt x="8737" y="10787"/>
                    <a:pt x="9440" y="10852"/>
                    <a:pt x="9768" y="10852"/>
                  </a:cubicBezTo>
                  <a:cubicBezTo>
                    <a:pt x="10087" y="10852"/>
                    <a:pt x="10488" y="10762"/>
                    <a:pt x="10897" y="10362"/>
                  </a:cubicBezTo>
                  <a:cubicBezTo>
                    <a:pt x="11412" y="9864"/>
                    <a:pt x="11617" y="9553"/>
                    <a:pt x="11960" y="8107"/>
                  </a:cubicBezTo>
                  <a:lnTo>
                    <a:pt x="12410" y="6054"/>
                  </a:lnTo>
                  <a:cubicBezTo>
                    <a:pt x="12443" y="5907"/>
                    <a:pt x="12525" y="5662"/>
                    <a:pt x="12525" y="5563"/>
                  </a:cubicBezTo>
                  <a:cubicBezTo>
                    <a:pt x="12525" y="5424"/>
                    <a:pt x="12435" y="5343"/>
                    <a:pt x="12140" y="5343"/>
                  </a:cubicBezTo>
                  <a:cubicBezTo>
                    <a:pt x="11797" y="5343"/>
                    <a:pt x="11789" y="5703"/>
                    <a:pt x="11715" y="601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181" name="Formula · \mathcal{Q}_t" descr="Editable LaTeX source: $\mathcal{Q}_t$; native vector glyphs."/>
          <p:cNvGrpSpPr/>
          <p:nvPr/>
        </p:nvGrpSpPr>
        <p:grpSpPr>
          <a:xfrm>
            <a:off x="2276475" y="3114675"/>
            <a:ext cx="225648" cy="206863"/>
            <a:chOff x="0" y="0"/>
            <a:chExt cx="225648" cy="206863"/>
          </a:xfrm>
        </p:grpSpPr>
        <p:sp>
          <p:nvSpPr>
            <p:cNvPr id="1182" name="Paper math native glyph 1"/>
            <p:cNvSpPr/>
            <p:nvPr/>
          </p:nvSpPr>
          <p:spPr>
            <a:xfrm>
              <a:off x="0" y="0"/>
              <a:ext cx="225648" cy="206863"/>
            </a:xfrm>
            <a:custGeom>
              <a:avLst/>
              <a:gdLst/>
              <a:ahLst/>
              <a:cxnLst/>
              <a:rect l="0" t="0" r="r" b="b"/>
              <a:pathLst>
                <a:path w="17768" h="16288" stroke="0" extrusionOk="0">
                  <a:moveTo>
                    <a:pt x="12871" y="4762"/>
                  </a:moveTo>
                  <a:cubicBezTo>
                    <a:pt x="12871" y="2409"/>
                    <a:pt x="11302" y="0"/>
                    <a:pt x="8761" y="0"/>
                  </a:cubicBezTo>
                  <a:cubicBezTo>
                    <a:pt x="7640" y="0"/>
                    <a:pt x="6463" y="299"/>
                    <a:pt x="5604" y="1065"/>
                  </a:cubicBezTo>
                  <a:cubicBezTo>
                    <a:pt x="6034" y="972"/>
                    <a:pt x="6463" y="953"/>
                    <a:pt x="6893" y="953"/>
                  </a:cubicBezTo>
                  <a:cubicBezTo>
                    <a:pt x="9153" y="953"/>
                    <a:pt x="11040" y="2110"/>
                    <a:pt x="11040" y="4557"/>
                  </a:cubicBezTo>
                  <a:cubicBezTo>
                    <a:pt x="11040" y="6666"/>
                    <a:pt x="9826" y="9299"/>
                    <a:pt x="8537" y="10945"/>
                  </a:cubicBezTo>
                  <a:cubicBezTo>
                    <a:pt x="7752" y="10196"/>
                    <a:pt x="6781" y="9542"/>
                    <a:pt x="5660" y="9542"/>
                  </a:cubicBezTo>
                  <a:cubicBezTo>
                    <a:pt x="4763" y="9542"/>
                    <a:pt x="3774" y="9673"/>
                    <a:pt x="3251" y="10514"/>
                  </a:cubicBezTo>
                  <a:cubicBezTo>
                    <a:pt x="3605" y="10364"/>
                    <a:pt x="3979" y="10270"/>
                    <a:pt x="4371" y="10270"/>
                  </a:cubicBezTo>
                  <a:cubicBezTo>
                    <a:pt x="5623" y="10270"/>
                    <a:pt x="6575" y="11263"/>
                    <a:pt x="7323" y="12163"/>
                  </a:cubicBezTo>
                  <a:cubicBezTo>
                    <a:pt x="6669" y="12668"/>
                    <a:pt x="5866" y="13043"/>
                    <a:pt x="5025" y="13043"/>
                  </a:cubicBezTo>
                  <a:cubicBezTo>
                    <a:pt x="3045" y="13043"/>
                    <a:pt x="2055" y="11207"/>
                    <a:pt x="2055" y="9430"/>
                  </a:cubicBezTo>
                  <a:cubicBezTo>
                    <a:pt x="2055" y="6218"/>
                    <a:pt x="4726" y="2279"/>
                    <a:pt x="8051" y="1830"/>
                  </a:cubicBezTo>
                  <a:cubicBezTo>
                    <a:pt x="7565" y="1588"/>
                    <a:pt x="7024" y="1550"/>
                    <a:pt x="6501" y="1550"/>
                  </a:cubicBezTo>
                  <a:cubicBezTo>
                    <a:pt x="3288" y="1550"/>
                    <a:pt x="0" y="6144"/>
                    <a:pt x="0" y="9131"/>
                  </a:cubicBezTo>
                  <a:cubicBezTo>
                    <a:pt x="0" y="12200"/>
                    <a:pt x="2074" y="13828"/>
                    <a:pt x="5025" y="13828"/>
                  </a:cubicBezTo>
                  <a:cubicBezTo>
                    <a:pt x="6090" y="13828"/>
                    <a:pt x="7155" y="13547"/>
                    <a:pt x="8088" y="13043"/>
                  </a:cubicBezTo>
                  <a:cubicBezTo>
                    <a:pt x="8705" y="13772"/>
                    <a:pt x="9583" y="14407"/>
                    <a:pt x="10573" y="14407"/>
                  </a:cubicBezTo>
                  <a:cubicBezTo>
                    <a:pt x="11339" y="14407"/>
                    <a:pt x="12665" y="13865"/>
                    <a:pt x="12665" y="12949"/>
                  </a:cubicBezTo>
                  <a:cubicBezTo>
                    <a:pt x="12665" y="12874"/>
                    <a:pt x="12628" y="12800"/>
                    <a:pt x="12590" y="12743"/>
                  </a:cubicBezTo>
                  <a:cubicBezTo>
                    <a:pt x="12460" y="13062"/>
                    <a:pt x="12142" y="13211"/>
                    <a:pt x="11806" y="13211"/>
                  </a:cubicBezTo>
                  <a:cubicBezTo>
                    <a:pt x="11077" y="13211"/>
                    <a:pt x="10162" y="12425"/>
                    <a:pt x="9639" y="11957"/>
                  </a:cubicBezTo>
                  <a:cubicBezTo>
                    <a:pt x="11638" y="10140"/>
                    <a:pt x="12871" y="7451"/>
                    <a:pt x="12871" y="476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83" name="Paper math native glyph 2"/>
            <p:cNvSpPr/>
            <p:nvPr/>
          </p:nvSpPr>
          <p:spPr>
            <a:xfrm>
              <a:off x="0" y="0"/>
              <a:ext cx="225648" cy="206863"/>
            </a:xfrm>
            <a:custGeom>
              <a:avLst/>
              <a:gdLst/>
              <a:ahLst/>
              <a:cxnLst/>
              <a:rect l="0" t="0" r="r" b="b"/>
              <a:pathLst>
                <a:path w="17768" h="16288" stroke="0" extrusionOk="0">
                  <a:moveTo>
                    <a:pt x="15341" y="10297"/>
                  </a:moveTo>
                  <a:lnTo>
                    <a:pt x="14618" y="10338"/>
                  </a:lnTo>
                  <a:cubicBezTo>
                    <a:pt x="14359" y="10351"/>
                    <a:pt x="14263" y="10460"/>
                    <a:pt x="14236" y="10570"/>
                  </a:cubicBezTo>
                  <a:cubicBezTo>
                    <a:pt x="14222" y="10610"/>
                    <a:pt x="14182" y="10774"/>
                    <a:pt x="14182" y="10801"/>
                  </a:cubicBezTo>
                  <a:cubicBezTo>
                    <a:pt x="14182" y="10829"/>
                    <a:pt x="14222" y="10829"/>
                    <a:pt x="14263" y="10829"/>
                  </a:cubicBezTo>
                  <a:lnTo>
                    <a:pt x="15218" y="10829"/>
                  </a:lnTo>
                  <a:lnTo>
                    <a:pt x="14386" y="14542"/>
                  </a:lnTo>
                  <a:cubicBezTo>
                    <a:pt x="14291" y="14979"/>
                    <a:pt x="14195" y="15402"/>
                    <a:pt x="14195" y="15661"/>
                  </a:cubicBezTo>
                  <a:cubicBezTo>
                    <a:pt x="14195" y="16152"/>
                    <a:pt x="14441" y="16288"/>
                    <a:pt x="14863" y="16288"/>
                  </a:cubicBezTo>
                  <a:cubicBezTo>
                    <a:pt x="15477" y="16288"/>
                    <a:pt x="16377" y="15730"/>
                    <a:pt x="16841" y="14883"/>
                  </a:cubicBezTo>
                  <a:cubicBezTo>
                    <a:pt x="16800" y="14706"/>
                    <a:pt x="16704" y="14624"/>
                    <a:pt x="16541" y="14624"/>
                  </a:cubicBezTo>
                  <a:cubicBezTo>
                    <a:pt x="15913" y="15334"/>
                    <a:pt x="15668" y="15470"/>
                    <a:pt x="15450" y="15470"/>
                  </a:cubicBezTo>
                  <a:cubicBezTo>
                    <a:pt x="15409" y="15470"/>
                    <a:pt x="15273" y="15443"/>
                    <a:pt x="15273" y="15279"/>
                  </a:cubicBezTo>
                  <a:cubicBezTo>
                    <a:pt x="15273" y="15156"/>
                    <a:pt x="15313" y="14883"/>
                    <a:pt x="15422" y="14419"/>
                  </a:cubicBezTo>
                  <a:lnTo>
                    <a:pt x="16227" y="10829"/>
                  </a:lnTo>
                  <a:lnTo>
                    <a:pt x="17563" y="10829"/>
                  </a:lnTo>
                  <a:cubicBezTo>
                    <a:pt x="17727" y="10761"/>
                    <a:pt x="17850" y="10406"/>
                    <a:pt x="17700" y="10297"/>
                  </a:cubicBezTo>
                  <a:lnTo>
                    <a:pt x="16350" y="10297"/>
                  </a:lnTo>
                  <a:lnTo>
                    <a:pt x="16486" y="9683"/>
                  </a:lnTo>
                  <a:cubicBezTo>
                    <a:pt x="16541" y="9424"/>
                    <a:pt x="16663" y="9029"/>
                    <a:pt x="16663" y="8865"/>
                  </a:cubicBezTo>
                  <a:cubicBezTo>
                    <a:pt x="16663" y="8633"/>
                    <a:pt x="16554" y="8497"/>
                    <a:pt x="16118" y="8497"/>
                  </a:cubicBezTo>
                  <a:cubicBezTo>
                    <a:pt x="15627" y="8497"/>
                    <a:pt x="15654" y="9110"/>
                    <a:pt x="15518" y="9615"/>
                  </a:cubicBezTo>
                  <a:lnTo>
                    <a:pt x="15341" y="10297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184" name="Formula · \mathcal{P}_t" descr="Editable LaTeX source: $\mathcal{P}_t$; native vector glyphs."/>
          <p:cNvGrpSpPr/>
          <p:nvPr/>
        </p:nvGrpSpPr>
        <p:grpSpPr>
          <a:xfrm>
            <a:off x="2200275" y="5886450"/>
            <a:ext cx="216396" cy="198059"/>
            <a:chOff x="0" y="0"/>
            <a:chExt cx="216396" cy="198059"/>
          </a:xfrm>
        </p:grpSpPr>
        <p:sp>
          <p:nvSpPr>
            <p:cNvPr id="1185" name="Paper math native glyph 1"/>
            <p:cNvSpPr/>
            <p:nvPr/>
          </p:nvSpPr>
          <p:spPr>
            <a:xfrm>
              <a:off x="0" y="0"/>
              <a:ext cx="216396" cy="198059"/>
            </a:xfrm>
            <a:custGeom>
              <a:avLst/>
              <a:gdLst/>
              <a:ahLst/>
              <a:cxnLst/>
              <a:rect l="0" t="0" r="r" b="b"/>
              <a:pathLst>
                <a:path w="17039" h="15595" stroke="0" extrusionOk="0">
                  <a:moveTo>
                    <a:pt x="13114" y="3380"/>
                  </a:moveTo>
                  <a:cubicBezTo>
                    <a:pt x="13114" y="635"/>
                    <a:pt x="9751" y="0"/>
                    <a:pt x="7603" y="0"/>
                  </a:cubicBezTo>
                  <a:cubicBezTo>
                    <a:pt x="5230" y="0"/>
                    <a:pt x="2466" y="598"/>
                    <a:pt x="934" y="2559"/>
                  </a:cubicBezTo>
                  <a:cubicBezTo>
                    <a:pt x="374" y="3268"/>
                    <a:pt x="0" y="4128"/>
                    <a:pt x="0" y="5043"/>
                  </a:cubicBezTo>
                  <a:cubicBezTo>
                    <a:pt x="0" y="6070"/>
                    <a:pt x="598" y="6686"/>
                    <a:pt x="1625" y="6686"/>
                  </a:cubicBezTo>
                  <a:cubicBezTo>
                    <a:pt x="1812" y="6686"/>
                    <a:pt x="1980" y="6630"/>
                    <a:pt x="2129" y="6537"/>
                  </a:cubicBezTo>
                  <a:cubicBezTo>
                    <a:pt x="1681" y="6256"/>
                    <a:pt x="1289" y="5734"/>
                    <a:pt x="1289" y="5173"/>
                  </a:cubicBezTo>
                  <a:cubicBezTo>
                    <a:pt x="1289" y="2876"/>
                    <a:pt x="5062" y="617"/>
                    <a:pt x="7117" y="598"/>
                  </a:cubicBezTo>
                  <a:cubicBezTo>
                    <a:pt x="4932" y="1046"/>
                    <a:pt x="4072" y="4408"/>
                    <a:pt x="3531" y="6238"/>
                  </a:cubicBezTo>
                  <a:lnTo>
                    <a:pt x="2952" y="5977"/>
                  </a:lnTo>
                  <a:lnTo>
                    <a:pt x="2802" y="6051"/>
                  </a:lnTo>
                  <a:cubicBezTo>
                    <a:pt x="3064" y="6499"/>
                    <a:pt x="3251" y="7004"/>
                    <a:pt x="3251" y="7527"/>
                  </a:cubicBezTo>
                  <a:cubicBezTo>
                    <a:pt x="3251" y="8647"/>
                    <a:pt x="1439" y="13055"/>
                    <a:pt x="262" y="13204"/>
                  </a:cubicBezTo>
                  <a:cubicBezTo>
                    <a:pt x="374" y="13297"/>
                    <a:pt x="505" y="13353"/>
                    <a:pt x="654" y="13353"/>
                  </a:cubicBezTo>
                  <a:cubicBezTo>
                    <a:pt x="1476" y="13353"/>
                    <a:pt x="3064" y="12681"/>
                    <a:pt x="3493" y="11953"/>
                  </a:cubicBezTo>
                  <a:cubicBezTo>
                    <a:pt x="4072" y="10963"/>
                    <a:pt x="4539" y="9002"/>
                    <a:pt x="4932" y="7844"/>
                  </a:cubicBezTo>
                  <a:cubicBezTo>
                    <a:pt x="7435" y="7825"/>
                    <a:pt x="13114" y="6630"/>
                    <a:pt x="13114" y="3380"/>
                  </a:cubicBezTo>
                  <a:moveTo>
                    <a:pt x="11208" y="3287"/>
                  </a:moveTo>
                  <a:cubicBezTo>
                    <a:pt x="11208" y="5771"/>
                    <a:pt x="9153" y="6948"/>
                    <a:pt x="6893" y="6948"/>
                  </a:cubicBezTo>
                  <a:cubicBezTo>
                    <a:pt x="6314" y="6948"/>
                    <a:pt x="5753" y="6854"/>
                    <a:pt x="5193" y="6686"/>
                  </a:cubicBezTo>
                  <a:cubicBezTo>
                    <a:pt x="5417" y="5734"/>
                    <a:pt x="6874" y="635"/>
                    <a:pt x="7827" y="635"/>
                  </a:cubicBezTo>
                  <a:cubicBezTo>
                    <a:pt x="9396" y="635"/>
                    <a:pt x="11208" y="1494"/>
                    <a:pt x="11208" y="3287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86" name="Paper math native glyph 2"/>
            <p:cNvSpPr/>
            <p:nvPr/>
          </p:nvSpPr>
          <p:spPr>
            <a:xfrm>
              <a:off x="0" y="0"/>
              <a:ext cx="216396" cy="198059"/>
            </a:xfrm>
            <a:custGeom>
              <a:avLst/>
              <a:gdLst/>
              <a:ahLst/>
              <a:cxnLst/>
              <a:rect l="0" t="0" r="r" b="b"/>
              <a:pathLst>
                <a:path w="17039" h="15595" stroke="0" extrusionOk="0">
                  <a:moveTo>
                    <a:pt x="14612" y="9604"/>
                  </a:moveTo>
                  <a:lnTo>
                    <a:pt x="13889" y="9645"/>
                  </a:lnTo>
                  <a:cubicBezTo>
                    <a:pt x="13630" y="9658"/>
                    <a:pt x="13535" y="9767"/>
                    <a:pt x="13508" y="9876"/>
                  </a:cubicBezTo>
                  <a:cubicBezTo>
                    <a:pt x="13494" y="9917"/>
                    <a:pt x="13453" y="10081"/>
                    <a:pt x="13453" y="10108"/>
                  </a:cubicBezTo>
                  <a:cubicBezTo>
                    <a:pt x="13453" y="10135"/>
                    <a:pt x="13494" y="10135"/>
                    <a:pt x="13535" y="10135"/>
                  </a:cubicBezTo>
                  <a:lnTo>
                    <a:pt x="14489" y="10135"/>
                  </a:lnTo>
                  <a:lnTo>
                    <a:pt x="13658" y="13849"/>
                  </a:lnTo>
                  <a:cubicBezTo>
                    <a:pt x="13562" y="14286"/>
                    <a:pt x="13467" y="14709"/>
                    <a:pt x="13467" y="14968"/>
                  </a:cubicBezTo>
                  <a:cubicBezTo>
                    <a:pt x="13467" y="15459"/>
                    <a:pt x="13712" y="15595"/>
                    <a:pt x="14135" y="15595"/>
                  </a:cubicBezTo>
                  <a:cubicBezTo>
                    <a:pt x="14749" y="15595"/>
                    <a:pt x="15649" y="15036"/>
                    <a:pt x="16112" y="14190"/>
                  </a:cubicBezTo>
                  <a:cubicBezTo>
                    <a:pt x="16071" y="14013"/>
                    <a:pt x="15976" y="13931"/>
                    <a:pt x="15812" y="13931"/>
                  </a:cubicBezTo>
                  <a:cubicBezTo>
                    <a:pt x="15185" y="14641"/>
                    <a:pt x="14939" y="14777"/>
                    <a:pt x="14721" y="14777"/>
                  </a:cubicBezTo>
                  <a:cubicBezTo>
                    <a:pt x="14680" y="14777"/>
                    <a:pt x="14544" y="14750"/>
                    <a:pt x="14544" y="14586"/>
                  </a:cubicBezTo>
                  <a:cubicBezTo>
                    <a:pt x="14544" y="14463"/>
                    <a:pt x="14585" y="14190"/>
                    <a:pt x="14694" y="13726"/>
                  </a:cubicBezTo>
                  <a:lnTo>
                    <a:pt x="15498" y="10135"/>
                  </a:lnTo>
                  <a:lnTo>
                    <a:pt x="16835" y="10135"/>
                  </a:lnTo>
                  <a:cubicBezTo>
                    <a:pt x="16998" y="10067"/>
                    <a:pt x="17121" y="9713"/>
                    <a:pt x="16971" y="9604"/>
                  </a:cubicBezTo>
                  <a:lnTo>
                    <a:pt x="15621" y="9604"/>
                  </a:lnTo>
                  <a:lnTo>
                    <a:pt x="15758" y="8990"/>
                  </a:lnTo>
                  <a:cubicBezTo>
                    <a:pt x="15812" y="8731"/>
                    <a:pt x="15935" y="8336"/>
                    <a:pt x="15935" y="8172"/>
                  </a:cubicBezTo>
                  <a:cubicBezTo>
                    <a:pt x="15935" y="7940"/>
                    <a:pt x="15826" y="7804"/>
                    <a:pt x="15389" y="7804"/>
                  </a:cubicBezTo>
                  <a:cubicBezTo>
                    <a:pt x="14898" y="7804"/>
                    <a:pt x="14926" y="8417"/>
                    <a:pt x="14789" y="8922"/>
                  </a:cubicBezTo>
                  <a:lnTo>
                    <a:pt x="14612" y="9604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187" name="Formula · \mathbf{Y}_i\,\in\,\mathbb{R}^{N_y\times H}" descr="Editable LaTeX source: $\mathbf{Y}_i\,\in\,\mathbb{R}^{N_y\times H}$; native vector glyphs."/>
          <p:cNvGrpSpPr/>
          <p:nvPr/>
        </p:nvGrpSpPr>
        <p:grpSpPr>
          <a:xfrm>
            <a:off x="2181225" y="6200775"/>
            <a:ext cx="885871" cy="187970"/>
            <a:chOff x="0" y="0"/>
            <a:chExt cx="885871" cy="187970"/>
          </a:xfrm>
        </p:grpSpPr>
        <p:sp>
          <p:nvSpPr>
            <p:cNvPr id="1188" name="Paper math native glyph 1"/>
            <p:cNvSpPr/>
            <p:nvPr/>
          </p:nvSpPr>
          <p:spPr>
            <a:xfrm>
              <a:off x="0" y="0"/>
              <a:ext cx="885871" cy="187970"/>
            </a:xfrm>
            <a:custGeom>
              <a:avLst/>
              <a:gdLst/>
              <a:ahLst/>
              <a:cxnLst/>
              <a:rect l="0" t="0" r="r" b="b"/>
              <a:pathLst>
                <a:path w="69754" h="14801" stroke="0" extrusionOk="0">
                  <a:moveTo>
                    <a:pt x="3606" y="11547"/>
                  </a:moveTo>
                  <a:cubicBezTo>
                    <a:pt x="3606" y="11945"/>
                    <a:pt x="3421" y="12101"/>
                    <a:pt x="2839" y="12101"/>
                  </a:cubicBezTo>
                  <a:lnTo>
                    <a:pt x="2456" y="12101"/>
                  </a:lnTo>
                  <a:cubicBezTo>
                    <a:pt x="2385" y="12101"/>
                    <a:pt x="2356" y="12144"/>
                    <a:pt x="2356" y="12229"/>
                  </a:cubicBezTo>
                  <a:lnTo>
                    <a:pt x="2356" y="12556"/>
                  </a:lnTo>
                  <a:lnTo>
                    <a:pt x="2371" y="12584"/>
                  </a:lnTo>
                  <a:cubicBezTo>
                    <a:pt x="2371" y="12584"/>
                    <a:pt x="3975" y="12556"/>
                    <a:pt x="4486" y="12556"/>
                  </a:cubicBezTo>
                  <a:cubicBezTo>
                    <a:pt x="5040" y="12556"/>
                    <a:pt x="6587" y="12584"/>
                    <a:pt x="6587" y="12584"/>
                  </a:cubicBezTo>
                  <a:lnTo>
                    <a:pt x="6616" y="12556"/>
                  </a:lnTo>
                  <a:lnTo>
                    <a:pt x="6616" y="12229"/>
                  </a:lnTo>
                  <a:cubicBezTo>
                    <a:pt x="6616" y="12144"/>
                    <a:pt x="6559" y="12101"/>
                    <a:pt x="6502" y="12101"/>
                  </a:cubicBezTo>
                  <a:lnTo>
                    <a:pt x="6119" y="12101"/>
                  </a:lnTo>
                  <a:cubicBezTo>
                    <a:pt x="5565" y="12101"/>
                    <a:pt x="5338" y="11988"/>
                    <a:pt x="5338" y="11547"/>
                  </a:cubicBezTo>
                  <a:lnTo>
                    <a:pt x="5338" y="8407"/>
                  </a:lnTo>
                  <a:lnTo>
                    <a:pt x="7453" y="4415"/>
                  </a:lnTo>
                  <a:cubicBezTo>
                    <a:pt x="7695" y="3961"/>
                    <a:pt x="7893" y="3861"/>
                    <a:pt x="8319" y="3861"/>
                  </a:cubicBezTo>
                  <a:lnTo>
                    <a:pt x="8617" y="3861"/>
                  </a:lnTo>
                  <a:cubicBezTo>
                    <a:pt x="8702" y="3861"/>
                    <a:pt x="8759" y="3833"/>
                    <a:pt x="8759" y="3747"/>
                  </a:cubicBezTo>
                  <a:lnTo>
                    <a:pt x="8759" y="3407"/>
                  </a:lnTo>
                  <a:lnTo>
                    <a:pt x="8731" y="3378"/>
                  </a:lnTo>
                  <a:cubicBezTo>
                    <a:pt x="8731" y="3378"/>
                    <a:pt x="7340" y="3407"/>
                    <a:pt x="7212" y="3407"/>
                  </a:cubicBezTo>
                  <a:cubicBezTo>
                    <a:pt x="7041" y="3407"/>
                    <a:pt x="5920" y="3378"/>
                    <a:pt x="5920" y="3378"/>
                  </a:cubicBezTo>
                  <a:lnTo>
                    <a:pt x="5892" y="3407"/>
                  </a:lnTo>
                  <a:lnTo>
                    <a:pt x="5892" y="3762"/>
                  </a:lnTo>
                  <a:cubicBezTo>
                    <a:pt x="5892" y="3804"/>
                    <a:pt x="5906" y="3861"/>
                    <a:pt x="5977" y="3861"/>
                  </a:cubicBezTo>
                  <a:cubicBezTo>
                    <a:pt x="6488" y="3861"/>
                    <a:pt x="6743" y="4103"/>
                    <a:pt x="6587" y="4387"/>
                  </a:cubicBezTo>
                  <a:lnTo>
                    <a:pt x="4770" y="7825"/>
                  </a:lnTo>
                  <a:lnTo>
                    <a:pt x="2797" y="4387"/>
                  </a:lnTo>
                  <a:cubicBezTo>
                    <a:pt x="2513" y="3918"/>
                    <a:pt x="2655" y="3861"/>
                    <a:pt x="3379" y="3861"/>
                  </a:cubicBezTo>
                  <a:cubicBezTo>
                    <a:pt x="3450" y="3861"/>
                    <a:pt x="3478" y="3804"/>
                    <a:pt x="3478" y="3747"/>
                  </a:cubicBezTo>
                  <a:lnTo>
                    <a:pt x="3478" y="3407"/>
                  </a:lnTo>
                  <a:lnTo>
                    <a:pt x="3450" y="3378"/>
                  </a:lnTo>
                  <a:cubicBezTo>
                    <a:pt x="3450" y="3378"/>
                    <a:pt x="1916" y="3407"/>
                    <a:pt x="1831" y="3407"/>
                  </a:cubicBezTo>
                  <a:cubicBezTo>
                    <a:pt x="1647" y="3407"/>
                    <a:pt x="28" y="3378"/>
                    <a:pt x="28" y="3378"/>
                  </a:cubicBezTo>
                  <a:lnTo>
                    <a:pt x="0" y="3407"/>
                  </a:lnTo>
                  <a:lnTo>
                    <a:pt x="0" y="3762"/>
                  </a:lnTo>
                  <a:cubicBezTo>
                    <a:pt x="0" y="3833"/>
                    <a:pt x="71" y="3861"/>
                    <a:pt x="156" y="3861"/>
                  </a:cubicBezTo>
                  <a:lnTo>
                    <a:pt x="326" y="3861"/>
                  </a:lnTo>
                  <a:cubicBezTo>
                    <a:pt x="710" y="3861"/>
                    <a:pt x="894" y="3904"/>
                    <a:pt x="1377" y="4714"/>
                  </a:cubicBezTo>
                  <a:lnTo>
                    <a:pt x="3606" y="8578"/>
                  </a:lnTo>
                  <a:lnTo>
                    <a:pt x="3606" y="11547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89" name="Paper math native glyph 2"/>
            <p:cNvSpPr/>
            <p:nvPr/>
          </p:nvSpPr>
          <p:spPr>
            <a:xfrm>
              <a:off x="0" y="0"/>
              <a:ext cx="885871" cy="187970"/>
            </a:xfrm>
            <a:custGeom>
              <a:avLst/>
              <a:gdLst/>
              <a:ahLst/>
              <a:cxnLst/>
              <a:rect l="0" t="0" r="r" b="b"/>
              <a:pathLst>
                <a:path w="69754" h="14801" stroke="0" extrusionOk="0">
                  <a:moveTo>
                    <a:pt x="10428" y="8791"/>
                  </a:moveTo>
                  <a:cubicBezTo>
                    <a:pt x="10428" y="9060"/>
                    <a:pt x="10656" y="9288"/>
                    <a:pt x="10925" y="9288"/>
                  </a:cubicBezTo>
                  <a:cubicBezTo>
                    <a:pt x="11195" y="9288"/>
                    <a:pt x="11423" y="9060"/>
                    <a:pt x="11423" y="8791"/>
                  </a:cubicBezTo>
                  <a:cubicBezTo>
                    <a:pt x="11423" y="8521"/>
                    <a:pt x="11195" y="8293"/>
                    <a:pt x="10925" y="8293"/>
                  </a:cubicBezTo>
                  <a:cubicBezTo>
                    <a:pt x="10656" y="8293"/>
                    <a:pt x="10428" y="8521"/>
                    <a:pt x="10428" y="8791"/>
                  </a:cubicBezTo>
                  <a:moveTo>
                    <a:pt x="10884" y="11379"/>
                  </a:moveTo>
                  <a:cubicBezTo>
                    <a:pt x="10977" y="10974"/>
                    <a:pt x="11101" y="10570"/>
                    <a:pt x="11101" y="10394"/>
                  </a:cubicBezTo>
                  <a:cubicBezTo>
                    <a:pt x="11101" y="10249"/>
                    <a:pt x="11019" y="10176"/>
                    <a:pt x="10884" y="10176"/>
                  </a:cubicBezTo>
                  <a:cubicBezTo>
                    <a:pt x="10552" y="10176"/>
                    <a:pt x="10086" y="10249"/>
                    <a:pt x="9599" y="10311"/>
                  </a:cubicBezTo>
                  <a:cubicBezTo>
                    <a:pt x="9526" y="10394"/>
                    <a:pt x="9547" y="10508"/>
                    <a:pt x="9609" y="10601"/>
                  </a:cubicBezTo>
                  <a:lnTo>
                    <a:pt x="10024" y="10632"/>
                  </a:lnTo>
                  <a:cubicBezTo>
                    <a:pt x="10148" y="10642"/>
                    <a:pt x="10210" y="10736"/>
                    <a:pt x="10210" y="10839"/>
                  </a:cubicBezTo>
                  <a:cubicBezTo>
                    <a:pt x="10210" y="10933"/>
                    <a:pt x="10190" y="11078"/>
                    <a:pt x="10117" y="11368"/>
                  </a:cubicBezTo>
                  <a:lnTo>
                    <a:pt x="9630" y="13505"/>
                  </a:lnTo>
                  <a:cubicBezTo>
                    <a:pt x="9557" y="13837"/>
                    <a:pt x="9454" y="14262"/>
                    <a:pt x="9454" y="14459"/>
                  </a:cubicBezTo>
                  <a:cubicBezTo>
                    <a:pt x="9454" y="14656"/>
                    <a:pt x="9568" y="14801"/>
                    <a:pt x="9879" y="14801"/>
                  </a:cubicBezTo>
                  <a:cubicBezTo>
                    <a:pt x="10376" y="14801"/>
                    <a:pt x="10842" y="14448"/>
                    <a:pt x="11319" y="13837"/>
                  </a:cubicBezTo>
                  <a:cubicBezTo>
                    <a:pt x="11288" y="13744"/>
                    <a:pt x="11226" y="13660"/>
                    <a:pt x="11081" y="13660"/>
                  </a:cubicBezTo>
                  <a:cubicBezTo>
                    <a:pt x="10811" y="13972"/>
                    <a:pt x="10511" y="14179"/>
                    <a:pt x="10407" y="14179"/>
                  </a:cubicBezTo>
                  <a:cubicBezTo>
                    <a:pt x="10335" y="14179"/>
                    <a:pt x="10304" y="14127"/>
                    <a:pt x="10304" y="14003"/>
                  </a:cubicBezTo>
                  <a:cubicBezTo>
                    <a:pt x="10304" y="13909"/>
                    <a:pt x="10355" y="13681"/>
                    <a:pt x="10418" y="13412"/>
                  </a:cubicBezTo>
                  <a:lnTo>
                    <a:pt x="10884" y="1137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90" name="Paper math native glyph 3"/>
            <p:cNvSpPr/>
            <p:nvPr/>
          </p:nvSpPr>
          <p:spPr>
            <a:xfrm>
              <a:off x="0" y="0"/>
              <a:ext cx="885871" cy="187970"/>
            </a:xfrm>
            <a:custGeom>
              <a:avLst/>
              <a:gdLst/>
              <a:ahLst/>
              <a:cxnLst/>
              <a:rect l="0" t="0" r="r" b="b"/>
              <a:pathLst>
                <a:path w="69754" h="14801" stroke="0" extrusionOk="0">
                  <a:moveTo>
                    <a:pt x="25878" y="12459"/>
                  </a:moveTo>
                  <a:lnTo>
                    <a:pt x="25878" y="11750"/>
                  </a:lnTo>
                  <a:lnTo>
                    <a:pt x="23180" y="11750"/>
                  </a:lnTo>
                  <a:cubicBezTo>
                    <a:pt x="21903" y="11750"/>
                    <a:pt x="20654" y="10697"/>
                    <a:pt x="20483" y="9273"/>
                  </a:cubicBezTo>
                  <a:lnTo>
                    <a:pt x="25637" y="9273"/>
                  </a:lnTo>
                  <a:lnTo>
                    <a:pt x="25637" y="8563"/>
                  </a:lnTo>
                  <a:lnTo>
                    <a:pt x="20483" y="8563"/>
                  </a:lnTo>
                  <a:cubicBezTo>
                    <a:pt x="20639" y="7216"/>
                    <a:pt x="21761" y="6096"/>
                    <a:pt x="23180" y="6096"/>
                  </a:cubicBezTo>
                  <a:lnTo>
                    <a:pt x="25878" y="6096"/>
                  </a:lnTo>
                  <a:lnTo>
                    <a:pt x="25878" y="5386"/>
                  </a:lnTo>
                  <a:lnTo>
                    <a:pt x="23237" y="5386"/>
                  </a:lnTo>
                  <a:cubicBezTo>
                    <a:pt x="21264" y="5386"/>
                    <a:pt x="19745" y="7032"/>
                    <a:pt x="19745" y="8918"/>
                  </a:cubicBezTo>
                  <a:cubicBezTo>
                    <a:pt x="19745" y="10810"/>
                    <a:pt x="21264" y="12459"/>
                    <a:pt x="23237" y="12459"/>
                  </a:cubicBezTo>
                  <a:lnTo>
                    <a:pt x="25878" y="1245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91" name="Paper math native glyph 4"/>
            <p:cNvSpPr/>
            <p:nvPr/>
          </p:nvSpPr>
          <p:spPr>
            <a:xfrm>
              <a:off x="0" y="0"/>
              <a:ext cx="885871" cy="187970"/>
            </a:xfrm>
            <a:custGeom>
              <a:avLst/>
              <a:gdLst/>
              <a:ahLst/>
              <a:cxnLst/>
              <a:rect l="0" t="0" r="r" b="b"/>
              <a:pathLst>
                <a:path w="69754" h="14801" stroke="0" extrusionOk="0">
                  <a:moveTo>
                    <a:pt x="42594" y="12612"/>
                  </a:moveTo>
                  <a:lnTo>
                    <a:pt x="42594" y="11944"/>
                  </a:lnTo>
                  <a:cubicBezTo>
                    <a:pt x="42068" y="11916"/>
                    <a:pt x="41714" y="11789"/>
                    <a:pt x="41359" y="11363"/>
                  </a:cubicBezTo>
                  <a:lnTo>
                    <a:pt x="38761" y="8170"/>
                  </a:lnTo>
                  <a:cubicBezTo>
                    <a:pt x="40053" y="7872"/>
                    <a:pt x="41075" y="7176"/>
                    <a:pt x="41075" y="5741"/>
                  </a:cubicBezTo>
                  <a:cubicBezTo>
                    <a:pt x="41075" y="3682"/>
                    <a:pt x="39087" y="3143"/>
                    <a:pt x="37398" y="3143"/>
                  </a:cubicBezTo>
                  <a:lnTo>
                    <a:pt x="33408" y="3143"/>
                  </a:lnTo>
                  <a:lnTo>
                    <a:pt x="33408" y="3796"/>
                  </a:lnTo>
                  <a:cubicBezTo>
                    <a:pt x="34317" y="3867"/>
                    <a:pt x="34573" y="3838"/>
                    <a:pt x="34573" y="4832"/>
                  </a:cubicBezTo>
                  <a:lnTo>
                    <a:pt x="34573" y="10753"/>
                  </a:lnTo>
                  <a:cubicBezTo>
                    <a:pt x="34573" y="11803"/>
                    <a:pt x="34473" y="11888"/>
                    <a:pt x="33408" y="11944"/>
                  </a:cubicBezTo>
                  <a:lnTo>
                    <a:pt x="33408" y="12612"/>
                  </a:lnTo>
                  <a:lnTo>
                    <a:pt x="37611" y="12612"/>
                  </a:lnTo>
                  <a:lnTo>
                    <a:pt x="37611" y="11944"/>
                  </a:lnTo>
                  <a:cubicBezTo>
                    <a:pt x="36702" y="11902"/>
                    <a:pt x="36390" y="11930"/>
                    <a:pt x="36390" y="10909"/>
                  </a:cubicBezTo>
                  <a:lnTo>
                    <a:pt x="36390" y="8411"/>
                  </a:lnTo>
                  <a:lnTo>
                    <a:pt x="36844" y="8397"/>
                  </a:lnTo>
                  <a:lnTo>
                    <a:pt x="40095" y="12612"/>
                  </a:lnTo>
                  <a:lnTo>
                    <a:pt x="42594" y="12612"/>
                  </a:lnTo>
                  <a:moveTo>
                    <a:pt x="41728" y="12186"/>
                  </a:moveTo>
                  <a:lnTo>
                    <a:pt x="40294" y="12186"/>
                  </a:lnTo>
                  <a:lnTo>
                    <a:pt x="37043" y="7971"/>
                  </a:lnTo>
                  <a:lnTo>
                    <a:pt x="35964" y="8014"/>
                  </a:lnTo>
                  <a:lnTo>
                    <a:pt x="35964" y="10909"/>
                  </a:lnTo>
                  <a:cubicBezTo>
                    <a:pt x="35964" y="11420"/>
                    <a:pt x="35992" y="11959"/>
                    <a:pt x="36532" y="12186"/>
                  </a:cubicBezTo>
                  <a:lnTo>
                    <a:pt x="34431" y="12186"/>
                  </a:lnTo>
                  <a:cubicBezTo>
                    <a:pt x="34942" y="11973"/>
                    <a:pt x="34984" y="11448"/>
                    <a:pt x="34984" y="10951"/>
                  </a:cubicBezTo>
                  <a:lnTo>
                    <a:pt x="34984" y="4832"/>
                  </a:lnTo>
                  <a:cubicBezTo>
                    <a:pt x="34984" y="4321"/>
                    <a:pt x="34970" y="3767"/>
                    <a:pt x="34416" y="3554"/>
                  </a:cubicBezTo>
                  <a:lnTo>
                    <a:pt x="37398" y="3554"/>
                  </a:lnTo>
                  <a:cubicBezTo>
                    <a:pt x="38832" y="3554"/>
                    <a:pt x="40663" y="3952"/>
                    <a:pt x="40663" y="5741"/>
                  </a:cubicBezTo>
                  <a:cubicBezTo>
                    <a:pt x="40663" y="7318"/>
                    <a:pt x="39286" y="7659"/>
                    <a:pt x="38008" y="7900"/>
                  </a:cubicBezTo>
                  <a:lnTo>
                    <a:pt x="41046" y="11632"/>
                  </a:lnTo>
                  <a:cubicBezTo>
                    <a:pt x="41231" y="11859"/>
                    <a:pt x="41458" y="12058"/>
                    <a:pt x="41728" y="12186"/>
                  </a:cubicBezTo>
                  <a:moveTo>
                    <a:pt x="39584" y="5713"/>
                  </a:moveTo>
                  <a:cubicBezTo>
                    <a:pt x="39584" y="4151"/>
                    <a:pt x="38391" y="3639"/>
                    <a:pt x="37029" y="3639"/>
                  </a:cubicBezTo>
                  <a:cubicBezTo>
                    <a:pt x="36489" y="3639"/>
                    <a:pt x="35964" y="3654"/>
                    <a:pt x="35964" y="4335"/>
                  </a:cubicBezTo>
                  <a:lnTo>
                    <a:pt x="35964" y="7914"/>
                  </a:lnTo>
                  <a:cubicBezTo>
                    <a:pt x="37554" y="7900"/>
                    <a:pt x="39584" y="7787"/>
                    <a:pt x="39584" y="5713"/>
                  </a:cubicBezTo>
                  <a:moveTo>
                    <a:pt x="39172" y="5713"/>
                  </a:moveTo>
                  <a:cubicBezTo>
                    <a:pt x="39172" y="7304"/>
                    <a:pt x="37625" y="7474"/>
                    <a:pt x="36390" y="7503"/>
                  </a:cubicBezTo>
                  <a:lnTo>
                    <a:pt x="36390" y="4335"/>
                  </a:lnTo>
                  <a:cubicBezTo>
                    <a:pt x="36390" y="4080"/>
                    <a:pt x="36574" y="4051"/>
                    <a:pt x="36773" y="4051"/>
                  </a:cubicBezTo>
                  <a:cubicBezTo>
                    <a:pt x="37951" y="4051"/>
                    <a:pt x="39172" y="4250"/>
                    <a:pt x="39172" y="571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92" name="Paper math native glyph 5"/>
            <p:cNvSpPr/>
            <p:nvPr/>
          </p:nvSpPr>
          <p:spPr>
            <a:xfrm>
              <a:off x="0" y="0"/>
              <a:ext cx="885871" cy="187970"/>
            </a:xfrm>
            <a:custGeom>
              <a:avLst/>
              <a:gdLst/>
              <a:ahLst/>
              <a:cxnLst/>
              <a:rect l="0" t="0" r="r" b="b"/>
              <a:pathLst>
                <a:path w="69754" h="14801" stroke="0" extrusionOk="0">
                  <a:moveTo>
                    <a:pt x="49851" y="933"/>
                  </a:moveTo>
                  <a:cubicBezTo>
                    <a:pt x="49913" y="622"/>
                    <a:pt x="50110" y="352"/>
                    <a:pt x="50503" y="321"/>
                  </a:cubicBezTo>
                  <a:lnTo>
                    <a:pt x="50783" y="300"/>
                  </a:lnTo>
                  <a:cubicBezTo>
                    <a:pt x="50814" y="300"/>
                    <a:pt x="50877" y="269"/>
                    <a:pt x="50877" y="218"/>
                  </a:cubicBezTo>
                  <a:lnTo>
                    <a:pt x="50897" y="21"/>
                  </a:lnTo>
                  <a:lnTo>
                    <a:pt x="50877" y="0"/>
                  </a:lnTo>
                  <a:cubicBezTo>
                    <a:pt x="50410" y="10"/>
                    <a:pt x="50037" y="21"/>
                    <a:pt x="49799" y="21"/>
                  </a:cubicBezTo>
                  <a:cubicBezTo>
                    <a:pt x="49550" y="21"/>
                    <a:pt x="49125" y="10"/>
                    <a:pt x="48659" y="0"/>
                  </a:cubicBezTo>
                  <a:lnTo>
                    <a:pt x="48638" y="21"/>
                  </a:lnTo>
                  <a:lnTo>
                    <a:pt x="48607" y="218"/>
                  </a:lnTo>
                  <a:cubicBezTo>
                    <a:pt x="48597" y="259"/>
                    <a:pt x="48679" y="300"/>
                    <a:pt x="48731" y="300"/>
                  </a:cubicBezTo>
                  <a:lnTo>
                    <a:pt x="48980" y="321"/>
                  </a:lnTo>
                  <a:cubicBezTo>
                    <a:pt x="49312" y="342"/>
                    <a:pt x="49426" y="549"/>
                    <a:pt x="49426" y="777"/>
                  </a:cubicBezTo>
                  <a:cubicBezTo>
                    <a:pt x="49426" y="829"/>
                    <a:pt x="49415" y="881"/>
                    <a:pt x="49405" y="933"/>
                  </a:cubicBezTo>
                  <a:lnTo>
                    <a:pt x="48638" y="4861"/>
                  </a:lnTo>
                  <a:cubicBezTo>
                    <a:pt x="48597" y="5058"/>
                    <a:pt x="48576" y="5172"/>
                    <a:pt x="48514" y="5172"/>
                  </a:cubicBezTo>
                  <a:cubicBezTo>
                    <a:pt x="48431" y="5172"/>
                    <a:pt x="48338" y="4986"/>
                    <a:pt x="48120" y="4602"/>
                  </a:cubicBezTo>
                  <a:lnTo>
                    <a:pt x="45601" y="0"/>
                  </a:lnTo>
                  <a:lnTo>
                    <a:pt x="44233" y="0"/>
                  </a:lnTo>
                  <a:lnTo>
                    <a:pt x="44202" y="21"/>
                  </a:lnTo>
                  <a:lnTo>
                    <a:pt x="44182" y="218"/>
                  </a:lnTo>
                  <a:cubicBezTo>
                    <a:pt x="44182" y="269"/>
                    <a:pt x="44254" y="290"/>
                    <a:pt x="44327" y="300"/>
                  </a:cubicBezTo>
                  <a:cubicBezTo>
                    <a:pt x="44648" y="332"/>
                    <a:pt x="44866" y="736"/>
                    <a:pt x="44876" y="1005"/>
                  </a:cubicBezTo>
                  <a:lnTo>
                    <a:pt x="43943" y="5794"/>
                  </a:lnTo>
                  <a:cubicBezTo>
                    <a:pt x="43881" y="6074"/>
                    <a:pt x="43684" y="6375"/>
                    <a:pt x="43280" y="6406"/>
                  </a:cubicBezTo>
                  <a:lnTo>
                    <a:pt x="43021" y="6427"/>
                  </a:lnTo>
                  <a:cubicBezTo>
                    <a:pt x="42928" y="6437"/>
                    <a:pt x="42876" y="6468"/>
                    <a:pt x="42876" y="6520"/>
                  </a:cubicBezTo>
                  <a:lnTo>
                    <a:pt x="42855" y="6706"/>
                  </a:lnTo>
                  <a:lnTo>
                    <a:pt x="42876" y="6727"/>
                  </a:lnTo>
                  <a:cubicBezTo>
                    <a:pt x="43342" y="6717"/>
                    <a:pt x="43767" y="6706"/>
                    <a:pt x="44016" y="6706"/>
                  </a:cubicBezTo>
                  <a:cubicBezTo>
                    <a:pt x="44265" y="6706"/>
                    <a:pt x="44627" y="6717"/>
                    <a:pt x="45094" y="6727"/>
                  </a:cubicBezTo>
                  <a:lnTo>
                    <a:pt x="45114" y="6706"/>
                  </a:lnTo>
                  <a:lnTo>
                    <a:pt x="45135" y="6509"/>
                  </a:lnTo>
                  <a:cubicBezTo>
                    <a:pt x="45145" y="6458"/>
                    <a:pt x="45114" y="6427"/>
                    <a:pt x="45073" y="6427"/>
                  </a:cubicBezTo>
                  <a:lnTo>
                    <a:pt x="44814" y="6406"/>
                  </a:lnTo>
                  <a:cubicBezTo>
                    <a:pt x="44493" y="6385"/>
                    <a:pt x="44368" y="6188"/>
                    <a:pt x="44368" y="5950"/>
                  </a:cubicBezTo>
                  <a:cubicBezTo>
                    <a:pt x="44368" y="5898"/>
                    <a:pt x="44379" y="5846"/>
                    <a:pt x="44389" y="5794"/>
                  </a:cubicBezTo>
                  <a:lnTo>
                    <a:pt x="45094" y="2156"/>
                  </a:lnTo>
                  <a:cubicBezTo>
                    <a:pt x="45166" y="1804"/>
                    <a:pt x="45218" y="1648"/>
                    <a:pt x="45291" y="1648"/>
                  </a:cubicBezTo>
                  <a:cubicBezTo>
                    <a:pt x="45353" y="1648"/>
                    <a:pt x="45436" y="1762"/>
                    <a:pt x="45570" y="1990"/>
                  </a:cubicBezTo>
                  <a:lnTo>
                    <a:pt x="48151" y="6561"/>
                  </a:lnTo>
                  <a:cubicBezTo>
                    <a:pt x="48223" y="6715"/>
                    <a:pt x="48338" y="6808"/>
                    <a:pt x="48503" y="6808"/>
                  </a:cubicBezTo>
                  <a:cubicBezTo>
                    <a:pt x="48638" y="6808"/>
                    <a:pt x="48731" y="6684"/>
                    <a:pt x="48773" y="6487"/>
                  </a:cubicBezTo>
                  <a:lnTo>
                    <a:pt x="49851" y="93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93" name="Paper math native glyph 6"/>
            <p:cNvSpPr/>
            <p:nvPr/>
          </p:nvSpPr>
          <p:spPr>
            <a:xfrm>
              <a:off x="0" y="0"/>
              <a:ext cx="885871" cy="187970"/>
            </a:xfrm>
            <a:custGeom>
              <a:avLst/>
              <a:gdLst/>
              <a:ahLst/>
              <a:cxnLst/>
              <a:rect l="0" t="0" r="r" b="b"/>
              <a:pathLst>
                <a:path w="69754" h="14801" stroke="0" extrusionOk="0">
                  <a:moveTo>
                    <a:pt x="53806" y="5474"/>
                  </a:moveTo>
                  <a:lnTo>
                    <a:pt x="53392" y="7370"/>
                  </a:lnTo>
                  <a:cubicBezTo>
                    <a:pt x="53283" y="7479"/>
                    <a:pt x="52775" y="7908"/>
                    <a:pt x="52361" y="7908"/>
                  </a:cubicBezTo>
                  <a:cubicBezTo>
                    <a:pt x="52174" y="7908"/>
                    <a:pt x="51963" y="7908"/>
                    <a:pt x="51963" y="7487"/>
                  </a:cubicBezTo>
                  <a:cubicBezTo>
                    <a:pt x="51963" y="7393"/>
                    <a:pt x="51995" y="7284"/>
                    <a:pt x="52018" y="7159"/>
                  </a:cubicBezTo>
                  <a:lnTo>
                    <a:pt x="52323" y="5809"/>
                  </a:lnTo>
                  <a:cubicBezTo>
                    <a:pt x="52408" y="5559"/>
                    <a:pt x="52541" y="5240"/>
                    <a:pt x="52541" y="5091"/>
                  </a:cubicBezTo>
                  <a:cubicBezTo>
                    <a:pt x="52541" y="4943"/>
                    <a:pt x="52494" y="4833"/>
                    <a:pt x="52237" y="4833"/>
                  </a:cubicBezTo>
                  <a:cubicBezTo>
                    <a:pt x="51815" y="4833"/>
                    <a:pt x="51315" y="5099"/>
                    <a:pt x="50917" y="5559"/>
                  </a:cubicBezTo>
                  <a:cubicBezTo>
                    <a:pt x="50940" y="5630"/>
                    <a:pt x="50987" y="5692"/>
                    <a:pt x="51097" y="5692"/>
                  </a:cubicBezTo>
                  <a:cubicBezTo>
                    <a:pt x="51323" y="5458"/>
                    <a:pt x="51596" y="5341"/>
                    <a:pt x="51682" y="5341"/>
                  </a:cubicBezTo>
                  <a:cubicBezTo>
                    <a:pt x="51737" y="5341"/>
                    <a:pt x="51760" y="5380"/>
                    <a:pt x="51760" y="5474"/>
                  </a:cubicBezTo>
                  <a:cubicBezTo>
                    <a:pt x="51760" y="5544"/>
                    <a:pt x="51706" y="5677"/>
                    <a:pt x="51651" y="5879"/>
                  </a:cubicBezTo>
                  <a:lnTo>
                    <a:pt x="51339" y="7276"/>
                  </a:lnTo>
                  <a:cubicBezTo>
                    <a:pt x="51315" y="7401"/>
                    <a:pt x="51284" y="7534"/>
                    <a:pt x="51284" y="7651"/>
                  </a:cubicBezTo>
                  <a:cubicBezTo>
                    <a:pt x="51284" y="8041"/>
                    <a:pt x="51409" y="8338"/>
                    <a:pt x="52041" y="8338"/>
                  </a:cubicBezTo>
                  <a:cubicBezTo>
                    <a:pt x="52385" y="8338"/>
                    <a:pt x="52783" y="8228"/>
                    <a:pt x="53345" y="7760"/>
                  </a:cubicBezTo>
                  <a:cubicBezTo>
                    <a:pt x="53142" y="9117"/>
                    <a:pt x="52791" y="9810"/>
                    <a:pt x="52049" y="9810"/>
                  </a:cubicBezTo>
                  <a:cubicBezTo>
                    <a:pt x="51518" y="9810"/>
                    <a:pt x="51706" y="9397"/>
                    <a:pt x="51284" y="9397"/>
                  </a:cubicBezTo>
                  <a:cubicBezTo>
                    <a:pt x="51190" y="9397"/>
                    <a:pt x="50964" y="9507"/>
                    <a:pt x="50964" y="9701"/>
                  </a:cubicBezTo>
                  <a:cubicBezTo>
                    <a:pt x="50964" y="10029"/>
                    <a:pt x="51635" y="10091"/>
                    <a:pt x="51948" y="10091"/>
                  </a:cubicBezTo>
                  <a:cubicBezTo>
                    <a:pt x="52252" y="10091"/>
                    <a:pt x="52635" y="10006"/>
                    <a:pt x="53025" y="9623"/>
                  </a:cubicBezTo>
                  <a:cubicBezTo>
                    <a:pt x="53517" y="9148"/>
                    <a:pt x="53712" y="8852"/>
                    <a:pt x="54040" y="7471"/>
                  </a:cubicBezTo>
                  <a:lnTo>
                    <a:pt x="54470" y="5513"/>
                  </a:lnTo>
                  <a:cubicBezTo>
                    <a:pt x="54501" y="5372"/>
                    <a:pt x="54579" y="5138"/>
                    <a:pt x="54579" y="5044"/>
                  </a:cubicBezTo>
                  <a:cubicBezTo>
                    <a:pt x="54579" y="4911"/>
                    <a:pt x="54493" y="4833"/>
                    <a:pt x="54212" y="4833"/>
                  </a:cubicBezTo>
                  <a:cubicBezTo>
                    <a:pt x="53884" y="4833"/>
                    <a:pt x="53876" y="5177"/>
                    <a:pt x="53806" y="547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94" name="Paper math native glyph 7"/>
            <p:cNvSpPr/>
            <p:nvPr/>
          </p:nvSpPr>
          <p:spPr>
            <a:xfrm>
              <a:off x="0" y="0"/>
              <a:ext cx="885871" cy="187970"/>
            </a:xfrm>
            <a:custGeom>
              <a:avLst/>
              <a:gdLst/>
              <a:ahLst/>
              <a:cxnLst/>
              <a:rect l="0" t="0" r="r" b="b"/>
              <a:pathLst>
                <a:path w="69754" h="14801" stroke="0" extrusionOk="0">
                  <a:moveTo>
                    <a:pt x="61326" y="6344"/>
                  </a:moveTo>
                  <a:lnTo>
                    <a:pt x="59015" y="4044"/>
                  </a:lnTo>
                  <a:lnTo>
                    <a:pt x="61326" y="1732"/>
                  </a:lnTo>
                  <a:lnTo>
                    <a:pt x="60912" y="1318"/>
                  </a:lnTo>
                  <a:lnTo>
                    <a:pt x="58611" y="3629"/>
                  </a:lnTo>
                  <a:lnTo>
                    <a:pt x="56310" y="1318"/>
                  </a:lnTo>
                  <a:lnTo>
                    <a:pt x="55896" y="1732"/>
                  </a:lnTo>
                  <a:lnTo>
                    <a:pt x="58196" y="4044"/>
                  </a:lnTo>
                  <a:lnTo>
                    <a:pt x="55896" y="6344"/>
                  </a:lnTo>
                  <a:lnTo>
                    <a:pt x="56310" y="6759"/>
                  </a:lnTo>
                  <a:lnTo>
                    <a:pt x="58611" y="4448"/>
                  </a:lnTo>
                  <a:lnTo>
                    <a:pt x="60912" y="6759"/>
                  </a:lnTo>
                  <a:lnTo>
                    <a:pt x="61326" y="6344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195" name="Paper math native glyph 8"/>
            <p:cNvSpPr/>
            <p:nvPr/>
          </p:nvSpPr>
          <p:spPr>
            <a:xfrm>
              <a:off x="0" y="0"/>
              <a:ext cx="885871" cy="187970"/>
            </a:xfrm>
            <a:custGeom>
              <a:avLst/>
              <a:gdLst/>
              <a:ahLst/>
              <a:cxnLst/>
              <a:rect l="0" t="0" r="r" b="b"/>
              <a:pathLst>
                <a:path w="69754" h="14801" stroke="0" extrusionOk="0">
                  <a:moveTo>
                    <a:pt x="67949" y="808"/>
                  </a:moveTo>
                  <a:lnTo>
                    <a:pt x="67524" y="2942"/>
                  </a:lnTo>
                  <a:lnTo>
                    <a:pt x="64290" y="2942"/>
                  </a:lnTo>
                  <a:lnTo>
                    <a:pt x="64705" y="808"/>
                  </a:lnTo>
                  <a:cubicBezTo>
                    <a:pt x="64767" y="518"/>
                    <a:pt x="64922" y="373"/>
                    <a:pt x="65347" y="332"/>
                  </a:cubicBezTo>
                  <a:lnTo>
                    <a:pt x="65669" y="300"/>
                  </a:lnTo>
                  <a:cubicBezTo>
                    <a:pt x="65710" y="259"/>
                    <a:pt x="65731" y="93"/>
                    <a:pt x="65689" y="0"/>
                  </a:cubicBezTo>
                  <a:cubicBezTo>
                    <a:pt x="65223" y="10"/>
                    <a:pt x="64850" y="21"/>
                    <a:pt x="64446" y="21"/>
                  </a:cubicBezTo>
                  <a:cubicBezTo>
                    <a:pt x="64052" y="21"/>
                    <a:pt x="63585" y="10"/>
                    <a:pt x="63129" y="0"/>
                  </a:cubicBezTo>
                  <a:cubicBezTo>
                    <a:pt x="63098" y="41"/>
                    <a:pt x="63067" y="249"/>
                    <a:pt x="63098" y="300"/>
                  </a:cubicBezTo>
                  <a:lnTo>
                    <a:pt x="63451" y="332"/>
                  </a:lnTo>
                  <a:cubicBezTo>
                    <a:pt x="63855" y="363"/>
                    <a:pt x="63969" y="497"/>
                    <a:pt x="63907" y="808"/>
                  </a:cubicBezTo>
                  <a:lnTo>
                    <a:pt x="62901" y="5918"/>
                  </a:lnTo>
                  <a:cubicBezTo>
                    <a:pt x="62839" y="6209"/>
                    <a:pt x="62684" y="6354"/>
                    <a:pt x="62259" y="6395"/>
                  </a:cubicBezTo>
                  <a:lnTo>
                    <a:pt x="61938" y="6427"/>
                  </a:lnTo>
                  <a:cubicBezTo>
                    <a:pt x="61896" y="6468"/>
                    <a:pt x="61876" y="6634"/>
                    <a:pt x="61917" y="6727"/>
                  </a:cubicBezTo>
                  <a:cubicBezTo>
                    <a:pt x="62383" y="6717"/>
                    <a:pt x="62756" y="6706"/>
                    <a:pt x="63161" y="6706"/>
                  </a:cubicBezTo>
                  <a:cubicBezTo>
                    <a:pt x="63554" y="6706"/>
                    <a:pt x="64021" y="6717"/>
                    <a:pt x="64477" y="6727"/>
                  </a:cubicBezTo>
                  <a:cubicBezTo>
                    <a:pt x="64508" y="6686"/>
                    <a:pt x="64539" y="6478"/>
                    <a:pt x="64508" y="6427"/>
                  </a:cubicBezTo>
                  <a:lnTo>
                    <a:pt x="64156" y="6395"/>
                  </a:lnTo>
                  <a:cubicBezTo>
                    <a:pt x="63751" y="6364"/>
                    <a:pt x="63637" y="6230"/>
                    <a:pt x="63699" y="5918"/>
                  </a:cubicBezTo>
                  <a:lnTo>
                    <a:pt x="64197" y="3377"/>
                  </a:lnTo>
                  <a:lnTo>
                    <a:pt x="67441" y="3377"/>
                  </a:lnTo>
                  <a:lnTo>
                    <a:pt x="66943" y="5918"/>
                  </a:lnTo>
                  <a:cubicBezTo>
                    <a:pt x="66881" y="6209"/>
                    <a:pt x="66726" y="6354"/>
                    <a:pt x="66301" y="6395"/>
                  </a:cubicBezTo>
                  <a:lnTo>
                    <a:pt x="65979" y="6427"/>
                  </a:lnTo>
                  <a:cubicBezTo>
                    <a:pt x="65938" y="6468"/>
                    <a:pt x="65917" y="6634"/>
                    <a:pt x="65959" y="6727"/>
                  </a:cubicBezTo>
                  <a:cubicBezTo>
                    <a:pt x="66425" y="6717"/>
                    <a:pt x="66798" y="6706"/>
                    <a:pt x="67202" y="6706"/>
                  </a:cubicBezTo>
                  <a:cubicBezTo>
                    <a:pt x="67596" y="6706"/>
                    <a:pt x="68063" y="6717"/>
                    <a:pt x="68518" y="6727"/>
                  </a:cubicBezTo>
                  <a:cubicBezTo>
                    <a:pt x="68550" y="6686"/>
                    <a:pt x="68581" y="6478"/>
                    <a:pt x="68550" y="6427"/>
                  </a:cubicBezTo>
                  <a:lnTo>
                    <a:pt x="68197" y="6395"/>
                  </a:lnTo>
                  <a:cubicBezTo>
                    <a:pt x="67793" y="6364"/>
                    <a:pt x="67679" y="6230"/>
                    <a:pt x="67741" y="5918"/>
                  </a:cubicBezTo>
                  <a:lnTo>
                    <a:pt x="68747" y="808"/>
                  </a:lnTo>
                  <a:cubicBezTo>
                    <a:pt x="68809" y="518"/>
                    <a:pt x="68964" y="373"/>
                    <a:pt x="69389" y="332"/>
                  </a:cubicBezTo>
                  <a:lnTo>
                    <a:pt x="69710" y="300"/>
                  </a:lnTo>
                  <a:cubicBezTo>
                    <a:pt x="69752" y="259"/>
                    <a:pt x="69772" y="93"/>
                    <a:pt x="69731" y="0"/>
                  </a:cubicBezTo>
                  <a:cubicBezTo>
                    <a:pt x="69265" y="10"/>
                    <a:pt x="68892" y="21"/>
                    <a:pt x="68487" y="21"/>
                  </a:cubicBezTo>
                  <a:cubicBezTo>
                    <a:pt x="68094" y="21"/>
                    <a:pt x="67627" y="10"/>
                    <a:pt x="67171" y="0"/>
                  </a:cubicBezTo>
                  <a:cubicBezTo>
                    <a:pt x="67140" y="41"/>
                    <a:pt x="67109" y="249"/>
                    <a:pt x="67140" y="300"/>
                  </a:cubicBezTo>
                  <a:lnTo>
                    <a:pt x="67492" y="332"/>
                  </a:lnTo>
                  <a:cubicBezTo>
                    <a:pt x="67897" y="363"/>
                    <a:pt x="68011" y="497"/>
                    <a:pt x="67949" y="80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196" name="Formula · t" descr="Editable LaTeX source: $t$; native vector glyphs."/>
          <p:cNvGrpSpPr/>
          <p:nvPr/>
        </p:nvGrpSpPr>
        <p:grpSpPr>
          <a:xfrm>
            <a:off x="1028700" y="3895725"/>
            <a:ext cx="52404" cy="113863"/>
            <a:chOff x="0" y="0"/>
            <a:chExt cx="52404" cy="113863"/>
          </a:xfrm>
        </p:grpSpPr>
        <p:sp>
          <p:nvSpPr>
            <p:cNvPr id="1197" name="Paper math native glyph 1"/>
            <p:cNvSpPr/>
            <p:nvPr/>
          </p:nvSpPr>
          <p:spPr>
            <a:xfrm>
              <a:off x="0" y="0"/>
              <a:ext cx="52404" cy="113863"/>
            </a:xfrm>
            <a:custGeom>
              <a:avLst/>
              <a:gdLst/>
              <a:ahLst/>
              <a:cxnLst/>
              <a:rect l="0" t="0" r="r" b="b"/>
              <a:pathLst>
                <a:path w="4126" h="8966" stroke="0" extrusionOk="0">
                  <a:moveTo>
                    <a:pt x="1334" y="2071"/>
                  </a:moveTo>
                  <a:lnTo>
                    <a:pt x="502" y="2118"/>
                  </a:lnTo>
                  <a:cubicBezTo>
                    <a:pt x="204" y="2134"/>
                    <a:pt x="94" y="2259"/>
                    <a:pt x="63" y="2385"/>
                  </a:cubicBezTo>
                  <a:cubicBezTo>
                    <a:pt x="47" y="2432"/>
                    <a:pt x="0" y="2620"/>
                    <a:pt x="0" y="2652"/>
                  </a:cubicBezTo>
                  <a:cubicBezTo>
                    <a:pt x="0" y="2683"/>
                    <a:pt x="47" y="2683"/>
                    <a:pt x="94" y="2683"/>
                  </a:cubicBezTo>
                  <a:lnTo>
                    <a:pt x="1192" y="2683"/>
                  </a:lnTo>
                  <a:lnTo>
                    <a:pt x="235" y="6956"/>
                  </a:lnTo>
                  <a:cubicBezTo>
                    <a:pt x="125" y="7459"/>
                    <a:pt x="16" y="7946"/>
                    <a:pt x="16" y="8244"/>
                  </a:cubicBezTo>
                  <a:cubicBezTo>
                    <a:pt x="16" y="8809"/>
                    <a:pt x="298" y="8966"/>
                    <a:pt x="784" y="8966"/>
                  </a:cubicBezTo>
                  <a:cubicBezTo>
                    <a:pt x="1491" y="8966"/>
                    <a:pt x="2526" y="8323"/>
                    <a:pt x="3060" y="7349"/>
                  </a:cubicBezTo>
                  <a:cubicBezTo>
                    <a:pt x="3013" y="7145"/>
                    <a:pt x="2903" y="7050"/>
                    <a:pt x="2714" y="7050"/>
                  </a:cubicBezTo>
                  <a:cubicBezTo>
                    <a:pt x="1993" y="7867"/>
                    <a:pt x="1710" y="8024"/>
                    <a:pt x="1459" y="8024"/>
                  </a:cubicBezTo>
                  <a:cubicBezTo>
                    <a:pt x="1412" y="8024"/>
                    <a:pt x="1255" y="7993"/>
                    <a:pt x="1255" y="7804"/>
                  </a:cubicBezTo>
                  <a:cubicBezTo>
                    <a:pt x="1255" y="7663"/>
                    <a:pt x="1302" y="7349"/>
                    <a:pt x="1428" y="6815"/>
                  </a:cubicBezTo>
                  <a:lnTo>
                    <a:pt x="2354" y="2683"/>
                  </a:lnTo>
                  <a:lnTo>
                    <a:pt x="3891" y="2683"/>
                  </a:lnTo>
                  <a:cubicBezTo>
                    <a:pt x="4080" y="2605"/>
                    <a:pt x="4221" y="2197"/>
                    <a:pt x="4048" y="2071"/>
                  </a:cubicBezTo>
                  <a:lnTo>
                    <a:pt x="2495" y="2071"/>
                  </a:lnTo>
                  <a:lnTo>
                    <a:pt x="2652" y="1365"/>
                  </a:lnTo>
                  <a:cubicBezTo>
                    <a:pt x="2714" y="1067"/>
                    <a:pt x="2856" y="612"/>
                    <a:pt x="2856" y="424"/>
                  </a:cubicBezTo>
                  <a:cubicBezTo>
                    <a:pt x="2856" y="157"/>
                    <a:pt x="2730" y="0"/>
                    <a:pt x="2228" y="0"/>
                  </a:cubicBezTo>
                  <a:cubicBezTo>
                    <a:pt x="1663" y="0"/>
                    <a:pt x="1695" y="706"/>
                    <a:pt x="1538" y="1287"/>
                  </a:cubicBezTo>
                  <a:lnTo>
                    <a:pt x="1334" y="207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198" name="Formula · t-H+1" descr="Editable LaTeX source: $t-H+1$; native vector glyphs."/>
          <p:cNvGrpSpPr/>
          <p:nvPr/>
        </p:nvGrpSpPr>
        <p:grpSpPr>
          <a:xfrm>
            <a:off x="866775" y="4819650"/>
            <a:ext cx="569844" cy="105975"/>
            <a:chOff x="0" y="0"/>
            <a:chExt cx="569844" cy="105975"/>
          </a:xfrm>
        </p:grpSpPr>
        <p:sp>
          <p:nvSpPr>
            <p:cNvPr id="1199" name="Paper math native glyph 1"/>
            <p:cNvSpPr/>
            <p:nvPr/>
          </p:nvSpPr>
          <p:spPr>
            <a:xfrm>
              <a:off x="0" y="0"/>
              <a:ext cx="569844" cy="105975"/>
            </a:xfrm>
            <a:custGeom>
              <a:avLst/>
              <a:gdLst/>
              <a:ahLst/>
              <a:cxnLst/>
              <a:rect l="0" t="0" r="r" b="b"/>
              <a:pathLst>
                <a:path w="44870" h="8344" stroke="0" extrusionOk="0">
                  <a:moveTo>
                    <a:pt x="1080" y="2763"/>
                  </a:moveTo>
                  <a:lnTo>
                    <a:pt x="406" y="2801"/>
                  </a:lnTo>
                  <a:cubicBezTo>
                    <a:pt x="165" y="2814"/>
                    <a:pt x="76" y="2916"/>
                    <a:pt x="51" y="3017"/>
                  </a:cubicBezTo>
                  <a:cubicBezTo>
                    <a:pt x="38" y="3055"/>
                    <a:pt x="0" y="3208"/>
                    <a:pt x="0" y="3233"/>
                  </a:cubicBezTo>
                  <a:cubicBezTo>
                    <a:pt x="0" y="3259"/>
                    <a:pt x="38" y="3259"/>
                    <a:pt x="76" y="3259"/>
                  </a:cubicBezTo>
                  <a:lnTo>
                    <a:pt x="965" y="3259"/>
                  </a:lnTo>
                  <a:lnTo>
                    <a:pt x="191" y="6718"/>
                  </a:lnTo>
                  <a:cubicBezTo>
                    <a:pt x="102" y="7125"/>
                    <a:pt x="13" y="7519"/>
                    <a:pt x="13" y="7760"/>
                  </a:cubicBezTo>
                  <a:cubicBezTo>
                    <a:pt x="13" y="8218"/>
                    <a:pt x="241" y="8344"/>
                    <a:pt x="635" y="8344"/>
                  </a:cubicBezTo>
                  <a:cubicBezTo>
                    <a:pt x="1207" y="8344"/>
                    <a:pt x="2045" y="7824"/>
                    <a:pt x="2477" y="7036"/>
                  </a:cubicBezTo>
                  <a:cubicBezTo>
                    <a:pt x="2439" y="6870"/>
                    <a:pt x="2350" y="6794"/>
                    <a:pt x="2197" y="6794"/>
                  </a:cubicBezTo>
                  <a:cubicBezTo>
                    <a:pt x="1613" y="7455"/>
                    <a:pt x="1384" y="7582"/>
                    <a:pt x="1181" y="7582"/>
                  </a:cubicBezTo>
                  <a:cubicBezTo>
                    <a:pt x="1143" y="7582"/>
                    <a:pt x="1016" y="7557"/>
                    <a:pt x="1016" y="7404"/>
                  </a:cubicBezTo>
                  <a:cubicBezTo>
                    <a:pt x="1016" y="7290"/>
                    <a:pt x="1054" y="7036"/>
                    <a:pt x="1156" y="6603"/>
                  </a:cubicBezTo>
                  <a:lnTo>
                    <a:pt x="1905" y="3259"/>
                  </a:lnTo>
                  <a:lnTo>
                    <a:pt x="3150" y="3259"/>
                  </a:lnTo>
                  <a:cubicBezTo>
                    <a:pt x="3303" y="3195"/>
                    <a:pt x="3417" y="2865"/>
                    <a:pt x="3277" y="2763"/>
                  </a:cubicBezTo>
                  <a:lnTo>
                    <a:pt x="2020" y="2763"/>
                  </a:lnTo>
                  <a:lnTo>
                    <a:pt x="2147" y="2192"/>
                  </a:lnTo>
                  <a:cubicBezTo>
                    <a:pt x="2197" y="1950"/>
                    <a:pt x="2312" y="1582"/>
                    <a:pt x="2312" y="1429"/>
                  </a:cubicBezTo>
                  <a:cubicBezTo>
                    <a:pt x="2312" y="1214"/>
                    <a:pt x="2210" y="1087"/>
                    <a:pt x="1804" y="1087"/>
                  </a:cubicBezTo>
                  <a:cubicBezTo>
                    <a:pt x="1346" y="1087"/>
                    <a:pt x="1372" y="1658"/>
                    <a:pt x="1245" y="2128"/>
                  </a:cubicBezTo>
                  <a:lnTo>
                    <a:pt x="1080" y="276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00" name="Paper math native glyph 2"/>
            <p:cNvSpPr/>
            <p:nvPr/>
          </p:nvSpPr>
          <p:spPr>
            <a:xfrm>
              <a:off x="0" y="0"/>
              <a:ext cx="569844" cy="105975"/>
            </a:xfrm>
            <a:custGeom>
              <a:avLst/>
              <a:gdLst/>
              <a:ahLst/>
              <a:cxnLst/>
              <a:rect l="0" t="0" r="r" b="b"/>
              <a:pathLst>
                <a:path w="44870" h="8344" stroke="0" extrusionOk="0">
                  <a:moveTo>
                    <a:pt x="13937" y="5310"/>
                  </a:moveTo>
                  <a:lnTo>
                    <a:pt x="13937" y="4598"/>
                  </a:lnTo>
                  <a:lnTo>
                    <a:pt x="7434" y="4598"/>
                  </a:lnTo>
                  <a:lnTo>
                    <a:pt x="7434" y="5310"/>
                  </a:lnTo>
                  <a:lnTo>
                    <a:pt x="13937" y="531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01" name="Paper math native glyph 3"/>
            <p:cNvSpPr/>
            <p:nvPr/>
          </p:nvSpPr>
          <p:spPr>
            <a:xfrm>
              <a:off x="0" y="0"/>
              <a:ext cx="569844" cy="105975"/>
            </a:xfrm>
            <a:custGeom>
              <a:avLst/>
              <a:gdLst/>
              <a:ahLst/>
              <a:cxnLst/>
              <a:rect l="0" t="0" r="r" b="b"/>
              <a:pathLst>
                <a:path w="44870" h="8344" stroke="0" extrusionOk="0">
                  <a:moveTo>
                    <a:pt x="24953" y="990"/>
                  </a:moveTo>
                  <a:lnTo>
                    <a:pt x="24432" y="3606"/>
                  </a:lnTo>
                  <a:lnTo>
                    <a:pt x="20469" y="3606"/>
                  </a:lnTo>
                  <a:lnTo>
                    <a:pt x="20977" y="990"/>
                  </a:lnTo>
                  <a:cubicBezTo>
                    <a:pt x="21053" y="635"/>
                    <a:pt x="21244" y="457"/>
                    <a:pt x="21765" y="406"/>
                  </a:cubicBezTo>
                  <a:lnTo>
                    <a:pt x="22158" y="368"/>
                  </a:lnTo>
                  <a:cubicBezTo>
                    <a:pt x="22209" y="317"/>
                    <a:pt x="22235" y="114"/>
                    <a:pt x="22184" y="0"/>
                  </a:cubicBezTo>
                  <a:cubicBezTo>
                    <a:pt x="21612" y="13"/>
                    <a:pt x="21155" y="25"/>
                    <a:pt x="20660" y="25"/>
                  </a:cubicBezTo>
                  <a:cubicBezTo>
                    <a:pt x="20177" y="25"/>
                    <a:pt x="19605" y="13"/>
                    <a:pt x="19046" y="0"/>
                  </a:cubicBezTo>
                  <a:cubicBezTo>
                    <a:pt x="19008" y="51"/>
                    <a:pt x="18970" y="305"/>
                    <a:pt x="19008" y="368"/>
                  </a:cubicBezTo>
                  <a:lnTo>
                    <a:pt x="19440" y="406"/>
                  </a:lnTo>
                  <a:cubicBezTo>
                    <a:pt x="19936" y="445"/>
                    <a:pt x="20075" y="610"/>
                    <a:pt x="19999" y="990"/>
                  </a:cubicBezTo>
                  <a:lnTo>
                    <a:pt x="18767" y="7254"/>
                  </a:lnTo>
                  <a:cubicBezTo>
                    <a:pt x="18691" y="7610"/>
                    <a:pt x="18500" y="7788"/>
                    <a:pt x="17979" y="7839"/>
                  </a:cubicBezTo>
                  <a:lnTo>
                    <a:pt x="17586" y="7877"/>
                  </a:lnTo>
                  <a:cubicBezTo>
                    <a:pt x="17535" y="7928"/>
                    <a:pt x="17509" y="8131"/>
                    <a:pt x="17560" y="8245"/>
                  </a:cubicBezTo>
                  <a:cubicBezTo>
                    <a:pt x="18132" y="8233"/>
                    <a:pt x="18589" y="8220"/>
                    <a:pt x="19084" y="8220"/>
                  </a:cubicBezTo>
                  <a:cubicBezTo>
                    <a:pt x="19567" y="8220"/>
                    <a:pt x="20139" y="8233"/>
                    <a:pt x="20698" y="8245"/>
                  </a:cubicBezTo>
                  <a:cubicBezTo>
                    <a:pt x="20736" y="8194"/>
                    <a:pt x="20774" y="7941"/>
                    <a:pt x="20736" y="7877"/>
                  </a:cubicBezTo>
                  <a:lnTo>
                    <a:pt x="20304" y="7839"/>
                  </a:lnTo>
                  <a:cubicBezTo>
                    <a:pt x="19809" y="7801"/>
                    <a:pt x="19669" y="7635"/>
                    <a:pt x="19745" y="7254"/>
                  </a:cubicBezTo>
                  <a:lnTo>
                    <a:pt x="20355" y="4139"/>
                  </a:lnTo>
                  <a:lnTo>
                    <a:pt x="24331" y="4139"/>
                  </a:lnTo>
                  <a:lnTo>
                    <a:pt x="23721" y="7254"/>
                  </a:lnTo>
                  <a:cubicBezTo>
                    <a:pt x="23645" y="7610"/>
                    <a:pt x="23454" y="7788"/>
                    <a:pt x="22933" y="7839"/>
                  </a:cubicBezTo>
                  <a:lnTo>
                    <a:pt x="22540" y="7877"/>
                  </a:lnTo>
                  <a:cubicBezTo>
                    <a:pt x="22489" y="7928"/>
                    <a:pt x="22463" y="8131"/>
                    <a:pt x="22514" y="8245"/>
                  </a:cubicBezTo>
                  <a:cubicBezTo>
                    <a:pt x="23086" y="8233"/>
                    <a:pt x="23543" y="8220"/>
                    <a:pt x="24038" y="8220"/>
                  </a:cubicBezTo>
                  <a:cubicBezTo>
                    <a:pt x="24521" y="8220"/>
                    <a:pt x="25093" y="8233"/>
                    <a:pt x="25652" y="8245"/>
                  </a:cubicBezTo>
                  <a:cubicBezTo>
                    <a:pt x="25690" y="8194"/>
                    <a:pt x="25728" y="7941"/>
                    <a:pt x="25690" y="7877"/>
                  </a:cubicBezTo>
                  <a:lnTo>
                    <a:pt x="25258" y="7839"/>
                  </a:lnTo>
                  <a:cubicBezTo>
                    <a:pt x="24762" y="7801"/>
                    <a:pt x="24623" y="7635"/>
                    <a:pt x="24699" y="7254"/>
                  </a:cubicBezTo>
                  <a:lnTo>
                    <a:pt x="25931" y="990"/>
                  </a:lnTo>
                  <a:cubicBezTo>
                    <a:pt x="26007" y="635"/>
                    <a:pt x="26198" y="457"/>
                    <a:pt x="26719" y="406"/>
                  </a:cubicBezTo>
                  <a:lnTo>
                    <a:pt x="27112" y="368"/>
                  </a:lnTo>
                  <a:cubicBezTo>
                    <a:pt x="27163" y="317"/>
                    <a:pt x="27189" y="114"/>
                    <a:pt x="27138" y="0"/>
                  </a:cubicBezTo>
                  <a:cubicBezTo>
                    <a:pt x="26566" y="13"/>
                    <a:pt x="26109" y="25"/>
                    <a:pt x="25614" y="25"/>
                  </a:cubicBezTo>
                  <a:cubicBezTo>
                    <a:pt x="25131" y="25"/>
                    <a:pt x="24559" y="13"/>
                    <a:pt x="24000" y="0"/>
                  </a:cubicBezTo>
                  <a:cubicBezTo>
                    <a:pt x="23962" y="51"/>
                    <a:pt x="23924" y="305"/>
                    <a:pt x="23962" y="368"/>
                  </a:cubicBezTo>
                  <a:lnTo>
                    <a:pt x="24394" y="406"/>
                  </a:lnTo>
                  <a:cubicBezTo>
                    <a:pt x="24889" y="445"/>
                    <a:pt x="25029" y="610"/>
                    <a:pt x="24953" y="99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02" name="Paper math native glyph 4"/>
            <p:cNvSpPr/>
            <p:nvPr/>
          </p:nvSpPr>
          <p:spPr>
            <a:xfrm>
              <a:off x="0" y="0"/>
              <a:ext cx="569844" cy="105975"/>
            </a:xfrm>
            <a:custGeom>
              <a:avLst/>
              <a:gdLst/>
              <a:ahLst/>
              <a:cxnLst/>
              <a:rect l="0" t="0" r="r" b="b"/>
              <a:pathLst>
                <a:path w="44870" h="8344" stroke="0" extrusionOk="0">
                  <a:moveTo>
                    <a:pt x="33225" y="4586"/>
                  </a:moveTo>
                  <a:lnTo>
                    <a:pt x="30443" y="4586"/>
                  </a:lnTo>
                  <a:lnTo>
                    <a:pt x="30443" y="5424"/>
                  </a:lnTo>
                  <a:lnTo>
                    <a:pt x="33225" y="5424"/>
                  </a:lnTo>
                  <a:lnTo>
                    <a:pt x="33225" y="8220"/>
                  </a:lnTo>
                  <a:lnTo>
                    <a:pt x="34063" y="8220"/>
                  </a:lnTo>
                  <a:lnTo>
                    <a:pt x="34063" y="5424"/>
                  </a:lnTo>
                  <a:lnTo>
                    <a:pt x="36845" y="5424"/>
                  </a:lnTo>
                  <a:lnTo>
                    <a:pt x="36845" y="4586"/>
                  </a:lnTo>
                  <a:lnTo>
                    <a:pt x="34063" y="4586"/>
                  </a:lnTo>
                  <a:lnTo>
                    <a:pt x="34063" y="1792"/>
                  </a:lnTo>
                  <a:lnTo>
                    <a:pt x="33225" y="1792"/>
                  </a:lnTo>
                  <a:lnTo>
                    <a:pt x="33225" y="458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03" name="Paper math native glyph 5"/>
            <p:cNvSpPr/>
            <p:nvPr/>
          </p:nvSpPr>
          <p:spPr>
            <a:xfrm>
              <a:off x="0" y="0"/>
              <a:ext cx="569844" cy="105975"/>
            </a:xfrm>
            <a:custGeom>
              <a:avLst/>
              <a:gdLst/>
              <a:ahLst/>
              <a:cxnLst/>
              <a:rect l="0" t="0" r="r" b="b"/>
              <a:pathLst>
                <a:path w="44870" h="8344" stroke="0" extrusionOk="0">
                  <a:moveTo>
                    <a:pt x="43707" y="6669"/>
                  </a:moveTo>
                  <a:lnTo>
                    <a:pt x="43707" y="2259"/>
                  </a:lnTo>
                  <a:cubicBezTo>
                    <a:pt x="43707" y="1497"/>
                    <a:pt x="43720" y="721"/>
                    <a:pt x="43745" y="556"/>
                  </a:cubicBezTo>
                  <a:cubicBezTo>
                    <a:pt x="43745" y="492"/>
                    <a:pt x="43720" y="492"/>
                    <a:pt x="43669" y="492"/>
                  </a:cubicBezTo>
                  <a:cubicBezTo>
                    <a:pt x="42971" y="925"/>
                    <a:pt x="42297" y="1242"/>
                    <a:pt x="41179" y="1763"/>
                  </a:cubicBezTo>
                  <a:cubicBezTo>
                    <a:pt x="41205" y="1903"/>
                    <a:pt x="41256" y="2030"/>
                    <a:pt x="41370" y="2107"/>
                  </a:cubicBezTo>
                  <a:cubicBezTo>
                    <a:pt x="41954" y="1865"/>
                    <a:pt x="42234" y="1789"/>
                    <a:pt x="42475" y="1789"/>
                  </a:cubicBezTo>
                  <a:cubicBezTo>
                    <a:pt x="42691" y="1789"/>
                    <a:pt x="42729" y="2094"/>
                    <a:pt x="42729" y="2526"/>
                  </a:cubicBezTo>
                  <a:lnTo>
                    <a:pt x="42729" y="6669"/>
                  </a:lnTo>
                  <a:cubicBezTo>
                    <a:pt x="42729" y="7724"/>
                    <a:pt x="42386" y="7788"/>
                    <a:pt x="41497" y="7826"/>
                  </a:cubicBezTo>
                  <a:cubicBezTo>
                    <a:pt x="41421" y="7902"/>
                    <a:pt x="41421" y="8169"/>
                    <a:pt x="41497" y="8245"/>
                  </a:cubicBezTo>
                  <a:cubicBezTo>
                    <a:pt x="42119" y="8233"/>
                    <a:pt x="42577" y="8220"/>
                    <a:pt x="43263" y="8220"/>
                  </a:cubicBezTo>
                  <a:cubicBezTo>
                    <a:pt x="43872" y="8220"/>
                    <a:pt x="44177" y="8233"/>
                    <a:pt x="44812" y="8245"/>
                  </a:cubicBezTo>
                  <a:cubicBezTo>
                    <a:pt x="44889" y="8169"/>
                    <a:pt x="44889" y="7902"/>
                    <a:pt x="44812" y="7826"/>
                  </a:cubicBezTo>
                  <a:cubicBezTo>
                    <a:pt x="43923" y="7788"/>
                    <a:pt x="43707" y="7724"/>
                    <a:pt x="43707" y="666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204" name="Formula · t-H" descr="Editable LaTeX source: $t-H$; native vector glyphs."/>
          <p:cNvGrpSpPr/>
          <p:nvPr/>
        </p:nvGrpSpPr>
        <p:grpSpPr>
          <a:xfrm>
            <a:off x="933450" y="6943725"/>
            <a:ext cx="365296" cy="112208"/>
            <a:chOff x="0" y="0"/>
            <a:chExt cx="365296" cy="112208"/>
          </a:xfrm>
        </p:grpSpPr>
        <p:sp>
          <p:nvSpPr>
            <p:cNvPr id="1205" name="Paper math native glyph 1"/>
            <p:cNvSpPr/>
            <p:nvPr/>
          </p:nvSpPr>
          <p:spPr>
            <a:xfrm>
              <a:off x="0" y="0"/>
              <a:ext cx="365296" cy="112208"/>
            </a:xfrm>
            <a:custGeom>
              <a:avLst/>
              <a:gdLst/>
              <a:ahLst/>
              <a:cxnLst/>
              <a:rect l="0" t="0" r="r" b="b"/>
              <a:pathLst>
                <a:path w="28764" h="8835" stroke="0" extrusionOk="0">
                  <a:moveTo>
                    <a:pt x="1143" y="2926"/>
                  </a:moveTo>
                  <a:lnTo>
                    <a:pt x="430" y="2966"/>
                  </a:lnTo>
                  <a:cubicBezTo>
                    <a:pt x="175" y="2980"/>
                    <a:pt x="81" y="3087"/>
                    <a:pt x="54" y="3195"/>
                  </a:cubicBezTo>
                  <a:cubicBezTo>
                    <a:pt x="40" y="3235"/>
                    <a:pt x="0" y="3396"/>
                    <a:pt x="0" y="3423"/>
                  </a:cubicBezTo>
                  <a:cubicBezTo>
                    <a:pt x="0" y="3450"/>
                    <a:pt x="40" y="3450"/>
                    <a:pt x="81" y="3450"/>
                  </a:cubicBezTo>
                  <a:lnTo>
                    <a:pt x="1022" y="3450"/>
                  </a:lnTo>
                  <a:lnTo>
                    <a:pt x="202" y="7113"/>
                  </a:lnTo>
                  <a:cubicBezTo>
                    <a:pt x="108" y="7544"/>
                    <a:pt x="13" y="7961"/>
                    <a:pt x="13" y="8217"/>
                  </a:cubicBezTo>
                  <a:cubicBezTo>
                    <a:pt x="13" y="8701"/>
                    <a:pt x="256" y="8835"/>
                    <a:pt x="672" y="8835"/>
                  </a:cubicBezTo>
                  <a:cubicBezTo>
                    <a:pt x="1278" y="8835"/>
                    <a:pt x="2165" y="8284"/>
                    <a:pt x="2623" y="7449"/>
                  </a:cubicBezTo>
                  <a:cubicBezTo>
                    <a:pt x="2582" y="7274"/>
                    <a:pt x="2488" y="7194"/>
                    <a:pt x="2327" y="7194"/>
                  </a:cubicBezTo>
                  <a:cubicBezTo>
                    <a:pt x="1708" y="7894"/>
                    <a:pt x="1466" y="8028"/>
                    <a:pt x="1251" y="8028"/>
                  </a:cubicBezTo>
                  <a:cubicBezTo>
                    <a:pt x="1210" y="8028"/>
                    <a:pt x="1076" y="8001"/>
                    <a:pt x="1076" y="7840"/>
                  </a:cubicBezTo>
                  <a:cubicBezTo>
                    <a:pt x="1076" y="7719"/>
                    <a:pt x="1116" y="7449"/>
                    <a:pt x="1224" y="6992"/>
                  </a:cubicBezTo>
                  <a:lnTo>
                    <a:pt x="2017" y="3450"/>
                  </a:lnTo>
                  <a:lnTo>
                    <a:pt x="3336" y="3450"/>
                  </a:lnTo>
                  <a:cubicBezTo>
                    <a:pt x="3497" y="3383"/>
                    <a:pt x="3618" y="3033"/>
                    <a:pt x="3470" y="2926"/>
                  </a:cubicBezTo>
                  <a:lnTo>
                    <a:pt x="2138" y="2926"/>
                  </a:lnTo>
                  <a:lnTo>
                    <a:pt x="2273" y="2320"/>
                  </a:lnTo>
                  <a:cubicBezTo>
                    <a:pt x="2327" y="2065"/>
                    <a:pt x="2448" y="1675"/>
                    <a:pt x="2448" y="1514"/>
                  </a:cubicBezTo>
                  <a:cubicBezTo>
                    <a:pt x="2448" y="1285"/>
                    <a:pt x="2340" y="1150"/>
                    <a:pt x="1910" y="1150"/>
                  </a:cubicBezTo>
                  <a:cubicBezTo>
                    <a:pt x="1425" y="1150"/>
                    <a:pt x="1453" y="1756"/>
                    <a:pt x="1318" y="2253"/>
                  </a:cubicBezTo>
                  <a:lnTo>
                    <a:pt x="1143" y="292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06" name="Paper math native glyph 2"/>
            <p:cNvSpPr/>
            <p:nvPr/>
          </p:nvSpPr>
          <p:spPr>
            <a:xfrm>
              <a:off x="0" y="0"/>
              <a:ext cx="365296" cy="112208"/>
            </a:xfrm>
            <a:custGeom>
              <a:avLst/>
              <a:gdLst/>
              <a:ahLst/>
              <a:cxnLst/>
              <a:rect l="0" t="0" r="r" b="b"/>
              <a:pathLst>
                <a:path w="28764" h="8835" stroke="0" extrusionOk="0">
                  <a:moveTo>
                    <a:pt x="14757" y="5622"/>
                  </a:moveTo>
                  <a:lnTo>
                    <a:pt x="14757" y="4869"/>
                  </a:lnTo>
                  <a:lnTo>
                    <a:pt x="7871" y="4869"/>
                  </a:lnTo>
                  <a:lnTo>
                    <a:pt x="7871" y="5622"/>
                  </a:lnTo>
                  <a:lnTo>
                    <a:pt x="14757" y="562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07" name="Paper math native glyph 3"/>
            <p:cNvSpPr/>
            <p:nvPr/>
          </p:nvSpPr>
          <p:spPr>
            <a:xfrm>
              <a:off x="0" y="0"/>
              <a:ext cx="365296" cy="112208"/>
            </a:xfrm>
            <a:custGeom>
              <a:avLst/>
              <a:gdLst/>
              <a:ahLst/>
              <a:cxnLst/>
              <a:rect l="0" t="0" r="r" b="b"/>
              <a:pathLst>
                <a:path w="28764" h="8835" stroke="0" extrusionOk="0">
                  <a:moveTo>
                    <a:pt x="26421" y="1049"/>
                  </a:moveTo>
                  <a:lnTo>
                    <a:pt x="25869" y="3818"/>
                  </a:lnTo>
                  <a:lnTo>
                    <a:pt x="21673" y="3818"/>
                  </a:lnTo>
                  <a:lnTo>
                    <a:pt x="22211" y="1049"/>
                  </a:lnTo>
                  <a:cubicBezTo>
                    <a:pt x="22292" y="672"/>
                    <a:pt x="22494" y="484"/>
                    <a:pt x="23045" y="430"/>
                  </a:cubicBezTo>
                  <a:lnTo>
                    <a:pt x="23462" y="390"/>
                  </a:lnTo>
                  <a:cubicBezTo>
                    <a:pt x="23516" y="336"/>
                    <a:pt x="23543" y="121"/>
                    <a:pt x="23489" y="0"/>
                  </a:cubicBezTo>
                  <a:cubicBezTo>
                    <a:pt x="22884" y="13"/>
                    <a:pt x="22399" y="27"/>
                    <a:pt x="21875" y="27"/>
                  </a:cubicBezTo>
                  <a:cubicBezTo>
                    <a:pt x="21364" y="27"/>
                    <a:pt x="20759" y="13"/>
                    <a:pt x="20167" y="0"/>
                  </a:cubicBezTo>
                  <a:cubicBezTo>
                    <a:pt x="20126" y="54"/>
                    <a:pt x="20086" y="323"/>
                    <a:pt x="20126" y="390"/>
                  </a:cubicBezTo>
                  <a:lnTo>
                    <a:pt x="20584" y="430"/>
                  </a:lnTo>
                  <a:cubicBezTo>
                    <a:pt x="21108" y="471"/>
                    <a:pt x="21256" y="645"/>
                    <a:pt x="21176" y="1049"/>
                  </a:cubicBezTo>
                  <a:lnTo>
                    <a:pt x="19871" y="7681"/>
                  </a:lnTo>
                  <a:cubicBezTo>
                    <a:pt x="19790" y="8058"/>
                    <a:pt x="19588" y="8246"/>
                    <a:pt x="19037" y="8300"/>
                  </a:cubicBezTo>
                  <a:lnTo>
                    <a:pt x="18620" y="8340"/>
                  </a:lnTo>
                  <a:cubicBezTo>
                    <a:pt x="18566" y="8394"/>
                    <a:pt x="18539" y="8609"/>
                    <a:pt x="18593" y="8730"/>
                  </a:cubicBezTo>
                  <a:cubicBezTo>
                    <a:pt x="19198" y="8717"/>
                    <a:pt x="19683" y="8703"/>
                    <a:pt x="20207" y="8703"/>
                  </a:cubicBezTo>
                  <a:cubicBezTo>
                    <a:pt x="20718" y="8703"/>
                    <a:pt x="21324" y="8717"/>
                    <a:pt x="21915" y="8730"/>
                  </a:cubicBezTo>
                  <a:cubicBezTo>
                    <a:pt x="21956" y="8676"/>
                    <a:pt x="21996" y="8408"/>
                    <a:pt x="21956" y="8340"/>
                  </a:cubicBezTo>
                  <a:lnTo>
                    <a:pt x="21498" y="8300"/>
                  </a:lnTo>
                  <a:cubicBezTo>
                    <a:pt x="20974" y="8259"/>
                    <a:pt x="20826" y="8085"/>
                    <a:pt x="20907" y="7681"/>
                  </a:cubicBezTo>
                  <a:lnTo>
                    <a:pt x="21552" y="4383"/>
                  </a:lnTo>
                  <a:lnTo>
                    <a:pt x="25762" y="4383"/>
                  </a:lnTo>
                  <a:lnTo>
                    <a:pt x="25116" y="7681"/>
                  </a:lnTo>
                  <a:cubicBezTo>
                    <a:pt x="25036" y="8058"/>
                    <a:pt x="24834" y="8246"/>
                    <a:pt x="24282" y="8300"/>
                  </a:cubicBezTo>
                  <a:lnTo>
                    <a:pt x="23865" y="8340"/>
                  </a:lnTo>
                  <a:cubicBezTo>
                    <a:pt x="23812" y="8394"/>
                    <a:pt x="23785" y="8609"/>
                    <a:pt x="23839" y="8730"/>
                  </a:cubicBezTo>
                  <a:cubicBezTo>
                    <a:pt x="24444" y="8717"/>
                    <a:pt x="24928" y="8703"/>
                    <a:pt x="25452" y="8703"/>
                  </a:cubicBezTo>
                  <a:cubicBezTo>
                    <a:pt x="25964" y="8703"/>
                    <a:pt x="26569" y="8717"/>
                    <a:pt x="27161" y="8730"/>
                  </a:cubicBezTo>
                  <a:cubicBezTo>
                    <a:pt x="27201" y="8676"/>
                    <a:pt x="27241" y="8408"/>
                    <a:pt x="27201" y="8340"/>
                  </a:cubicBezTo>
                  <a:lnTo>
                    <a:pt x="26744" y="8300"/>
                  </a:lnTo>
                  <a:cubicBezTo>
                    <a:pt x="26219" y="8259"/>
                    <a:pt x="26071" y="8085"/>
                    <a:pt x="26152" y="7681"/>
                  </a:cubicBezTo>
                  <a:lnTo>
                    <a:pt x="27456" y="1049"/>
                  </a:lnTo>
                  <a:cubicBezTo>
                    <a:pt x="27537" y="672"/>
                    <a:pt x="27739" y="484"/>
                    <a:pt x="28290" y="430"/>
                  </a:cubicBezTo>
                  <a:lnTo>
                    <a:pt x="28707" y="390"/>
                  </a:lnTo>
                  <a:cubicBezTo>
                    <a:pt x="28761" y="336"/>
                    <a:pt x="28788" y="121"/>
                    <a:pt x="28734" y="0"/>
                  </a:cubicBezTo>
                  <a:cubicBezTo>
                    <a:pt x="28129" y="13"/>
                    <a:pt x="27645" y="27"/>
                    <a:pt x="27120" y="27"/>
                  </a:cubicBezTo>
                  <a:cubicBezTo>
                    <a:pt x="26609" y="27"/>
                    <a:pt x="26004" y="13"/>
                    <a:pt x="25412" y="0"/>
                  </a:cubicBezTo>
                  <a:cubicBezTo>
                    <a:pt x="25372" y="54"/>
                    <a:pt x="25331" y="323"/>
                    <a:pt x="25372" y="390"/>
                  </a:cubicBezTo>
                  <a:lnTo>
                    <a:pt x="25829" y="430"/>
                  </a:lnTo>
                  <a:cubicBezTo>
                    <a:pt x="26354" y="471"/>
                    <a:pt x="26502" y="645"/>
                    <a:pt x="26421" y="104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208" name="Formula · i+H\leq t" descr="Editable LaTeX source: $i+H\leq t$; native vector glyphs."/>
          <p:cNvGrpSpPr/>
          <p:nvPr/>
        </p:nvGrpSpPr>
        <p:grpSpPr>
          <a:xfrm>
            <a:off x="2276475" y="8420100"/>
            <a:ext cx="749361" cy="147191"/>
            <a:chOff x="0" y="0"/>
            <a:chExt cx="749361" cy="147191"/>
          </a:xfrm>
        </p:grpSpPr>
        <p:sp>
          <p:nvSpPr>
            <p:cNvPr id="1209" name="Paper math native glyph 1"/>
            <p:cNvSpPr/>
            <p:nvPr/>
          </p:nvSpPr>
          <p:spPr>
            <a:xfrm>
              <a:off x="0" y="0"/>
              <a:ext cx="749361" cy="147191"/>
            </a:xfrm>
            <a:custGeom>
              <a:avLst/>
              <a:gdLst/>
              <a:ahLst/>
              <a:cxnLst/>
              <a:rect l="0" t="0" r="r" b="b"/>
              <a:pathLst>
                <a:path w="59005" h="11590" stroke="0" extrusionOk="0">
                  <a:moveTo>
                    <a:pt x="1545" y="1266"/>
                  </a:moveTo>
                  <a:cubicBezTo>
                    <a:pt x="1545" y="1693"/>
                    <a:pt x="1907" y="2055"/>
                    <a:pt x="2334" y="2055"/>
                  </a:cubicBezTo>
                  <a:cubicBezTo>
                    <a:pt x="2762" y="2055"/>
                    <a:pt x="3123" y="1693"/>
                    <a:pt x="3123" y="1266"/>
                  </a:cubicBezTo>
                  <a:cubicBezTo>
                    <a:pt x="3123" y="838"/>
                    <a:pt x="2762" y="477"/>
                    <a:pt x="2334" y="477"/>
                  </a:cubicBezTo>
                  <a:cubicBezTo>
                    <a:pt x="1907" y="477"/>
                    <a:pt x="1545" y="838"/>
                    <a:pt x="1545" y="1266"/>
                  </a:cubicBezTo>
                  <a:moveTo>
                    <a:pt x="2269" y="5371"/>
                  </a:moveTo>
                  <a:cubicBezTo>
                    <a:pt x="2416" y="4729"/>
                    <a:pt x="2614" y="4088"/>
                    <a:pt x="2614" y="3808"/>
                  </a:cubicBezTo>
                  <a:cubicBezTo>
                    <a:pt x="2614" y="3578"/>
                    <a:pt x="2482" y="3463"/>
                    <a:pt x="2269" y="3463"/>
                  </a:cubicBezTo>
                  <a:cubicBezTo>
                    <a:pt x="1743" y="3463"/>
                    <a:pt x="1003" y="3578"/>
                    <a:pt x="230" y="3676"/>
                  </a:cubicBezTo>
                  <a:cubicBezTo>
                    <a:pt x="115" y="3808"/>
                    <a:pt x="148" y="3989"/>
                    <a:pt x="247" y="4137"/>
                  </a:cubicBezTo>
                  <a:lnTo>
                    <a:pt x="904" y="4186"/>
                  </a:lnTo>
                  <a:cubicBezTo>
                    <a:pt x="1101" y="4203"/>
                    <a:pt x="1200" y="4351"/>
                    <a:pt x="1200" y="4515"/>
                  </a:cubicBezTo>
                  <a:cubicBezTo>
                    <a:pt x="1200" y="4663"/>
                    <a:pt x="1167" y="4894"/>
                    <a:pt x="1052" y="5354"/>
                  </a:cubicBezTo>
                  <a:lnTo>
                    <a:pt x="279" y="8743"/>
                  </a:lnTo>
                  <a:cubicBezTo>
                    <a:pt x="164" y="9270"/>
                    <a:pt x="0" y="9944"/>
                    <a:pt x="0" y="10256"/>
                  </a:cubicBezTo>
                  <a:cubicBezTo>
                    <a:pt x="0" y="10569"/>
                    <a:pt x="181" y="10799"/>
                    <a:pt x="674" y="10799"/>
                  </a:cubicBezTo>
                  <a:cubicBezTo>
                    <a:pt x="1463" y="10799"/>
                    <a:pt x="2203" y="10240"/>
                    <a:pt x="2959" y="9270"/>
                  </a:cubicBezTo>
                  <a:cubicBezTo>
                    <a:pt x="2910" y="9122"/>
                    <a:pt x="2811" y="8990"/>
                    <a:pt x="2581" y="8990"/>
                  </a:cubicBezTo>
                  <a:cubicBezTo>
                    <a:pt x="2153" y="9484"/>
                    <a:pt x="1677" y="9812"/>
                    <a:pt x="1512" y="9812"/>
                  </a:cubicBezTo>
                  <a:cubicBezTo>
                    <a:pt x="1397" y="9812"/>
                    <a:pt x="1348" y="9730"/>
                    <a:pt x="1348" y="9533"/>
                  </a:cubicBezTo>
                  <a:cubicBezTo>
                    <a:pt x="1348" y="9385"/>
                    <a:pt x="1430" y="9023"/>
                    <a:pt x="1529" y="8595"/>
                  </a:cubicBezTo>
                  <a:lnTo>
                    <a:pt x="2269" y="537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10" name="Paper math native glyph 2"/>
            <p:cNvSpPr/>
            <p:nvPr/>
          </p:nvSpPr>
          <p:spPr>
            <a:xfrm>
              <a:off x="0" y="0"/>
              <a:ext cx="749361" cy="147191"/>
            </a:xfrm>
            <a:custGeom>
              <a:avLst/>
              <a:gdLst/>
              <a:ahLst/>
              <a:cxnLst/>
              <a:rect l="0" t="0" r="r" b="b"/>
              <a:pathLst>
                <a:path w="59005" h="11590" stroke="0" extrusionOk="0">
                  <a:moveTo>
                    <a:pt x="11650" y="5935"/>
                  </a:moveTo>
                  <a:lnTo>
                    <a:pt x="8050" y="5935"/>
                  </a:lnTo>
                  <a:lnTo>
                    <a:pt x="8050" y="7020"/>
                  </a:lnTo>
                  <a:lnTo>
                    <a:pt x="11650" y="7020"/>
                  </a:lnTo>
                  <a:lnTo>
                    <a:pt x="11650" y="10638"/>
                  </a:lnTo>
                  <a:lnTo>
                    <a:pt x="12735" y="10638"/>
                  </a:lnTo>
                  <a:lnTo>
                    <a:pt x="12735" y="7020"/>
                  </a:lnTo>
                  <a:lnTo>
                    <a:pt x="16335" y="7020"/>
                  </a:lnTo>
                  <a:lnTo>
                    <a:pt x="16335" y="5935"/>
                  </a:lnTo>
                  <a:lnTo>
                    <a:pt x="12735" y="5935"/>
                  </a:lnTo>
                  <a:lnTo>
                    <a:pt x="12735" y="2318"/>
                  </a:lnTo>
                  <a:lnTo>
                    <a:pt x="11650" y="2318"/>
                  </a:lnTo>
                  <a:lnTo>
                    <a:pt x="11650" y="5935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11" name="Paper math native glyph 3"/>
            <p:cNvSpPr/>
            <p:nvPr/>
          </p:nvSpPr>
          <p:spPr>
            <a:xfrm>
              <a:off x="0" y="0"/>
              <a:ext cx="749361" cy="147191"/>
            </a:xfrm>
            <a:custGeom>
              <a:avLst/>
              <a:gdLst/>
              <a:ahLst/>
              <a:cxnLst/>
              <a:rect l="0" t="0" r="r" b="b"/>
              <a:pathLst>
                <a:path w="59005" h="11590" stroke="0" extrusionOk="0">
                  <a:moveTo>
                    <a:pt x="30065" y="1282"/>
                  </a:moveTo>
                  <a:lnTo>
                    <a:pt x="29391" y="4666"/>
                  </a:lnTo>
                  <a:lnTo>
                    <a:pt x="24262" y="4666"/>
                  </a:lnTo>
                  <a:lnTo>
                    <a:pt x="24920" y="1282"/>
                  </a:lnTo>
                  <a:cubicBezTo>
                    <a:pt x="25018" y="822"/>
                    <a:pt x="25265" y="592"/>
                    <a:pt x="25939" y="526"/>
                  </a:cubicBezTo>
                  <a:lnTo>
                    <a:pt x="26448" y="477"/>
                  </a:lnTo>
                  <a:cubicBezTo>
                    <a:pt x="26514" y="411"/>
                    <a:pt x="26547" y="148"/>
                    <a:pt x="26481" y="0"/>
                  </a:cubicBezTo>
                  <a:cubicBezTo>
                    <a:pt x="25741" y="16"/>
                    <a:pt x="25150" y="33"/>
                    <a:pt x="24509" y="33"/>
                  </a:cubicBezTo>
                  <a:cubicBezTo>
                    <a:pt x="23884" y="33"/>
                    <a:pt x="23144" y="16"/>
                    <a:pt x="22421" y="0"/>
                  </a:cubicBezTo>
                  <a:cubicBezTo>
                    <a:pt x="22372" y="66"/>
                    <a:pt x="22322" y="395"/>
                    <a:pt x="22372" y="477"/>
                  </a:cubicBezTo>
                  <a:lnTo>
                    <a:pt x="22930" y="526"/>
                  </a:lnTo>
                  <a:cubicBezTo>
                    <a:pt x="23572" y="575"/>
                    <a:pt x="23752" y="789"/>
                    <a:pt x="23654" y="1282"/>
                  </a:cubicBezTo>
                  <a:lnTo>
                    <a:pt x="22059" y="9388"/>
                  </a:lnTo>
                  <a:cubicBezTo>
                    <a:pt x="21960" y="9848"/>
                    <a:pt x="21714" y="10079"/>
                    <a:pt x="21040" y="10144"/>
                  </a:cubicBezTo>
                  <a:lnTo>
                    <a:pt x="20531" y="10194"/>
                  </a:lnTo>
                  <a:cubicBezTo>
                    <a:pt x="20465" y="10259"/>
                    <a:pt x="20432" y="10523"/>
                    <a:pt x="20498" y="10670"/>
                  </a:cubicBezTo>
                  <a:cubicBezTo>
                    <a:pt x="21237" y="10654"/>
                    <a:pt x="21829" y="10637"/>
                    <a:pt x="22470" y="10637"/>
                  </a:cubicBezTo>
                  <a:cubicBezTo>
                    <a:pt x="23095" y="10637"/>
                    <a:pt x="23835" y="10654"/>
                    <a:pt x="24558" y="10670"/>
                  </a:cubicBezTo>
                  <a:cubicBezTo>
                    <a:pt x="24607" y="10605"/>
                    <a:pt x="24656" y="10276"/>
                    <a:pt x="24607" y="10194"/>
                  </a:cubicBezTo>
                  <a:lnTo>
                    <a:pt x="24048" y="10144"/>
                  </a:lnTo>
                  <a:cubicBezTo>
                    <a:pt x="23407" y="10095"/>
                    <a:pt x="23226" y="9881"/>
                    <a:pt x="23325" y="9388"/>
                  </a:cubicBezTo>
                  <a:lnTo>
                    <a:pt x="24114" y="5357"/>
                  </a:lnTo>
                  <a:lnTo>
                    <a:pt x="29259" y="5357"/>
                  </a:lnTo>
                  <a:lnTo>
                    <a:pt x="28470" y="9388"/>
                  </a:lnTo>
                  <a:cubicBezTo>
                    <a:pt x="28372" y="9848"/>
                    <a:pt x="28125" y="10079"/>
                    <a:pt x="27451" y="10144"/>
                  </a:cubicBezTo>
                  <a:lnTo>
                    <a:pt x="26941" y="10194"/>
                  </a:lnTo>
                  <a:cubicBezTo>
                    <a:pt x="26876" y="10259"/>
                    <a:pt x="26843" y="10523"/>
                    <a:pt x="26909" y="10670"/>
                  </a:cubicBezTo>
                  <a:cubicBezTo>
                    <a:pt x="27648" y="10654"/>
                    <a:pt x="28240" y="10637"/>
                    <a:pt x="28881" y="10637"/>
                  </a:cubicBezTo>
                  <a:cubicBezTo>
                    <a:pt x="29506" y="10637"/>
                    <a:pt x="30246" y="10654"/>
                    <a:pt x="30969" y="10670"/>
                  </a:cubicBezTo>
                  <a:cubicBezTo>
                    <a:pt x="31018" y="10605"/>
                    <a:pt x="31067" y="10276"/>
                    <a:pt x="31018" y="10194"/>
                  </a:cubicBezTo>
                  <a:lnTo>
                    <a:pt x="30459" y="10144"/>
                  </a:lnTo>
                  <a:cubicBezTo>
                    <a:pt x="29818" y="10095"/>
                    <a:pt x="29637" y="9881"/>
                    <a:pt x="29736" y="9388"/>
                  </a:cubicBezTo>
                  <a:lnTo>
                    <a:pt x="31330" y="1282"/>
                  </a:lnTo>
                  <a:cubicBezTo>
                    <a:pt x="31429" y="822"/>
                    <a:pt x="31676" y="592"/>
                    <a:pt x="32350" y="526"/>
                  </a:cubicBezTo>
                  <a:lnTo>
                    <a:pt x="32859" y="477"/>
                  </a:lnTo>
                  <a:cubicBezTo>
                    <a:pt x="32925" y="411"/>
                    <a:pt x="32958" y="148"/>
                    <a:pt x="32892" y="0"/>
                  </a:cubicBezTo>
                  <a:cubicBezTo>
                    <a:pt x="32152" y="16"/>
                    <a:pt x="31561" y="33"/>
                    <a:pt x="30920" y="33"/>
                  </a:cubicBezTo>
                  <a:cubicBezTo>
                    <a:pt x="30295" y="33"/>
                    <a:pt x="29555" y="16"/>
                    <a:pt x="28832" y="0"/>
                  </a:cubicBezTo>
                  <a:cubicBezTo>
                    <a:pt x="28783" y="66"/>
                    <a:pt x="28733" y="395"/>
                    <a:pt x="28783" y="477"/>
                  </a:cubicBezTo>
                  <a:lnTo>
                    <a:pt x="29341" y="526"/>
                  </a:lnTo>
                  <a:cubicBezTo>
                    <a:pt x="29983" y="575"/>
                    <a:pt x="30163" y="789"/>
                    <a:pt x="30065" y="128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12" name="Paper math native glyph 4"/>
            <p:cNvSpPr/>
            <p:nvPr/>
          </p:nvSpPr>
          <p:spPr>
            <a:xfrm>
              <a:off x="0" y="0"/>
              <a:ext cx="749361" cy="147191"/>
            </a:xfrm>
            <a:custGeom>
              <a:avLst/>
              <a:gdLst/>
              <a:ahLst/>
              <a:cxnLst/>
              <a:rect l="0" t="0" r="r" b="b"/>
              <a:pathLst>
                <a:path w="59005" h="11590" stroke="0" extrusionOk="0">
                  <a:moveTo>
                    <a:pt x="47518" y="9453"/>
                  </a:moveTo>
                  <a:lnTo>
                    <a:pt x="47518" y="8532"/>
                  </a:lnTo>
                  <a:lnTo>
                    <a:pt x="40680" y="5327"/>
                  </a:lnTo>
                  <a:lnTo>
                    <a:pt x="47518" y="2121"/>
                  </a:lnTo>
                  <a:lnTo>
                    <a:pt x="47518" y="1201"/>
                  </a:lnTo>
                  <a:lnTo>
                    <a:pt x="39102" y="5179"/>
                  </a:lnTo>
                  <a:lnTo>
                    <a:pt x="39102" y="5508"/>
                  </a:lnTo>
                  <a:lnTo>
                    <a:pt x="47518" y="9453"/>
                  </a:lnTo>
                  <a:moveTo>
                    <a:pt x="47518" y="11590"/>
                  </a:moveTo>
                  <a:lnTo>
                    <a:pt x="47518" y="10718"/>
                  </a:lnTo>
                  <a:lnTo>
                    <a:pt x="39102" y="10718"/>
                  </a:lnTo>
                  <a:lnTo>
                    <a:pt x="39102" y="11590"/>
                  </a:lnTo>
                  <a:lnTo>
                    <a:pt x="47518" y="1159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13" name="Paper math native glyph 5"/>
            <p:cNvSpPr/>
            <p:nvPr/>
          </p:nvSpPr>
          <p:spPr>
            <a:xfrm>
              <a:off x="0" y="0"/>
              <a:ext cx="749361" cy="147191"/>
            </a:xfrm>
            <a:custGeom>
              <a:avLst/>
              <a:gdLst/>
              <a:ahLst/>
              <a:cxnLst/>
              <a:rect l="0" t="0" r="r" b="b"/>
              <a:pathLst>
                <a:path w="59005" h="11590" stroke="0" extrusionOk="0">
                  <a:moveTo>
                    <a:pt x="56079" y="3576"/>
                  </a:moveTo>
                  <a:lnTo>
                    <a:pt x="55208" y="3625"/>
                  </a:lnTo>
                  <a:cubicBezTo>
                    <a:pt x="54896" y="3642"/>
                    <a:pt x="54781" y="3773"/>
                    <a:pt x="54748" y="3905"/>
                  </a:cubicBezTo>
                  <a:cubicBezTo>
                    <a:pt x="54731" y="3954"/>
                    <a:pt x="54682" y="4151"/>
                    <a:pt x="54682" y="4184"/>
                  </a:cubicBezTo>
                  <a:cubicBezTo>
                    <a:pt x="54682" y="4217"/>
                    <a:pt x="54731" y="4217"/>
                    <a:pt x="54781" y="4217"/>
                  </a:cubicBezTo>
                  <a:lnTo>
                    <a:pt x="55931" y="4217"/>
                  </a:lnTo>
                  <a:lnTo>
                    <a:pt x="54929" y="8693"/>
                  </a:lnTo>
                  <a:cubicBezTo>
                    <a:pt x="54813" y="9220"/>
                    <a:pt x="54698" y="9730"/>
                    <a:pt x="54698" y="10043"/>
                  </a:cubicBezTo>
                  <a:cubicBezTo>
                    <a:pt x="54698" y="10634"/>
                    <a:pt x="54994" y="10799"/>
                    <a:pt x="55504" y="10799"/>
                  </a:cubicBezTo>
                  <a:cubicBezTo>
                    <a:pt x="56244" y="10799"/>
                    <a:pt x="57329" y="10125"/>
                    <a:pt x="57887" y="9105"/>
                  </a:cubicBezTo>
                  <a:cubicBezTo>
                    <a:pt x="57838" y="8891"/>
                    <a:pt x="57723" y="8792"/>
                    <a:pt x="57526" y="8792"/>
                  </a:cubicBezTo>
                  <a:cubicBezTo>
                    <a:pt x="56770" y="9648"/>
                    <a:pt x="56474" y="9812"/>
                    <a:pt x="56211" y="9812"/>
                  </a:cubicBezTo>
                  <a:cubicBezTo>
                    <a:pt x="56161" y="9812"/>
                    <a:pt x="55997" y="9780"/>
                    <a:pt x="55997" y="9582"/>
                  </a:cubicBezTo>
                  <a:cubicBezTo>
                    <a:pt x="55997" y="9434"/>
                    <a:pt x="56046" y="9105"/>
                    <a:pt x="56178" y="8545"/>
                  </a:cubicBezTo>
                  <a:lnTo>
                    <a:pt x="57148" y="4217"/>
                  </a:lnTo>
                  <a:lnTo>
                    <a:pt x="58759" y="4217"/>
                  </a:lnTo>
                  <a:cubicBezTo>
                    <a:pt x="58956" y="4135"/>
                    <a:pt x="59104" y="3708"/>
                    <a:pt x="58923" y="3576"/>
                  </a:cubicBezTo>
                  <a:lnTo>
                    <a:pt x="57296" y="3576"/>
                  </a:lnTo>
                  <a:lnTo>
                    <a:pt x="57460" y="2836"/>
                  </a:lnTo>
                  <a:cubicBezTo>
                    <a:pt x="57526" y="2524"/>
                    <a:pt x="57674" y="2047"/>
                    <a:pt x="57674" y="1850"/>
                  </a:cubicBezTo>
                  <a:cubicBezTo>
                    <a:pt x="57674" y="1570"/>
                    <a:pt x="57542" y="1406"/>
                    <a:pt x="57016" y="1406"/>
                  </a:cubicBezTo>
                  <a:cubicBezTo>
                    <a:pt x="56424" y="1406"/>
                    <a:pt x="56457" y="2146"/>
                    <a:pt x="56293" y="2754"/>
                  </a:cubicBezTo>
                  <a:lnTo>
                    <a:pt x="56079" y="357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cxnSp>
        <p:nvCxnSpPr>
          <p:cNvPr id="1214" name="Enqueue current context"/>
          <p:cNvCxnSpPr/>
          <p:nvPr/>
        </p:nvCxnSpPr>
        <p:spPr>
          <a:xfrm>
            <a:off x="2266950" y="2447925"/>
            <a:ext cx="0" cy="581025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Release after full horizon"/>
          <p:cNvCxnSpPr/>
          <p:nvPr/>
        </p:nvCxnSpPr>
        <p:spPr>
          <a:xfrm>
            <a:off x="2266950" y="5257800"/>
            <a:ext cx="0" cy="504825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FIFO"/>
          <p:cNvCxnSpPr/>
          <p:nvPr/>
        </p:nvCxnSpPr>
        <p:spPr>
          <a:xfrm>
            <a:off x="3409950" y="3714750"/>
            <a:ext cx="0" cy="1409700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7" name="Shared forecaster: frozen theta, maintained E"/>
          <p:cNvSpPr/>
          <p:nvPr/>
        </p:nvSpPr>
        <p:spPr>
          <a:xfrm>
            <a:off x="4286250" y="552450"/>
            <a:ext cx="8029575" cy="2600325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Label · Shared forecaster"/>
          <p:cNvSpPr txBox="1"/>
          <p:nvPr/>
        </p:nvSpPr>
        <p:spPr>
          <a:xfrm>
            <a:off x="4486275" y="723900"/>
            <a:ext cx="2619375" cy="4143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6272C"/>
                </a:solidFill>
                <a:latin typeface="Times New Roman"/>
              </a:rPr>
              <a:t>Shared forecaster</a:t>
            </a:r>
          </a:p>
        </p:txBody>
      </p:sp>
      <p:grpSp>
        <p:nvGrpSpPr>
          <p:cNvPr id="1219" name="Formula · f_{\boldsymbol{\theta}}(\cdot;\mathbf{E})" descr="Editable LaTeX source: $f_{\boldsymbol{\theta}}(\cdot;\mathbf{E})$; native vector glyphs."/>
          <p:cNvGrpSpPr/>
          <p:nvPr/>
        </p:nvGrpSpPr>
        <p:grpSpPr>
          <a:xfrm>
            <a:off x="7115175" y="695325"/>
            <a:ext cx="741673" cy="253768"/>
            <a:chOff x="0" y="0"/>
            <a:chExt cx="741673" cy="253768"/>
          </a:xfrm>
        </p:grpSpPr>
        <p:sp>
          <p:nvSpPr>
            <p:cNvPr id="1220" name="Paper math native glyph 1"/>
            <p:cNvSpPr/>
            <p:nvPr/>
          </p:nvSpPr>
          <p:spPr>
            <a:xfrm>
              <a:off x="0" y="0"/>
              <a:ext cx="741673" cy="253768"/>
            </a:xfrm>
            <a:custGeom>
              <a:avLst/>
              <a:gdLst/>
              <a:ahLst/>
              <a:cxnLst/>
              <a:rect l="0" t="0" r="r" b="b"/>
              <a:pathLst>
                <a:path w="58399" h="19982" stroke="0" extrusionOk="0">
                  <a:moveTo>
                    <a:pt x="5565" y="6847"/>
                  </a:moveTo>
                  <a:cubicBezTo>
                    <a:pt x="5147" y="9232"/>
                    <a:pt x="4917" y="10487"/>
                    <a:pt x="4707" y="12055"/>
                  </a:cubicBezTo>
                  <a:cubicBezTo>
                    <a:pt x="4435" y="14105"/>
                    <a:pt x="4038" y="17472"/>
                    <a:pt x="3285" y="18664"/>
                  </a:cubicBezTo>
                  <a:cubicBezTo>
                    <a:pt x="3054" y="19020"/>
                    <a:pt x="2636" y="19291"/>
                    <a:pt x="2322" y="19291"/>
                  </a:cubicBezTo>
                  <a:cubicBezTo>
                    <a:pt x="1988" y="19291"/>
                    <a:pt x="1904" y="19082"/>
                    <a:pt x="1736" y="18852"/>
                  </a:cubicBezTo>
                  <a:cubicBezTo>
                    <a:pt x="1569" y="18601"/>
                    <a:pt x="1172" y="18266"/>
                    <a:pt x="774" y="18266"/>
                  </a:cubicBezTo>
                  <a:cubicBezTo>
                    <a:pt x="188" y="18266"/>
                    <a:pt x="0" y="18664"/>
                    <a:pt x="0" y="19020"/>
                  </a:cubicBezTo>
                  <a:cubicBezTo>
                    <a:pt x="0" y="19480"/>
                    <a:pt x="502" y="19982"/>
                    <a:pt x="1925" y="19982"/>
                  </a:cubicBezTo>
                  <a:cubicBezTo>
                    <a:pt x="2782" y="19982"/>
                    <a:pt x="3703" y="19563"/>
                    <a:pt x="4352" y="18664"/>
                  </a:cubicBezTo>
                  <a:cubicBezTo>
                    <a:pt x="4937" y="17848"/>
                    <a:pt x="5398" y="16259"/>
                    <a:pt x="6214" y="12285"/>
                  </a:cubicBezTo>
                  <a:cubicBezTo>
                    <a:pt x="6548" y="10654"/>
                    <a:pt x="6883" y="8960"/>
                    <a:pt x="7197" y="7203"/>
                  </a:cubicBezTo>
                  <a:lnTo>
                    <a:pt x="7260" y="6847"/>
                  </a:lnTo>
                  <a:lnTo>
                    <a:pt x="9206" y="6847"/>
                  </a:lnTo>
                  <a:cubicBezTo>
                    <a:pt x="9394" y="6847"/>
                    <a:pt x="9707" y="6764"/>
                    <a:pt x="9750" y="6596"/>
                  </a:cubicBezTo>
                  <a:cubicBezTo>
                    <a:pt x="9750" y="6596"/>
                    <a:pt x="9854" y="6157"/>
                    <a:pt x="9854" y="6136"/>
                  </a:cubicBezTo>
                  <a:cubicBezTo>
                    <a:pt x="9854" y="6073"/>
                    <a:pt x="9812" y="6031"/>
                    <a:pt x="9707" y="6031"/>
                  </a:cubicBezTo>
                  <a:lnTo>
                    <a:pt x="7406" y="6031"/>
                  </a:lnTo>
                  <a:lnTo>
                    <a:pt x="7636" y="4837"/>
                  </a:lnTo>
                  <a:cubicBezTo>
                    <a:pt x="7825" y="4062"/>
                    <a:pt x="8013" y="3329"/>
                    <a:pt x="8264" y="2763"/>
                  </a:cubicBezTo>
                  <a:cubicBezTo>
                    <a:pt x="8787" y="1464"/>
                    <a:pt x="9645" y="1087"/>
                    <a:pt x="10000" y="1087"/>
                  </a:cubicBezTo>
                  <a:cubicBezTo>
                    <a:pt x="10482" y="1087"/>
                    <a:pt x="10712" y="1192"/>
                    <a:pt x="10816" y="1632"/>
                  </a:cubicBezTo>
                  <a:cubicBezTo>
                    <a:pt x="10900" y="2093"/>
                    <a:pt x="11067" y="2659"/>
                    <a:pt x="11779" y="2659"/>
                  </a:cubicBezTo>
                  <a:cubicBezTo>
                    <a:pt x="12427" y="2659"/>
                    <a:pt x="12574" y="2156"/>
                    <a:pt x="12574" y="1946"/>
                  </a:cubicBezTo>
                  <a:cubicBezTo>
                    <a:pt x="12574" y="1108"/>
                    <a:pt x="11653" y="397"/>
                    <a:pt x="10168" y="397"/>
                  </a:cubicBezTo>
                  <a:cubicBezTo>
                    <a:pt x="9582" y="397"/>
                    <a:pt x="8285" y="711"/>
                    <a:pt x="7427" y="1737"/>
                  </a:cubicBezTo>
                  <a:cubicBezTo>
                    <a:pt x="6695" y="2596"/>
                    <a:pt x="6151" y="4209"/>
                    <a:pt x="5774" y="6031"/>
                  </a:cubicBezTo>
                  <a:lnTo>
                    <a:pt x="4393" y="6094"/>
                  </a:lnTo>
                  <a:cubicBezTo>
                    <a:pt x="3996" y="6115"/>
                    <a:pt x="3849" y="6283"/>
                    <a:pt x="3808" y="6450"/>
                  </a:cubicBezTo>
                  <a:cubicBezTo>
                    <a:pt x="3787" y="6513"/>
                    <a:pt x="3724" y="6764"/>
                    <a:pt x="3724" y="6806"/>
                  </a:cubicBezTo>
                  <a:cubicBezTo>
                    <a:pt x="3724" y="6847"/>
                    <a:pt x="3787" y="6847"/>
                    <a:pt x="3849" y="6847"/>
                  </a:cubicBezTo>
                  <a:lnTo>
                    <a:pt x="5565" y="6847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21" name="Paper math native glyph 2"/>
            <p:cNvSpPr/>
            <p:nvPr/>
          </p:nvSpPr>
          <p:spPr>
            <a:xfrm>
              <a:off x="0" y="0"/>
              <a:ext cx="741673" cy="253768"/>
            </a:xfrm>
            <a:custGeom>
              <a:avLst/>
              <a:gdLst/>
              <a:ahLst/>
              <a:cxnLst/>
              <a:rect l="0" t="0" r="r" b="b"/>
              <a:pathLst>
                <a:path w="58399" h="19982" stroke="0" extrusionOk="0">
                  <a:moveTo>
                    <a:pt x="14417" y="13383"/>
                  </a:moveTo>
                  <a:cubicBezTo>
                    <a:pt x="13898" y="15537"/>
                    <a:pt x="12783" y="17753"/>
                    <a:pt x="11821" y="17753"/>
                  </a:cubicBezTo>
                  <a:cubicBezTo>
                    <a:pt x="11210" y="17753"/>
                    <a:pt x="10920" y="16836"/>
                    <a:pt x="10920" y="15614"/>
                  </a:cubicBezTo>
                  <a:cubicBezTo>
                    <a:pt x="10920" y="14941"/>
                    <a:pt x="11011" y="14162"/>
                    <a:pt x="11179" y="13383"/>
                  </a:cubicBezTo>
                  <a:lnTo>
                    <a:pt x="14417" y="13383"/>
                  </a:lnTo>
                  <a:moveTo>
                    <a:pt x="13928" y="8295"/>
                  </a:moveTo>
                  <a:cubicBezTo>
                    <a:pt x="14539" y="8295"/>
                    <a:pt x="14845" y="9181"/>
                    <a:pt x="14845" y="10434"/>
                  </a:cubicBezTo>
                  <a:cubicBezTo>
                    <a:pt x="14845" y="11107"/>
                    <a:pt x="14753" y="11870"/>
                    <a:pt x="14585" y="12680"/>
                  </a:cubicBezTo>
                  <a:lnTo>
                    <a:pt x="11347" y="12680"/>
                  </a:lnTo>
                  <a:cubicBezTo>
                    <a:pt x="11806" y="10770"/>
                    <a:pt x="12905" y="8295"/>
                    <a:pt x="13928" y="8295"/>
                  </a:cubicBezTo>
                  <a:moveTo>
                    <a:pt x="9515" y="13032"/>
                  </a:moveTo>
                  <a:cubicBezTo>
                    <a:pt x="9347" y="13795"/>
                    <a:pt x="9270" y="14483"/>
                    <a:pt x="9270" y="15064"/>
                  </a:cubicBezTo>
                  <a:cubicBezTo>
                    <a:pt x="9270" y="17371"/>
                    <a:pt x="10462" y="18318"/>
                    <a:pt x="11622" y="18318"/>
                  </a:cubicBezTo>
                  <a:cubicBezTo>
                    <a:pt x="12966" y="18318"/>
                    <a:pt x="15318" y="16974"/>
                    <a:pt x="16235" y="13032"/>
                  </a:cubicBezTo>
                  <a:cubicBezTo>
                    <a:pt x="16418" y="12222"/>
                    <a:pt x="16494" y="11534"/>
                    <a:pt x="16494" y="10954"/>
                  </a:cubicBezTo>
                  <a:cubicBezTo>
                    <a:pt x="16494" y="8586"/>
                    <a:pt x="15227" y="7730"/>
                    <a:pt x="14157" y="7730"/>
                  </a:cubicBezTo>
                  <a:cubicBezTo>
                    <a:pt x="12493" y="7730"/>
                    <a:pt x="10339" y="9502"/>
                    <a:pt x="9515" y="1303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22" name="Paper math native glyph 3"/>
            <p:cNvSpPr/>
            <p:nvPr/>
          </p:nvSpPr>
          <p:spPr>
            <a:xfrm>
              <a:off x="0" y="0"/>
              <a:ext cx="741673" cy="253768"/>
            </a:xfrm>
            <a:custGeom>
              <a:avLst/>
              <a:gdLst/>
              <a:ahLst/>
              <a:cxnLst/>
              <a:rect l="0" t="0" r="r" b="b"/>
              <a:pathLst>
                <a:path w="58399" h="19982" stroke="0" extrusionOk="0">
                  <a:moveTo>
                    <a:pt x="24974" y="0"/>
                  </a:moveTo>
                  <a:cubicBezTo>
                    <a:pt x="21940" y="1967"/>
                    <a:pt x="19806" y="5356"/>
                    <a:pt x="19806" y="9624"/>
                  </a:cubicBezTo>
                  <a:cubicBezTo>
                    <a:pt x="19806" y="13515"/>
                    <a:pt x="22024" y="17449"/>
                    <a:pt x="24911" y="19227"/>
                  </a:cubicBezTo>
                  <a:lnTo>
                    <a:pt x="25162" y="18892"/>
                  </a:lnTo>
                  <a:cubicBezTo>
                    <a:pt x="22401" y="16716"/>
                    <a:pt x="21605" y="14185"/>
                    <a:pt x="21605" y="9561"/>
                  </a:cubicBezTo>
                  <a:cubicBezTo>
                    <a:pt x="21605" y="4917"/>
                    <a:pt x="22463" y="2510"/>
                    <a:pt x="25162" y="335"/>
                  </a:cubicBezTo>
                  <a:lnTo>
                    <a:pt x="24974" y="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23" name="Paper math native glyph 4"/>
            <p:cNvSpPr/>
            <p:nvPr/>
          </p:nvSpPr>
          <p:spPr>
            <a:xfrm>
              <a:off x="0" y="0"/>
              <a:ext cx="741673" cy="253768"/>
            </a:xfrm>
            <a:custGeom>
              <a:avLst/>
              <a:gdLst/>
              <a:ahLst/>
              <a:cxnLst/>
              <a:rect l="0" t="0" r="r" b="b"/>
              <a:pathLst>
                <a:path w="58399" h="19982" stroke="0" extrusionOk="0">
                  <a:moveTo>
                    <a:pt x="30602" y="9642"/>
                  </a:moveTo>
                  <a:cubicBezTo>
                    <a:pt x="30602" y="8994"/>
                    <a:pt x="30058" y="8450"/>
                    <a:pt x="29430" y="8450"/>
                  </a:cubicBezTo>
                  <a:cubicBezTo>
                    <a:pt x="28802" y="8450"/>
                    <a:pt x="28279" y="8973"/>
                    <a:pt x="28279" y="9642"/>
                  </a:cubicBezTo>
                  <a:cubicBezTo>
                    <a:pt x="28279" y="10437"/>
                    <a:pt x="28991" y="10772"/>
                    <a:pt x="29430" y="10772"/>
                  </a:cubicBezTo>
                  <a:cubicBezTo>
                    <a:pt x="29870" y="10772"/>
                    <a:pt x="30602" y="10416"/>
                    <a:pt x="30602" y="964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24" name="Paper math native glyph 5"/>
            <p:cNvSpPr/>
            <p:nvPr/>
          </p:nvSpPr>
          <p:spPr>
            <a:xfrm>
              <a:off x="0" y="0"/>
              <a:ext cx="741673" cy="253768"/>
            </a:xfrm>
            <a:custGeom>
              <a:avLst/>
              <a:gdLst/>
              <a:ahLst/>
              <a:cxnLst/>
              <a:rect l="0" t="0" r="r" b="b"/>
              <a:pathLst>
                <a:path w="58399" h="19982" stroke="0" extrusionOk="0">
                  <a:moveTo>
                    <a:pt x="33719" y="7569"/>
                  </a:moveTo>
                  <a:cubicBezTo>
                    <a:pt x="33719" y="8176"/>
                    <a:pt x="34221" y="8678"/>
                    <a:pt x="34828" y="8678"/>
                  </a:cubicBezTo>
                  <a:cubicBezTo>
                    <a:pt x="35435" y="8678"/>
                    <a:pt x="35937" y="8176"/>
                    <a:pt x="35937" y="7569"/>
                  </a:cubicBezTo>
                  <a:cubicBezTo>
                    <a:pt x="35937" y="6963"/>
                    <a:pt x="35435" y="6460"/>
                    <a:pt x="34828" y="6460"/>
                  </a:cubicBezTo>
                  <a:cubicBezTo>
                    <a:pt x="34221" y="6460"/>
                    <a:pt x="33719" y="6963"/>
                    <a:pt x="33719" y="7569"/>
                  </a:cubicBezTo>
                  <a:moveTo>
                    <a:pt x="34828" y="13014"/>
                  </a:moveTo>
                  <a:cubicBezTo>
                    <a:pt x="34179" y="13014"/>
                    <a:pt x="33719" y="13454"/>
                    <a:pt x="33719" y="14039"/>
                  </a:cubicBezTo>
                  <a:cubicBezTo>
                    <a:pt x="33719" y="14688"/>
                    <a:pt x="34263" y="14897"/>
                    <a:pt x="34640" y="14960"/>
                  </a:cubicBezTo>
                  <a:cubicBezTo>
                    <a:pt x="35037" y="15002"/>
                    <a:pt x="35393" y="15127"/>
                    <a:pt x="35393" y="15607"/>
                  </a:cubicBezTo>
                  <a:cubicBezTo>
                    <a:pt x="35393" y="16046"/>
                    <a:pt x="34640" y="17006"/>
                    <a:pt x="33552" y="17277"/>
                  </a:cubicBezTo>
                  <a:cubicBezTo>
                    <a:pt x="33552" y="17487"/>
                    <a:pt x="33594" y="17633"/>
                    <a:pt x="33740" y="17779"/>
                  </a:cubicBezTo>
                  <a:cubicBezTo>
                    <a:pt x="34995" y="17549"/>
                    <a:pt x="36209" y="16547"/>
                    <a:pt x="36209" y="15085"/>
                  </a:cubicBezTo>
                  <a:cubicBezTo>
                    <a:pt x="36209" y="13830"/>
                    <a:pt x="35665" y="13014"/>
                    <a:pt x="34828" y="1301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25" name="Paper math native glyph 6"/>
            <p:cNvSpPr/>
            <p:nvPr/>
          </p:nvSpPr>
          <p:spPr>
            <a:xfrm>
              <a:off x="0" y="0"/>
              <a:ext cx="741673" cy="253768"/>
            </a:xfrm>
            <a:custGeom>
              <a:avLst/>
              <a:gdLst/>
              <a:ahLst/>
              <a:cxnLst/>
              <a:rect l="0" t="0" r="r" b="b"/>
              <a:pathLst>
                <a:path w="58399" h="19982" stroke="0" extrusionOk="0">
                  <a:moveTo>
                    <a:pt x="41244" y="15001"/>
                  </a:moveTo>
                  <a:lnTo>
                    <a:pt x="51454" y="15001"/>
                  </a:lnTo>
                  <a:cubicBezTo>
                    <a:pt x="51600" y="13871"/>
                    <a:pt x="51809" y="12573"/>
                    <a:pt x="52018" y="11463"/>
                  </a:cubicBezTo>
                  <a:lnTo>
                    <a:pt x="51119" y="11253"/>
                  </a:lnTo>
                  <a:cubicBezTo>
                    <a:pt x="50763" y="12803"/>
                    <a:pt x="50010" y="14038"/>
                    <a:pt x="48859" y="14038"/>
                  </a:cubicBezTo>
                  <a:lnTo>
                    <a:pt x="45658" y="14038"/>
                  </a:lnTo>
                  <a:cubicBezTo>
                    <a:pt x="45470" y="14038"/>
                    <a:pt x="45366" y="13913"/>
                    <a:pt x="45366" y="13431"/>
                  </a:cubicBezTo>
                  <a:lnTo>
                    <a:pt x="45366" y="8238"/>
                  </a:lnTo>
                  <a:lnTo>
                    <a:pt x="47729" y="8238"/>
                  </a:lnTo>
                  <a:cubicBezTo>
                    <a:pt x="48253" y="8238"/>
                    <a:pt x="48336" y="8867"/>
                    <a:pt x="48462" y="9725"/>
                  </a:cubicBezTo>
                  <a:cubicBezTo>
                    <a:pt x="48462" y="9809"/>
                    <a:pt x="48587" y="9934"/>
                    <a:pt x="48797" y="9934"/>
                  </a:cubicBezTo>
                  <a:lnTo>
                    <a:pt x="49236" y="9934"/>
                  </a:lnTo>
                  <a:lnTo>
                    <a:pt x="49361" y="9746"/>
                  </a:lnTo>
                  <a:cubicBezTo>
                    <a:pt x="49320" y="9390"/>
                    <a:pt x="49215" y="8552"/>
                    <a:pt x="49215" y="7799"/>
                  </a:cubicBezTo>
                  <a:cubicBezTo>
                    <a:pt x="49215" y="7025"/>
                    <a:pt x="49320" y="6187"/>
                    <a:pt x="49361" y="5853"/>
                  </a:cubicBezTo>
                  <a:lnTo>
                    <a:pt x="49236" y="5643"/>
                  </a:lnTo>
                  <a:lnTo>
                    <a:pt x="48797" y="5643"/>
                  </a:lnTo>
                  <a:cubicBezTo>
                    <a:pt x="48587" y="5643"/>
                    <a:pt x="48462" y="5790"/>
                    <a:pt x="48462" y="5874"/>
                  </a:cubicBezTo>
                  <a:cubicBezTo>
                    <a:pt x="48336" y="6711"/>
                    <a:pt x="48253" y="7359"/>
                    <a:pt x="47729" y="7359"/>
                  </a:cubicBezTo>
                  <a:lnTo>
                    <a:pt x="45366" y="7359"/>
                  </a:lnTo>
                  <a:lnTo>
                    <a:pt x="45366" y="3045"/>
                  </a:lnTo>
                  <a:cubicBezTo>
                    <a:pt x="45366" y="2605"/>
                    <a:pt x="45470" y="2438"/>
                    <a:pt x="45658" y="2438"/>
                  </a:cubicBezTo>
                  <a:lnTo>
                    <a:pt x="48378" y="2438"/>
                  </a:lnTo>
                  <a:cubicBezTo>
                    <a:pt x="49780" y="2438"/>
                    <a:pt x="50303" y="3988"/>
                    <a:pt x="50596" y="5057"/>
                  </a:cubicBezTo>
                  <a:lnTo>
                    <a:pt x="51433" y="4868"/>
                  </a:lnTo>
                  <a:cubicBezTo>
                    <a:pt x="51224" y="3800"/>
                    <a:pt x="51077" y="2690"/>
                    <a:pt x="50993" y="1475"/>
                  </a:cubicBezTo>
                  <a:lnTo>
                    <a:pt x="41244" y="1475"/>
                  </a:lnTo>
                  <a:lnTo>
                    <a:pt x="41181" y="1517"/>
                  </a:lnTo>
                  <a:lnTo>
                    <a:pt x="41181" y="1998"/>
                  </a:lnTo>
                  <a:cubicBezTo>
                    <a:pt x="41181" y="2103"/>
                    <a:pt x="41265" y="2166"/>
                    <a:pt x="41349" y="2166"/>
                  </a:cubicBezTo>
                  <a:lnTo>
                    <a:pt x="41641" y="2166"/>
                  </a:lnTo>
                  <a:cubicBezTo>
                    <a:pt x="42478" y="2166"/>
                    <a:pt x="42792" y="2417"/>
                    <a:pt x="42792" y="3088"/>
                  </a:cubicBezTo>
                  <a:lnTo>
                    <a:pt x="42792" y="13389"/>
                  </a:lnTo>
                  <a:cubicBezTo>
                    <a:pt x="42792" y="14059"/>
                    <a:pt x="42478" y="14310"/>
                    <a:pt x="41641" y="14310"/>
                  </a:cubicBezTo>
                  <a:lnTo>
                    <a:pt x="41349" y="14310"/>
                  </a:lnTo>
                  <a:cubicBezTo>
                    <a:pt x="41265" y="14310"/>
                    <a:pt x="41181" y="14373"/>
                    <a:pt x="41181" y="14499"/>
                  </a:cubicBezTo>
                  <a:lnTo>
                    <a:pt x="41181" y="14959"/>
                  </a:lnTo>
                  <a:lnTo>
                    <a:pt x="41244" y="1500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226" name="Paper math native glyph 7"/>
            <p:cNvSpPr/>
            <p:nvPr/>
          </p:nvSpPr>
          <p:spPr>
            <a:xfrm>
              <a:off x="0" y="0"/>
              <a:ext cx="741673" cy="253768"/>
            </a:xfrm>
            <a:custGeom>
              <a:avLst/>
              <a:gdLst/>
              <a:ahLst/>
              <a:cxnLst/>
              <a:rect l="0" t="0" r="r" b="b"/>
              <a:pathLst>
                <a:path w="58399" h="19982" stroke="0" extrusionOk="0">
                  <a:moveTo>
                    <a:pt x="53232" y="0"/>
                  </a:moveTo>
                  <a:lnTo>
                    <a:pt x="53044" y="335"/>
                  </a:lnTo>
                  <a:cubicBezTo>
                    <a:pt x="55742" y="2510"/>
                    <a:pt x="56600" y="4917"/>
                    <a:pt x="56600" y="9561"/>
                  </a:cubicBezTo>
                  <a:cubicBezTo>
                    <a:pt x="56600" y="14185"/>
                    <a:pt x="55805" y="16716"/>
                    <a:pt x="53044" y="18892"/>
                  </a:cubicBezTo>
                  <a:lnTo>
                    <a:pt x="53295" y="19227"/>
                  </a:lnTo>
                  <a:cubicBezTo>
                    <a:pt x="56182" y="17449"/>
                    <a:pt x="58399" y="13515"/>
                    <a:pt x="58399" y="9624"/>
                  </a:cubicBezTo>
                  <a:cubicBezTo>
                    <a:pt x="58399" y="5356"/>
                    <a:pt x="56266" y="1967"/>
                    <a:pt x="53232" y="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227" name="Frozen shared weights"/>
          <p:cNvSpPr/>
          <p:nvPr/>
        </p:nvSpPr>
        <p:spPr>
          <a:xfrm>
            <a:off x="4476750" y="1209675"/>
            <a:ext cx="2505075" cy="1638300"/>
          </a:xfrm>
          <a:prstGeom prst="roundRect">
            <a:avLst>
              <a:gd name="adj" fmla="val 8000"/>
            </a:avLst>
          </a:prstGeom>
          <a:solidFill>
            <a:srgbClr val="B6C7EA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Label · Shared weights"/>
          <p:cNvSpPr txBox="1"/>
          <p:nvPr/>
        </p:nvSpPr>
        <p:spPr>
          <a:xfrm>
            <a:off x="4629150" y="1333500"/>
            <a:ext cx="1962150" cy="3143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6272C"/>
                </a:solidFill>
                <a:latin typeface="Times New Roman"/>
              </a:rPr>
              <a:t>Shared weights</a:t>
            </a:r>
          </a:p>
        </p:txBody>
      </p:sp>
      <p:grpSp>
        <p:nvGrpSpPr>
          <p:cNvPr id="1229" name="Editable vector · Original neural-network icon"/>
          <p:cNvGrpSpPr/>
          <p:nvPr/>
        </p:nvGrpSpPr>
        <p:grpSpPr>
          <a:xfrm>
            <a:off x="4733925" y="1704975"/>
            <a:ext cx="714375" cy="695325"/>
            <a:chOff x="0" y="0"/>
            <a:chExt cx="714375" cy="695325"/>
          </a:xfrm>
        </p:grpSpPr>
        <p:sp>
          <p:nvSpPr>
            <p:cNvPr id="1230" name="Original neural-network icon · vector path 1"/>
            <p:cNvSpPr/>
            <p:nvPr/>
          </p:nvSpPr>
          <p:spPr>
            <a:xfrm>
              <a:off x="0" y="0"/>
              <a:ext cx="714375" cy="695325"/>
            </a:xfrm>
            <a:custGeom>
              <a:avLst/>
              <a:gdLst/>
              <a:ahLst/>
              <a:cxnLst/>
              <a:rect l="0" t="0" r="r" b="b"/>
              <a:pathLst>
                <a:path w="369300" h="363500" stroke="0" extrusionOk="0">
                  <a:moveTo>
                    <a:pt x="209080" y="333340"/>
                  </a:moveTo>
                  <a:cubicBezTo>
                    <a:pt x="203300" y="366910"/>
                    <a:pt x="154170" y="356970"/>
                    <a:pt x="160110" y="325250"/>
                  </a:cubicBezTo>
                  <a:cubicBezTo>
                    <a:pt x="162420" y="312910"/>
                    <a:pt x="173420" y="302820"/>
                    <a:pt x="188360" y="304910"/>
                  </a:cubicBezTo>
                  <a:cubicBezTo>
                    <a:pt x="200470" y="306600"/>
                    <a:pt x="211600" y="318760"/>
                    <a:pt x="209080" y="333340"/>
                  </a:cubicBezTo>
                  <a:close/>
                  <a:moveTo>
                    <a:pt x="217120" y="318010"/>
                  </a:moveTo>
                  <a:cubicBezTo>
                    <a:pt x="215950" y="316450"/>
                    <a:pt x="214940" y="313620"/>
                    <a:pt x="214030" y="311970"/>
                  </a:cubicBezTo>
                  <a:cubicBezTo>
                    <a:pt x="212880" y="309900"/>
                    <a:pt x="211740" y="308600"/>
                    <a:pt x="210710" y="306840"/>
                  </a:cubicBezTo>
                  <a:cubicBezTo>
                    <a:pt x="217960" y="298650"/>
                    <a:pt x="225670" y="291620"/>
                    <a:pt x="233190" y="283850"/>
                  </a:cubicBezTo>
                  <a:cubicBezTo>
                    <a:pt x="240820" y="275950"/>
                    <a:pt x="248210" y="268310"/>
                    <a:pt x="255800" y="260550"/>
                  </a:cubicBezTo>
                  <a:lnTo>
                    <a:pt x="301140" y="276690"/>
                  </a:lnTo>
                  <a:lnTo>
                    <a:pt x="301460" y="287780"/>
                  </a:lnTo>
                  <a:lnTo>
                    <a:pt x="217120" y="318010"/>
                  </a:lnTo>
                  <a:close/>
                  <a:moveTo>
                    <a:pt x="67460" y="287940"/>
                  </a:moveTo>
                  <a:lnTo>
                    <a:pt x="68130" y="276660"/>
                  </a:lnTo>
                  <a:cubicBezTo>
                    <a:pt x="69910" y="275430"/>
                    <a:pt x="110330" y="260920"/>
                    <a:pt x="113260" y="260490"/>
                  </a:cubicBezTo>
                  <a:lnTo>
                    <a:pt x="136110" y="283740"/>
                  </a:lnTo>
                  <a:cubicBezTo>
                    <a:pt x="139100" y="286700"/>
                    <a:pt x="157610" y="306550"/>
                    <a:pt x="158910" y="306840"/>
                  </a:cubicBezTo>
                  <a:cubicBezTo>
                    <a:pt x="157150" y="308680"/>
                    <a:pt x="153580" y="314270"/>
                    <a:pt x="152680" y="318000"/>
                  </a:cubicBezTo>
                  <a:lnTo>
                    <a:pt x="67460" y="287940"/>
                  </a:lnTo>
                  <a:close/>
                  <a:moveTo>
                    <a:pt x="9450" y="284440"/>
                  </a:moveTo>
                  <a:cubicBezTo>
                    <a:pt x="7470" y="269730"/>
                    <a:pt x="17870" y="257950"/>
                    <a:pt x="30260" y="256030"/>
                  </a:cubicBezTo>
                  <a:cubicBezTo>
                    <a:pt x="61880" y="251120"/>
                    <a:pt x="70830" y="299360"/>
                    <a:pt x="37770" y="305220"/>
                  </a:cubicBezTo>
                  <a:cubicBezTo>
                    <a:pt x="23270" y="307790"/>
                    <a:pt x="11080" y="296510"/>
                    <a:pt x="9450" y="284440"/>
                  </a:cubicBezTo>
                  <a:close/>
                  <a:moveTo>
                    <a:pt x="359680" y="283880"/>
                  </a:moveTo>
                  <a:cubicBezTo>
                    <a:pt x="358160" y="296330"/>
                    <a:pt x="346220" y="307170"/>
                    <a:pt x="331830" y="305310"/>
                  </a:cubicBezTo>
                  <a:cubicBezTo>
                    <a:pt x="319120" y="303670"/>
                    <a:pt x="308270" y="291770"/>
                    <a:pt x="310540" y="276720"/>
                  </a:cubicBezTo>
                  <a:cubicBezTo>
                    <a:pt x="312390" y="264540"/>
                    <a:pt x="323940" y="254230"/>
                    <a:pt x="338420" y="255980"/>
                  </a:cubicBezTo>
                  <a:cubicBezTo>
                    <a:pt x="351150" y="257520"/>
                    <a:pt x="361470" y="269230"/>
                    <a:pt x="359680" y="283880"/>
                  </a:cubicBezTo>
                  <a:close/>
                  <a:moveTo>
                    <a:pt x="122110" y="257210"/>
                  </a:moveTo>
                  <a:cubicBezTo>
                    <a:pt x="124900" y="255510"/>
                    <a:pt x="150150" y="246210"/>
                    <a:pt x="153720" y="245550"/>
                  </a:cubicBezTo>
                  <a:cubicBezTo>
                    <a:pt x="154800" y="248010"/>
                    <a:pt x="157010" y="251230"/>
                    <a:pt x="158400" y="253130"/>
                  </a:cubicBezTo>
                  <a:cubicBezTo>
                    <a:pt x="167020" y="264900"/>
                    <a:pt x="189180" y="269790"/>
                    <a:pt x="203610" y="259290"/>
                  </a:cubicBezTo>
                  <a:cubicBezTo>
                    <a:pt x="214130" y="251640"/>
                    <a:pt x="210540" y="251540"/>
                    <a:pt x="215440" y="245950"/>
                  </a:cubicBezTo>
                  <a:lnTo>
                    <a:pt x="246810" y="257160"/>
                  </a:lnTo>
                  <a:cubicBezTo>
                    <a:pt x="245860" y="259300"/>
                    <a:pt x="220420" y="284840"/>
                    <a:pt x="215130" y="290250"/>
                  </a:cubicBezTo>
                  <a:lnTo>
                    <a:pt x="204480" y="301270"/>
                  </a:lnTo>
                  <a:cubicBezTo>
                    <a:pt x="199610" y="299820"/>
                    <a:pt x="190600" y="291810"/>
                    <a:pt x="174170" y="297060"/>
                  </a:cubicBezTo>
                  <a:cubicBezTo>
                    <a:pt x="170270" y="298310"/>
                    <a:pt x="168280" y="299940"/>
                    <a:pt x="165420" y="301190"/>
                  </a:cubicBezTo>
                  <a:lnTo>
                    <a:pt x="123280" y="258790"/>
                  </a:lnTo>
                  <a:cubicBezTo>
                    <a:pt x="122480" y="257870"/>
                    <a:pt x="122630" y="258100"/>
                    <a:pt x="122110" y="257210"/>
                  </a:cubicBezTo>
                  <a:close/>
                  <a:moveTo>
                    <a:pt x="262910" y="254060"/>
                  </a:moveTo>
                  <a:lnTo>
                    <a:pt x="285190" y="230500"/>
                  </a:lnTo>
                  <a:cubicBezTo>
                    <a:pt x="287890" y="231770"/>
                    <a:pt x="292000" y="237270"/>
                    <a:pt x="294730" y="240160"/>
                  </a:cubicBezTo>
                  <a:cubicBezTo>
                    <a:pt x="297780" y="243380"/>
                    <a:pt x="308870" y="253170"/>
                    <a:pt x="310620" y="257440"/>
                  </a:cubicBezTo>
                  <a:cubicBezTo>
                    <a:pt x="306500" y="260870"/>
                    <a:pt x="306310" y="263720"/>
                    <a:pt x="303240" y="268390"/>
                  </a:cubicBezTo>
                  <a:lnTo>
                    <a:pt x="262910" y="254060"/>
                  </a:lnTo>
                  <a:close/>
                  <a:moveTo>
                    <a:pt x="66030" y="268260"/>
                  </a:moveTo>
                  <a:lnTo>
                    <a:pt x="58840" y="256650"/>
                  </a:lnTo>
                  <a:lnTo>
                    <a:pt x="77000" y="237120"/>
                  </a:lnTo>
                  <a:cubicBezTo>
                    <a:pt x="78630" y="235190"/>
                    <a:pt x="81520" y="231680"/>
                    <a:pt x="83740" y="230700"/>
                  </a:cubicBezTo>
                  <a:cubicBezTo>
                    <a:pt x="87410" y="232610"/>
                    <a:pt x="102650" y="251330"/>
                    <a:pt x="106210" y="253580"/>
                  </a:cubicBezTo>
                  <a:lnTo>
                    <a:pt x="66030" y="268260"/>
                  </a:lnTo>
                  <a:close/>
                  <a:moveTo>
                    <a:pt x="209060" y="234980"/>
                  </a:moveTo>
                  <a:cubicBezTo>
                    <a:pt x="206790" y="247170"/>
                    <a:pt x="195740" y="258070"/>
                    <a:pt x="180870" y="255700"/>
                  </a:cubicBezTo>
                  <a:cubicBezTo>
                    <a:pt x="168530" y="253740"/>
                    <a:pt x="157260" y="242020"/>
                    <a:pt x="160110" y="226850"/>
                  </a:cubicBezTo>
                  <a:cubicBezTo>
                    <a:pt x="162380" y="214720"/>
                    <a:pt x="173600" y="204360"/>
                    <a:pt x="188370" y="206550"/>
                  </a:cubicBezTo>
                  <a:cubicBezTo>
                    <a:pt x="200370" y="208340"/>
                    <a:pt x="211770" y="220410"/>
                    <a:pt x="209060" y="234980"/>
                  </a:cubicBezTo>
                  <a:close/>
                  <a:moveTo>
                    <a:pt x="214210" y="213150"/>
                  </a:moveTo>
                  <a:cubicBezTo>
                    <a:pt x="218810" y="209570"/>
                    <a:pt x="239490" y="188140"/>
                    <a:pt x="242060" y="186260"/>
                  </a:cubicBezTo>
                  <a:cubicBezTo>
                    <a:pt x="247930" y="191560"/>
                    <a:pt x="276680" y="222100"/>
                    <a:pt x="279570" y="224130"/>
                  </a:cubicBezTo>
                  <a:cubicBezTo>
                    <a:pt x="275290" y="228620"/>
                    <a:pt x="271180" y="232850"/>
                    <a:pt x="266750" y="237390"/>
                  </a:cubicBezTo>
                  <a:cubicBezTo>
                    <a:pt x="262130" y="242130"/>
                    <a:pt x="258170" y="245830"/>
                    <a:pt x="253780" y="250510"/>
                  </a:cubicBezTo>
                  <a:cubicBezTo>
                    <a:pt x="249700" y="249970"/>
                    <a:pt x="225020" y="240060"/>
                    <a:pt x="218180" y="237900"/>
                  </a:cubicBezTo>
                  <a:cubicBezTo>
                    <a:pt x="218610" y="233100"/>
                    <a:pt x="218970" y="229410"/>
                    <a:pt x="218050" y="224600"/>
                  </a:cubicBezTo>
                  <a:cubicBezTo>
                    <a:pt x="217640" y="222420"/>
                    <a:pt x="217300" y="221060"/>
                    <a:pt x="216450" y="218990"/>
                  </a:cubicBezTo>
                  <a:lnTo>
                    <a:pt x="214210" y="213150"/>
                  </a:lnTo>
                  <a:close/>
                  <a:moveTo>
                    <a:pt x="150810" y="237560"/>
                  </a:moveTo>
                  <a:lnTo>
                    <a:pt x="115420" y="250410"/>
                  </a:lnTo>
                  <a:cubicBezTo>
                    <a:pt x="113120" y="248810"/>
                    <a:pt x="93530" y="227950"/>
                    <a:pt x="89900" y="224420"/>
                  </a:cubicBezTo>
                  <a:cubicBezTo>
                    <a:pt x="92180" y="221400"/>
                    <a:pt x="103950" y="210330"/>
                    <a:pt x="108190" y="205540"/>
                  </a:cubicBezTo>
                  <a:cubicBezTo>
                    <a:pt x="111420" y="201890"/>
                    <a:pt x="123850" y="188430"/>
                    <a:pt x="127080" y="186490"/>
                  </a:cubicBezTo>
                  <a:lnTo>
                    <a:pt x="141480" y="200010"/>
                  </a:lnTo>
                  <a:cubicBezTo>
                    <a:pt x="145480" y="204160"/>
                    <a:pt x="151230" y="208190"/>
                    <a:pt x="155160" y="213860"/>
                  </a:cubicBezTo>
                  <a:cubicBezTo>
                    <a:pt x="149960" y="222980"/>
                    <a:pt x="150990" y="226410"/>
                    <a:pt x="150810" y="237560"/>
                  </a:cubicBezTo>
                  <a:close/>
                  <a:moveTo>
                    <a:pt x="9580" y="184410"/>
                  </a:moveTo>
                  <a:cubicBezTo>
                    <a:pt x="6830" y="169300"/>
                    <a:pt x="17440" y="157550"/>
                    <a:pt x="29540" y="155230"/>
                  </a:cubicBezTo>
                  <a:cubicBezTo>
                    <a:pt x="44690" y="152320"/>
                    <a:pt x="56420" y="163440"/>
                    <a:pt x="58530" y="175750"/>
                  </a:cubicBezTo>
                  <a:cubicBezTo>
                    <a:pt x="61100" y="190770"/>
                    <a:pt x="50390" y="202380"/>
                    <a:pt x="38200" y="204450"/>
                  </a:cubicBezTo>
                  <a:cubicBezTo>
                    <a:pt x="23560" y="206940"/>
                    <a:pt x="11720" y="196220"/>
                    <a:pt x="9580" y="184410"/>
                  </a:cubicBezTo>
                  <a:close/>
                  <a:moveTo>
                    <a:pt x="359630" y="183300"/>
                  </a:moveTo>
                  <a:cubicBezTo>
                    <a:pt x="357850" y="195630"/>
                    <a:pt x="346360" y="206570"/>
                    <a:pt x="331950" y="204610"/>
                  </a:cubicBezTo>
                  <a:cubicBezTo>
                    <a:pt x="319380" y="202900"/>
                    <a:pt x="308270" y="191260"/>
                    <a:pt x="310440" y="176130"/>
                  </a:cubicBezTo>
                  <a:cubicBezTo>
                    <a:pt x="313800" y="152650"/>
                    <a:pt x="344020" y="148790"/>
                    <a:pt x="354550" y="164210"/>
                  </a:cubicBezTo>
                  <a:cubicBezTo>
                    <a:pt x="358060" y="169350"/>
                    <a:pt x="360810" y="175150"/>
                    <a:pt x="359630" y="183300"/>
                  </a:cubicBezTo>
                  <a:close/>
                  <a:moveTo>
                    <a:pt x="133190" y="179970"/>
                  </a:moveTo>
                  <a:lnTo>
                    <a:pt x="159110" y="154260"/>
                  </a:lnTo>
                  <a:cubicBezTo>
                    <a:pt x="159870" y="157880"/>
                    <a:pt x="173540" y="165580"/>
                    <a:pt x="183750" y="165670"/>
                  </a:cubicBezTo>
                  <a:cubicBezTo>
                    <a:pt x="197260" y="165800"/>
                    <a:pt x="203300" y="159970"/>
                    <a:pt x="209880" y="154640"/>
                  </a:cubicBezTo>
                  <a:cubicBezTo>
                    <a:pt x="214970" y="160350"/>
                    <a:pt x="223470" y="167070"/>
                    <a:pt x="229350" y="173280"/>
                  </a:cubicBezTo>
                  <a:cubicBezTo>
                    <a:pt x="230700" y="174700"/>
                    <a:pt x="231150" y="175490"/>
                    <a:pt x="232540" y="176750"/>
                  </a:cubicBezTo>
                  <a:cubicBezTo>
                    <a:pt x="233820" y="177930"/>
                    <a:pt x="234980" y="178690"/>
                    <a:pt x="235850" y="179970"/>
                  </a:cubicBezTo>
                  <a:cubicBezTo>
                    <a:pt x="233610" y="182190"/>
                    <a:pt x="231530" y="184270"/>
                    <a:pt x="229280" y="186580"/>
                  </a:cubicBezTo>
                  <a:cubicBezTo>
                    <a:pt x="226300" y="189650"/>
                    <a:pt x="209990" y="204840"/>
                    <a:pt x="208770" y="206750"/>
                  </a:cubicBezTo>
                  <a:cubicBezTo>
                    <a:pt x="207860" y="205510"/>
                    <a:pt x="201470" y="201350"/>
                    <a:pt x="199040" y="200240"/>
                  </a:cubicBezTo>
                  <a:cubicBezTo>
                    <a:pt x="190170" y="196150"/>
                    <a:pt x="179920" y="196120"/>
                    <a:pt x="170980" y="199960"/>
                  </a:cubicBezTo>
                  <a:cubicBezTo>
                    <a:pt x="166290" y="201980"/>
                    <a:pt x="163840" y="204800"/>
                    <a:pt x="160420" y="206600"/>
                  </a:cubicBezTo>
                  <a:cubicBezTo>
                    <a:pt x="156270" y="202160"/>
                    <a:pt x="151270" y="197810"/>
                    <a:pt x="146780" y="193600"/>
                  </a:cubicBezTo>
                  <a:cubicBezTo>
                    <a:pt x="144070" y="191060"/>
                    <a:pt x="134710" y="182420"/>
                    <a:pt x="133190" y="179970"/>
                  </a:cubicBezTo>
                  <a:close/>
                  <a:moveTo>
                    <a:pt x="306110" y="197990"/>
                  </a:moveTo>
                  <a:cubicBezTo>
                    <a:pt x="302290" y="200800"/>
                    <a:pt x="288540" y="216610"/>
                    <a:pt x="285080" y="217850"/>
                  </a:cubicBezTo>
                  <a:cubicBezTo>
                    <a:pt x="275310" y="208660"/>
                    <a:pt x="265540" y="197400"/>
                    <a:pt x="257180" y="189340"/>
                  </a:cubicBezTo>
                  <a:cubicBezTo>
                    <a:pt x="255360" y="187590"/>
                    <a:pt x="249040" y="181310"/>
                    <a:pt x="248090" y="179650"/>
                  </a:cubicBezTo>
                  <a:lnTo>
                    <a:pt x="284560" y="143130"/>
                  </a:lnTo>
                  <a:cubicBezTo>
                    <a:pt x="287790" y="145550"/>
                    <a:pt x="291550" y="149900"/>
                    <a:pt x="294700" y="152940"/>
                  </a:cubicBezTo>
                  <a:cubicBezTo>
                    <a:pt x="297990" y="156120"/>
                    <a:pt x="302250" y="159890"/>
                    <a:pt x="305040" y="163300"/>
                  </a:cubicBezTo>
                  <a:cubicBezTo>
                    <a:pt x="303080" y="169800"/>
                    <a:pt x="300690" y="172690"/>
                    <a:pt x="300950" y="181090"/>
                  </a:cubicBezTo>
                  <a:cubicBezTo>
                    <a:pt x="301220" y="189740"/>
                    <a:pt x="303970" y="191930"/>
                    <a:pt x="306110" y="197990"/>
                  </a:cubicBezTo>
                  <a:close/>
                  <a:moveTo>
                    <a:pt x="64220" y="163300"/>
                  </a:moveTo>
                  <a:lnTo>
                    <a:pt x="85060" y="143200"/>
                  </a:lnTo>
                  <a:lnTo>
                    <a:pt x="111850" y="170760"/>
                  </a:lnTo>
                  <a:cubicBezTo>
                    <a:pt x="114350" y="173580"/>
                    <a:pt x="117990" y="177660"/>
                    <a:pt x="120780" y="179970"/>
                  </a:cubicBezTo>
                  <a:cubicBezTo>
                    <a:pt x="117990" y="184390"/>
                    <a:pt x="106930" y="194640"/>
                    <a:pt x="102340" y="199130"/>
                  </a:cubicBezTo>
                  <a:cubicBezTo>
                    <a:pt x="99110" y="202290"/>
                    <a:pt x="96210" y="205420"/>
                    <a:pt x="93020" y="208700"/>
                  </a:cubicBezTo>
                  <a:cubicBezTo>
                    <a:pt x="90520" y="211260"/>
                    <a:pt x="86270" y="216360"/>
                    <a:pt x="83680" y="218060"/>
                  </a:cubicBezTo>
                  <a:lnTo>
                    <a:pt x="63190" y="197750"/>
                  </a:lnTo>
                  <a:cubicBezTo>
                    <a:pt x="65490" y="191760"/>
                    <a:pt x="67860" y="189340"/>
                    <a:pt x="68010" y="181080"/>
                  </a:cubicBezTo>
                  <a:cubicBezTo>
                    <a:pt x="68140" y="174350"/>
                    <a:pt x="66380" y="168640"/>
                    <a:pt x="64220" y="163300"/>
                  </a:cubicBezTo>
                  <a:close/>
                  <a:moveTo>
                    <a:pt x="241980" y="173600"/>
                  </a:moveTo>
                  <a:cubicBezTo>
                    <a:pt x="235120" y="167670"/>
                    <a:pt x="229080" y="161480"/>
                    <a:pt x="222430" y="155180"/>
                  </a:cubicBezTo>
                  <a:cubicBezTo>
                    <a:pt x="220650" y="153490"/>
                    <a:pt x="219430" y="152200"/>
                    <a:pt x="217710" y="150470"/>
                  </a:cubicBezTo>
                  <a:cubicBezTo>
                    <a:pt x="211940" y="144670"/>
                    <a:pt x="217430" y="150550"/>
                    <a:pt x="218420" y="127930"/>
                  </a:cubicBezTo>
                  <a:cubicBezTo>
                    <a:pt x="224460" y="125550"/>
                    <a:pt x="230750" y="123080"/>
                    <a:pt x="236580" y="120540"/>
                  </a:cubicBezTo>
                  <a:cubicBezTo>
                    <a:pt x="240560" y="118810"/>
                    <a:pt x="251710" y="113710"/>
                    <a:pt x="255550" y="113200"/>
                  </a:cubicBezTo>
                  <a:cubicBezTo>
                    <a:pt x="257790" y="116330"/>
                    <a:pt x="263960" y="121870"/>
                    <a:pt x="267100" y="124970"/>
                  </a:cubicBezTo>
                  <a:cubicBezTo>
                    <a:pt x="270830" y="128680"/>
                    <a:pt x="275220" y="132910"/>
                    <a:pt x="278550" y="136710"/>
                  </a:cubicBezTo>
                  <a:lnTo>
                    <a:pt x="251480" y="164330"/>
                  </a:lnTo>
                  <a:cubicBezTo>
                    <a:pt x="248580" y="167200"/>
                    <a:pt x="245010" y="171380"/>
                    <a:pt x="241980" y="173600"/>
                  </a:cubicBezTo>
                  <a:close/>
                  <a:moveTo>
                    <a:pt x="90600" y="136710"/>
                  </a:moveTo>
                  <a:lnTo>
                    <a:pt x="114300" y="113150"/>
                  </a:lnTo>
                  <a:cubicBezTo>
                    <a:pt x="118040" y="114220"/>
                    <a:pt x="148940" y="126920"/>
                    <a:pt x="150610" y="128290"/>
                  </a:cubicBezTo>
                  <a:cubicBezTo>
                    <a:pt x="150580" y="138530"/>
                    <a:pt x="151440" y="138620"/>
                    <a:pt x="154030" y="146990"/>
                  </a:cubicBezTo>
                  <a:cubicBezTo>
                    <a:pt x="149590" y="151440"/>
                    <a:pt x="145410" y="155860"/>
                    <a:pt x="140880" y="160420"/>
                  </a:cubicBezTo>
                  <a:cubicBezTo>
                    <a:pt x="136300" y="165020"/>
                    <a:pt x="131550" y="169150"/>
                    <a:pt x="127080" y="173640"/>
                  </a:cubicBezTo>
                  <a:cubicBezTo>
                    <a:pt x="126070" y="172860"/>
                    <a:pt x="92560" y="139620"/>
                    <a:pt x="90600" y="136710"/>
                  </a:cubicBezTo>
                  <a:close/>
                  <a:moveTo>
                    <a:pt x="160040" y="136070"/>
                  </a:moveTo>
                  <a:cubicBezTo>
                    <a:pt x="157740" y="121000"/>
                    <a:pt x="167800" y="109770"/>
                    <a:pt x="180090" y="107440"/>
                  </a:cubicBezTo>
                  <a:cubicBezTo>
                    <a:pt x="195080" y="104600"/>
                    <a:pt x="206760" y="115570"/>
                    <a:pt x="208700" y="127730"/>
                  </a:cubicBezTo>
                  <a:cubicBezTo>
                    <a:pt x="211100" y="142740"/>
                    <a:pt x="200820" y="154130"/>
                    <a:pt x="188430" y="156240"/>
                  </a:cubicBezTo>
                  <a:cubicBezTo>
                    <a:pt x="173740" y="158740"/>
                    <a:pt x="161850" y="147920"/>
                    <a:pt x="160040" y="136070"/>
                  </a:cubicBezTo>
                  <a:close/>
                  <a:moveTo>
                    <a:pt x="285000" y="130510"/>
                  </a:moveTo>
                  <a:cubicBezTo>
                    <a:pt x="283010" y="129660"/>
                    <a:pt x="265020" y="111520"/>
                    <a:pt x="263760" y="109310"/>
                  </a:cubicBezTo>
                  <a:cubicBezTo>
                    <a:pt x="273000" y="106620"/>
                    <a:pt x="297000" y="94240"/>
                    <a:pt x="305120" y="92480"/>
                  </a:cubicBezTo>
                  <a:cubicBezTo>
                    <a:pt x="306090" y="95920"/>
                    <a:pt x="309570" y="100250"/>
                    <a:pt x="311270" y="102170"/>
                  </a:cubicBezTo>
                  <a:lnTo>
                    <a:pt x="298320" y="116140"/>
                  </a:lnTo>
                  <a:cubicBezTo>
                    <a:pt x="294180" y="120840"/>
                    <a:pt x="288660" y="125770"/>
                    <a:pt x="285000" y="130510"/>
                  </a:cubicBezTo>
                  <a:close/>
                  <a:moveTo>
                    <a:pt x="64840" y="92730"/>
                  </a:moveTo>
                  <a:cubicBezTo>
                    <a:pt x="67010" y="93250"/>
                    <a:pt x="103420" y="107780"/>
                    <a:pt x="105410" y="110020"/>
                  </a:cubicBezTo>
                  <a:cubicBezTo>
                    <a:pt x="102550" y="112280"/>
                    <a:pt x="98050" y="117390"/>
                    <a:pt x="95230" y="120330"/>
                  </a:cubicBezTo>
                  <a:cubicBezTo>
                    <a:pt x="92860" y="122800"/>
                    <a:pt x="86780" y="129530"/>
                    <a:pt x="84030" y="130620"/>
                  </a:cubicBezTo>
                  <a:cubicBezTo>
                    <a:pt x="80280" y="125950"/>
                    <a:pt x="61060" y="105540"/>
                    <a:pt x="57930" y="103050"/>
                  </a:cubicBezTo>
                  <a:cubicBezTo>
                    <a:pt x="58550" y="100930"/>
                    <a:pt x="59990" y="99430"/>
                    <a:pt x="61430" y="97640"/>
                  </a:cubicBezTo>
                  <a:cubicBezTo>
                    <a:pt x="62770" y="95990"/>
                    <a:pt x="63690" y="93750"/>
                    <a:pt x="64840" y="92730"/>
                  </a:cubicBezTo>
                  <a:close/>
                  <a:moveTo>
                    <a:pt x="152640" y="119530"/>
                  </a:moveTo>
                  <a:cubicBezTo>
                    <a:pt x="147170" y="118070"/>
                    <a:pt x="131990" y="111090"/>
                    <a:pt x="124890" y="108250"/>
                  </a:cubicBezTo>
                  <a:cubicBezTo>
                    <a:pt x="124350" y="108030"/>
                    <a:pt x="123420" y="107730"/>
                    <a:pt x="122910" y="107480"/>
                  </a:cubicBezTo>
                  <a:lnTo>
                    <a:pt x="120870" y="105830"/>
                  </a:lnTo>
                  <a:lnTo>
                    <a:pt x="153640" y="73160"/>
                  </a:lnTo>
                  <a:cubicBezTo>
                    <a:pt x="157110" y="69700"/>
                    <a:pt x="161860" y="65670"/>
                    <a:pt x="164770" y="62130"/>
                  </a:cubicBezTo>
                  <a:cubicBezTo>
                    <a:pt x="170380" y="64220"/>
                    <a:pt x="173750" y="67920"/>
                    <a:pt x="184320" y="68040"/>
                  </a:cubicBezTo>
                  <a:cubicBezTo>
                    <a:pt x="190790" y="68120"/>
                    <a:pt x="199610" y="65700"/>
                    <a:pt x="203430" y="62090"/>
                  </a:cubicBezTo>
                  <a:cubicBezTo>
                    <a:pt x="206100" y="63170"/>
                    <a:pt x="207720" y="65340"/>
                    <a:pt x="209720" y="67320"/>
                  </a:cubicBezTo>
                  <a:cubicBezTo>
                    <a:pt x="211720" y="69300"/>
                    <a:pt x="213400" y="70800"/>
                    <a:pt x="215350" y="72800"/>
                  </a:cubicBezTo>
                  <a:cubicBezTo>
                    <a:pt x="220330" y="77890"/>
                    <a:pt x="246670" y="103270"/>
                    <a:pt x="248350" y="106740"/>
                  </a:cubicBezTo>
                  <a:cubicBezTo>
                    <a:pt x="239500" y="109590"/>
                    <a:pt x="222340" y="118290"/>
                    <a:pt x="215780" y="119700"/>
                  </a:cubicBezTo>
                  <a:cubicBezTo>
                    <a:pt x="210680" y="101450"/>
                    <a:pt x="183580" y="90110"/>
                    <a:pt x="164410" y="104490"/>
                  </a:cubicBezTo>
                  <a:cubicBezTo>
                    <a:pt x="161530" y="106640"/>
                    <a:pt x="159790" y="108060"/>
                    <a:pt x="157700" y="111110"/>
                  </a:cubicBezTo>
                  <a:cubicBezTo>
                    <a:pt x="156240" y="113250"/>
                    <a:pt x="154050" y="117730"/>
                    <a:pt x="152640" y="119530"/>
                  </a:cubicBezTo>
                  <a:close/>
                  <a:moveTo>
                    <a:pt x="311370" y="83280"/>
                  </a:moveTo>
                  <a:cubicBezTo>
                    <a:pt x="308490" y="68230"/>
                    <a:pt x="319040" y="56560"/>
                    <a:pt x="330530" y="53890"/>
                  </a:cubicBezTo>
                  <a:cubicBezTo>
                    <a:pt x="344960" y="50530"/>
                    <a:pt x="357540" y="61310"/>
                    <a:pt x="359760" y="72920"/>
                  </a:cubicBezTo>
                  <a:cubicBezTo>
                    <a:pt x="362620" y="87890"/>
                    <a:pt x="352380" y="99800"/>
                    <a:pt x="340660" y="102300"/>
                  </a:cubicBezTo>
                  <a:cubicBezTo>
                    <a:pt x="325500" y="105540"/>
                    <a:pt x="313630" y="95110"/>
                    <a:pt x="311370" y="83280"/>
                  </a:cubicBezTo>
                  <a:close/>
                  <a:moveTo>
                    <a:pt x="58470" y="81050"/>
                  </a:moveTo>
                  <a:cubicBezTo>
                    <a:pt x="56620" y="93790"/>
                    <a:pt x="45580" y="104670"/>
                    <a:pt x="30510" y="102570"/>
                  </a:cubicBezTo>
                  <a:cubicBezTo>
                    <a:pt x="18090" y="100830"/>
                    <a:pt x="7410" y="89330"/>
                    <a:pt x="9400" y="74460"/>
                  </a:cubicBezTo>
                  <a:cubicBezTo>
                    <a:pt x="11090" y="61860"/>
                    <a:pt x="22820" y="51350"/>
                    <a:pt x="37540" y="53350"/>
                  </a:cubicBezTo>
                  <a:cubicBezTo>
                    <a:pt x="49420" y="54980"/>
                    <a:pt x="60520" y="67020"/>
                    <a:pt x="58470" y="81050"/>
                  </a:cubicBezTo>
                  <a:close/>
                  <a:moveTo>
                    <a:pt x="210550" y="56050"/>
                  </a:moveTo>
                  <a:cubicBezTo>
                    <a:pt x="212820" y="52490"/>
                    <a:pt x="214850" y="50070"/>
                    <a:pt x="216610" y="45030"/>
                  </a:cubicBezTo>
                  <a:cubicBezTo>
                    <a:pt x="223290" y="46620"/>
                    <a:pt x="300710" y="72880"/>
                    <a:pt x="301960" y="73830"/>
                  </a:cubicBezTo>
                  <a:lnTo>
                    <a:pt x="302050" y="84450"/>
                  </a:lnTo>
                  <a:lnTo>
                    <a:pt x="257190" y="103000"/>
                  </a:lnTo>
                  <a:cubicBezTo>
                    <a:pt x="247140" y="93800"/>
                    <a:pt x="232820" y="78540"/>
                    <a:pt x="221970" y="67850"/>
                  </a:cubicBezTo>
                  <a:cubicBezTo>
                    <a:pt x="218510" y="64430"/>
                    <a:pt x="213280" y="59660"/>
                    <a:pt x="210550" y="56050"/>
                  </a:cubicBezTo>
                  <a:close/>
                  <a:moveTo>
                    <a:pt x="112080" y="102900"/>
                  </a:moveTo>
                  <a:lnTo>
                    <a:pt x="67510" y="84450"/>
                  </a:lnTo>
                  <a:lnTo>
                    <a:pt x="67890" y="73340"/>
                  </a:lnTo>
                  <a:lnTo>
                    <a:pt x="152030" y="44780"/>
                  </a:lnTo>
                  <a:lnTo>
                    <a:pt x="158770" y="56630"/>
                  </a:lnTo>
                  <a:lnTo>
                    <a:pt x="135650" y="79620"/>
                  </a:lnTo>
                  <a:cubicBezTo>
                    <a:pt x="131550" y="83730"/>
                    <a:pt x="115250" y="100750"/>
                    <a:pt x="112080" y="102900"/>
                  </a:cubicBezTo>
                  <a:close/>
                  <a:moveTo>
                    <a:pt x="160150" y="37710"/>
                  </a:moveTo>
                  <a:cubicBezTo>
                    <a:pt x="158280" y="22650"/>
                    <a:pt x="168040" y="11500"/>
                    <a:pt x="181160" y="9560"/>
                  </a:cubicBezTo>
                  <a:cubicBezTo>
                    <a:pt x="195750" y="7400"/>
                    <a:pt x="207620" y="18420"/>
                    <a:pt x="209110" y="30630"/>
                  </a:cubicBezTo>
                  <a:cubicBezTo>
                    <a:pt x="210930" y="45600"/>
                    <a:pt x="200710" y="56800"/>
                    <a:pt x="188130" y="58720"/>
                  </a:cubicBezTo>
                  <a:cubicBezTo>
                    <a:pt x="173730" y="60920"/>
                    <a:pt x="161650" y="49780"/>
                    <a:pt x="160150" y="37710"/>
                  </a:cubicBezTo>
                  <a:close/>
                  <a:moveTo>
                    <a:pt x="150720" y="36830"/>
                  </a:moveTo>
                  <a:cubicBezTo>
                    <a:pt x="140300" y="38730"/>
                    <a:pt x="73210" y="63890"/>
                    <a:pt x="65400" y="65160"/>
                  </a:cubicBezTo>
                  <a:cubicBezTo>
                    <a:pt x="63450" y="62620"/>
                    <a:pt x="62270" y="59310"/>
                    <a:pt x="60530" y="57020"/>
                  </a:cubicBezTo>
                  <a:cubicBezTo>
                    <a:pt x="58530" y="54380"/>
                    <a:pt x="56650" y="52540"/>
                    <a:pt x="54110" y="50660"/>
                  </a:cubicBezTo>
                  <a:cubicBezTo>
                    <a:pt x="36850" y="37910"/>
                    <a:pt x="11770" y="43640"/>
                    <a:pt x="2960" y="64190"/>
                  </a:cubicBezTo>
                  <a:cubicBezTo>
                    <a:pt x="-6340" y="85910"/>
                    <a:pt x="7530" y="107820"/>
                    <a:pt x="28840" y="111510"/>
                  </a:cubicBezTo>
                  <a:cubicBezTo>
                    <a:pt x="38960" y="113260"/>
                    <a:pt x="43480" y="109990"/>
                    <a:pt x="51150" y="107720"/>
                  </a:cubicBezTo>
                  <a:cubicBezTo>
                    <a:pt x="59280" y="115960"/>
                    <a:pt x="68060" y="126140"/>
                    <a:pt x="75370" y="133310"/>
                  </a:cubicBezTo>
                  <a:cubicBezTo>
                    <a:pt x="76670" y="134580"/>
                    <a:pt x="77210" y="135810"/>
                    <a:pt x="78420" y="136920"/>
                  </a:cubicBezTo>
                  <a:lnTo>
                    <a:pt x="58930" y="156360"/>
                  </a:lnTo>
                  <a:cubicBezTo>
                    <a:pt x="37290" y="134290"/>
                    <a:pt x="900" y="149110"/>
                    <a:pt x="30" y="178280"/>
                  </a:cubicBezTo>
                  <a:cubicBezTo>
                    <a:pt x="-800" y="205980"/>
                    <a:pt x="27660" y="221450"/>
                    <a:pt x="49870" y="210000"/>
                  </a:cubicBezTo>
                  <a:cubicBezTo>
                    <a:pt x="54110" y="207810"/>
                    <a:pt x="55700" y="205740"/>
                    <a:pt x="57620" y="204780"/>
                  </a:cubicBezTo>
                  <a:cubicBezTo>
                    <a:pt x="59450" y="205750"/>
                    <a:pt x="66270" y="212680"/>
                    <a:pt x="67810" y="214230"/>
                  </a:cubicBezTo>
                  <a:lnTo>
                    <a:pt x="77570" y="224420"/>
                  </a:lnTo>
                  <a:lnTo>
                    <a:pt x="58500" y="244760"/>
                  </a:lnTo>
                  <a:cubicBezTo>
                    <a:pt x="56420" y="247200"/>
                    <a:pt x="53900" y="249110"/>
                    <a:pt x="51980" y="251530"/>
                  </a:cubicBezTo>
                  <a:cubicBezTo>
                    <a:pt x="46260" y="249770"/>
                    <a:pt x="43190" y="245910"/>
                    <a:pt x="31500" y="246700"/>
                  </a:cubicBezTo>
                  <a:cubicBezTo>
                    <a:pt x="10700" y="248100"/>
                    <a:pt x="-5500" y="269870"/>
                    <a:pt x="1700" y="291460"/>
                  </a:cubicBezTo>
                  <a:cubicBezTo>
                    <a:pt x="8010" y="310390"/>
                    <a:pt x="30190" y="321420"/>
                    <a:pt x="51770" y="309710"/>
                  </a:cubicBezTo>
                  <a:cubicBezTo>
                    <a:pt x="55850" y="307500"/>
                    <a:pt x="62490" y="300630"/>
                    <a:pt x="64210" y="295980"/>
                  </a:cubicBezTo>
                  <a:cubicBezTo>
                    <a:pt x="68710" y="296690"/>
                    <a:pt x="148510" y="325270"/>
                    <a:pt x="150550" y="326670"/>
                  </a:cubicBezTo>
                  <a:cubicBezTo>
                    <a:pt x="150600" y="338330"/>
                    <a:pt x="153550" y="346260"/>
                    <a:pt x="159510" y="352570"/>
                  </a:cubicBezTo>
                  <a:cubicBezTo>
                    <a:pt x="174130" y="368050"/>
                    <a:pt x="197600" y="366290"/>
                    <a:pt x="209440" y="352890"/>
                  </a:cubicBezTo>
                  <a:cubicBezTo>
                    <a:pt x="216000" y="345470"/>
                    <a:pt x="218400" y="339580"/>
                    <a:pt x="218550" y="326670"/>
                  </a:cubicBezTo>
                  <a:cubicBezTo>
                    <a:pt x="220440" y="325240"/>
                    <a:pt x="279230" y="304680"/>
                    <a:pt x="282820" y="303470"/>
                  </a:cubicBezTo>
                  <a:cubicBezTo>
                    <a:pt x="289090" y="301360"/>
                    <a:pt x="298890" y="297030"/>
                    <a:pt x="304990" y="295960"/>
                  </a:cubicBezTo>
                  <a:cubicBezTo>
                    <a:pt x="306500" y="300620"/>
                    <a:pt x="313230" y="307200"/>
                    <a:pt x="317050" y="309530"/>
                  </a:cubicBezTo>
                  <a:cubicBezTo>
                    <a:pt x="344410" y="326210"/>
                    <a:pt x="377490" y="300040"/>
                    <a:pt x="367370" y="269770"/>
                  </a:cubicBezTo>
                  <a:cubicBezTo>
                    <a:pt x="361690" y="252780"/>
                    <a:pt x="344330" y="243370"/>
                    <a:pt x="327000" y="247570"/>
                  </a:cubicBezTo>
                  <a:cubicBezTo>
                    <a:pt x="323100" y="248510"/>
                    <a:pt x="320210" y="250730"/>
                    <a:pt x="316810" y="251360"/>
                  </a:cubicBezTo>
                  <a:cubicBezTo>
                    <a:pt x="315070" y="248860"/>
                    <a:pt x="312980" y="246930"/>
                    <a:pt x="310870" y="244580"/>
                  </a:cubicBezTo>
                  <a:cubicBezTo>
                    <a:pt x="307860" y="241230"/>
                    <a:pt x="292640" y="226120"/>
                    <a:pt x="291580" y="223680"/>
                  </a:cubicBezTo>
                  <a:cubicBezTo>
                    <a:pt x="294550" y="220520"/>
                    <a:pt x="298060" y="217320"/>
                    <a:pt x="301320" y="214170"/>
                  </a:cubicBezTo>
                  <a:cubicBezTo>
                    <a:pt x="303370" y="212200"/>
                    <a:pt x="309890" y="205200"/>
                    <a:pt x="311710" y="204400"/>
                  </a:cubicBezTo>
                  <a:cubicBezTo>
                    <a:pt x="332600" y="225590"/>
                    <a:pt x="369990" y="209170"/>
                    <a:pt x="369100" y="178850"/>
                  </a:cubicBezTo>
                  <a:cubicBezTo>
                    <a:pt x="368310" y="152180"/>
                    <a:pt x="340480" y="137420"/>
                    <a:pt x="317240" y="150640"/>
                  </a:cubicBezTo>
                  <a:cubicBezTo>
                    <a:pt x="314320" y="152300"/>
                    <a:pt x="312510" y="154860"/>
                    <a:pt x="309760" y="156210"/>
                  </a:cubicBezTo>
                  <a:cubicBezTo>
                    <a:pt x="307200" y="152520"/>
                    <a:pt x="293060" y="140560"/>
                    <a:pt x="290870" y="136620"/>
                  </a:cubicBezTo>
                  <a:cubicBezTo>
                    <a:pt x="291940" y="134210"/>
                    <a:pt x="301270" y="125630"/>
                    <a:pt x="304550" y="121830"/>
                  </a:cubicBezTo>
                  <a:lnTo>
                    <a:pt x="318480" y="107530"/>
                  </a:lnTo>
                  <a:cubicBezTo>
                    <a:pt x="346360" y="123390"/>
                    <a:pt x="378580" y="95250"/>
                    <a:pt x="366590" y="64950"/>
                  </a:cubicBezTo>
                  <a:cubicBezTo>
                    <a:pt x="357020" y="40780"/>
                    <a:pt x="327630" y="39800"/>
                    <a:pt x="315620" y="50660"/>
                  </a:cubicBezTo>
                  <a:cubicBezTo>
                    <a:pt x="311340" y="54530"/>
                    <a:pt x="306960" y="58350"/>
                    <a:pt x="304430" y="65510"/>
                  </a:cubicBezTo>
                  <a:lnTo>
                    <a:pt x="218530" y="36820"/>
                  </a:lnTo>
                  <a:cubicBezTo>
                    <a:pt x="217810" y="24060"/>
                    <a:pt x="216050" y="18310"/>
                    <a:pt x="209520" y="10850"/>
                  </a:cubicBezTo>
                  <a:cubicBezTo>
                    <a:pt x="191210" y="-10070"/>
                    <a:pt x="149530" y="-230"/>
                    <a:pt x="150720" y="3683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231" name="Formula · \boldsymbol{\theta}" descr="Editable LaTeX source: $\boldsymbol{\theta}$; native vector glyphs."/>
          <p:cNvGrpSpPr/>
          <p:nvPr/>
        </p:nvGrpSpPr>
        <p:grpSpPr>
          <a:xfrm>
            <a:off x="5695950" y="1809750"/>
            <a:ext cx="139141" cy="203931"/>
            <a:chOff x="0" y="0"/>
            <a:chExt cx="139141" cy="203931"/>
          </a:xfrm>
        </p:grpSpPr>
        <p:sp>
          <p:nvSpPr>
            <p:cNvPr id="1232" name="Paper math native glyph 1"/>
            <p:cNvSpPr/>
            <p:nvPr/>
          </p:nvSpPr>
          <p:spPr>
            <a:xfrm>
              <a:off x="0" y="0"/>
              <a:ext cx="139141" cy="203931"/>
            </a:xfrm>
            <a:custGeom>
              <a:avLst/>
              <a:gdLst/>
              <a:ahLst/>
              <a:cxnLst/>
              <a:rect l="0" t="0" r="r" b="b"/>
              <a:pathLst>
                <a:path w="10956" h="16058" stroke="0" extrusionOk="0">
                  <a:moveTo>
                    <a:pt x="7806" y="8573"/>
                  </a:moveTo>
                  <a:cubicBezTo>
                    <a:pt x="7018" y="11840"/>
                    <a:pt x="5327" y="15201"/>
                    <a:pt x="3868" y="15201"/>
                  </a:cubicBezTo>
                  <a:cubicBezTo>
                    <a:pt x="2942" y="15201"/>
                    <a:pt x="2502" y="13810"/>
                    <a:pt x="2502" y="11956"/>
                  </a:cubicBezTo>
                  <a:cubicBezTo>
                    <a:pt x="2502" y="10937"/>
                    <a:pt x="2641" y="9755"/>
                    <a:pt x="2895" y="8573"/>
                  </a:cubicBezTo>
                  <a:lnTo>
                    <a:pt x="7806" y="8573"/>
                  </a:lnTo>
                  <a:moveTo>
                    <a:pt x="7065" y="857"/>
                  </a:moveTo>
                  <a:cubicBezTo>
                    <a:pt x="7991" y="857"/>
                    <a:pt x="8454" y="2201"/>
                    <a:pt x="8454" y="4101"/>
                  </a:cubicBezTo>
                  <a:cubicBezTo>
                    <a:pt x="8454" y="5121"/>
                    <a:pt x="8315" y="6279"/>
                    <a:pt x="8061" y="7507"/>
                  </a:cubicBezTo>
                  <a:lnTo>
                    <a:pt x="3150" y="7507"/>
                  </a:lnTo>
                  <a:cubicBezTo>
                    <a:pt x="3845" y="4611"/>
                    <a:pt x="5513" y="857"/>
                    <a:pt x="7065" y="857"/>
                  </a:cubicBezTo>
                  <a:moveTo>
                    <a:pt x="370" y="8040"/>
                  </a:moveTo>
                  <a:cubicBezTo>
                    <a:pt x="116" y="9198"/>
                    <a:pt x="0" y="10241"/>
                    <a:pt x="0" y="11122"/>
                  </a:cubicBezTo>
                  <a:cubicBezTo>
                    <a:pt x="0" y="14621"/>
                    <a:pt x="1807" y="16058"/>
                    <a:pt x="3567" y="16058"/>
                  </a:cubicBezTo>
                  <a:cubicBezTo>
                    <a:pt x="5605" y="16058"/>
                    <a:pt x="9173" y="14019"/>
                    <a:pt x="10562" y="8040"/>
                  </a:cubicBezTo>
                  <a:cubicBezTo>
                    <a:pt x="10840" y="6812"/>
                    <a:pt x="10956" y="5769"/>
                    <a:pt x="10956" y="4889"/>
                  </a:cubicBezTo>
                  <a:cubicBezTo>
                    <a:pt x="10956" y="1297"/>
                    <a:pt x="9034" y="0"/>
                    <a:pt x="7412" y="0"/>
                  </a:cubicBezTo>
                  <a:cubicBezTo>
                    <a:pt x="4887" y="0"/>
                    <a:pt x="1621" y="2688"/>
                    <a:pt x="370" y="804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233" name="Editable snowflake · shared weights remain frozen"/>
          <p:cNvGrpSpPr/>
          <p:nvPr/>
        </p:nvGrpSpPr>
        <p:grpSpPr>
          <a:xfrm>
            <a:off x="6404026" y="1375220"/>
            <a:ext cx="241198" cy="278510"/>
            <a:chOff x="6404026" y="1946720"/>
            <a:chExt cx="241198" cy="278510"/>
          </a:xfrm>
        </p:grpSpPr>
        <p:cxnSp>
          <p:nvCxnSpPr>
            <p:cNvPr id="1234" name="Snowflake vector stroke"/>
            <p:cNvCxnSpPr/>
            <p:nvPr/>
          </p:nvCxnSpPr>
          <p:spPr>
            <a:xfrm flipV="1">
              <a:off x="6524625" y="1946720"/>
              <a:ext cx="0" cy="13925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Snowflake vector stroke"/>
            <p:cNvCxnSpPr/>
            <p:nvPr/>
          </p:nvCxnSpPr>
          <p:spPr>
            <a:xfrm>
              <a:off x="6524625" y="2019132"/>
              <a:ext cx="27738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6" name="Snowflake vector stroke"/>
            <p:cNvCxnSpPr/>
            <p:nvPr/>
          </p:nvCxnSpPr>
          <p:spPr>
            <a:xfrm flipH="1">
              <a:off x="6496887" y="2019132"/>
              <a:ext cx="27738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nowflake vector stroke"/>
            <p:cNvCxnSpPr/>
            <p:nvPr/>
          </p:nvCxnSpPr>
          <p:spPr>
            <a:xfrm>
              <a:off x="6524625" y="1981533"/>
              <a:ext cx="27738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nowflake vector stroke"/>
            <p:cNvCxnSpPr/>
            <p:nvPr/>
          </p:nvCxnSpPr>
          <p:spPr>
            <a:xfrm flipH="1">
              <a:off x="6496887" y="1981533"/>
              <a:ext cx="27738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nowflake vector stroke"/>
            <p:cNvCxnSpPr/>
            <p:nvPr/>
          </p:nvCxnSpPr>
          <p:spPr>
            <a:xfrm flipV="1">
              <a:off x="6524625" y="2016347"/>
              <a:ext cx="120599" cy="69628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nowflake vector stroke"/>
            <p:cNvCxnSpPr/>
            <p:nvPr/>
          </p:nvCxnSpPr>
          <p:spPr>
            <a:xfrm>
              <a:off x="6582512" y="2052554"/>
              <a:ext cx="0" cy="32028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nowflake vector stroke"/>
            <p:cNvCxnSpPr/>
            <p:nvPr/>
          </p:nvCxnSpPr>
          <p:spPr>
            <a:xfrm flipH="1" flipV="1">
              <a:off x="6554775" y="2036539"/>
              <a:ext cx="27737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nowflake vector stroke"/>
            <p:cNvCxnSpPr/>
            <p:nvPr/>
          </p:nvCxnSpPr>
          <p:spPr>
            <a:xfrm>
              <a:off x="6615074" y="2033754"/>
              <a:ext cx="0" cy="32029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nowflake vector stroke"/>
            <p:cNvCxnSpPr/>
            <p:nvPr/>
          </p:nvCxnSpPr>
          <p:spPr>
            <a:xfrm flipH="1" flipV="1">
              <a:off x="6587336" y="2017740"/>
              <a:ext cx="27738" cy="16014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nowflake vector stroke"/>
            <p:cNvCxnSpPr/>
            <p:nvPr/>
          </p:nvCxnSpPr>
          <p:spPr>
            <a:xfrm>
              <a:off x="6524625" y="2085975"/>
              <a:ext cx="120599" cy="69628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nowflake vector stroke"/>
            <p:cNvCxnSpPr/>
            <p:nvPr/>
          </p:nvCxnSpPr>
          <p:spPr>
            <a:xfrm flipH="1">
              <a:off x="6554775" y="2119396"/>
              <a:ext cx="27737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nowflake vector stroke"/>
            <p:cNvCxnSpPr/>
            <p:nvPr/>
          </p:nvCxnSpPr>
          <p:spPr>
            <a:xfrm flipV="1">
              <a:off x="6582512" y="2087368"/>
              <a:ext cx="0" cy="32028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nowflake vector stroke"/>
            <p:cNvCxnSpPr/>
            <p:nvPr/>
          </p:nvCxnSpPr>
          <p:spPr>
            <a:xfrm flipH="1">
              <a:off x="6587336" y="2138196"/>
              <a:ext cx="27738" cy="16014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nowflake vector stroke"/>
            <p:cNvCxnSpPr/>
            <p:nvPr/>
          </p:nvCxnSpPr>
          <p:spPr>
            <a:xfrm flipV="1">
              <a:off x="6615074" y="2106167"/>
              <a:ext cx="0" cy="32029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nowflake vector stroke"/>
            <p:cNvCxnSpPr/>
            <p:nvPr/>
          </p:nvCxnSpPr>
          <p:spPr>
            <a:xfrm>
              <a:off x="6524625" y="2085975"/>
              <a:ext cx="0" cy="13925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nowflake vector stroke"/>
            <p:cNvCxnSpPr/>
            <p:nvPr/>
          </p:nvCxnSpPr>
          <p:spPr>
            <a:xfrm flipH="1" flipV="1">
              <a:off x="6496887" y="2136803"/>
              <a:ext cx="27738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nowflake vector stroke"/>
            <p:cNvCxnSpPr/>
            <p:nvPr/>
          </p:nvCxnSpPr>
          <p:spPr>
            <a:xfrm flipV="1">
              <a:off x="6524625" y="2136803"/>
              <a:ext cx="27738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2" name="Snowflake vector stroke"/>
            <p:cNvCxnSpPr/>
            <p:nvPr/>
          </p:nvCxnSpPr>
          <p:spPr>
            <a:xfrm flipH="1" flipV="1">
              <a:off x="6496887" y="2174402"/>
              <a:ext cx="27738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nowflake vector stroke"/>
            <p:cNvCxnSpPr/>
            <p:nvPr/>
          </p:nvCxnSpPr>
          <p:spPr>
            <a:xfrm flipV="1">
              <a:off x="6524625" y="2174402"/>
              <a:ext cx="27738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4" name="Snowflake vector stroke"/>
            <p:cNvCxnSpPr/>
            <p:nvPr/>
          </p:nvCxnSpPr>
          <p:spPr>
            <a:xfrm flipH="1">
              <a:off x="6404026" y="2085975"/>
              <a:ext cx="120599" cy="69628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nowflake vector stroke"/>
            <p:cNvCxnSpPr/>
            <p:nvPr/>
          </p:nvCxnSpPr>
          <p:spPr>
            <a:xfrm flipV="1">
              <a:off x="6466738" y="2087368"/>
              <a:ext cx="0" cy="32028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6" name="Snowflake vector stroke"/>
            <p:cNvCxnSpPr/>
            <p:nvPr/>
          </p:nvCxnSpPr>
          <p:spPr>
            <a:xfrm>
              <a:off x="6466738" y="2119396"/>
              <a:ext cx="27737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nowflake vector stroke"/>
            <p:cNvCxnSpPr/>
            <p:nvPr/>
          </p:nvCxnSpPr>
          <p:spPr>
            <a:xfrm flipV="1">
              <a:off x="6434176" y="2106167"/>
              <a:ext cx="0" cy="32029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8" name="Snowflake vector stroke"/>
            <p:cNvCxnSpPr/>
            <p:nvPr/>
          </p:nvCxnSpPr>
          <p:spPr>
            <a:xfrm>
              <a:off x="6434176" y="2138196"/>
              <a:ext cx="27738" cy="16014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nowflake vector stroke"/>
            <p:cNvCxnSpPr/>
            <p:nvPr/>
          </p:nvCxnSpPr>
          <p:spPr>
            <a:xfrm flipH="1" flipV="1">
              <a:off x="6404026" y="2016347"/>
              <a:ext cx="120599" cy="69628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0" name="Snowflake vector stroke"/>
            <p:cNvCxnSpPr/>
            <p:nvPr/>
          </p:nvCxnSpPr>
          <p:spPr>
            <a:xfrm flipV="1">
              <a:off x="6466738" y="2036539"/>
              <a:ext cx="27737" cy="16015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1" name="Snowflake vector stroke"/>
            <p:cNvCxnSpPr/>
            <p:nvPr/>
          </p:nvCxnSpPr>
          <p:spPr>
            <a:xfrm>
              <a:off x="6466738" y="2052554"/>
              <a:ext cx="0" cy="32028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2" name="Snowflake vector stroke"/>
            <p:cNvCxnSpPr/>
            <p:nvPr/>
          </p:nvCxnSpPr>
          <p:spPr>
            <a:xfrm flipV="1">
              <a:off x="6434176" y="2017740"/>
              <a:ext cx="27738" cy="16014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3" name="Snowflake vector stroke"/>
            <p:cNvCxnSpPr/>
            <p:nvPr/>
          </p:nvCxnSpPr>
          <p:spPr>
            <a:xfrm>
              <a:off x="6434176" y="2033754"/>
              <a:ext cx="0" cy="32029"/>
            </a:xfrm>
            <a:prstGeom prst="line">
              <a:avLst/>
            </a:prstGeom>
            <a:ln w="10160">
              <a:solidFill>
                <a:srgbClr val="5E6A7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4" name="Label · Fixed throughout deployment"/>
          <p:cNvSpPr txBox="1"/>
          <p:nvPr/>
        </p:nvSpPr>
        <p:spPr>
          <a:xfrm>
            <a:off x="4610100" y="2562225"/>
            <a:ext cx="2286000" cy="2428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45B66"/>
                </a:solidFill>
                <a:latin typeface="Times New Roman"/>
              </a:rPr>
              <a:t>Fixed throughout deployment</a:t>
            </a:r>
          </a:p>
        </p:txBody>
      </p:sp>
      <p:sp>
        <p:nvSpPr>
          <p:cNvPr id="1265" name="Per-node identities E: updateable state"/>
          <p:cNvSpPr/>
          <p:nvPr/>
        </p:nvSpPr>
        <p:spPr>
          <a:xfrm>
            <a:off x="7219950" y="1209675"/>
            <a:ext cx="2905125" cy="1638300"/>
          </a:xfrm>
          <a:prstGeom prst="roundRect">
            <a:avLst>
              <a:gd name="adj" fmla="val 8000"/>
            </a:avLst>
          </a:prstGeom>
          <a:solidFill>
            <a:srgbClr val="FFF0BE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Label · Per-node identities"/>
          <p:cNvSpPr txBox="1"/>
          <p:nvPr/>
        </p:nvSpPr>
        <p:spPr>
          <a:xfrm>
            <a:off x="7381875" y="1333500"/>
            <a:ext cx="2085975" cy="3143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6272C"/>
                </a:solidFill>
                <a:latin typeface="Times New Roman"/>
              </a:rPr>
              <a:t>Per-node identities</a:t>
            </a:r>
          </a:p>
        </p:txBody>
      </p:sp>
      <p:grpSp>
        <p:nvGrpSpPr>
          <p:cNvPr id="1267" name="Formula · \mathbf{E}" descr="Editable LaTeX source: $\mathbf{E}$; native vector glyphs."/>
          <p:cNvGrpSpPr/>
          <p:nvPr/>
        </p:nvGrpSpPr>
        <p:grpSpPr>
          <a:xfrm>
            <a:off x="9515475" y="1314450"/>
            <a:ext cx="127805" cy="159504"/>
            <a:chOff x="0" y="0"/>
            <a:chExt cx="127805" cy="159504"/>
          </a:xfrm>
        </p:grpSpPr>
        <p:sp>
          <p:nvSpPr>
            <p:cNvPr id="1268" name="Paper math native glyph 1"/>
            <p:cNvSpPr/>
            <p:nvPr/>
          </p:nvSpPr>
          <p:spPr>
            <a:xfrm>
              <a:off x="0" y="0"/>
              <a:ext cx="127805" cy="159504"/>
            </a:xfrm>
            <a:custGeom>
              <a:avLst/>
              <a:gdLst/>
              <a:ahLst/>
              <a:cxnLst/>
              <a:rect l="0" t="0" r="r" b="b"/>
              <a:pathLst>
                <a:path w="10063" h="12559" stroke="0" extrusionOk="0">
                  <a:moveTo>
                    <a:pt x="58" y="12559"/>
                  </a:moveTo>
                  <a:lnTo>
                    <a:pt x="9539" y="12559"/>
                  </a:lnTo>
                  <a:cubicBezTo>
                    <a:pt x="9675" y="11510"/>
                    <a:pt x="9869" y="10305"/>
                    <a:pt x="10063" y="9274"/>
                  </a:cubicBezTo>
                  <a:lnTo>
                    <a:pt x="9228" y="9080"/>
                  </a:lnTo>
                  <a:cubicBezTo>
                    <a:pt x="8898" y="10519"/>
                    <a:pt x="8198" y="11666"/>
                    <a:pt x="7130" y="11666"/>
                  </a:cubicBezTo>
                  <a:lnTo>
                    <a:pt x="4157" y="11666"/>
                  </a:lnTo>
                  <a:cubicBezTo>
                    <a:pt x="3983" y="11666"/>
                    <a:pt x="3886" y="11549"/>
                    <a:pt x="3886" y="11102"/>
                  </a:cubicBezTo>
                  <a:lnTo>
                    <a:pt x="3886" y="6280"/>
                  </a:lnTo>
                  <a:lnTo>
                    <a:pt x="6081" y="6280"/>
                  </a:lnTo>
                  <a:cubicBezTo>
                    <a:pt x="6567" y="6280"/>
                    <a:pt x="6644" y="6863"/>
                    <a:pt x="6761" y="7660"/>
                  </a:cubicBezTo>
                  <a:cubicBezTo>
                    <a:pt x="6761" y="7738"/>
                    <a:pt x="6877" y="7855"/>
                    <a:pt x="7072" y="7855"/>
                  </a:cubicBezTo>
                  <a:lnTo>
                    <a:pt x="7480" y="7855"/>
                  </a:lnTo>
                  <a:lnTo>
                    <a:pt x="7596" y="7680"/>
                  </a:lnTo>
                  <a:cubicBezTo>
                    <a:pt x="7557" y="7349"/>
                    <a:pt x="7460" y="6572"/>
                    <a:pt x="7460" y="5872"/>
                  </a:cubicBezTo>
                  <a:cubicBezTo>
                    <a:pt x="7460" y="5153"/>
                    <a:pt x="7557" y="4376"/>
                    <a:pt x="7596" y="4065"/>
                  </a:cubicBezTo>
                  <a:lnTo>
                    <a:pt x="7480" y="3870"/>
                  </a:lnTo>
                  <a:lnTo>
                    <a:pt x="7072" y="3870"/>
                  </a:lnTo>
                  <a:cubicBezTo>
                    <a:pt x="6877" y="3870"/>
                    <a:pt x="6761" y="4006"/>
                    <a:pt x="6761" y="4084"/>
                  </a:cubicBezTo>
                  <a:cubicBezTo>
                    <a:pt x="6644" y="4862"/>
                    <a:pt x="6567" y="5464"/>
                    <a:pt x="6081" y="5464"/>
                  </a:cubicBezTo>
                  <a:lnTo>
                    <a:pt x="3886" y="5464"/>
                  </a:lnTo>
                  <a:lnTo>
                    <a:pt x="3886" y="1458"/>
                  </a:lnTo>
                  <a:cubicBezTo>
                    <a:pt x="3886" y="1049"/>
                    <a:pt x="3983" y="894"/>
                    <a:pt x="4157" y="894"/>
                  </a:cubicBezTo>
                  <a:lnTo>
                    <a:pt x="6683" y="894"/>
                  </a:lnTo>
                  <a:cubicBezTo>
                    <a:pt x="7985" y="894"/>
                    <a:pt x="8470" y="2334"/>
                    <a:pt x="8742" y="3326"/>
                  </a:cubicBezTo>
                  <a:lnTo>
                    <a:pt x="9519" y="3151"/>
                  </a:lnTo>
                  <a:cubicBezTo>
                    <a:pt x="9325" y="2159"/>
                    <a:pt x="9189" y="1128"/>
                    <a:pt x="9112" y="0"/>
                  </a:cubicBezTo>
                  <a:lnTo>
                    <a:pt x="58" y="0"/>
                  </a:lnTo>
                  <a:lnTo>
                    <a:pt x="0" y="39"/>
                  </a:lnTo>
                  <a:lnTo>
                    <a:pt x="0" y="486"/>
                  </a:lnTo>
                  <a:cubicBezTo>
                    <a:pt x="0" y="583"/>
                    <a:pt x="78" y="641"/>
                    <a:pt x="156" y="641"/>
                  </a:cubicBezTo>
                  <a:lnTo>
                    <a:pt x="427" y="641"/>
                  </a:lnTo>
                  <a:cubicBezTo>
                    <a:pt x="1205" y="641"/>
                    <a:pt x="1496" y="875"/>
                    <a:pt x="1496" y="1497"/>
                  </a:cubicBezTo>
                  <a:lnTo>
                    <a:pt x="1496" y="11063"/>
                  </a:lnTo>
                  <a:cubicBezTo>
                    <a:pt x="1496" y="11685"/>
                    <a:pt x="1205" y="11918"/>
                    <a:pt x="427" y="11918"/>
                  </a:cubicBezTo>
                  <a:lnTo>
                    <a:pt x="156" y="11918"/>
                  </a:lnTo>
                  <a:cubicBezTo>
                    <a:pt x="78" y="11918"/>
                    <a:pt x="0" y="11977"/>
                    <a:pt x="0" y="12093"/>
                  </a:cubicBezTo>
                  <a:lnTo>
                    <a:pt x="0" y="12521"/>
                  </a:lnTo>
                  <a:lnTo>
                    <a:pt x="58" y="1255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269" name="Backbone identity rows"/>
          <p:cNvGrpSpPr/>
          <p:nvPr/>
        </p:nvGrpSpPr>
        <p:grpSpPr>
          <a:xfrm>
            <a:off x="7829550" y="1704975"/>
            <a:ext cx="1704974" cy="809625"/>
            <a:chOff x="7829550" y="2276475"/>
            <a:chExt cx="1704974" cy="809625"/>
          </a:xfrm>
        </p:grpSpPr>
        <p:sp>
          <p:nvSpPr>
            <p:cNvPr id="1270" name="Backbone identity rows cell 1,1"/>
            <p:cNvSpPr/>
            <p:nvPr/>
          </p:nvSpPr>
          <p:spPr>
            <a:xfrm>
              <a:off x="7829550" y="227647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1" name="Backbone identity rows cell 1,2"/>
            <p:cNvSpPr/>
            <p:nvPr/>
          </p:nvSpPr>
          <p:spPr>
            <a:xfrm>
              <a:off x="8113712" y="227647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2" name="Backbone identity rows cell 1,3"/>
            <p:cNvSpPr/>
            <p:nvPr/>
          </p:nvSpPr>
          <p:spPr>
            <a:xfrm>
              <a:off x="8397875" y="227647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3" name="Backbone identity rows cell 1,4"/>
            <p:cNvSpPr/>
            <p:nvPr/>
          </p:nvSpPr>
          <p:spPr>
            <a:xfrm>
              <a:off x="8682038" y="227647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4" name="Backbone identity rows cell 1,5"/>
            <p:cNvSpPr/>
            <p:nvPr/>
          </p:nvSpPr>
          <p:spPr>
            <a:xfrm>
              <a:off x="8966200" y="227647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5" name="Backbone identity rows cell 1,6"/>
            <p:cNvSpPr/>
            <p:nvPr/>
          </p:nvSpPr>
          <p:spPr>
            <a:xfrm>
              <a:off x="9250362" y="227647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6" name="Backbone identity rows cell 2,1"/>
            <p:cNvSpPr/>
            <p:nvPr/>
          </p:nvSpPr>
          <p:spPr>
            <a:xfrm>
              <a:off x="7829550" y="2438400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7" name="Backbone identity rows cell 2,2"/>
            <p:cNvSpPr/>
            <p:nvPr/>
          </p:nvSpPr>
          <p:spPr>
            <a:xfrm>
              <a:off x="8113712" y="2438400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8" name="Backbone identity rows cell 2,3"/>
            <p:cNvSpPr/>
            <p:nvPr/>
          </p:nvSpPr>
          <p:spPr>
            <a:xfrm>
              <a:off x="8397875" y="2438400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9" name="Backbone identity rows cell 2,4"/>
            <p:cNvSpPr/>
            <p:nvPr/>
          </p:nvSpPr>
          <p:spPr>
            <a:xfrm>
              <a:off x="8682038" y="2438400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0" name="Backbone identity rows cell 2,5"/>
            <p:cNvSpPr/>
            <p:nvPr/>
          </p:nvSpPr>
          <p:spPr>
            <a:xfrm>
              <a:off x="8966200" y="2438400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1" name="Backbone identity rows cell 2,6"/>
            <p:cNvSpPr/>
            <p:nvPr/>
          </p:nvSpPr>
          <p:spPr>
            <a:xfrm>
              <a:off x="9250362" y="2438400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2" name="Backbone identity rows cell 3,1"/>
            <p:cNvSpPr/>
            <p:nvPr/>
          </p:nvSpPr>
          <p:spPr>
            <a:xfrm>
              <a:off x="7829550" y="260032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3" name="Backbone identity rows cell 3,2"/>
            <p:cNvSpPr/>
            <p:nvPr/>
          </p:nvSpPr>
          <p:spPr>
            <a:xfrm>
              <a:off x="8113712" y="260032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4" name="Backbone identity rows cell 3,3"/>
            <p:cNvSpPr/>
            <p:nvPr/>
          </p:nvSpPr>
          <p:spPr>
            <a:xfrm>
              <a:off x="8397875" y="260032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5" name="Backbone identity rows cell 3,4"/>
            <p:cNvSpPr/>
            <p:nvPr/>
          </p:nvSpPr>
          <p:spPr>
            <a:xfrm>
              <a:off x="8682038" y="260032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6" name="Backbone identity rows cell 3,5"/>
            <p:cNvSpPr/>
            <p:nvPr/>
          </p:nvSpPr>
          <p:spPr>
            <a:xfrm>
              <a:off x="8966200" y="260032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7" name="Backbone identity rows cell 3,6"/>
            <p:cNvSpPr/>
            <p:nvPr/>
          </p:nvSpPr>
          <p:spPr>
            <a:xfrm>
              <a:off x="9250362" y="2600325"/>
              <a:ext cx="284162" cy="16192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8" name="Backbone identity rows cell 4,1"/>
            <p:cNvSpPr/>
            <p:nvPr/>
          </p:nvSpPr>
          <p:spPr>
            <a:xfrm>
              <a:off x="7829550" y="2762250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9" name="Backbone identity rows cell 4,2"/>
            <p:cNvSpPr/>
            <p:nvPr/>
          </p:nvSpPr>
          <p:spPr>
            <a:xfrm>
              <a:off x="8113712" y="2762250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0" name="Backbone identity rows cell 4,3"/>
            <p:cNvSpPr/>
            <p:nvPr/>
          </p:nvSpPr>
          <p:spPr>
            <a:xfrm>
              <a:off x="8397875" y="2762250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1" name="Backbone identity rows cell 4,4"/>
            <p:cNvSpPr/>
            <p:nvPr/>
          </p:nvSpPr>
          <p:spPr>
            <a:xfrm>
              <a:off x="8682038" y="2762250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2" name="Backbone identity rows cell 4,5"/>
            <p:cNvSpPr/>
            <p:nvPr/>
          </p:nvSpPr>
          <p:spPr>
            <a:xfrm>
              <a:off x="8966200" y="2762250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3" name="Backbone identity rows cell 4,6"/>
            <p:cNvSpPr/>
            <p:nvPr/>
          </p:nvSpPr>
          <p:spPr>
            <a:xfrm>
              <a:off x="9250362" y="2762250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4" name="Backbone identity rows cell 5,1"/>
            <p:cNvSpPr/>
            <p:nvPr/>
          </p:nvSpPr>
          <p:spPr>
            <a:xfrm>
              <a:off x="7829550" y="2924175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5" name="Backbone identity rows cell 5,2"/>
            <p:cNvSpPr/>
            <p:nvPr/>
          </p:nvSpPr>
          <p:spPr>
            <a:xfrm>
              <a:off x="8113712" y="2924175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6" name="Backbone identity rows cell 5,3"/>
            <p:cNvSpPr/>
            <p:nvPr/>
          </p:nvSpPr>
          <p:spPr>
            <a:xfrm>
              <a:off x="8397875" y="2924175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7" name="Backbone identity rows cell 5,4"/>
            <p:cNvSpPr/>
            <p:nvPr/>
          </p:nvSpPr>
          <p:spPr>
            <a:xfrm>
              <a:off x="8682038" y="2924175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8" name="Backbone identity rows cell 5,5"/>
            <p:cNvSpPr/>
            <p:nvPr/>
          </p:nvSpPr>
          <p:spPr>
            <a:xfrm>
              <a:off x="8966200" y="2924175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9" name="Backbone identity rows cell 5,6"/>
            <p:cNvSpPr/>
            <p:nvPr/>
          </p:nvSpPr>
          <p:spPr>
            <a:xfrm>
              <a:off x="9250362" y="2924175"/>
              <a:ext cx="284162" cy="1619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0" name="Formula · \mathcal{K}" descr="Editable LaTeX source: $\mathcal{K}$; native vector glyphs."/>
          <p:cNvGrpSpPr/>
          <p:nvPr/>
        </p:nvGrpSpPr>
        <p:grpSpPr>
          <a:xfrm>
            <a:off x="7448550" y="1809750"/>
            <a:ext cx="184761" cy="151514"/>
            <a:chOff x="0" y="0"/>
            <a:chExt cx="184761" cy="151514"/>
          </a:xfrm>
        </p:grpSpPr>
        <p:sp>
          <p:nvSpPr>
            <p:cNvPr id="1301" name="Paper math native glyph 1"/>
            <p:cNvSpPr/>
            <p:nvPr/>
          </p:nvSpPr>
          <p:spPr>
            <a:xfrm>
              <a:off x="0" y="0"/>
              <a:ext cx="184761" cy="151514"/>
            </a:xfrm>
            <a:custGeom>
              <a:avLst/>
              <a:gdLst/>
              <a:ahLst/>
              <a:cxnLst/>
              <a:rect l="0" t="0" r="r" b="b"/>
              <a:pathLst>
                <a:path w="14548" h="11930" stroke="0" extrusionOk="0">
                  <a:moveTo>
                    <a:pt x="14548" y="1266"/>
                  </a:moveTo>
                  <a:cubicBezTo>
                    <a:pt x="14548" y="674"/>
                    <a:pt x="14433" y="0"/>
                    <a:pt x="13693" y="0"/>
                  </a:cubicBezTo>
                  <a:cubicBezTo>
                    <a:pt x="10241" y="0"/>
                    <a:pt x="8318" y="5364"/>
                    <a:pt x="6115" y="5430"/>
                  </a:cubicBezTo>
                  <a:cubicBezTo>
                    <a:pt x="6690" y="3718"/>
                    <a:pt x="7151" y="1957"/>
                    <a:pt x="7792" y="263"/>
                  </a:cubicBezTo>
                  <a:cubicBezTo>
                    <a:pt x="7529" y="165"/>
                    <a:pt x="7233" y="115"/>
                    <a:pt x="6953" y="115"/>
                  </a:cubicBezTo>
                  <a:cubicBezTo>
                    <a:pt x="6247" y="115"/>
                    <a:pt x="5540" y="247"/>
                    <a:pt x="4866" y="427"/>
                  </a:cubicBezTo>
                  <a:cubicBezTo>
                    <a:pt x="3567" y="773"/>
                    <a:pt x="0" y="2171"/>
                    <a:pt x="0" y="3767"/>
                  </a:cubicBezTo>
                  <a:cubicBezTo>
                    <a:pt x="0" y="4590"/>
                    <a:pt x="707" y="5809"/>
                    <a:pt x="1627" y="5809"/>
                  </a:cubicBezTo>
                  <a:cubicBezTo>
                    <a:pt x="1693" y="5809"/>
                    <a:pt x="1759" y="5792"/>
                    <a:pt x="1825" y="5759"/>
                  </a:cubicBezTo>
                  <a:cubicBezTo>
                    <a:pt x="1430" y="5414"/>
                    <a:pt x="1365" y="4837"/>
                    <a:pt x="1365" y="4344"/>
                  </a:cubicBezTo>
                  <a:cubicBezTo>
                    <a:pt x="1365" y="2335"/>
                    <a:pt x="3436" y="921"/>
                    <a:pt x="5293" y="921"/>
                  </a:cubicBezTo>
                  <a:cubicBezTo>
                    <a:pt x="5408" y="921"/>
                    <a:pt x="5507" y="921"/>
                    <a:pt x="5622" y="937"/>
                  </a:cubicBezTo>
                  <a:cubicBezTo>
                    <a:pt x="5474" y="3438"/>
                    <a:pt x="4192" y="6763"/>
                    <a:pt x="3304" y="9150"/>
                  </a:cubicBezTo>
                  <a:cubicBezTo>
                    <a:pt x="3008" y="9924"/>
                    <a:pt x="2384" y="11667"/>
                    <a:pt x="1414" y="11749"/>
                  </a:cubicBezTo>
                  <a:cubicBezTo>
                    <a:pt x="1578" y="11864"/>
                    <a:pt x="1792" y="11930"/>
                    <a:pt x="1989" y="11930"/>
                  </a:cubicBezTo>
                  <a:cubicBezTo>
                    <a:pt x="2482" y="11930"/>
                    <a:pt x="3912" y="11240"/>
                    <a:pt x="4274" y="10895"/>
                  </a:cubicBezTo>
                  <a:cubicBezTo>
                    <a:pt x="4586" y="10599"/>
                    <a:pt x="5803" y="6747"/>
                    <a:pt x="5984" y="6072"/>
                  </a:cubicBezTo>
                  <a:cubicBezTo>
                    <a:pt x="6345" y="5957"/>
                    <a:pt x="6690" y="5842"/>
                    <a:pt x="7036" y="5710"/>
                  </a:cubicBezTo>
                  <a:cubicBezTo>
                    <a:pt x="7364" y="6648"/>
                    <a:pt x="9288" y="11815"/>
                    <a:pt x="10192" y="11815"/>
                  </a:cubicBezTo>
                  <a:cubicBezTo>
                    <a:pt x="10767" y="11815"/>
                    <a:pt x="12164" y="11470"/>
                    <a:pt x="12263" y="10779"/>
                  </a:cubicBezTo>
                  <a:cubicBezTo>
                    <a:pt x="12214" y="10829"/>
                    <a:pt x="12164" y="10845"/>
                    <a:pt x="12099" y="10845"/>
                  </a:cubicBezTo>
                  <a:cubicBezTo>
                    <a:pt x="10570" y="10845"/>
                    <a:pt x="8893" y="6121"/>
                    <a:pt x="8499" y="4837"/>
                  </a:cubicBezTo>
                  <a:cubicBezTo>
                    <a:pt x="9518" y="3883"/>
                    <a:pt x="12247" y="1463"/>
                    <a:pt x="13611" y="1463"/>
                  </a:cubicBezTo>
                  <a:cubicBezTo>
                    <a:pt x="14038" y="1463"/>
                    <a:pt x="14318" y="1792"/>
                    <a:pt x="14269" y="2204"/>
                  </a:cubicBezTo>
                  <a:lnTo>
                    <a:pt x="14450" y="2122"/>
                  </a:lnTo>
                  <a:cubicBezTo>
                    <a:pt x="14515" y="1842"/>
                    <a:pt x="14548" y="1545"/>
                    <a:pt x="14548" y="1266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302" name="Formula · \mathcal{U}" descr="Editable LaTeX source: $\mathcal{U}$; native vector glyphs."/>
          <p:cNvGrpSpPr/>
          <p:nvPr/>
        </p:nvGrpSpPr>
        <p:grpSpPr>
          <a:xfrm>
            <a:off x="7448550" y="2286000"/>
            <a:ext cx="194362" cy="151682"/>
            <a:chOff x="0" y="0"/>
            <a:chExt cx="194362" cy="151682"/>
          </a:xfrm>
        </p:grpSpPr>
        <p:sp>
          <p:nvSpPr>
            <p:cNvPr id="1303" name="Paper math native glyph 1"/>
            <p:cNvSpPr/>
            <p:nvPr/>
          </p:nvSpPr>
          <p:spPr>
            <a:xfrm>
              <a:off x="0" y="0"/>
              <a:ext cx="194362" cy="151682"/>
            </a:xfrm>
            <a:custGeom>
              <a:avLst/>
              <a:gdLst/>
              <a:ahLst/>
              <a:cxnLst/>
              <a:rect l="0" t="0" r="r" b="b"/>
              <a:pathLst>
                <a:path w="15304" h="11943" stroke="0" extrusionOk="0">
                  <a:moveTo>
                    <a:pt x="15304" y="99"/>
                  </a:moveTo>
                  <a:lnTo>
                    <a:pt x="15222" y="0"/>
                  </a:lnTo>
                  <a:cubicBezTo>
                    <a:pt x="14696" y="66"/>
                    <a:pt x="13364" y="395"/>
                    <a:pt x="12986" y="757"/>
                  </a:cubicBezTo>
                  <a:cubicBezTo>
                    <a:pt x="12789" y="938"/>
                    <a:pt x="12164" y="3060"/>
                    <a:pt x="12033" y="3488"/>
                  </a:cubicBezTo>
                  <a:cubicBezTo>
                    <a:pt x="11375" y="5511"/>
                    <a:pt x="10718" y="7173"/>
                    <a:pt x="9107" y="8637"/>
                  </a:cubicBezTo>
                  <a:cubicBezTo>
                    <a:pt x="8219" y="9460"/>
                    <a:pt x="6822" y="10365"/>
                    <a:pt x="5573" y="10365"/>
                  </a:cubicBezTo>
                  <a:cubicBezTo>
                    <a:pt x="5310" y="10365"/>
                    <a:pt x="5112" y="10266"/>
                    <a:pt x="5112" y="9970"/>
                  </a:cubicBezTo>
                  <a:cubicBezTo>
                    <a:pt x="5112" y="7601"/>
                    <a:pt x="7134" y="2764"/>
                    <a:pt x="7923" y="296"/>
                  </a:cubicBezTo>
                  <a:cubicBezTo>
                    <a:pt x="7792" y="198"/>
                    <a:pt x="7644" y="181"/>
                    <a:pt x="7479" y="181"/>
                  </a:cubicBezTo>
                  <a:cubicBezTo>
                    <a:pt x="5721" y="181"/>
                    <a:pt x="0" y="1826"/>
                    <a:pt x="0" y="4014"/>
                  </a:cubicBezTo>
                  <a:cubicBezTo>
                    <a:pt x="0" y="4640"/>
                    <a:pt x="937" y="6137"/>
                    <a:pt x="1627" y="6137"/>
                  </a:cubicBezTo>
                  <a:cubicBezTo>
                    <a:pt x="1726" y="6137"/>
                    <a:pt x="1825" y="6120"/>
                    <a:pt x="1907" y="6087"/>
                  </a:cubicBezTo>
                  <a:cubicBezTo>
                    <a:pt x="1611" y="5725"/>
                    <a:pt x="1513" y="5265"/>
                    <a:pt x="1513" y="4804"/>
                  </a:cubicBezTo>
                  <a:cubicBezTo>
                    <a:pt x="1513" y="2879"/>
                    <a:pt x="4258" y="1070"/>
                    <a:pt x="6016" y="1020"/>
                  </a:cubicBezTo>
                  <a:cubicBezTo>
                    <a:pt x="5178" y="3406"/>
                    <a:pt x="3173" y="8094"/>
                    <a:pt x="3173" y="10447"/>
                  </a:cubicBezTo>
                  <a:cubicBezTo>
                    <a:pt x="3173" y="11171"/>
                    <a:pt x="3468" y="11763"/>
                    <a:pt x="4274" y="11763"/>
                  </a:cubicBezTo>
                  <a:cubicBezTo>
                    <a:pt x="6000" y="11763"/>
                    <a:pt x="9633" y="9230"/>
                    <a:pt x="10751" y="7913"/>
                  </a:cubicBezTo>
                  <a:cubicBezTo>
                    <a:pt x="10537" y="8637"/>
                    <a:pt x="10323" y="9378"/>
                    <a:pt x="10323" y="10134"/>
                  </a:cubicBezTo>
                  <a:cubicBezTo>
                    <a:pt x="10323" y="10595"/>
                    <a:pt x="10422" y="11943"/>
                    <a:pt x="11080" y="11943"/>
                  </a:cubicBezTo>
                  <a:cubicBezTo>
                    <a:pt x="11852" y="11943"/>
                    <a:pt x="13019" y="11236"/>
                    <a:pt x="13134" y="10430"/>
                  </a:cubicBezTo>
                  <a:cubicBezTo>
                    <a:pt x="13019" y="10529"/>
                    <a:pt x="12855" y="10595"/>
                    <a:pt x="12690" y="10595"/>
                  </a:cubicBezTo>
                  <a:cubicBezTo>
                    <a:pt x="12214" y="10595"/>
                    <a:pt x="12230" y="9937"/>
                    <a:pt x="12230" y="9624"/>
                  </a:cubicBezTo>
                  <a:cubicBezTo>
                    <a:pt x="12230" y="7946"/>
                    <a:pt x="14252" y="1316"/>
                    <a:pt x="15304" y="9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304" name="Label · Mature / newly arrived sensors"/>
          <p:cNvSpPr txBox="1"/>
          <p:nvPr/>
        </p:nvSpPr>
        <p:spPr>
          <a:xfrm>
            <a:off x="7391400" y="2590800"/>
            <a:ext cx="2619375" cy="2428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45B66"/>
                </a:solidFill>
                <a:latin typeface="Times New Roman"/>
              </a:rPr>
              <a:t>Mature / newly arrived sensors</a:t>
            </a:r>
          </a:p>
        </p:txBody>
      </p:sp>
      <p:sp>
        <p:nvSpPr>
          <p:cNvPr id="1305" name="Base forecast"/>
          <p:cNvSpPr/>
          <p:nvPr/>
        </p:nvSpPr>
        <p:spPr>
          <a:xfrm>
            <a:off x="10506075" y="1447800"/>
            <a:ext cx="1619250" cy="1114425"/>
          </a:xfrm>
          <a:prstGeom prst="roundRect">
            <a:avLst>
              <a:gd name="adj" fmla="val 8000"/>
            </a:avLst>
          </a:prstGeom>
          <a:solidFill>
            <a:srgbClr val="F8CDAC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Label · Base forecast"/>
          <p:cNvSpPr txBox="1"/>
          <p:nvPr/>
        </p:nvSpPr>
        <p:spPr>
          <a:xfrm>
            <a:off x="10639425" y="1524000"/>
            <a:ext cx="1362075" cy="3000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26272C"/>
                </a:solidFill>
                <a:latin typeface="Times New Roman"/>
              </a:rPr>
              <a:t>Base forecast</a:t>
            </a:r>
          </a:p>
        </p:txBody>
      </p:sp>
      <p:sp>
        <p:nvSpPr>
          <p:cNvPr id="1307" name="Schematic forecast"/>
          <p:cNvSpPr/>
          <p:nvPr/>
        </p:nvSpPr>
        <p:spPr>
          <a:xfrm>
            <a:off x="10706100" y="1868891"/>
            <a:ext cx="1200150" cy="193810"/>
          </a:xfrm>
          <a:custGeom>
            <a:avLst/>
            <a:gdLst/>
            <a:ahLst/>
            <a:cxnLst/>
            <a:rect l="l" t="t" r="r" b="b"/>
            <a:pathLst>
              <a:path w="1200150" h="193810">
                <a:moveTo>
                  <a:pt x="0" y="79638"/>
                </a:moveTo>
                <a:lnTo>
                  <a:pt x="27276" y="47255"/>
                </a:lnTo>
                <a:lnTo>
                  <a:pt x="54552" y="35516"/>
                </a:lnTo>
                <a:lnTo>
                  <a:pt x="81828" y="35910"/>
                </a:lnTo>
                <a:lnTo>
                  <a:pt x="109105" y="72164"/>
                </a:lnTo>
                <a:lnTo>
                  <a:pt x="136381" y="55616"/>
                </a:lnTo>
                <a:lnTo>
                  <a:pt x="163657" y="0"/>
                </a:lnTo>
                <a:lnTo>
                  <a:pt x="190933" y="20554"/>
                </a:lnTo>
                <a:lnTo>
                  <a:pt x="218209" y="72766"/>
                </a:lnTo>
                <a:lnTo>
                  <a:pt x="245485" y="105233"/>
                </a:lnTo>
                <a:lnTo>
                  <a:pt x="272761" y="144726"/>
                </a:lnTo>
                <a:lnTo>
                  <a:pt x="300038" y="135774"/>
                </a:lnTo>
                <a:lnTo>
                  <a:pt x="327314" y="98661"/>
                </a:lnTo>
                <a:lnTo>
                  <a:pt x="354590" y="138352"/>
                </a:lnTo>
                <a:lnTo>
                  <a:pt x="381866" y="188307"/>
                </a:lnTo>
                <a:lnTo>
                  <a:pt x="409142" y="175794"/>
                </a:lnTo>
                <a:lnTo>
                  <a:pt x="436418" y="154424"/>
                </a:lnTo>
                <a:lnTo>
                  <a:pt x="463694" y="110279"/>
                </a:lnTo>
                <a:lnTo>
                  <a:pt x="490970" y="58746"/>
                </a:lnTo>
                <a:lnTo>
                  <a:pt x="518247" y="83369"/>
                </a:lnTo>
                <a:lnTo>
                  <a:pt x="545523" y="106977"/>
                </a:lnTo>
                <a:lnTo>
                  <a:pt x="572799" y="57137"/>
                </a:lnTo>
                <a:lnTo>
                  <a:pt x="600075" y="19963"/>
                </a:lnTo>
                <a:lnTo>
                  <a:pt x="627351" y="7379"/>
                </a:lnTo>
                <a:lnTo>
                  <a:pt x="654627" y="5356"/>
                </a:lnTo>
                <a:lnTo>
                  <a:pt x="681903" y="64401"/>
                </a:lnTo>
                <a:lnTo>
                  <a:pt x="709180" y="107562"/>
                </a:lnTo>
                <a:lnTo>
                  <a:pt x="736456" y="73252"/>
                </a:lnTo>
                <a:lnTo>
                  <a:pt x="763732" y="68606"/>
                </a:lnTo>
                <a:lnTo>
                  <a:pt x="791008" y="108798"/>
                </a:lnTo>
                <a:lnTo>
                  <a:pt x="818284" y="138252"/>
                </a:lnTo>
                <a:lnTo>
                  <a:pt x="845560" y="184063"/>
                </a:lnTo>
                <a:lnTo>
                  <a:pt x="872836" y="193810"/>
                </a:lnTo>
                <a:lnTo>
                  <a:pt x="900112" y="129148"/>
                </a:lnTo>
                <a:lnTo>
                  <a:pt x="927389" y="107790"/>
                </a:lnTo>
                <a:lnTo>
                  <a:pt x="954665" y="138014"/>
                </a:lnTo>
                <a:lnTo>
                  <a:pt x="981941" y="131998"/>
                </a:lnTo>
                <a:lnTo>
                  <a:pt x="1009217" y="116473"/>
                </a:lnTo>
                <a:lnTo>
                  <a:pt x="1036493" y="82323"/>
                </a:lnTo>
                <a:lnTo>
                  <a:pt x="1063769" y="10126"/>
                </a:lnTo>
                <a:lnTo>
                  <a:pt x="1091045" y="5603"/>
                </a:lnTo>
                <a:lnTo>
                  <a:pt x="1118322" y="58789"/>
                </a:lnTo>
                <a:lnTo>
                  <a:pt x="1145598" y="59249"/>
                </a:lnTo>
                <a:lnTo>
                  <a:pt x="1172874" y="44307"/>
                </a:lnTo>
                <a:lnTo>
                  <a:pt x="1200150" y="43091"/>
                </a:lnTo>
              </a:path>
            </a:pathLst>
          </a:custGeom>
          <a:noFill/>
          <a:ln w="9525">
            <a:solidFill>
              <a:srgbClr val="4C5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08" name="Formula · \widehat{\mathbf{y}}^{\mathrm{base}}_{t,n}" descr="Editable LaTeX source: $\widehat{\mathbf{y}}^{\mathrm{base}}_{t,n}$; native vector glyphs."/>
          <p:cNvGrpSpPr/>
          <p:nvPr/>
        </p:nvGrpSpPr>
        <p:grpSpPr>
          <a:xfrm>
            <a:off x="10772775" y="2181225"/>
            <a:ext cx="414909" cy="288478"/>
            <a:chOff x="0" y="0"/>
            <a:chExt cx="414909" cy="288478"/>
          </a:xfrm>
        </p:grpSpPr>
        <p:sp>
          <p:nvSpPr>
            <p:cNvPr id="1309" name="Paper math native glyph 1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10042" y="5860"/>
                  </a:moveTo>
                  <a:lnTo>
                    <a:pt x="10042" y="5071"/>
                  </a:lnTo>
                  <a:lnTo>
                    <a:pt x="5003" y="3062"/>
                  </a:lnTo>
                  <a:lnTo>
                    <a:pt x="0" y="5071"/>
                  </a:lnTo>
                  <a:lnTo>
                    <a:pt x="0" y="5860"/>
                  </a:lnTo>
                  <a:lnTo>
                    <a:pt x="5021" y="4282"/>
                  </a:lnTo>
                  <a:lnTo>
                    <a:pt x="10042" y="586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10" name="Paper math native glyph 2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7989" y="10440"/>
                  </a:moveTo>
                  <a:cubicBezTo>
                    <a:pt x="8294" y="9687"/>
                    <a:pt x="8814" y="9346"/>
                    <a:pt x="9334" y="9346"/>
                  </a:cubicBezTo>
                  <a:cubicBezTo>
                    <a:pt x="9442" y="9346"/>
                    <a:pt x="9531" y="9274"/>
                    <a:pt x="9531" y="9185"/>
                  </a:cubicBezTo>
                  <a:lnTo>
                    <a:pt x="9531" y="8772"/>
                  </a:lnTo>
                  <a:lnTo>
                    <a:pt x="9495" y="8736"/>
                  </a:lnTo>
                  <a:cubicBezTo>
                    <a:pt x="9495" y="8736"/>
                    <a:pt x="8796" y="8772"/>
                    <a:pt x="8348" y="8772"/>
                  </a:cubicBezTo>
                  <a:cubicBezTo>
                    <a:pt x="7559" y="8772"/>
                    <a:pt x="6339" y="8736"/>
                    <a:pt x="6339" y="8736"/>
                  </a:cubicBezTo>
                  <a:lnTo>
                    <a:pt x="6268" y="8790"/>
                  </a:lnTo>
                  <a:lnTo>
                    <a:pt x="6268" y="9221"/>
                  </a:lnTo>
                  <a:cubicBezTo>
                    <a:pt x="6268" y="9274"/>
                    <a:pt x="6321" y="9346"/>
                    <a:pt x="6411" y="9346"/>
                  </a:cubicBezTo>
                  <a:cubicBezTo>
                    <a:pt x="6967" y="9346"/>
                    <a:pt x="7344" y="9543"/>
                    <a:pt x="7128" y="10189"/>
                  </a:cubicBezTo>
                  <a:cubicBezTo>
                    <a:pt x="6806" y="11229"/>
                    <a:pt x="6088" y="13184"/>
                    <a:pt x="5478" y="14672"/>
                  </a:cubicBezTo>
                  <a:lnTo>
                    <a:pt x="3811" y="10153"/>
                  </a:lnTo>
                  <a:cubicBezTo>
                    <a:pt x="3613" y="9597"/>
                    <a:pt x="3757" y="9346"/>
                    <a:pt x="4474" y="9346"/>
                  </a:cubicBezTo>
                  <a:cubicBezTo>
                    <a:pt x="4510" y="9346"/>
                    <a:pt x="4618" y="9328"/>
                    <a:pt x="4618" y="9203"/>
                  </a:cubicBezTo>
                  <a:lnTo>
                    <a:pt x="4618" y="8772"/>
                  </a:lnTo>
                  <a:lnTo>
                    <a:pt x="4546" y="8736"/>
                  </a:lnTo>
                  <a:cubicBezTo>
                    <a:pt x="4546" y="8736"/>
                    <a:pt x="3219" y="8772"/>
                    <a:pt x="2376" y="8772"/>
                  </a:cubicBezTo>
                  <a:cubicBezTo>
                    <a:pt x="1641" y="8772"/>
                    <a:pt x="475" y="8736"/>
                    <a:pt x="475" y="8736"/>
                  </a:cubicBezTo>
                  <a:lnTo>
                    <a:pt x="421" y="8772"/>
                  </a:lnTo>
                  <a:lnTo>
                    <a:pt x="421" y="9221"/>
                  </a:lnTo>
                  <a:cubicBezTo>
                    <a:pt x="421" y="9310"/>
                    <a:pt x="493" y="9346"/>
                    <a:pt x="601" y="9346"/>
                  </a:cubicBezTo>
                  <a:cubicBezTo>
                    <a:pt x="1318" y="9346"/>
                    <a:pt x="1533" y="9633"/>
                    <a:pt x="1892" y="10530"/>
                  </a:cubicBezTo>
                  <a:lnTo>
                    <a:pt x="4420" y="16770"/>
                  </a:lnTo>
                  <a:lnTo>
                    <a:pt x="4098" y="17648"/>
                  </a:lnTo>
                  <a:cubicBezTo>
                    <a:pt x="3578" y="19029"/>
                    <a:pt x="3111" y="19549"/>
                    <a:pt x="2986" y="19549"/>
                  </a:cubicBezTo>
                  <a:cubicBezTo>
                    <a:pt x="2860" y="19549"/>
                    <a:pt x="2753" y="19406"/>
                    <a:pt x="2645" y="19245"/>
                  </a:cubicBezTo>
                  <a:cubicBezTo>
                    <a:pt x="2520" y="19065"/>
                    <a:pt x="2179" y="18814"/>
                    <a:pt x="1892" y="18814"/>
                  </a:cubicBezTo>
                  <a:cubicBezTo>
                    <a:pt x="1372" y="18814"/>
                    <a:pt x="834" y="19137"/>
                    <a:pt x="834" y="19747"/>
                  </a:cubicBezTo>
                  <a:cubicBezTo>
                    <a:pt x="834" y="20482"/>
                    <a:pt x="1820" y="20715"/>
                    <a:pt x="2197" y="20715"/>
                  </a:cubicBezTo>
                  <a:cubicBezTo>
                    <a:pt x="3631" y="20715"/>
                    <a:pt x="4403" y="19334"/>
                    <a:pt x="5012" y="17828"/>
                  </a:cubicBezTo>
                  <a:lnTo>
                    <a:pt x="7989" y="1044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11" name="Paper math native glyph 3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12078" y="4383"/>
                  </a:moveTo>
                  <a:cubicBezTo>
                    <a:pt x="12418" y="4082"/>
                    <a:pt x="12811" y="3964"/>
                    <a:pt x="13191" y="3964"/>
                  </a:cubicBezTo>
                  <a:cubicBezTo>
                    <a:pt x="13989" y="3964"/>
                    <a:pt x="14644" y="4933"/>
                    <a:pt x="14644" y="6204"/>
                  </a:cubicBezTo>
                  <a:cubicBezTo>
                    <a:pt x="14644" y="7697"/>
                    <a:pt x="14042" y="8823"/>
                    <a:pt x="12798" y="8823"/>
                  </a:cubicBezTo>
                  <a:cubicBezTo>
                    <a:pt x="12392" y="8823"/>
                    <a:pt x="12117" y="8535"/>
                    <a:pt x="11856" y="8208"/>
                  </a:cubicBezTo>
                  <a:lnTo>
                    <a:pt x="11856" y="4933"/>
                  </a:lnTo>
                  <a:cubicBezTo>
                    <a:pt x="11856" y="4658"/>
                    <a:pt x="11908" y="4527"/>
                    <a:pt x="12078" y="4383"/>
                  </a:cubicBezTo>
                  <a:moveTo>
                    <a:pt x="11986" y="3977"/>
                  </a:moveTo>
                  <a:cubicBezTo>
                    <a:pt x="11908" y="4056"/>
                    <a:pt x="11856" y="4029"/>
                    <a:pt x="11856" y="3912"/>
                  </a:cubicBezTo>
                  <a:lnTo>
                    <a:pt x="11856" y="1501"/>
                  </a:lnTo>
                  <a:cubicBezTo>
                    <a:pt x="11856" y="650"/>
                    <a:pt x="11908" y="129"/>
                    <a:pt x="11908" y="129"/>
                  </a:cubicBezTo>
                  <a:cubicBezTo>
                    <a:pt x="11908" y="39"/>
                    <a:pt x="11856" y="0"/>
                    <a:pt x="11738" y="0"/>
                  </a:cubicBezTo>
                  <a:cubicBezTo>
                    <a:pt x="11410" y="129"/>
                    <a:pt x="10429" y="310"/>
                    <a:pt x="9905" y="349"/>
                  </a:cubicBezTo>
                  <a:cubicBezTo>
                    <a:pt x="9879" y="454"/>
                    <a:pt x="9905" y="663"/>
                    <a:pt x="9984" y="741"/>
                  </a:cubicBezTo>
                  <a:cubicBezTo>
                    <a:pt x="10664" y="781"/>
                    <a:pt x="10821" y="715"/>
                    <a:pt x="10821" y="1816"/>
                  </a:cubicBezTo>
                  <a:lnTo>
                    <a:pt x="10821" y="8208"/>
                  </a:lnTo>
                  <a:cubicBezTo>
                    <a:pt x="10821" y="8719"/>
                    <a:pt x="10808" y="8954"/>
                    <a:pt x="10769" y="9138"/>
                  </a:cubicBezTo>
                  <a:cubicBezTo>
                    <a:pt x="10834" y="9242"/>
                    <a:pt x="10900" y="9295"/>
                    <a:pt x="11057" y="9295"/>
                  </a:cubicBezTo>
                  <a:cubicBezTo>
                    <a:pt x="11135" y="9216"/>
                    <a:pt x="11267" y="9098"/>
                    <a:pt x="11371" y="8981"/>
                  </a:cubicBezTo>
                  <a:cubicBezTo>
                    <a:pt x="11502" y="8823"/>
                    <a:pt x="11581" y="8823"/>
                    <a:pt x="11725" y="8941"/>
                  </a:cubicBezTo>
                  <a:cubicBezTo>
                    <a:pt x="12026" y="9190"/>
                    <a:pt x="12418" y="9268"/>
                    <a:pt x="12877" y="9268"/>
                  </a:cubicBezTo>
                  <a:cubicBezTo>
                    <a:pt x="14212" y="9268"/>
                    <a:pt x="15770" y="8051"/>
                    <a:pt x="15770" y="5968"/>
                  </a:cubicBezTo>
                  <a:cubicBezTo>
                    <a:pt x="15770" y="4370"/>
                    <a:pt x="14592" y="3388"/>
                    <a:pt x="13453" y="3388"/>
                  </a:cubicBezTo>
                  <a:cubicBezTo>
                    <a:pt x="12890" y="3388"/>
                    <a:pt x="12392" y="3610"/>
                    <a:pt x="11986" y="3977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12" name="Paper math native glyph 4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20090" y="6086"/>
                  </a:moveTo>
                  <a:lnTo>
                    <a:pt x="20090" y="7815"/>
                  </a:lnTo>
                  <a:cubicBezTo>
                    <a:pt x="20090" y="7985"/>
                    <a:pt x="20011" y="8077"/>
                    <a:pt x="19906" y="8155"/>
                  </a:cubicBezTo>
                  <a:cubicBezTo>
                    <a:pt x="19566" y="8430"/>
                    <a:pt x="19121" y="8732"/>
                    <a:pt x="18754" y="8732"/>
                  </a:cubicBezTo>
                  <a:cubicBezTo>
                    <a:pt x="18100" y="8732"/>
                    <a:pt x="17812" y="8208"/>
                    <a:pt x="17812" y="7802"/>
                  </a:cubicBezTo>
                  <a:cubicBezTo>
                    <a:pt x="17812" y="7212"/>
                    <a:pt x="18087" y="6610"/>
                    <a:pt x="19055" y="6361"/>
                  </a:cubicBezTo>
                  <a:lnTo>
                    <a:pt x="20090" y="6086"/>
                  </a:lnTo>
                  <a:moveTo>
                    <a:pt x="20090" y="8509"/>
                  </a:moveTo>
                  <a:cubicBezTo>
                    <a:pt x="20168" y="8915"/>
                    <a:pt x="20312" y="9268"/>
                    <a:pt x="20967" y="9268"/>
                  </a:cubicBezTo>
                  <a:cubicBezTo>
                    <a:pt x="21464" y="9268"/>
                    <a:pt x="21935" y="9046"/>
                    <a:pt x="22210" y="8784"/>
                  </a:cubicBezTo>
                  <a:cubicBezTo>
                    <a:pt x="22184" y="8627"/>
                    <a:pt x="22132" y="8509"/>
                    <a:pt x="21988" y="8431"/>
                  </a:cubicBezTo>
                  <a:cubicBezTo>
                    <a:pt x="21896" y="8509"/>
                    <a:pt x="21674" y="8640"/>
                    <a:pt x="21503" y="8640"/>
                  </a:cubicBezTo>
                  <a:cubicBezTo>
                    <a:pt x="21124" y="8640"/>
                    <a:pt x="21111" y="8129"/>
                    <a:pt x="21111" y="7527"/>
                  </a:cubicBezTo>
                  <a:lnTo>
                    <a:pt x="21111" y="5601"/>
                  </a:lnTo>
                  <a:cubicBezTo>
                    <a:pt x="21111" y="3741"/>
                    <a:pt x="20090" y="3388"/>
                    <a:pt x="19134" y="3388"/>
                  </a:cubicBezTo>
                  <a:cubicBezTo>
                    <a:pt x="18060" y="3388"/>
                    <a:pt x="16974" y="4095"/>
                    <a:pt x="16974" y="4842"/>
                  </a:cubicBezTo>
                  <a:cubicBezTo>
                    <a:pt x="16974" y="5156"/>
                    <a:pt x="17131" y="5313"/>
                    <a:pt x="17432" y="5313"/>
                  </a:cubicBezTo>
                  <a:cubicBezTo>
                    <a:pt x="17812" y="5313"/>
                    <a:pt x="18047" y="5038"/>
                    <a:pt x="18047" y="4868"/>
                  </a:cubicBezTo>
                  <a:cubicBezTo>
                    <a:pt x="18047" y="4776"/>
                    <a:pt x="18034" y="4684"/>
                    <a:pt x="18008" y="4632"/>
                  </a:cubicBezTo>
                  <a:cubicBezTo>
                    <a:pt x="17995" y="4593"/>
                    <a:pt x="17982" y="4514"/>
                    <a:pt x="17982" y="4370"/>
                  </a:cubicBezTo>
                  <a:cubicBezTo>
                    <a:pt x="17982" y="3964"/>
                    <a:pt x="18532" y="3820"/>
                    <a:pt x="19029" y="3820"/>
                  </a:cubicBezTo>
                  <a:cubicBezTo>
                    <a:pt x="19474" y="3820"/>
                    <a:pt x="20090" y="4043"/>
                    <a:pt x="20090" y="5523"/>
                  </a:cubicBezTo>
                  <a:cubicBezTo>
                    <a:pt x="20090" y="5614"/>
                    <a:pt x="20050" y="5667"/>
                    <a:pt x="20011" y="5680"/>
                  </a:cubicBezTo>
                  <a:lnTo>
                    <a:pt x="18885" y="5955"/>
                  </a:lnTo>
                  <a:cubicBezTo>
                    <a:pt x="17629" y="6269"/>
                    <a:pt x="16725" y="6963"/>
                    <a:pt x="16725" y="7854"/>
                  </a:cubicBezTo>
                  <a:cubicBezTo>
                    <a:pt x="16725" y="8928"/>
                    <a:pt x="17458" y="9268"/>
                    <a:pt x="18375" y="9268"/>
                  </a:cubicBezTo>
                  <a:cubicBezTo>
                    <a:pt x="18833" y="9268"/>
                    <a:pt x="19226" y="9164"/>
                    <a:pt x="19802" y="8719"/>
                  </a:cubicBezTo>
                  <a:lnTo>
                    <a:pt x="20064" y="8509"/>
                  </a:lnTo>
                  <a:lnTo>
                    <a:pt x="20090" y="850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13" name="Paper math native glyph 5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22865" y="7330"/>
                  </a:moveTo>
                  <a:cubicBezTo>
                    <a:pt x="22917" y="7972"/>
                    <a:pt x="22957" y="8588"/>
                    <a:pt x="22957" y="9138"/>
                  </a:cubicBezTo>
                  <a:cubicBezTo>
                    <a:pt x="23087" y="9111"/>
                    <a:pt x="23218" y="9098"/>
                    <a:pt x="23284" y="9098"/>
                  </a:cubicBezTo>
                  <a:cubicBezTo>
                    <a:pt x="23375" y="9098"/>
                    <a:pt x="23454" y="9098"/>
                    <a:pt x="23546" y="9125"/>
                  </a:cubicBezTo>
                  <a:cubicBezTo>
                    <a:pt x="23899" y="9216"/>
                    <a:pt x="24253" y="9268"/>
                    <a:pt x="24737" y="9268"/>
                  </a:cubicBezTo>
                  <a:cubicBezTo>
                    <a:pt x="25470" y="9268"/>
                    <a:pt x="26818" y="8915"/>
                    <a:pt x="26818" y="7618"/>
                  </a:cubicBezTo>
                  <a:cubicBezTo>
                    <a:pt x="26818" y="6728"/>
                    <a:pt x="26177" y="6204"/>
                    <a:pt x="25287" y="5876"/>
                  </a:cubicBezTo>
                  <a:cubicBezTo>
                    <a:pt x="24501" y="5575"/>
                    <a:pt x="23978" y="5378"/>
                    <a:pt x="23978" y="4658"/>
                  </a:cubicBezTo>
                  <a:cubicBezTo>
                    <a:pt x="23978" y="4121"/>
                    <a:pt x="24449" y="3820"/>
                    <a:pt x="24894" y="3820"/>
                  </a:cubicBezTo>
                  <a:cubicBezTo>
                    <a:pt x="25182" y="3820"/>
                    <a:pt x="25941" y="3925"/>
                    <a:pt x="26111" y="5038"/>
                  </a:cubicBezTo>
                  <a:cubicBezTo>
                    <a:pt x="26190" y="5117"/>
                    <a:pt x="26452" y="5103"/>
                    <a:pt x="26530" y="5025"/>
                  </a:cubicBezTo>
                  <a:cubicBezTo>
                    <a:pt x="26570" y="4553"/>
                    <a:pt x="26596" y="4069"/>
                    <a:pt x="26609" y="3637"/>
                  </a:cubicBezTo>
                  <a:cubicBezTo>
                    <a:pt x="26203" y="3571"/>
                    <a:pt x="25575" y="3388"/>
                    <a:pt x="24894" y="3388"/>
                  </a:cubicBezTo>
                  <a:cubicBezTo>
                    <a:pt x="23925" y="3388"/>
                    <a:pt x="23048" y="4016"/>
                    <a:pt x="23048" y="4855"/>
                  </a:cubicBezTo>
                  <a:cubicBezTo>
                    <a:pt x="23048" y="5811"/>
                    <a:pt x="23480" y="6217"/>
                    <a:pt x="24488" y="6636"/>
                  </a:cubicBezTo>
                  <a:cubicBezTo>
                    <a:pt x="25575" y="7081"/>
                    <a:pt x="25823" y="7356"/>
                    <a:pt x="25823" y="7920"/>
                  </a:cubicBezTo>
                  <a:cubicBezTo>
                    <a:pt x="25823" y="8561"/>
                    <a:pt x="25195" y="8837"/>
                    <a:pt x="24711" y="8837"/>
                  </a:cubicBezTo>
                  <a:cubicBezTo>
                    <a:pt x="24200" y="8837"/>
                    <a:pt x="23912" y="8666"/>
                    <a:pt x="23781" y="8522"/>
                  </a:cubicBezTo>
                  <a:cubicBezTo>
                    <a:pt x="23493" y="8221"/>
                    <a:pt x="23349" y="7645"/>
                    <a:pt x="23271" y="7317"/>
                  </a:cubicBezTo>
                  <a:cubicBezTo>
                    <a:pt x="23192" y="7239"/>
                    <a:pt x="22943" y="7252"/>
                    <a:pt x="22865" y="733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14" name="Paper math native glyph 6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28965" y="5448"/>
                  </a:moveTo>
                  <a:cubicBezTo>
                    <a:pt x="29214" y="3975"/>
                    <a:pt x="30130" y="3858"/>
                    <a:pt x="30445" y="3858"/>
                  </a:cubicBezTo>
                  <a:cubicBezTo>
                    <a:pt x="30942" y="3858"/>
                    <a:pt x="31531" y="4132"/>
                    <a:pt x="31531" y="5227"/>
                  </a:cubicBezTo>
                  <a:cubicBezTo>
                    <a:pt x="31531" y="5344"/>
                    <a:pt x="31479" y="5409"/>
                    <a:pt x="31335" y="5409"/>
                  </a:cubicBezTo>
                  <a:lnTo>
                    <a:pt x="28965" y="5448"/>
                  </a:lnTo>
                  <a:moveTo>
                    <a:pt x="32395" y="7921"/>
                  </a:moveTo>
                  <a:cubicBezTo>
                    <a:pt x="31911" y="8418"/>
                    <a:pt x="31531" y="8627"/>
                    <a:pt x="30772" y="8627"/>
                  </a:cubicBezTo>
                  <a:cubicBezTo>
                    <a:pt x="30301" y="8627"/>
                    <a:pt x="29751" y="8352"/>
                    <a:pt x="29345" y="7685"/>
                  </a:cubicBezTo>
                  <a:cubicBezTo>
                    <a:pt x="29083" y="7254"/>
                    <a:pt x="28926" y="6652"/>
                    <a:pt x="28926" y="5893"/>
                  </a:cubicBezTo>
                  <a:lnTo>
                    <a:pt x="32408" y="5920"/>
                  </a:lnTo>
                  <a:cubicBezTo>
                    <a:pt x="32565" y="5920"/>
                    <a:pt x="32657" y="5841"/>
                    <a:pt x="32657" y="5697"/>
                  </a:cubicBezTo>
                  <a:cubicBezTo>
                    <a:pt x="32657" y="4601"/>
                    <a:pt x="32264" y="3426"/>
                    <a:pt x="30445" y="3426"/>
                  </a:cubicBezTo>
                  <a:cubicBezTo>
                    <a:pt x="29306" y="3426"/>
                    <a:pt x="27826" y="4510"/>
                    <a:pt x="27826" y="6495"/>
                  </a:cubicBezTo>
                  <a:cubicBezTo>
                    <a:pt x="27826" y="7228"/>
                    <a:pt x="28010" y="7934"/>
                    <a:pt x="28442" y="8431"/>
                  </a:cubicBezTo>
                  <a:cubicBezTo>
                    <a:pt x="28887" y="8954"/>
                    <a:pt x="29502" y="9268"/>
                    <a:pt x="30445" y="9268"/>
                  </a:cubicBezTo>
                  <a:cubicBezTo>
                    <a:pt x="31439" y="9268"/>
                    <a:pt x="32146" y="8810"/>
                    <a:pt x="32670" y="8130"/>
                  </a:cubicBezTo>
                  <a:cubicBezTo>
                    <a:pt x="32631" y="7999"/>
                    <a:pt x="32552" y="7934"/>
                    <a:pt x="32395" y="7921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15" name="Paper math native glyph 7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11777" y="15352"/>
                  </a:moveTo>
                  <a:lnTo>
                    <a:pt x="11083" y="15391"/>
                  </a:lnTo>
                  <a:cubicBezTo>
                    <a:pt x="10835" y="15405"/>
                    <a:pt x="10743" y="15509"/>
                    <a:pt x="10717" y="15614"/>
                  </a:cubicBezTo>
                  <a:cubicBezTo>
                    <a:pt x="10703" y="15653"/>
                    <a:pt x="10664" y="15810"/>
                    <a:pt x="10664" y="15836"/>
                  </a:cubicBezTo>
                  <a:cubicBezTo>
                    <a:pt x="10664" y="15863"/>
                    <a:pt x="10703" y="15863"/>
                    <a:pt x="10743" y="15863"/>
                  </a:cubicBezTo>
                  <a:lnTo>
                    <a:pt x="11659" y="15863"/>
                  </a:lnTo>
                  <a:lnTo>
                    <a:pt x="10861" y="19427"/>
                  </a:lnTo>
                  <a:cubicBezTo>
                    <a:pt x="10769" y="19847"/>
                    <a:pt x="10677" y="20253"/>
                    <a:pt x="10677" y="20502"/>
                  </a:cubicBezTo>
                  <a:cubicBezTo>
                    <a:pt x="10677" y="20973"/>
                    <a:pt x="10913" y="21104"/>
                    <a:pt x="11319" y="21104"/>
                  </a:cubicBezTo>
                  <a:cubicBezTo>
                    <a:pt x="11908" y="21104"/>
                    <a:pt x="12772" y="20567"/>
                    <a:pt x="13217" y="19755"/>
                  </a:cubicBezTo>
                  <a:cubicBezTo>
                    <a:pt x="13178" y="19585"/>
                    <a:pt x="13086" y="19506"/>
                    <a:pt x="12929" y="19506"/>
                  </a:cubicBezTo>
                  <a:cubicBezTo>
                    <a:pt x="12327" y="20188"/>
                    <a:pt x="12091" y="20319"/>
                    <a:pt x="11882" y="20319"/>
                  </a:cubicBezTo>
                  <a:cubicBezTo>
                    <a:pt x="11842" y="20319"/>
                    <a:pt x="11712" y="20292"/>
                    <a:pt x="11712" y="20135"/>
                  </a:cubicBezTo>
                  <a:cubicBezTo>
                    <a:pt x="11712" y="20017"/>
                    <a:pt x="11751" y="19755"/>
                    <a:pt x="11855" y="19309"/>
                  </a:cubicBezTo>
                  <a:lnTo>
                    <a:pt x="12628" y="15863"/>
                  </a:lnTo>
                  <a:lnTo>
                    <a:pt x="13911" y="15863"/>
                  </a:lnTo>
                  <a:cubicBezTo>
                    <a:pt x="14068" y="15797"/>
                    <a:pt x="14186" y="15457"/>
                    <a:pt x="14042" y="15352"/>
                  </a:cubicBezTo>
                  <a:lnTo>
                    <a:pt x="12746" y="15352"/>
                  </a:lnTo>
                  <a:lnTo>
                    <a:pt x="12877" y="14763"/>
                  </a:lnTo>
                  <a:cubicBezTo>
                    <a:pt x="12929" y="14514"/>
                    <a:pt x="13047" y="14135"/>
                    <a:pt x="13047" y="13978"/>
                  </a:cubicBezTo>
                  <a:cubicBezTo>
                    <a:pt x="13047" y="13755"/>
                    <a:pt x="12942" y="13624"/>
                    <a:pt x="12523" y="13624"/>
                  </a:cubicBezTo>
                  <a:cubicBezTo>
                    <a:pt x="12052" y="13624"/>
                    <a:pt x="12078" y="14213"/>
                    <a:pt x="11947" y="14698"/>
                  </a:cubicBezTo>
                  <a:lnTo>
                    <a:pt x="11777" y="1535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16" name="Paper math native glyph 8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15573" y="19733"/>
                  </a:moveTo>
                  <a:cubicBezTo>
                    <a:pt x="15168" y="19733"/>
                    <a:pt x="14880" y="20008"/>
                    <a:pt x="14880" y="20375"/>
                  </a:cubicBezTo>
                  <a:cubicBezTo>
                    <a:pt x="14880" y="20794"/>
                    <a:pt x="15220" y="20911"/>
                    <a:pt x="15455" y="20951"/>
                  </a:cubicBezTo>
                  <a:cubicBezTo>
                    <a:pt x="15704" y="20977"/>
                    <a:pt x="15927" y="21055"/>
                    <a:pt x="15927" y="21356"/>
                  </a:cubicBezTo>
                  <a:cubicBezTo>
                    <a:pt x="15927" y="21630"/>
                    <a:pt x="15455" y="22231"/>
                    <a:pt x="14775" y="22401"/>
                  </a:cubicBezTo>
                  <a:cubicBezTo>
                    <a:pt x="14775" y="22532"/>
                    <a:pt x="14801" y="22623"/>
                    <a:pt x="14893" y="22715"/>
                  </a:cubicBezTo>
                  <a:cubicBezTo>
                    <a:pt x="15678" y="22571"/>
                    <a:pt x="16437" y="21944"/>
                    <a:pt x="16437" y="21029"/>
                  </a:cubicBezTo>
                  <a:cubicBezTo>
                    <a:pt x="16437" y="20244"/>
                    <a:pt x="16097" y="19733"/>
                    <a:pt x="15573" y="1973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17" name="Paper math native glyph 9"/>
            <p:cNvSpPr/>
            <p:nvPr/>
          </p:nvSpPr>
          <p:spPr>
            <a:xfrm>
              <a:off x="0" y="0"/>
              <a:ext cx="414909" cy="288478"/>
            </a:xfrm>
            <a:custGeom>
              <a:avLst/>
              <a:gdLst/>
              <a:ahLst/>
              <a:cxnLst/>
              <a:rect l="0" t="0" r="r" b="b"/>
              <a:pathLst>
                <a:path w="32670" h="22715" stroke="0" extrusionOk="0">
                  <a:moveTo>
                    <a:pt x="22381" y="19349"/>
                  </a:moveTo>
                  <a:lnTo>
                    <a:pt x="22878" y="17266"/>
                  </a:lnTo>
                  <a:cubicBezTo>
                    <a:pt x="22983" y="16808"/>
                    <a:pt x="23048" y="16507"/>
                    <a:pt x="23048" y="16271"/>
                  </a:cubicBezTo>
                  <a:cubicBezTo>
                    <a:pt x="23048" y="15485"/>
                    <a:pt x="22695" y="15223"/>
                    <a:pt x="22184" y="15223"/>
                  </a:cubicBezTo>
                  <a:cubicBezTo>
                    <a:pt x="21504" y="15223"/>
                    <a:pt x="20941" y="15498"/>
                    <a:pt x="19736" y="16913"/>
                  </a:cubicBezTo>
                  <a:lnTo>
                    <a:pt x="19723" y="16900"/>
                  </a:lnTo>
                  <a:lnTo>
                    <a:pt x="19749" y="16782"/>
                  </a:lnTo>
                  <a:cubicBezTo>
                    <a:pt x="19880" y="16271"/>
                    <a:pt x="20037" y="15760"/>
                    <a:pt x="20037" y="15538"/>
                  </a:cubicBezTo>
                  <a:cubicBezTo>
                    <a:pt x="20037" y="15354"/>
                    <a:pt x="19946" y="15263"/>
                    <a:pt x="19775" y="15263"/>
                  </a:cubicBezTo>
                  <a:cubicBezTo>
                    <a:pt x="19357" y="15262"/>
                    <a:pt x="18741" y="15354"/>
                    <a:pt x="18126" y="15432"/>
                  </a:cubicBezTo>
                  <a:cubicBezTo>
                    <a:pt x="18034" y="15537"/>
                    <a:pt x="18061" y="15681"/>
                    <a:pt x="18139" y="15799"/>
                  </a:cubicBezTo>
                  <a:lnTo>
                    <a:pt x="18663" y="15838"/>
                  </a:lnTo>
                  <a:cubicBezTo>
                    <a:pt x="18820" y="15851"/>
                    <a:pt x="18898" y="15969"/>
                    <a:pt x="18898" y="16100"/>
                  </a:cubicBezTo>
                  <a:cubicBezTo>
                    <a:pt x="18898" y="16218"/>
                    <a:pt x="18859" y="16401"/>
                    <a:pt x="18781" y="16768"/>
                  </a:cubicBezTo>
                  <a:lnTo>
                    <a:pt x="18047" y="20030"/>
                  </a:lnTo>
                  <a:cubicBezTo>
                    <a:pt x="17982" y="20292"/>
                    <a:pt x="17877" y="20620"/>
                    <a:pt x="17877" y="20751"/>
                  </a:cubicBezTo>
                  <a:cubicBezTo>
                    <a:pt x="17877" y="20973"/>
                    <a:pt x="18021" y="21104"/>
                    <a:pt x="18440" y="21104"/>
                  </a:cubicBezTo>
                  <a:cubicBezTo>
                    <a:pt x="18938" y="21104"/>
                    <a:pt x="18925" y="20528"/>
                    <a:pt x="19042" y="20030"/>
                  </a:cubicBezTo>
                  <a:lnTo>
                    <a:pt x="19540" y="17856"/>
                  </a:lnTo>
                  <a:cubicBezTo>
                    <a:pt x="20365" y="16782"/>
                    <a:pt x="21085" y="16009"/>
                    <a:pt x="21556" y="16009"/>
                  </a:cubicBezTo>
                  <a:cubicBezTo>
                    <a:pt x="21831" y="16009"/>
                    <a:pt x="22014" y="16074"/>
                    <a:pt x="22014" y="16481"/>
                  </a:cubicBezTo>
                  <a:cubicBezTo>
                    <a:pt x="22014" y="16664"/>
                    <a:pt x="21949" y="16926"/>
                    <a:pt x="21844" y="17371"/>
                  </a:cubicBezTo>
                  <a:lnTo>
                    <a:pt x="21346" y="19467"/>
                  </a:lnTo>
                  <a:cubicBezTo>
                    <a:pt x="21242" y="19886"/>
                    <a:pt x="21124" y="20423"/>
                    <a:pt x="21124" y="20672"/>
                  </a:cubicBezTo>
                  <a:cubicBezTo>
                    <a:pt x="21124" y="20921"/>
                    <a:pt x="21268" y="21104"/>
                    <a:pt x="21661" y="21104"/>
                  </a:cubicBezTo>
                  <a:cubicBezTo>
                    <a:pt x="22289" y="21104"/>
                    <a:pt x="22917" y="20659"/>
                    <a:pt x="23519" y="19886"/>
                  </a:cubicBezTo>
                  <a:cubicBezTo>
                    <a:pt x="23480" y="19768"/>
                    <a:pt x="23402" y="19664"/>
                    <a:pt x="23218" y="19664"/>
                  </a:cubicBezTo>
                  <a:cubicBezTo>
                    <a:pt x="22878" y="20057"/>
                    <a:pt x="22498" y="20319"/>
                    <a:pt x="22367" y="20319"/>
                  </a:cubicBezTo>
                  <a:cubicBezTo>
                    <a:pt x="22276" y="20319"/>
                    <a:pt x="22237" y="20253"/>
                    <a:pt x="22237" y="20096"/>
                  </a:cubicBezTo>
                  <a:cubicBezTo>
                    <a:pt x="22237" y="19978"/>
                    <a:pt x="22302" y="19690"/>
                    <a:pt x="22381" y="1934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cxnSp>
        <p:nvCxnSpPr>
          <p:cNvPr id="1318" name="Shared predictor output"/>
          <p:cNvCxnSpPr/>
          <p:nvPr/>
        </p:nvCxnSpPr>
        <p:spPr>
          <a:xfrm>
            <a:off x="10125075" y="1990725"/>
            <a:ext cx="381000" cy="0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9" name="Current input to shared forecaster"/>
          <p:cNvCxnSpPr/>
          <p:nvPr/>
        </p:nvCxnSpPr>
        <p:spPr>
          <a:xfrm>
            <a:off x="3762375" y="1495425"/>
            <a:ext cx="523875" cy="0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0" name="Base forecast to RLS"/>
          <p:cNvCxnSpPr/>
          <p:nvPr/>
        </p:nvCxnSpPr>
        <p:spPr>
          <a:xfrm>
            <a:off x="12125325" y="1990725"/>
            <a:ext cx="923925" cy="0"/>
          </a:xfrm>
          <a:prstGeom prst="line">
            <a:avLst/>
          </a:prstGeom>
          <a:ln w="25146">
            <a:solidFill>
              <a:srgbClr val="B15E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" name="Mature-sensor identity refresh panel"/>
          <p:cNvSpPr/>
          <p:nvPr/>
        </p:nvSpPr>
        <p:spPr>
          <a:xfrm>
            <a:off x="4286250" y="3857625"/>
            <a:ext cx="3676650" cy="4848225"/>
          </a:xfrm>
          <a:prstGeom prst="roundRect">
            <a:avLst>
              <a:gd name="adj" fmla="val 8000"/>
            </a:avLst>
          </a:prstGeom>
          <a:solidFill>
            <a:srgbClr val="E3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Label · Identity refresh"/>
          <p:cNvSpPr txBox="1"/>
          <p:nvPr/>
        </p:nvSpPr>
        <p:spPr>
          <a:xfrm>
            <a:off x="4486275" y="4029075"/>
            <a:ext cx="3181350" cy="4000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6272C"/>
                </a:solidFill>
                <a:latin typeface="Times New Roman"/>
              </a:rPr>
              <a:t>Identity refresh</a:t>
            </a:r>
          </a:p>
        </p:txBody>
      </p:sp>
      <p:sp>
        <p:nvSpPr>
          <p:cNvPr id="1323" name="Label · Mature sensors"/>
          <p:cNvSpPr txBox="1"/>
          <p:nvPr/>
        </p:nvSpPr>
        <p:spPr>
          <a:xfrm>
            <a:off x="4495800" y="4419600"/>
            <a:ext cx="1685925" cy="3000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6272C"/>
                </a:solidFill>
                <a:latin typeface="Times New Roman"/>
              </a:rPr>
              <a:t>Mature sensors</a:t>
            </a:r>
          </a:p>
        </p:txBody>
      </p:sp>
      <p:grpSp>
        <p:nvGrpSpPr>
          <p:cNvPr id="1324" name="Formula · n\,\in\,\mathcal{K}" descr="Editable LaTeX source: $n\,\in\,\mathcal{K}$; native vector glyphs."/>
          <p:cNvGrpSpPr/>
          <p:nvPr/>
        </p:nvGrpSpPr>
        <p:grpSpPr>
          <a:xfrm>
            <a:off x="6229350" y="4391025"/>
            <a:ext cx="615582" cy="158401"/>
            <a:chOff x="0" y="0"/>
            <a:chExt cx="615582" cy="158401"/>
          </a:xfrm>
        </p:grpSpPr>
        <p:sp>
          <p:nvSpPr>
            <p:cNvPr id="1325" name="Paper math native glyph 1"/>
            <p:cNvSpPr/>
            <p:nvPr/>
          </p:nvSpPr>
          <p:spPr>
            <a:xfrm>
              <a:off x="0" y="0"/>
              <a:ext cx="615582" cy="158401"/>
            </a:xfrm>
            <a:custGeom>
              <a:avLst/>
              <a:gdLst/>
              <a:ahLst/>
              <a:cxnLst/>
              <a:rect l="0" t="0" r="r" b="b"/>
              <a:pathLst>
                <a:path w="48471" h="12472" stroke="0" extrusionOk="0">
                  <a:moveTo>
                    <a:pt x="5912" y="9847"/>
                  </a:moveTo>
                  <a:lnTo>
                    <a:pt x="6565" y="7113"/>
                  </a:lnTo>
                  <a:cubicBezTo>
                    <a:pt x="6702" y="6511"/>
                    <a:pt x="6788" y="6115"/>
                    <a:pt x="6788" y="5806"/>
                  </a:cubicBezTo>
                  <a:cubicBezTo>
                    <a:pt x="6788" y="4774"/>
                    <a:pt x="6324" y="4431"/>
                    <a:pt x="5654" y="4431"/>
                  </a:cubicBezTo>
                  <a:cubicBezTo>
                    <a:pt x="4761" y="4431"/>
                    <a:pt x="4022" y="4792"/>
                    <a:pt x="2440" y="6649"/>
                  </a:cubicBezTo>
                  <a:lnTo>
                    <a:pt x="2423" y="6631"/>
                  </a:lnTo>
                  <a:lnTo>
                    <a:pt x="2458" y="6477"/>
                  </a:lnTo>
                  <a:cubicBezTo>
                    <a:pt x="2629" y="5806"/>
                    <a:pt x="2836" y="5135"/>
                    <a:pt x="2836" y="4843"/>
                  </a:cubicBezTo>
                  <a:cubicBezTo>
                    <a:pt x="2836" y="4603"/>
                    <a:pt x="2715" y="4482"/>
                    <a:pt x="2492" y="4482"/>
                  </a:cubicBezTo>
                  <a:cubicBezTo>
                    <a:pt x="1942" y="4482"/>
                    <a:pt x="1134" y="4602"/>
                    <a:pt x="326" y="4705"/>
                  </a:cubicBezTo>
                  <a:cubicBezTo>
                    <a:pt x="206" y="4842"/>
                    <a:pt x="241" y="5031"/>
                    <a:pt x="344" y="5186"/>
                  </a:cubicBezTo>
                  <a:lnTo>
                    <a:pt x="1031" y="5238"/>
                  </a:lnTo>
                  <a:cubicBezTo>
                    <a:pt x="1237" y="5255"/>
                    <a:pt x="1341" y="5410"/>
                    <a:pt x="1341" y="5582"/>
                  </a:cubicBezTo>
                  <a:cubicBezTo>
                    <a:pt x="1341" y="5736"/>
                    <a:pt x="1289" y="5977"/>
                    <a:pt x="1186" y="6459"/>
                  </a:cubicBezTo>
                  <a:lnTo>
                    <a:pt x="223" y="10741"/>
                  </a:lnTo>
                  <a:cubicBezTo>
                    <a:pt x="138" y="11085"/>
                    <a:pt x="0" y="11515"/>
                    <a:pt x="0" y="11687"/>
                  </a:cubicBezTo>
                  <a:cubicBezTo>
                    <a:pt x="0" y="11979"/>
                    <a:pt x="189" y="12151"/>
                    <a:pt x="739" y="12151"/>
                  </a:cubicBezTo>
                  <a:cubicBezTo>
                    <a:pt x="1392" y="12151"/>
                    <a:pt x="1375" y="11395"/>
                    <a:pt x="1530" y="10741"/>
                  </a:cubicBezTo>
                  <a:lnTo>
                    <a:pt x="2183" y="7886"/>
                  </a:lnTo>
                  <a:cubicBezTo>
                    <a:pt x="3265" y="6477"/>
                    <a:pt x="4211" y="5462"/>
                    <a:pt x="4829" y="5462"/>
                  </a:cubicBezTo>
                  <a:cubicBezTo>
                    <a:pt x="5190" y="5462"/>
                    <a:pt x="5431" y="5548"/>
                    <a:pt x="5431" y="6081"/>
                  </a:cubicBezTo>
                  <a:cubicBezTo>
                    <a:pt x="5431" y="6322"/>
                    <a:pt x="5345" y="6666"/>
                    <a:pt x="5207" y="7250"/>
                  </a:cubicBezTo>
                  <a:lnTo>
                    <a:pt x="4554" y="10002"/>
                  </a:lnTo>
                  <a:cubicBezTo>
                    <a:pt x="4417" y="10552"/>
                    <a:pt x="4262" y="11257"/>
                    <a:pt x="4262" y="11584"/>
                  </a:cubicBezTo>
                  <a:cubicBezTo>
                    <a:pt x="4262" y="11910"/>
                    <a:pt x="4451" y="12151"/>
                    <a:pt x="4967" y="12151"/>
                  </a:cubicBezTo>
                  <a:cubicBezTo>
                    <a:pt x="5792" y="12151"/>
                    <a:pt x="6617" y="11566"/>
                    <a:pt x="7407" y="10552"/>
                  </a:cubicBezTo>
                  <a:cubicBezTo>
                    <a:pt x="7356" y="10397"/>
                    <a:pt x="7252" y="10260"/>
                    <a:pt x="7012" y="10260"/>
                  </a:cubicBezTo>
                  <a:cubicBezTo>
                    <a:pt x="6565" y="10776"/>
                    <a:pt x="6066" y="11120"/>
                    <a:pt x="5895" y="11120"/>
                  </a:cubicBezTo>
                  <a:cubicBezTo>
                    <a:pt x="5774" y="11120"/>
                    <a:pt x="5723" y="11034"/>
                    <a:pt x="5723" y="10827"/>
                  </a:cubicBezTo>
                  <a:cubicBezTo>
                    <a:pt x="5723" y="10673"/>
                    <a:pt x="5809" y="10294"/>
                    <a:pt x="5912" y="9847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26" name="Paper math native glyph 2"/>
            <p:cNvSpPr/>
            <p:nvPr/>
          </p:nvSpPr>
          <p:spPr>
            <a:xfrm>
              <a:off x="0" y="0"/>
              <a:ext cx="615582" cy="158401"/>
            </a:xfrm>
            <a:custGeom>
              <a:avLst/>
              <a:gdLst/>
              <a:ahLst/>
              <a:cxnLst/>
              <a:rect l="0" t="0" r="r" b="b"/>
              <a:pathLst>
                <a:path w="48471" h="12472" stroke="0" extrusionOk="0">
                  <a:moveTo>
                    <a:pt x="24274" y="11849"/>
                  </a:moveTo>
                  <a:lnTo>
                    <a:pt x="24274" y="10990"/>
                  </a:lnTo>
                  <a:lnTo>
                    <a:pt x="21008" y="10990"/>
                  </a:lnTo>
                  <a:cubicBezTo>
                    <a:pt x="19462" y="10990"/>
                    <a:pt x="17949" y="9715"/>
                    <a:pt x="17743" y="7992"/>
                  </a:cubicBezTo>
                  <a:lnTo>
                    <a:pt x="23982" y="7992"/>
                  </a:lnTo>
                  <a:lnTo>
                    <a:pt x="23982" y="7133"/>
                  </a:lnTo>
                  <a:lnTo>
                    <a:pt x="17743" y="7133"/>
                  </a:lnTo>
                  <a:cubicBezTo>
                    <a:pt x="17932" y="5502"/>
                    <a:pt x="19290" y="4145"/>
                    <a:pt x="21008" y="4145"/>
                  </a:cubicBezTo>
                  <a:lnTo>
                    <a:pt x="24274" y="4145"/>
                  </a:lnTo>
                  <a:lnTo>
                    <a:pt x="24274" y="3286"/>
                  </a:lnTo>
                  <a:lnTo>
                    <a:pt x="21077" y="3286"/>
                  </a:lnTo>
                  <a:cubicBezTo>
                    <a:pt x="18688" y="3286"/>
                    <a:pt x="16849" y="5279"/>
                    <a:pt x="16849" y="7562"/>
                  </a:cubicBezTo>
                  <a:cubicBezTo>
                    <a:pt x="16849" y="9853"/>
                    <a:pt x="18688" y="11849"/>
                    <a:pt x="21077" y="11849"/>
                  </a:cubicBezTo>
                  <a:lnTo>
                    <a:pt x="24274" y="1184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327" name="Paper math native glyph 3"/>
            <p:cNvSpPr/>
            <p:nvPr/>
          </p:nvSpPr>
          <p:spPr>
            <a:xfrm>
              <a:off x="0" y="0"/>
              <a:ext cx="615582" cy="158401"/>
            </a:xfrm>
            <a:custGeom>
              <a:avLst/>
              <a:gdLst/>
              <a:ahLst/>
              <a:cxnLst/>
              <a:rect l="0" t="0" r="r" b="b"/>
              <a:pathLst>
                <a:path w="48471" h="12472" stroke="0" extrusionOk="0">
                  <a:moveTo>
                    <a:pt x="48471" y="1323"/>
                  </a:moveTo>
                  <a:cubicBezTo>
                    <a:pt x="48471" y="705"/>
                    <a:pt x="48351" y="0"/>
                    <a:pt x="47577" y="0"/>
                  </a:cubicBezTo>
                  <a:cubicBezTo>
                    <a:pt x="43968" y="0"/>
                    <a:pt x="41958" y="5608"/>
                    <a:pt x="39655" y="5677"/>
                  </a:cubicBezTo>
                  <a:cubicBezTo>
                    <a:pt x="40256" y="3887"/>
                    <a:pt x="40737" y="2046"/>
                    <a:pt x="41408" y="275"/>
                  </a:cubicBezTo>
                  <a:cubicBezTo>
                    <a:pt x="41133" y="172"/>
                    <a:pt x="40823" y="120"/>
                    <a:pt x="40531" y="120"/>
                  </a:cubicBezTo>
                  <a:cubicBezTo>
                    <a:pt x="39792" y="120"/>
                    <a:pt x="39053" y="258"/>
                    <a:pt x="38349" y="447"/>
                  </a:cubicBezTo>
                  <a:cubicBezTo>
                    <a:pt x="36991" y="808"/>
                    <a:pt x="33262" y="2270"/>
                    <a:pt x="33262" y="3939"/>
                  </a:cubicBezTo>
                  <a:cubicBezTo>
                    <a:pt x="33262" y="4799"/>
                    <a:pt x="34001" y="6073"/>
                    <a:pt x="34963" y="6073"/>
                  </a:cubicBezTo>
                  <a:cubicBezTo>
                    <a:pt x="35032" y="6073"/>
                    <a:pt x="35101" y="6055"/>
                    <a:pt x="35169" y="6021"/>
                  </a:cubicBezTo>
                  <a:cubicBezTo>
                    <a:pt x="34757" y="5660"/>
                    <a:pt x="34688" y="5057"/>
                    <a:pt x="34688" y="4541"/>
                  </a:cubicBezTo>
                  <a:cubicBezTo>
                    <a:pt x="34688" y="2442"/>
                    <a:pt x="36853" y="963"/>
                    <a:pt x="38795" y="963"/>
                  </a:cubicBezTo>
                  <a:cubicBezTo>
                    <a:pt x="38916" y="963"/>
                    <a:pt x="39019" y="963"/>
                    <a:pt x="39139" y="980"/>
                  </a:cubicBezTo>
                  <a:cubicBezTo>
                    <a:pt x="38985" y="3595"/>
                    <a:pt x="37644" y="7071"/>
                    <a:pt x="36716" y="9566"/>
                  </a:cubicBezTo>
                  <a:cubicBezTo>
                    <a:pt x="36407" y="10375"/>
                    <a:pt x="35754" y="12198"/>
                    <a:pt x="34740" y="12283"/>
                  </a:cubicBezTo>
                  <a:cubicBezTo>
                    <a:pt x="34912" y="12404"/>
                    <a:pt x="35135" y="12472"/>
                    <a:pt x="35341" y="12472"/>
                  </a:cubicBezTo>
                  <a:cubicBezTo>
                    <a:pt x="35857" y="12472"/>
                    <a:pt x="37352" y="11751"/>
                    <a:pt x="37730" y="11390"/>
                  </a:cubicBezTo>
                  <a:cubicBezTo>
                    <a:pt x="38057" y="11080"/>
                    <a:pt x="39328" y="7053"/>
                    <a:pt x="39517" y="6348"/>
                  </a:cubicBezTo>
                  <a:cubicBezTo>
                    <a:pt x="39895" y="6227"/>
                    <a:pt x="40256" y="6107"/>
                    <a:pt x="40617" y="5969"/>
                  </a:cubicBezTo>
                  <a:cubicBezTo>
                    <a:pt x="40961" y="6950"/>
                    <a:pt x="42972" y="12352"/>
                    <a:pt x="43917" y="12352"/>
                  </a:cubicBezTo>
                  <a:cubicBezTo>
                    <a:pt x="44518" y="12352"/>
                    <a:pt x="45979" y="11991"/>
                    <a:pt x="46082" y="11269"/>
                  </a:cubicBezTo>
                  <a:cubicBezTo>
                    <a:pt x="46031" y="11321"/>
                    <a:pt x="45979" y="11338"/>
                    <a:pt x="45910" y="11338"/>
                  </a:cubicBezTo>
                  <a:cubicBezTo>
                    <a:pt x="44312" y="11338"/>
                    <a:pt x="42559" y="6399"/>
                    <a:pt x="42147" y="5057"/>
                  </a:cubicBezTo>
                  <a:cubicBezTo>
                    <a:pt x="43212" y="4059"/>
                    <a:pt x="46065" y="1530"/>
                    <a:pt x="47491" y="1530"/>
                  </a:cubicBezTo>
                  <a:cubicBezTo>
                    <a:pt x="47938" y="1530"/>
                    <a:pt x="48230" y="1874"/>
                    <a:pt x="48179" y="2304"/>
                  </a:cubicBezTo>
                  <a:lnTo>
                    <a:pt x="48368" y="2218"/>
                  </a:lnTo>
                  <a:cubicBezTo>
                    <a:pt x="48437" y="1926"/>
                    <a:pt x="48471" y="1616"/>
                    <a:pt x="48471" y="132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328" name="Recent released fitting windows"/>
          <p:cNvSpPr/>
          <p:nvPr/>
        </p:nvSpPr>
        <p:spPr>
          <a:xfrm>
            <a:off x="4476750" y="4791075"/>
            <a:ext cx="3295650" cy="1162050"/>
          </a:xfrm>
          <a:prstGeom prst="roundRect">
            <a:avLst>
              <a:gd name="adj" fmla="val 8000"/>
            </a:avLst>
          </a:prstGeom>
          <a:solidFill>
            <a:srgbClr val="F2F8EC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29" name="Original released data stack for identity fitting"/>
          <p:cNvGrpSpPr/>
          <p:nvPr/>
        </p:nvGrpSpPr>
        <p:grpSpPr>
          <a:xfrm>
            <a:off x="4638675" y="5057775"/>
            <a:ext cx="1143000" cy="600075"/>
            <a:chOff x="0" y="0"/>
            <a:chExt cx="2581903" cy="873631"/>
          </a:xfrm>
        </p:grpSpPr>
        <p:grpSp>
          <p:nvGrpSpPr>
            <p:cNvPr id="1330" name="Editable vector · Freeform 144"/>
            <p:cNvGrpSpPr/>
            <p:nvPr/>
          </p:nvGrpSpPr>
          <p:grpSpPr>
            <a:xfrm>
              <a:off x="538906" y="0"/>
              <a:ext cx="792898" cy="451952"/>
              <a:chOff x="0" y="0"/>
              <a:chExt cx="792898" cy="451952"/>
            </a:xfrm>
          </p:grpSpPr>
          <p:sp>
            <p:nvSpPr>
              <p:cNvPr id="1331" name="Freeform 144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32" name="Freeform 144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33" name="Freeform 144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334" name="Freeform 144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35" name="Freeform 144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336" name="Freeform 144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37" name="Freeform 144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338" name="Freeform 144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39" name="Freeform 144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340" name="Freeform 144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41" name="Freeform 144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342" name="Freeform 144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43" name="Freeform 144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344" name="Freeform 144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345" name="Editable vector · Freeform 145"/>
            <p:cNvGrpSpPr/>
            <p:nvPr/>
          </p:nvGrpSpPr>
          <p:grpSpPr>
            <a:xfrm>
              <a:off x="1156354" y="0"/>
              <a:ext cx="792898" cy="451952"/>
              <a:chOff x="0" y="0"/>
              <a:chExt cx="792898" cy="451952"/>
            </a:xfrm>
          </p:grpSpPr>
          <p:sp>
            <p:nvSpPr>
              <p:cNvPr id="1346" name="Freeform 145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47" name="Freeform 145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48" name="Freeform 145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349" name="Freeform 145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50" name="Freeform 145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351" name="Freeform 145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52" name="Freeform 145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353" name="Freeform 145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54" name="Freeform 145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355" name="Freeform 145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56" name="Freeform 145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357" name="Freeform 145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58" name="Freeform 145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359" name="Freeform 145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360" name="Editable vector · Freeform 146"/>
            <p:cNvGrpSpPr/>
            <p:nvPr/>
          </p:nvGrpSpPr>
          <p:grpSpPr>
            <a:xfrm>
              <a:off x="1789005" y="0"/>
              <a:ext cx="792898" cy="451952"/>
              <a:chOff x="0" y="0"/>
              <a:chExt cx="792898" cy="451952"/>
            </a:xfrm>
          </p:grpSpPr>
          <p:sp>
            <p:nvSpPr>
              <p:cNvPr id="1361" name="Freeform 146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62" name="Freeform 146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63" name="Freeform 146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364" name="Freeform 146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65" name="Freeform 146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366" name="Freeform 146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67" name="Freeform 146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368" name="Freeform 146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69" name="Freeform 146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CE4F5"/>
              </a:solidFill>
              <a:ln>
                <a:noFill/>
              </a:ln>
              <a:effectLst/>
            </p:spPr>
          </p:sp>
          <p:sp>
            <p:nvSpPr>
              <p:cNvPr id="1370" name="Freeform 146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71" name="Freeform 146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372" name="Freeform 146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  <p:sp>
            <p:nvSpPr>
              <p:cNvPr id="1373" name="Freeform 146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AEFF9"/>
              </a:solidFill>
              <a:ln>
                <a:noFill/>
              </a:ln>
              <a:effectLst/>
            </p:spPr>
          </p:sp>
          <p:sp>
            <p:nvSpPr>
              <p:cNvPr id="1374" name="Freeform 146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7A0B1"/>
              </a:solidFill>
              <a:ln>
                <a:noFill/>
              </a:ln>
              <a:effectLst/>
            </p:spPr>
          </p:sp>
        </p:grpSp>
        <p:grpSp>
          <p:nvGrpSpPr>
            <p:cNvPr id="1375" name="Editable vector · Freeform 147"/>
            <p:cNvGrpSpPr/>
            <p:nvPr/>
          </p:nvGrpSpPr>
          <p:grpSpPr>
            <a:xfrm>
              <a:off x="379986" y="123657"/>
              <a:ext cx="792898" cy="451952"/>
              <a:chOff x="0" y="0"/>
              <a:chExt cx="792898" cy="451952"/>
            </a:xfrm>
          </p:grpSpPr>
          <p:sp>
            <p:nvSpPr>
              <p:cNvPr id="1376" name="Freeform 147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77" name="Freeform 147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78" name="Freeform 147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379" name="Freeform 147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80" name="Freeform 147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381" name="Freeform 147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82" name="Freeform 147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383" name="Freeform 147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84" name="Freeform 147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385" name="Freeform 147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86" name="Freeform 147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387" name="Freeform 147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88" name="Freeform 147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389" name="Freeform 147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1390" name="Editable vector · Freeform 148"/>
            <p:cNvGrpSpPr/>
            <p:nvPr/>
          </p:nvGrpSpPr>
          <p:grpSpPr>
            <a:xfrm>
              <a:off x="1008487" y="123657"/>
              <a:ext cx="792898" cy="451952"/>
              <a:chOff x="0" y="0"/>
              <a:chExt cx="792898" cy="451952"/>
            </a:xfrm>
          </p:grpSpPr>
          <p:sp>
            <p:nvSpPr>
              <p:cNvPr id="1391" name="Freeform 148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92" name="Freeform 148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93" name="Freeform 148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394" name="Freeform 148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95" name="Freeform 148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396" name="Freeform 148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97" name="Freeform 148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398" name="Freeform 148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399" name="Freeform 148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400" name="Freeform 148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01" name="Freeform 148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402" name="Freeform 148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03" name="Freeform 148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404" name="Freeform 148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1405" name="Editable vector · Freeform 149"/>
            <p:cNvGrpSpPr/>
            <p:nvPr/>
          </p:nvGrpSpPr>
          <p:grpSpPr>
            <a:xfrm>
              <a:off x="1633536" y="123657"/>
              <a:ext cx="792898" cy="451952"/>
              <a:chOff x="0" y="0"/>
              <a:chExt cx="792898" cy="451952"/>
            </a:xfrm>
          </p:grpSpPr>
          <p:sp>
            <p:nvSpPr>
              <p:cNvPr id="1406" name="Freeform 149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07" name="Freeform 149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08" name="Freeform 149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409" name="Freeform 149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10" name="Freeform 149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411" name="Freeform 149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12" name="Freeform 149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413" name="Freeform 149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14" name="Freeform 149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415" name="Freeform 149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16" name="Freeform 149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E2E9F7"/>
              </a:solidFill>
              <a:ln>
                <a:noFill/>
              </a:ln>
              <a:effectLst/>
            </p:spPr>
          </p:sp>
          <p:sp>
            <p:nvSpPr>
              <p:cNvPr id="1417" name="Freeform 149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  <p:sp>
            <p:nvSpPr>
              <p:cNvPr id="1418" name="Freeform 149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F1F4FB"/>
              </a:solidFill>
              <a:ln>
                <a:noFill/>
              </a:ln>
              <a:effectLst/>
            </p:spPr>
          </p:sp>
          <p:sp>
            <p:nvSpPr>
              <p:cNvPr id="1419" name="Freeform 149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EA7B9"/>
              </a:solidFill>
              <a:ln>
                <a:noFill/>
              </a:ln>
              <a:effectLst/>
            </p:spPr>
          </p:sp>
        </p:grpSp>
        <p:grpSp>
          <p:nvGrpSpPr>
            <p:cNvPr id="1420" name="Editable vector · Freeform 150"/>
            <p:cNvGrpSpPr/>
            <p:nvPr/>
          </p:nvGrpSpPr>
          <p:grpSpPr>
            <a:xfrm>
              <a:off x="233265" y="238676"/>
              <a:ext cx="792898" cy="451952"/>
              <a:chOff x="0" y="0"/>
              <a:chExt cx="792898" cy="451952"/>
            </a:xfrm>
          </p:grpSpPr>
          <p:sp>
            <p:nvSpPr>
              <p:cNvPr id="1421" name="Freeform 150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22" name="Freeform 150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23" name="Freeform 150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424" name="Freeform 150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25" name="Freeform 150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426" name="Freeform 150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27" name="Freeform 150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428" name="Freeform 150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29" name="Freeform 150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430" name="Freeform 150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31" name="Freeform 150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432" name="Freeform 150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33" name="Freeform 150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434" name="Freeform 150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1435" name="Editable vector · Freeform 151"/>
            <p:cNvGrpSpPr/>
            <p:nvPr/>
          </p:nvGrpSpPr>
          <p:grpSpPr>
            <a:xfrm>
              <a:off x="856321" y="238676"/>
              <a:ext cx="792898" cy="451952"/>
              <a:chOff x="0" y="0"/>
              <a:chExt cx="792898" cy="451952"/>
            </a:xfrm>
          </p:grpSpPr>
          <p:sp>
            <p:nvSpPr>
              <p:cNvPr id="1436" name="Freeform 151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37" name="Freeform 151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38" name="Freeform 151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439" name="Freeform 151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40" name="Freeform 151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441" name="Freeform 151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42" name="Freeform 151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443" name="Freeform 151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44" name="Freeform 151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445" name="Freeform 151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46" name="Freeform 151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447" name="Freeform 151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48" name="Freeform 151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449" name="Freeform 151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1450" name="Editable vector · Freeform 152"/>
            <p:cNvGrpSpPr/>
            <p:nvPr/>
          </p:nvGrpSpPr>
          <p:grpSpPr>
            <a:xfrm>
              <a:off x="1495212" y="238676"/>
              <a:ext cx="792898" cy="451952"/>
              <a:chOff x="0" y="0"/>
              <a:chExt cx="792898" cy="451952"/>
            </a:xfrm>
          </p:grpSpPr>
          <p:sp>
            <p:nvSpPr>
              <p:cNvPr id="1451" name="Freeform 152 · vector path 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52" name="Freeform 152 · vector path 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53" name="Freeform 152 · vector path 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454" name="Freeform 152 · vector path 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55" name="Freeform 152 · vector path 5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456" name="Freeform 152 · vector path 6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57" name="Freeform 152 · vector path 7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458" name="Freeform 152 · vector path 8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59" name="Freeform 152 · vector path 9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D8E1F4"/>
              </a:solidFill>
              <a:ln>
                <a:noFill/>
              </a:ln>
              <a:effectLst/>
            </p:spPr>
          </p:sp>
          <p:sp>
            <p:nvSpPr>
              <p:cNvPr id="1460" name="Freeform 152 · vector path 10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61" name="Freeform 152 · vector path 11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CDD6E9"/>
              </a:solidFill>
              <a:ln>
                <a:noFill/>
              </a:ln>
              <a:effectLst/>
            </p:spPr>
          </p:sp>
          <p:sp>
            <p:nvSpPr>
              <p:cNvPr id="1462" name="Freeform 152 · vector path 12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  <p:sp>
            <p:nvSpPr>
              <p:cNvPr id="1463" name="Freeform 152 · vector path 13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CF0FA"/>
              </a:solidFill>
              <a:ln>
                <a:noFill/>
              </a:ln>
              <a:effectLst/>
            </p:spPr>
          </p:sp>
          <p:sp>
            <p:nvSpPr>
              <p:cNvPr id="1464" name="Freeform 152 · vector path 14"/>
              <p:cNvSpPr/>
              <p:nvPr/>
            </p:nvSpPr>
            <p:spPr>
              <a:xfrm>
                <a:off x="0" y="0"/>
                <a:ext cx="792898" cy="451952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8A93A3"/>
              </a:solidFill>
              <a:ln>
                <a:noFill/>
              </a:ln>
              <a:effectLst/>
            </p:spPr>
          </p:sp>
        </p:grpSp>
        <p:grpSp>
          <p:nvGrpSpPr>
            <p:cNvPr id="1465" name="Editable vector · Freeform 153"/>
            <p:cNvGrpSpPr/>
            <p:nvPr/>
          </p:nvGrpSpPr>
          <p:grpSpPr>
            <a:xfrm>
              <a:off x="0" y="422202"/>
              <a:ext cx="791981" cy="451429"/>
              <a:chOff x="0" y="0"/>
              <a:chExt cx="791981" cy="451429"/>
            </a:xfrm>
          </p:grpSpPr>
          <p:sp>
            <p:nvSpPr>
              <p:cNvPr id="1466" name="Freeform 153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67" name="Freeform 153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68" name="Freeform 153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1469" name="Freeform 153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70" name="Freeform 153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1471" name="Freeform 153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72" name="Freeform 153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1473" name="Freeform 153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74" name="Freeform 153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1475" name="Freeform 153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76" name="Freeform 153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1477" name="Freeform 153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78" name="Freeform 153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1479" name="Freeform 153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  <p:grpSp>
          <p:nvGrpSpPr>
            <p:cNvPr id="1480" name="Editable vector · Freeform 154"/>
            <p:cNvGrpSpPr/>
            <p:nvPr/>
          </p:nvGrpSpPr>
          <p:grpSpPr>
            <a:xfrm>
              <a:off x="636087" y="422202"/>
              <a:ext cx="791981" cy="451429"/>
              <a:chOff x="0" y="0"/>
              <a:chExt cx="791981" cy="451429"/>
            </a:xfrm>
          </p:grpSpPr>
          <p:sp>
            <p:nvSpPr>
              <p:cNvPr id="1481" name="Freeform 154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82" name="Freeform 154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83" name="Freeform 154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1484" name="Freeform 154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85" name="Freeform 154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1486" name="Freeform 154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87" name="Freeform 154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1488" name="Freeform 154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89" name="Freeform 154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1490" name="Freeform 154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91" name="Freeform 154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1492" name="Freeform 154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93" name="Freeform 154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1494" name="Freeform 154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  <p:grpSp>
          <p:nvGrpSpPr>
            <p:cNvPr id="1495" name="Editable vector · Freeform 155"/>
            <p:cNvGrpSpPr/>
            <p:nvPr/>
          </p:nvGrpSpPr>
          <p:grpSpPr>
            <a:xfrm>
              <a:off x="1271218" y="422202"/>
              <a:ext cx="791981" cy="451429"/>
              <a:chOff x="0" y="0"/>
              <a:chExt cx="791981" cy="451429"/>
            </a:xfrm>
          </p:grpSpPr>
          <p:sp>
            <p:nvSpPr>
              <p:cNvPr id="1496" name="Freeform 155 · vector path 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367607" y="2701"/>
                    </a:lnTo>
                    <a:lnTo>
                      <a:pt x="367606" y="2701"/>
                    </a:lnTo>
                    <a:lnTo>
                      <a:pt x="367606" y="2701"/>
                    </a:lnTo>
                    <a:lnTo>
                      <a:pt x="117607" y="2701"/>
                    </a:lnTo>
                    <a:lnTo>
                      <a:pt x="2700" y="99119"/>
                    </a:lnTo>
                    <a:lnTo>
                      <a:pt x="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25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502700" y="349119"/>
                    </a:lnTo>
                    <a:lnTo>
                      <a:pt x="617606" y="25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97" name="Freeform 155 · vector path 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8380"/>
                      <a:pt x="527" y="97679"/>
                      <a:pt x="1093" y="97204"/>
                    </a:cubicBezTo>
                    <a:lnTo>
                      <a:pt x="116000" y="786"/>
                    </a:lnTo>
                    <a:cubicBezTo>
                      <a:pt x="116450" y="408"/>
                      <a:pt x="117019" y="201"/>
                      <a:pt x="117607" y="201"/>
                    </a:cubicBezTo>
                    <a:lnTo>
                      <a:pt x="617607" y="201"/>
                    </a:lnTo>
                    <a:cubicBezTo>
                      <a:pt x="618988" y="201"/>
                      <a:pt x="620107" y="1320"/>
                      <a:pt x="620107" y="2701"/>
                    </a:cubicBezTo>
                    <a:lnTo>
                      <a:pt x="620107" y="252701"/>
                    </a:lnTo>
                    <a:cubicBezTo>
                      <a:pt x="620107" y="253440"/>
                      <a:pt x="619780" y="254141"/>
                      <a:pt x="619214" y="254616"/>
                    </a:cubicBezTo>
                    <a:lnTo>
                      <a:pt x="504308" y="351034"/>
                    </a:lnTo>
                    <a:cubicBezTo>
                      <a:pt x="503857" y="351412"/>
                      <a:pt x="503288" y="351619"/>
                      <a:pt x="502700" y="351619"/>
                    </a:cubicBezTo>
                    <a:close/>
                    <a:moveTo>
                      <a:pt x="5200" y="346619"/>
                    </a:moveTo>
                    <a:lnTo>
                      <a:pt x="501789" y="346619"/>
                    </a:lnTo>
                    <a:lnTo>
                      <a:pt x="615106" y="251535"/>
                    </a:lnTo>
                    <a:lnTo>
                      <a:pt x="615106" y="5201"/>
                    </a:lnTo>
                    <a:lnTo>
                      <a:pt x="118517" y="5201"/>
                    </a:lnTo>
                    <a:lnTo>
                      <a:pt x="5200" y="100285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498" name="Freeform 155 · vector path 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700" y="99119"/>
                    </a:moveTo>
                    <a:lnTo>
                      <a:pt x="252700" y="99119"/>
                    </a:lnTo>
                    <a:lnTo>
                      <a:pt x="252700" y="349119"/>
                    </a:lnTo>
                    <a:lnTo>
                      <a:pt x="2700" y="349119"/>
                    </a:lnTo>
                    <a:lnTo>
                      <a:pt x="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1499" name="Freeform 155 · vector path 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351619"/>
                    </a:moveTo>
                    <a:lnTo>
                      <a:pt x="2700" y="351619"/>
                    </a:lnTo>
                    <a:cubicBezTo>
                      <a:pt x="1319" y="351619"/>
                      <a:pt x="200" y="350500"/>
                      <a:pt x="200" y="349119"/>
                    </a:cubicBezTo>
                    <a:lnTo>
                      <a:pt x="200" y="99119"/>
                    </a:lnTo>
                    <a:cubicBezTo>
                      <a:pt x="200" y="97738"/>
                      <a:pt x="1319" y="96619"/>
                      <a:pt x="2700" y="96619"/>
                    </a:cubicBezTo>
                    <a:lnTo>
                      <a:pt x="252700" y="96619"/>
                    </a:lnTo>
                    <a:cubicBezTo>
                      <a:pt x="254081" y="96619"/>
                      <a:pt x="255200" y="97738"/>
                      <a:pt x="255200" y="99119"/>
                    </a:cubicBezTo>
                    <a:lnTo>
                      <a:pt x="255200" y="349119"/>
                    </a:lnTo>
                    <a:cubicBezTo>
                      <a:pt x="255200" y="350500"/>
                      <a:pt x="254081" y="351619"/>
                      <a:pt x="252700" y="351619"/>
                    </a:cubicBezTo>
                    <a:close/>
                    <a:moveTo>
                      <a:pt x="5200" y="346619"/>
                    </a:moveTo>
                    <a:lnTo>
                      <a:pt x="250200" y="346619"/>
                    </a:lnTo>
                    <a:lnTo>
                      <a:pt x="250200" y="101619"/>
                    </a:lnTo>
                    <a:lnTo>
                      <a:pt x="5200" y="101619"/>
                    </a:lnTo>
                    <a:lnTo>
                      <a:pt x="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500" name="Freeform 155 · vector path 5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367606" y="2701"/>
                    </a:lnTo>
                    <a:lnTo>
                      <a:pt x="367606" y="252701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1501" name="Freeform 155 · vector path 6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699" y="351619"/>
                    </a:moveTo>
                    <a:cubicBezTo>
                      <a:pt x="252341" y="351619"/>
                      <a:pt x="251980" y="351542"/>
                      <a:pt x="251643" y="351385"/>
                    </a:cubicBezTo>
                    <a:cubicBezTo>
                      <a:pt x="250763" y="350975"/>
                      <a:pt x="250200" y="350091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8380"/>
                      <a:pt x="250527" y="97679"/>
                      <a:pt x="251093" y="97204"/>
                    </a:cubicBezTo>
                    <a:lnTo>
                      <a:pt x="365999" y="785"/>
                    </a:lnTo>
                    <a:cubicBezTo>
                      <a:pt x="366743" y="160"/>
                      <a:pt x="367782" y="23"/>
                      <a:pt x="368663" y="434"/>
                    </a:cubicBezTo>
                    <a:cubicBezTo>
                      <a:pt x="369543" y="844"/>
                      <a:pt x="370106" y="1728"/>
                      <a:pt x="370106" y="2700"/>
                    </a:cubicBezTo>
                    <a:lnTo>
                      <a:pt x="370106" y="252701"/>
                    </a:lnTo>
                    <a:cubicBezTo>
                      <a:pt x="370106" y="253440"/>
                      <a:pt x="369779" y="254141"/>
                      <a:pt x="369213" y="254616"/>
                    </a:cubicBezTo>
                    <a:lnTo>
                      <a:pt x="254306" y="351034"/>
                    </a:lnTo>
                    <a:cubicBezTo>
                      <a:pt x="253847" y="351420"/>
                      <a:pt x="253276" y="351619"/>
                      <a:pt x="252699" y="351619"/>
                    </a:cubicBezTo>
                    <a:close/>
                    <a:moveTo>
                      <a:pt x="255200" y="100285"/>
                    </a:moveTo>
                    <a:lnTo>
                      <a:pt x="255200" y="343758"/>
                    </a:lnTo>
                    <a:lnTo>
                      <a:pt x="365107" y="251535"/>
                    </a:lnTo>
                    <a:lnTo>
                      <a:pt x="365107" y="8062"/>
                    </a:lnTo>
                    <a:lnTo>
                      <a:pt x="25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502" name="Freeform 155 · vector path 7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367606" y="2701"/>
                    </a:moveTo>
                    <a:lnTo>
                      <a:pt x="252700" y="99119"/>
                    </a:lnTo>
                    <a:lnTo>
                      <a:pt x="2700" y="99119"/>
                    </a:lnTo>
                    <a:lnTo>
                      <a:pt x="117607" y="2701"/>
                    </a:lnTo>
                    <a:lnTo>
                      <a:pt x="36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1503" name="Freeform 155 · vector path 8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101619"/>
                    </a:moveTo>
                    <a:lnTo>
                      <a:pt x="2700" y="101619"/>
                    </a:lnTo>
                    <a:cubicBezTo>
                      <a:pt x="1649" y="101619"/>
                      <a:pt x="710" y="100962"/>
                      <a:pt x="351" y="99974"/>
                    </a:cubicBezTo>
                    <a:cubicBezTo>
                      <a:pt x="-8" y="98986"/>
                      <a:pt x="288" y="97879"/>
                      <a:pt x="1093" y="97203"/>
                    </a:cubicBezTo>
                    <a:lnTo>
                      <a:pt x="116000" y="785"/>
                    </a:lnTo>
                    <a:cubicBezTo>
                      <a:pt x="116450" y="407"/>
                      <a:pt x="117019" y="200"/>
                      <a:pt x="117607" y="200"/>
                    </a:cubicBezTo>
                    <a:lnTo>
                      <a:pt x="367607" y="200"/>
                    </a:lnTo>
                    <a:cubicBezTo>
                      <a:pt x="368658" y="200"/>
                      <a:pt x="369597" y="857"/>
                      <a:pt x="369956" y="1845"/>
                    </a:cubicBezTo>
                    <a:cubicBezTo>
                      <a:pt x="370315" y="2833"/>
                      <a:pt x="370019" y="3940"/>
                      <a:pt x="369214" y="4616"/>
                    </a:cubicBezTo>
                    <a:lnTo>
                      <a:pt x="254307" y="101035"/>
                    </a:lnTo>
                    <a:cubicBezTo>
                      <a:pt x="253856" y="101412"/>
                      <a:pt x="253287" y="101619"/>
                      <a:pt x="252700" y="101619"/>
                    </a:cubicBezTo>
                    <a:close/>
                    <a:moveTo>
                      <a:pt x="9569" y="96619"/>
                    </a:moveTo>
                    <a:lnTo>
                      <a:pt x="251790" y="96619"/>
                    </a:lnTo>
                    <a:lnTo>
                      <a:pt x="360738" y="5200"/>
                    </a:lnTo>
                    <a:lnTo>
                      <a:pt x="118517" y="5200"/>
                    </a:lnTo>
                    <a:lnTo>
                      <a:pt x="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504" name="Freeform 155 · vector path 9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252700" y="99119"/>
                    </a:moveTo>
                    <a:lnTo>
                      <a:pt x="502700" y="99119"/>
                    </a:lnTo>
                    <a:lnTo>
                      <a:pt x="502700" y="349119"/>
                    </a:lnTo>
                    <a:lnTo>
                      <a:pt x="252700" y="349119"/>
                    </a:lnTo>
                    <a:lnTo>
                      <a:pt x="252700" y="99119"/>
                    </a:lnTo>
                    <a:close/>
                  </a:path>
                </a:pathLst>
              </a:custGeom>
              <a:solidFill>
                <a:srgbClr val="C8E1B8"/>
              </a:solidFill>
              <a:ln>
                <a:noFill/>
              </a:ln>
              <a:effectLst/>
            </p:spPr>
          </p:sp>
          <p:sp>
            <p:nvSpPr>
              <p:cNvPr id="1505" name="Freeform 155 · vector path 10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351619"/>
                    </a:moveTo>
                    <a:lnTo>
                      <a:pt x="252700" y="351619"/>
                    </a:lnTo>
                    <a:cubicBezTo>
                      <a:pt x="251319" y="351619"/>
                      <a:pt x="250200" y="350500"/>
                      <a:pt x="250200" y="349119"/>
                    </a:cubicBezTo>
                    <a:lnTo>
                      <a:pt x="250200" y="99119"/>
                    </a:lnTo>
                    <a:cubicBezTo>
                      <a:pt x="250200" y="97738"/>
                      <a:pt x="251319" y="96619"/>
                      <a:pt x="252700" y="96619"/>
                    </a:cubicBezTo>
                    <a:lnTo>
                      <a:pt x="502700" y="96619"/>
                    </a:lnTo>
                    <a:cubicBezTo>
                      <a:pt x="504081" y="96619"/>
                      <a:pt x="505200" y="97738"/>
                      <a:pt x="505200" y="99119"/>
                    </a:cubicBezTo>
                    <a:lnTo>
                      <a:pt x="505200" y="349119"/>
                    </a:lnTo>
                    <a:cubicBezTo>
                      <a:pt x="505200" y="350500"/>
                      <a:pt x="504081" y="351619"/>
                      <a:pt x="502700" y="351619"/>
                    </a:cubicBezTo>
                    <a:close/>
                    <a:moveTo>
                      <a:pt x="255200" y="346619"/>
                    </a:moveTo>
                    <a:lnTo>
                      <a:pt x="500200" y="346619"/>
                    </a:lnTo>
                    <a:lnTo>
                      <a:pt x="500200" y="101619"/>
                    </a:lnTo>
                    <a:lnTo>
                      <a:pt x="255200" y="101619"/>
                    </a:lnTo>
                    <a:lnTo>
                      <a:pt x="255200" y="34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506" name="Freeform 155 · vector path 11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99119"/>
                    </a:moveTo>
                    <a:lnTo>
                      <a:pt x="617606" y="2701"/>
                    </a:lnTo>
                    <a:lnTo>
                      <a:pt x="617606" y="252701"/>
                    </a:lnTo>
                    <a:lnTo>
                      <a:pt x="502700" y="349119"/>
                    </a:lnTo>
                    <a:lnTo>
                      <a:pt x="502700" y="99119"/>
                    </a:lnTo>
                    <a:close/>
                  </a:path>
                </a:pathLst>
              </a:custGeom>
              <a:solidFill>
                <a:srgbClr val="BDD4B2"/>
              </a:solidFill>
              <a:ln>
                <a:noFill/>
              </a:ln>
              <a:effectLst/>
            </p:spPr>
          </p:sp>
          <p:sp>
            <p:nvSpPr>
              <p:cNvPr id="1507" name="Freeform 155 · vector path 12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699" y="351619"/>
                    </a:moveTo>
                    <a:cubicBezTo>
                      <a:pt x="502341" y="351619"/>
                      <a:pt x="501980" y="351542"/>
                      <a:pt x="501643" y="351385"/>
                    </a:cubicBezTo>
                    <a:cubicBezTo>
                      <a:pt x="500763" y="350975"/>
                      <a:pt x="500200" y="350091"/>
                      <a:pt x="500200" y="349119"/>
                    </a:cubicBezTo>
                    <a:lnTo>
                      <a:pt x="500200" y="99119"/>
                    </a:lnTo>
                    <a:cubicBezTo>
                      <a:pt x="500200" y="98380"/>
                      <a:pt x="500527" y="97679"/>
                      <a:pt x="501093" y="97204"/>
                    </a:cubicBezTo>
                    <a:lnTo>
                      <a:pt x="615999" y="785"/>
                    </a:lnTo>
                    <a:cubicBezTo>
                      <a:pt x="616743" y="160"/>
                      <a:pt x="617782" y="23"/>
                      <a:pt x="618663" y="434"/>
                    </a:cubicBezTo>
                    <a:cubicBezTo>
                      <a:pt x="619543" y="844"/>
                      <a:pt x="620106" y="1728"/>
                      <a:pt x="620106" y="2700"/>
                    </a:cubicBezTo>
                    <a:lnTo>
                      <a:pt x="620106" y="252701"/>
                    </a:lnTo>
                    <a:cubicBezTo>
                      <a:pt x="620106" y="253440"/>
                      <a:pt x="619779" y="254141"/>
                      <a:pt x="619213" y="254616"/>
                    </a:cubicBezTo>
                    <a:lnTo>
                      <a:pt x="504306" y="351034"/>
                    </a:lnTo>
                    <a:cubicBezTo>
                      <a:pt x="503847" y="351420"/>
                      <a:pt x="503276" y="351619"/>
                      <a:pt x="502699" y="351619"/>
                    </a:cubicBezTo>
                    <a:close/>
                    <a:moveTo>
                      <a:pt x="505200" y="100285"/>
                    </a:moveTo>
                    <a:lnTo>
                      <a:pt x="505200" y="343758"/>
                    </a:lnTo>
                    <a:lnTo>
                      <a:pt x="615107" y="251535"/>
                    </a:lnTo>
                    <a:lnTo>
                      <a:pt x="615107" y="8062"/>
                    </a:lnTo>
                    <a:lnTo>
                      <a:pt x="505200" y="100285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  <p:sp>
            <p:nvSpPr>
              <p:cNvPr id="1508" name="Freeform 155 · vector path 13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617606" y="2701"/>
                    </a:moveTo>
                    <a:lnTo>
                      <a:pt x="502700" y="99119"/>
                    </a:lnTo>
                    <a:lnTo>
                      <a:pt x="252700" y="99119"/>
                    </a:lnTo>
                    <a:lnTo>
                      <a:pt x="367607" y="2701"/>
                    </a:lnTo>
                    <a:lnTo>
                      <a:pt x="617606" y="2701"/>
                    </a:lnTo>
                    <a:close/>
                  </a:path>
                </a:pathLst>
              </a:custGeom>
              <a:solidFill>
                <a:srgbClr val="E2EFDA"/>
              </a:solidFill>
              <a:ln>
                <a:noFill/>
              </a:ln>
              <a:effectLst/>
            </p:spPr>
          </p:sp>
          <p:sp>
            <p:nvSpPr>
              <p:cNvPr id="1509" name="Freeform 155 · vector path 14"/>
              <p:cNvSpPr/>
              <p:nvPr/>
            </p:nvSpPr>
            <p:spPr>
              <a:xfrm>
                <a:off x="0" y="0"/>
                <a:ext cx="791981" cy="451429"/>
              </a:xfrm>
              <a:custGeom>
                <a:avLst/>
                <a:gdLst/>
                <a:ahLst/>
                <a:cxnLst/>
                <a:rect l="0" t="0" r="r" b="b"/>
                <a:pathLst>
                  <a:path w="620300" h="351600" stroke="0" extrusionOk="0">
                    <a:moveTo>
                      <a:pt x="502700" y="101619"/>
                    </a:moveTo>
                    <a:lnTo>
                      <a:pt x="252700" y="101619"/>
                    </a:lnTo>
                    <a:cubicBezTo>
                      <a:pt x="251649" y="101619"/>
                      <a:pt x="250710" y="100962"/>
                      <a:pt x="250351" y="99974"/>
                    </a:cubicBezTo>
                    <a:cubicBezTo>
                      <a:pt x="249992" y="98986"/>
                      <a:pt x="250288" y="97879"/>
                      <a:pt x="251093" y="97203"/>
                    </a:cubicBezTo>
                    <a:lnTo>
                      <a:pt x="366000" y="785"/>
                    </a:lnTo>
                    <a:cubicBezTo>
                      <a:pt x="366450" y="407"/>
                      <a:pt x="367019" y="200"/>
                      <a:pt x="367607" y="200"/>
                    </a:cubicBezTo>
                    <a:lnTo>
                      <a:pt x="617607" y="200"/>
                    </a:lnTo>
                    <a:cubicBezTo>
                      <a:pt x="618658" y="200"/>
                      <a:pt x="619597" y="857"/>
                      <a:pt x="619956" y="1845"/>
                    </a:cubicBezTo>
                    <a:cubicBezTo>
                      <a:pt x="620315" y="2833"/>
                      <a:pt x="620019" y="3940"/>
                      <a:pt x="619214" y="4616"/>
                    </a:cubicBezTo>
                    <a:lnTo>
                      <a:pt x="504307" y="101035"/>
                    </a:lnTo>
                    <a:cubicBezTo>
                      <a:pt x="503856" y="101412"/>
                      <a:pt x="503287" y="101619"/>
                      <a:pt x="502700" y="101619"/>
                    </a:cubicBezTo>
                    <a:close/>
                    <a:moveTo>
                      <a:pt x="259569" y="96619"/>
                    </a:moveTo>
                    <a:lnTo>
                      <a:pt x="501790" y="96619"/>
                    </a:lnTo>
                    <a:lnTo>
                      <a:pt x="610738" y="5200"/>
                    </a:lnTo>
                    <a:lnTo>
                      <a:pt x="368517" y="5200"/>
                    </a:lnTo>
                    <a:lnTo>
                      <a:pt x="259569" y="96619"/>
                    </a:lnTo>
                    <a:close/>
                  </a:path>
                </a:pathLst>
              </a:custGeom>
              <a:solidFill>
                <a:srgbClr val="9AAA9E"/>
              </a:solidFill>
              <a:ln>
                <a:noFill/>
              </a:ln>
              <a:effectLst/>
            </p:spPr>
          </p:sp>
        </p:grpSp>
      </p:grpSp>
      <p:sp>
        <p:nvSpPr>
          <p:cNvPr id="1510" name="Label · Recent released"/>
          <p:cNvSpPr txBox="1"/>
          <p:nvPr/>
        </p:nvSpPr>
        <p:spPr>
          <a:xfrm>
            <a:off x="5943600" y="4953000"/>
            <a:ext cx="1724025" cy="2714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6272C"/>
                </a:solidFill>
                <a:latin typeface="Times New Roman"/>
              </a:rPr>
              <a:t>Recent released</a:t>
            </a:r>
          </a:p>
        </p:txBody>
      </p:sp>
      <p:sp>
        <p:nvSpPr>
          <p:cNvPr id="1511" name="Label · windows"/>
          <p:cNvSpPr txBox="1"/>
          <p:nvPr/>
        </p:nvSpPr>
        <p:spPr>
          <a:xfrm>
            <a:off x="5943600" y="5181600"/>
            <a:ext cx="1724025" cy="2714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6272C"/>
                </a:solidFill>
                <a:latin typeface="Times New Roman"/>
              </a:rPr>
              <a:t>windows</a:t>
            </a:r>
          </a:p>
        </p:txBody>
      </p:sp>
      <p:grpSp>
        <p:nvGrpSpPr>
          <p:cNvPr id="1512" name="Formula · |\mathcal{W}|=2048" descr="Editable LaTeX source: $|\mathcal{W}|=2048$; native vector glyphs."/>
          <p:cNvGrpSpPr/>
          <p:nvPr/>
        </p:nvGrpSpPr>
        <p:grpSpPr>
          <a:xfrm>
            <a:off x="5934075" y="5505450"/>
            <a:ext cx="974848" cy="187892"/>
            <a:chOff x="0" y="0"/>
            <a:chExt cx="974848" cy="187892"/>
          </a:xfrm>
        </p:grpSpPr>
        <p:sp>
          <p:nvSpPr>
            <p:cNvPr id="1513" name="Paper math native glyph 1"/>
            <p:cNvSpPr/>
            <p:nvPr/>
          </p:nvSpPr>
          <p:spPr>
            <a:xfrm>
              <a:off x="0" y="0"/>
              <a:ext cx="974848" cy="187892"/>
            </a:xfrm>
            <a:custGeom>
              <a:avLst/>
              <a:gdLst/>
              <a:ahLst/>
              <a:cxnLst/>
              <a:rect l="0" t="0" r="r" b="b"/>
              <a:pathLst>
                <a:path w="76760" h="14795" stroke="0" extrusionOk="0">
                  <a:moveTo>
                    <a:pt x="921" y="14795"/>
                  </a:moveTo>
                  <a:lnTo>
                    <a:pt x="921" y="0"/>
                  </a:lnTo>
                  <a:lnTo>
                    <a:pt x="0" y="0"/>
                  </a:lnTo>
                  <a:lnTo>
                    <a:pt x="0" y="14795"/>
                  </a:lnTo>
                  <a:lnTo>
                    <a:pt x="921" y="14795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14" name="Paper math native glyph 2"/>
            <p:cNvSpPr/>
            <p:nvPr/>
          </p:nvSpPr>
          <p:spPr>
            <a:xfrm>
              <a:off x="0" y="0"/>
              <a:ext cx="974848" cy="187892"/>
            </a:xfrm>
            <a:custGeom>
              <a:avLst/>
              <a:gdLst/>
              <a:ahLst/>
              <a:cxnLst/>
              <a:rect l="0" t="0" r="r" b="b"/>
              <a:pathLst>
                <a:path w="76760" h="14795" stroke="0" extrusionOk="0">
                  <a:moveTo>
                    <a:pt x="22915" y="637"/>
                  </a:moveTo>
                  <a:cubicBezTo>
                    <a:pt x="22915" y="407"/>
                    <a:pt x="22751" y="160"/>
                    <a:pt x="22504" y="160"/>
                  </a:cubicBezTo>
                  <a:cubicBezTo>
                    <a:pt x="21880" y="160"/>
                    <a:pt x="20762" y="440"/>
                    <a:pt x="20203" y="720"/>
                  </a:cubicBezTo>
                  <a:lnTo>
                    <a:pt x="20285" y="851"/>
                  </a:lnTo>
                  <a:cubicBezTo>
                    <a:pt x="20811" y="621"/>
                    <a:pt x="20860" y="1460"/>
                    <a:pt x="20860" y="1756"/>
                  </a:cubicBezTo>
                  <a:cubicBezTo>
                    <a:pt x="20860" y="3435"/>
                    <a:pt x="17819" y="7696"/>
                    <a:pt x="16471" y="8716"/>
                  </a:cubicBezTo>
                  <a:cubicBezTo>
                    <a:pt x="16406" y="6577"/>
                    <a:pt x="15880" y="4471"/>
                    <a:pt x="15880" y="2316"/>
                  </a:cubicBezTo>
                  <a:cubicBezTo>
                    <a:pt x="15880" y="1723"/>
                    <a:pt x="15978" y="1114"/>
                    <a:pt x="16126" y="539"/>
                  </a:cubicBezTo>
                  <a:cubicBezTo>
                    <a:pt x="15304" y="539"/>
                    <a:pt x="14877" y="999"/>
                    <a:pt x="14137" y="1180"/>
                  </a:cubicBezTo>
                  <a:cubicBezTo>
                    <a:pt x="14219" y="4043"/>
                    <a:pt x="12888" y="6808"/>
                    <a:pt x="10899" y="8815"/>
                  </a:cubicBezTo>
                  <a:cubicBezTo>
                    <a:pt x="10734" y="6775"/>
                    <a:pt x="10093" y="4800"/>
                    <a:pt x="10093" y="2744"/>
                  </a:cubicBezTo>
                  <a:cubicBezTo>
                    <a:pt x="10093" y="1970"/>
                    <a:pt x="10175" y="1180"/>
                    <a:pt x="10455" y="440"/>
                  </a:cubicBezTo>
                  <a:cubicBezTo>
                    <a:pt x="8959" y="489"/>
                    <a:pt x="2860" y="2398"/>
                    <a:pt x="2860" y="4159"/>
                  </a:cubicBezTo>
                  <a:cubicBezTo>
                    <a:pt x="2860" y="4751"/>
                    <a:pt x="3896" y="6117"/>
                    <a:pt x="4520" y="6117"/>
                  </a:cubicBezTo>
                  <a:lnTo>
                    <a:pt x="4685" y="6100"/>
                  </a:lnTo>
                  <a:cubicBezTo>
                    <a:pt x="4406" y="5837"/>
                    <a:pt x="4340" y="5459"/>
                    <a:pt x="4340" y="5096"/>
                  </a:cubicBezTo>
                  <a:cubicBezTo>
                    <a:pt x="4340" y="3254"/>
                    <a:pt x="6871" y="1674"/>
                    <a:pt x="8499" y="1427"/>
                  </a:cubicBezTo>
                  <a:cubicBezTo>
                    <a:pt x="8433" y="1855"/>
                    <a:pt x="8400" y="2299"/>
                    <a:pt x="8400" y="2727"/>
                  </a:cubicBezTo>
                  <a:cubicBezTo>
                    <a:pt x="8400" y="4685"/>
                    <a:pt x="9107" y="6544"/>
                    <a:pt x="9107" y="8733"/>
                  </a:cubicBezTo>
                  <a:cubicBezTo>
                    <a:pt x="9107" y="9802"/>
                    <a:pt x="9057" y="10888"/>
                    <a:pt x="8975" y="11958"/>
                  </a:cubicBezTo>
                  <a:cubicBezTo>
                    <a:pt x="9567" y="11925"/>
                    <a:pt x="10093" y="11645"/>
                    <a:pt x="10586" y="11333"/>
                  </a:cubicBezTo>
                  <a:cubicBezTo>
                    <a:pt x="11195" y="9227"/>
                    <a:pt x="12838" y="6906"/>
                    <a:pt x="14318" y="5310"/>
                  </a:cubicBezTo>
                  <a:cubicBezTo>
                    <a:pt x="14647" y="6577"/>
                    <a:pt x="14844" y="7877"/>
                    <a:pt x="14844" y="9177"/>
                  </a:cubicBezTo>
                  <a:cubicBezTo>
                    <a:pt x="14844" y="9950"/>
                    <a:pt x="14877" y="11267"/>
                    <a:pt x="14416" y="11908"/>
                  </a:cubicBezTo>
                  <a:lnTo>
                    <a:pt x="14499" y="12023"/>
                  </a:lnTo>
                  <a:cubicBezTo>
                    <a:pt x="14942" y="11892"/>
                    <a:pt x="16176" y="11481"/>
                    <a:pt x="16406" y="11086"/>
                  </a:cubicBezTo>
                  <a:cubicBezTo>
                    <a:pt x="16504" y="10921"/>
                    <a:pt x="16521" y="10707"/>
                    <a:pt x="16570" y="10526"/>
                  </a:cubicBezTo>
                  <a:cubicBezTo>
                    <a:pt x="16784" y="9704"/>
                    <a:pt x="17195" y="8930"/>
                    <a:pt x="17688" y="8256"/>
                  </a:cubicBezTo>
                  <a:cubicBezTo>
                    <a:pt x="18953" y="6528"/>
                    <a:pt x="22915" y="2661"/>
                    <a:pt x="22915" y="637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15" name="Paper math native glyph 3"/>
            <p:cNvSpPr/>
            <p:nvPr/>
          </p:nvSpPr>
          <p:spPr>
            <a:xfrm>
              <a:off x="0" y="0"/>
              <a:ext cx="974848" cy="187892"/>
            </a:xfrm>
            <a:custGeom>
              <a:avLst/>
              <a:gdLst/>
              <a:ahLst/>
              <a:cxnLst/>
              <a:rect l="0" t="0" r="r" b="b"/>
              <a:pathLst>
                <a:path w="76760" h="14795" stroke="0" extrusionOk="0">
                  <a:moveTo>
                    <a:pt x="26236" y="14795"/>
                  </a:moveTo>
                  <a:lnTo>
                    <a:pt x="26236" y="0"/>
                  </a:lnTo>
                  <a:lnTo>
                    <a:pt x="25315" y="0"/>
                  </a:lnTo>
                  <a:lnTo>
                    <a:pt x="25315" y="14795"/>
                  </a:lnTo>
                  <a:lnTo>
                    <a:pt x="26236" y="14795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16" name="Paper math native glyph 4"/>
            <p:cNvSpPr/>
            <p:nvPr/>
          </p:nvSpPr>
          <p:spPr>
            <a:xfrm>
              <a:off x="0" y="0"/>
              <a:ext cx="974848" cy="187892"/>
            </a:xfrm>
            <a:custGeom>
              <a:avLst/>
              <a:gdLst/>
              <a:ahLst/>
              <a:cxnLst/>
              <a:rect l="0" t="0" r="r" b="b"/>
              <a:pathLst>
                <a:path w="76760" h="14795" stroke="0" extrusionOk="0">
                  <a:moveTo>
                    <a:pt x="41717" y="6196"/>
                  </a:moveTo>
                  <a:lnTo>
                    <a:pt x="41717" y="5275"/>
                  </a:lnTo>
                  <a:lnTo>
                    <a:pt x="33300" y="5275"/>
                  </a:lnTo>
                  <a:lnTo>
                    <a:pt x="33300" y="6196"/>
                  </a:lnTo>
                  <a:lnTo>
                    <a:pt x="41717" y="6196"/>
                  </a:lnTo>
                  <a:moveTo>
                    <a:pt x="41717" y="9535"/>
                  </a:moveTo>
                  <a:lnTo>
                    <a:pt x="41717" y="8614"/>
                  </a:lnTo>
                  <a:lnTo>
                    <a:pt x="33300" y="8614"/>
                  </a:lnTo>
                  <a:lnTo>
                    <a:pt x="33300" y="9535"/>
                  </a:lnTo>
                  <a:lnTo>
                    <a:pt x="41717" y="9535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17" name="Paper math native glyph 5"/>
            <p:cNvSpPr/>
            <p:nvPr/>
          </p:nvSpPr>
          <p:spPr>
            <a:xfrm>
              <a:off x="0" y="0"/>
              <a:ext cx="974848" cy="187892"/>
            </a:xfrm>
            <a:custGeom>
              <a:avLst/>
              <a:gdLst/>
              <a:ahLst/>
              <a:cxnLst/>
              <a:rect l="0" t="0" r="r" b="b"/>
              <a:pathLst>
                <a:path w="76760" h="14795" stroke="0" extrusionOk="0">
                  <a:moveTo>
                    <a:pt x="47943" y="3919"/>
                  </a:moveTo>
                  <a:cubicBezTo>
                    <a:pt x="47943" y="4264"/>
                    <a:pt x="48256" y="4559"/>
                    <a:pt x="48601" y="4559"/>
                  </a:cubicBezTo>
                  <a:cubicBezTo>
                    <a:pt x="48880" y="4559"/>
                    <a:pt x="49373" y="4264"/>
                    <a:pt x="49373" y="3903"/>
                  </a:cubicBezTo>
                  <a:cubicBezTo>
                    <a:pt x="49373" y="3771"/>
                    <a:pt x="49341" y="3673"/>
                    <a:pt x="49308" y="3558"/>
                  </a:cubicBezTo>
                  <a:cubicBezTo>
                    <a:pt x="49275" y="3443"/>
                    <a:pt x="49176" y="3296"/>
                    <a:pt x="49176" y="3165"/>
                  </a:cubicBezTo>
                  <a:cubicBezTo>
                    <a:pt x="49176" y="2755"/>
                    <a:pt x="49603" y="2164"/>
                    <a:pt x="50803" y="2164"/>
                  </a:cubicBezTo>
                  <a:cubicBezTo>
                    <a:pt x="51395" y="2164"/>
                    <a:pt x="52234" y="2574"/>
                    <a:pt x="52234" y="4149"/>
                  </a:cubicBezTo>
                  <a:cubicBezTo>
                    <a:pt x="52234" y="5201"/>
                    <a:pt x="51856" y="6057"/>
                    <a:pt x="50886" y="7046"/>
                  </a:cubicBezTo>
                  <a:lnTo>
                    <a:pt x="49669" y="8248"/>
                  </a:lnTo>
                  <a:cubicBezTo>
                    <a:pt x="48058" y="9895"/>
                    <a:pt x="47795" y="10685"/>
                    <a:pt x="47795" y="11655"/>
                  </a:cubicBezTo>
                  <a:cubicBezTo>
                    <a:pt x="47795" y="11655"/>
                    <a:pt x="48634" y="11622"/>
                    <a:pt x="49160" y="11622"/>
                  </a:cubicBezTo>
                  <a:lnTo>
                    <a:pt x="52037" y="11622"/>
                  </a:lnTo>
                  <a:cubicBezTo>
                    <a:pt x="52563" y="11622"/>
                    <a:pt x="53319" y="11655"/>
                    <a:pt x="53319" y="11655"/>
                  </a:cubicBezTo>
                  <a:cubicBezTo>
                    <a:pt x="53532" y="10784"/>
                    <a:pt x="53697" y="9549"/>
                    <a:pt x="53713" y="9055"/>
                  </a:cubicBezTo>
                  <a:cubicBezTo>
                    <a:pt x="53615" y="8972"/>
                    <a:pt x="53401" y="8940"/>
                    <a:pt x="53237" y="8972"/>
                  </a:cubicBezTo>
                  <a:cubicBezTo>
                    <a:pt x="52957" y="10142"/>
                    <a:pt x="52678" y="10554"/>
                    <a:pt x="52086" y="10554"/>
                  </a:cubicBezTo>
                  <a:lnTo>
                    <a:pt x="49160" y="10554"/>
                  </a:lnTo>
                  <a:cubicBezTo>
                    <a:pt x="49160" y="9763"/>
                    <a:pt x="50294" y="8643"/>
                    <a:pt x="50376" y="8561"/>
                  </a:cubicBezTo>
                  <a:lnTo>
                    <a:pt x="52037" y="6963"/>
                  </a:lnTo>
                  <a:cubicBezTo>
                    <a:pt x="52973" y="6057"/>
                    <a:pt x="53680" y="5333"/>
                    <a:pt x="53680" y="4083"/>
                  </a:cubicBezTo>
                  <a:cubicBezTo>
                    <a:pt x="53680" y="2312"/>
                    <a:pt x="52234" y="1589"/>
                    <a:pt x="50902" y="1589"/>
                  </a:cubicBezTo>
                  <a:cubicBezTo>
                    <a:pt x="49078" y="1589"/>
                    <a:pt x="47943" y="2935"/>
                    <a:pt x="47943" y="391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18" name="Paper math native glyph 6"/>
            <p:cNvSpPr/>
            <p:nvPr/>
          </p:nvSpPr>
          <p:spPr>
            <a:xfrm>
              <a:off x="0" y="0"/>
              <a:ext cx="974848" cy="187892"/>
            </a:xfrm>
            <a:custGeom>
              <a:avLst/>
              <a:gdLst/>
              <a:ahLst/>
              <a:cxnLst/>
              <a:rect l="0" t="0" r="r" b="b"/>
              <a:pathLst>
                <a:path w="76760" h="14795" stroke="0" extrusionOk="0">
                  <a:moveTo>
                    <a:pt x="58398" y="2164"/>
                  </a:moveTo>
                  <a:cubicBezTo>
                    <a:pt x="58678" y="2164"/>
                    <a:pt x="58941" y="2263"/>
                    <a:pt x="59138" y="2444"/>
                  </a:cubicBezTo>
                  <a:cubicBezTo>
                    <a:pt x="59648" y="2871"/>
                    <a:pt x="60091" y="4121"/>
                    <a:pt x="60091" y="6324"/>
                  </a:cubicBezTo>
                  <a:cubicBezTo>
                    <a:pt x="60091" y="7837"/>
                    <a:pt x="60042" y="8873"/>
                    <a:pt x="59812" y="9711"/>
                  </a:cubicBezTo>
                  <a:cubicBezTo>
                    <a:pt x="59450" y="11059"/>
                    <a:pt x="58645" y="11207"/>
                    <a:pt x="58349" y="11207"/>
                  </a:cubicBezTo>
                  <a:cubicBezTo>
                    <a:pt x="56820" y="11207"/>
                    <a:pt x="56656" y="8396"/>
                    <a:pt x="56656" y="6965"/>
                  </a:cubicBezTo>
                  <a:cubicBezTo>
                    <a:pt x="56656" y="2921"/>
                    <a:pt x="57658" y="2164"/>
                    <a:pt x="58398" y="2164"/>
                  </a:cubicBezTo>
                  <a:moveTo>
                    <a:pt x="58332" y="11782"/>
                  </a:moveTo>
                  <a:cubicBezTo>
                    <a:pt x="59598" y="11782"/>
                    <a:pt x="61521" y="10500"/>
                    <a:pt x="61521" y="6636"/>
                  </a:cubicBezTo>
                  <a:cubicBezTo>
                    <a:pt x="61521" y="5009"/>
                    <a:pt x="61127" y="3611"/>
                    <a:pt x="60404" y="2658"/>
                  </a:cubicBezTo>
                  <a:cubicBezTo>
                    <a:pt x="59976" y="2082"/>
                    <a:pt x="59286" y="1589"/>
                    <a:pt x="58398" y="1589"/>
                  </a:cubicBezTo>
                  <a:cubicBezTo>
                    <a:pt x="56771" y="1589"/>
                    <a:pt x="55225" y="3529"/>
                    <a:pt x="55225" y="6784"/>
                  </a:cubicBezTo>
                  <a:cubicBezTo>
                    <a:pt x="55225" y="8544"/>
                    <a:pt x="55768" y="10188"/>
                    <a:pt x="56672" y="11092"/>
                  </a:cubicBezTo>
                  <a:cubicBezTo>
                    <a:pt x="57132" y="11552"/>
                    <a:pt x="57691" y="11782"/>
                    <a:pt x="58332" y="1178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19" name="Paper math native glyph 7"/>
            <p:cNvSpPr/>
            <p:nvPr/>
          </p:nvSpPr>
          <p:spPr>
            <a:xfrm>
              <a:off x="0" y="0"/>
              <a:ext cx="974848" cy="187892"/>
            </a:xfrm>
            <a:custGeom>
              <a:avLst/>
              <a:gdLst/>
              <a:ahLst/>
              <a:cxnLst/>
              <a:rect l="0" t="0" r="r" b="b"/>
              <a:pathLst>
                <a:path w="76760" h="14795" stroke="0" extrusionOk="0">
                  <a:moveTo>
                    <a:pt x="66683" y="3284"/>
                  </a:moveTo>
                  <a:lnTo>
                    <a:pt x="66683" y="8024"/>
                  </a:lnTo>
                  <a:lnTo>
                    <a:pt x="63543" y="8024"/>
                  </a:lnTo>
                  <a:cubicBezTo>
                    <a:pt x="64382" y="6675"/>
                    <a:pt x="65549" y="4831"/>
                    <a:pt x="66683" y="3284"/>
                  </a:cubicBezTo>
                  <a:moveTo>
                    <a:pt x="69297" y="8024"/>
                  </a:moveTo>
                  <a:lnTo>
                    <a:pt x="67932" y="8024"/>
                  </a:lnTo>
                  <a:lnTo>
                    <a:pt x="67932" y="3218"/>
                  </a:lnTo>
                  <a:cubicBezTo>
                    <a:pt x="67932" y="2395"/>
                    <a:pt x="67932" y="1754"/>
                    <a:pt x="67965" y="1622"/>
                  </a:cubicBezTo>
                  <a:lnTo>
                    <a:pt x="67932" y="1589"/>
                  </a:lnTo>
                  <a:lnTo>
                    <a:pt x="67406" y="1589"/>
                  </a:lnTo>
                  <a:cubicBezTo>
                    <a:pt x="67291" y="1589"/>
                    <a:pt x="67209" y="1688"/>
                    <a:pt x="67143" y="1770"/>
                  </a:cubicBezTo>
                  <a:cubicBezTo>
                    <a:pt x="66108" y="3037"/>
                    <a:pt x="64201" y="5753"/>
                    <a:pt x="62689" y="8106"/>
                  </a:cubicBezTo>
                  <a:cubicBezTo>
                    <a:pt x="62738" y="8353"/>
                    <a:pt x="62836" y="8797"/>
                    <a:pt x="63330" y="8797"/>
                  </a:cubicBezTo>
                  <a:lnTo>
                    <a:pt x="66683" y="8797"/>
                  </a:lnTo>
                  <a:lnTo>
                    <a:pt x="66683" y="10307"/>
                  </a:lnTo>
                  <a:cubicBezTo>
                    <a:pt x="66683" y="11062"/>
                    <a:pt x="66058" y="11062"/>
                    <a:pt x="65351" y="11112"/>
                  </a:cubicBezTo>
                  <a:cubicBezTo>
                    <a:pt x="65253" y="11210"/>
                    <a:pt x="65253" y="11555"/>
                    <a:pt x="65351" y="11654"/>
                  </a:cubicBezTo>
                  <a:cubicBezTo>
                    <a:pt x="65878" y="11638"/>
                    <a:pt x="66535" y="11621"/>
                    <a:pt x="67291" y="11621"/>
                  </a:cubicBezTo>
                  <a:cubicBezTo>
                    <a:pt x="67932" y="11621"/>
                    <a:pt x="68557" y="11638"/>
                    <a:pt x="69083" y="11654"/>
                  </a:cubicBezTo>
                  <a:cubicBezTo>
                    <a:pt x="69182" y="11555"/>
                    <a:pt x="69182" y="11210"/>
                    <a:pt x="69083" y="11112"/>
                  </a:cubicBezTo>
                  <a:cubicBezTo>
                    <a:pt x="68278" y="11046"/>
                    <a:pt x="67932" y="11079"/>
                    <a:pt x="67932" y="10307"/>
                  </a:cubicBezTo>
                  <a:lnTo>
                    <a:pt x="67932" y="8797"/>
                  </a:lnTo>
                  <a:lnTo>
                    <a:pt x="69067" y="8797"/>
                  </a:lnTo>
                  <a:cubicBezTo>
                    <a:pt x="69297" y="8797"/>
                    <a:pt x="69543" y="8484"/>
                    <a:pt x="69543" y="8287"/>
                  </a:cubicBezTo>
                  <a:cubicBezTo>
                    <a:pt x="69543" y="8123"/>
                    <a:pt x="69478" y="8024"/>
                    <a:pt x="69297" y="802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20" name="Paper math native glyph 8"/>
            <p:cNvSpPr/>
            <p:nvPr/>
          </p:nvSpPr>
          <p:spPr>
            <a:xfrm>
              <a:off x="0" y="0"/>
              <a:ext cx="974848" cy="187892"/>
            </a:xfrm>
            <a:custGeom>
              <a:avLst/>
              <a:gdLst/>
              <a:ahLst/>
              <a:cxnLst/>
              <a:rect l="0" t="0" r="r" b="b"/>
              <a:pathLst>
                <a:path w="76760" h="14795" stroke="0" extrusionOk="0">
                  <a:moveTo>
                    <a:pt x="73719" y="2164"/>
                  </a:moveTo>
                  <a:cubicBezTo>
                    <a:pt x="74787" y="2164"/>
                    <a:pt x="75182" y="2871"/>
                    <a:pt x="75182" y="3627"/>
                  </a:cubicBezTo>
                  <a:cubicBezTo>
                    <a:pt x="75182" y="4515"/>
                    <a:pt x="74310" y="5255"/>
                    <a:pt x="73867" y="5584"/>
                  </a:cubicBezTo>
                  <a:lnTo>
                    <a:pt x="73357" y="5272"/>
                  </a:lnTo>
                  <a:cubicBezTo>
                    <a:pt x="72321" y="4598"/>
                    <a:pt x="72206" y="4055"/>
                    <a:pt x="72206" y="3545"/>
                  </a:cubicBezTo>
                  <a:cubicBezTo>
                    <a:pt x="72206" y="2789"/>
                    <a:pt x="72732" y="2164"/>
                    <a:pt x="73719" y="2164"/>
                  </a:cubicBezTo>
                  <a:moveTo>
                    <a:pt x="76332" y="3644"/>
                  </a:moveTo>
                  <a:cubicBezTo>
                    <a:pt x="76332" y="2460"/>
                    <a:pt x="75412" y="1589"/>
                    <a:pt x="73801" y="1589"/>
                  </a:cubicBezTo>
                  <a:cubicBezTo>
                    <a:pt x="72124" y="1589"/>
                    <a:pt x="71039" y="2592"/>
                    <a:pt x="71039" y="3858"/>
                  </a:cubicBezTo>
                  <a:cubicBezTo>
                    <a:pt x="71039" y="4779"/>
                    <a:pt x="71483" y="5453"/>
                    <a:pt x="72486" y="6077"/>
                  </a:cubicBezTo>
                  <a:lnTo>
                    <a:pt x="72913" y="6340"/>
                  </a:lnTo>
                  <a:cubicBezTo>
                    <a:pt x="72436" y="6587"/>
                    <a:pt x="71993" y="6883"/>
                    <a:pt x="71582" y="7245"/>
                  </a:cubicBezTo>
                  <a:cubicBezTo>
                    <a:pt x="70908" y="7837"/>
                    <a:pt x="70628" y="8577"/>
                    <a:pt x="70628" y="9218"/>
                  </a:cubicBezTo>
                  <a:cubicBezTo>
                    <a:pt x="70628" y="10895"/>
                    <a:pt x="71812" y="11782"/>
                    <a:pt x="73554" y="11782"/>
                  </a:cubicBezTo>
                  <a:cubicBezTo>
                    <a:pt x="75708" y="11782"/>
                    <a:pt x="76760" y="10204"/>
                    <a:pt x="76760" y="8955"/>
                  </a:cubicBezTo>
                  <a:cubicBezTo>
                    <a:pt x="76760" y="8001"/>
                    <a:pt x="76349" y="7162"/>
                    <a:pt x="75477" y="6636"/>
                  </a:cubicBezTo>
                  <a:lnTo>
                    <a:pt x="74310" y="5929"/>
                  </a:lnTo>
                  <a:cubicBezTo>
                    <a:pt x="75083" y="5551"/>
                    <a:pt x="76332" y="4696"/>
                    <a:pt x="76332" y="3644"/>
                  </a:cubicBezTo>
                  <a:moveTo>
                    <a:pt x="73587" y="11207"/>
                  </a:moveTo>
                  <a:cubicBezTo>
                    <a:pt x="72848" y="11207"/>
                    <a:pt x="71730" y="10698"/>
                    <a:pt x="71730" y="9218"/>
                  </a:cubicBezTo>
                  <a:cubicBezTo>
                    <a:pt x="71730" y="8725"/>
                    <a:pt x="71943" y="7574"/>
                    <a:pt x="73357" y="6636"/>
                  </a:cubicBezTo>
                  <a:lnTo>
                    <a:pt x="74130" y="7097"/>
                  </a:lnTo>
                  <a:cubicBezTo>
                    <a:pt x="75149" y="7722"/>
                    <a:pt x="75560" y="8494"/>
                    <a:pt x="75560" y="9283"/>
                  </a:cubicBezTo>
                  <a:cubicBezTo>
                    <a:pt x="75560" y="10928"/>
                    <a:pt x="74327" y="11207"/>
                    <a:pt x="73587" y="11207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cxnSp>
        <p:nvCxnSpPr>
          <p:cNvPr id="1521" name="Recent windows to identity fitting"/>
          <p:cNvCxnSpPr/>
          <p:nvPr/>
        </p:nvCxnSpPr>
        <p:spPr>
          <a:xfrm>
            <a:off x="6124575" y="5953125"/>
            <a:ext cx="0" cy="295275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2" name="Mature identity optimization"/>
          <p:cNvSpPr/>
          <p:nvPr/>
        </p:nvSpPr>
        <p:spPr>
          <a:xfrm>
            <a:off x="4476750" y="6248400"/>
            <a:ext cx="3295650" cy="1704975"/>
          </a:xfrm>
          <a:prstGeom prst="roundRect">
            <a:avLst>
              <a:gd name="adj" fmla="val 8000"/>
            </a:avLst>
          </a:prstGeom>
          <a:solidFill>
            <a:srgbClr val="FEE695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Label · Refit identity table"/>
          <p:cNvSpPr txBox="1"/>
          <p:nvPr/>
        </p:nvSpPr>
        <p:spPr>
          <a:xfrm>
            <a:off x="4648200" y="6400800"/>
            <a:ext cx="2905125" cy="3286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6272C"/>
                </a:solidFill>
                <a:latin typeface="Times New Roman"/>
              </a:rPr>
              <a:t>Refit identity table</a:t>
            </a:r>
          </a:p>
        </p:txBody>
      </p:sp>
      <p:grpSp>
        <p:nvGrpSpPr>
          <p:cNvPr id="1524" name="Formula · \mathbf{E}_{\mathcal{K}}\leftarrow\mathrm{fit}(\mathbf{E}_{\mathcal{K}};\mathcal{W})" descr="Editable LaTeX source: $\mathbf{E}_{\mathcal{K}}\leftarrow\mathrm{fit}(\mathbf{E}_{\mathcal{K}};\mathcal{W})$; native vector glyphs."/>
          <p:cNvGrpSpPr/>
          <p:nvPr/>
        </p:nvGrpSpPr>
        <p:grpSpPr>
          <a:xfrm>
            <a:off x="4667250" y="6848475"/>
            <a:ext cx="1651380" cy="209300"/>
            <a:chOff x="0" y="0"/>
            <a:chExt cx="1651380" cy="209300"/>
          </a:xfrm>
        </p:grpSpPr>
        <p:sp>
          <p:nvSpPr>
            <p:cNvPr id="1525" name="Paper math native glyph 1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54" y="12858"/>
                  </a:moveTo>
                  <a:lnTo>
                    <a:pt x="8805" y="12858"/>
                  </a:lnTo>
                  <a:cubicBezTo>
                    <a:pt x="8931" y="11889"/>
                    <a:pt x="9110" y="10776"/>
                    <a:pt x="9289" y="9825"/>
                  </a:cubicBezTo>
                  <a:lnTo>
                    <a:pt x="8518" y="9646"/>
                  </a:lnTo>
                  <a:cubicBezTo>
                    <a:pt x="8213" y="10974"/>
                    <a:pt x="7568" y="12033"/>
                    <a:pt x="6581" y="12033"/>
                  </a:cubicBezTo>
                  <a:lnTo>
                    <a:pt x="3838" y="12033"/>
                  </a:lnTo>
                  <a:cubicBezTo>
                    <a:pt x="3676" y="12033"/>
                    <a:pt x="3587" y="11925"/>
                    <a:pt x="3587" y="11513"/>
                  </a:cubicBezTo>
                  <a:lnTo>
                    <a:pt x="3587" y="7061"/>
                  </a:lnTo>
                  <a:lnTo>
                    <a:pt x="5613" y="7061"/>
                  </a:lnTo>
                  <a:cubicBezTo>
                    <a:pt x="6061" y="7061"/>
                    <a:pt x="6133" y="7600"/>
                    <a:pt x="6241" y="8336"/>
                  </a:cubicBezTo>
                  <a:cubicBezTo>
                    <a:pt x="6241" y="8407"/>
                    <a:pt x="6348" y="8515"/>
                    <a:pt x="6528" y="8515"/>
                  </a:cubicBezTo>
                  <a:lnTo>
                    <a:pt x="6904" y="8515"/>
                  </a:lnTo>
                  <a:lnTo>
                    <a:pt x="7012" y="8354"/>
                  </a:lnTo>
                  <a:cubicBezTo>
                    <a:pt x="6976" y="8048"/>
                    <a:pt x="6886" y="7331"/>
                    <a:pt x="6886" y="6685"/>
                  </a:cubicBezTo>
                  <a:cubicBezTo>
                    <a:pt x="6886" y="6021"/>
                    <a:pt x="6976" y="5304"/>
                    <a:pt x="7012" y="5016"/>
                  </a:cubicBezTo>
                  <a:lnTo>
                    <a:pt x="6904" y="4837"/>
                  </a:lnTo>
                  <a:lnTo>
                    <a:pt x="6528" y="4837"/>
                  </a:lnTo>
                  <a:cubicBezTo>
                    <a:pt x="6348" y="4837"/>
                    <a:pt x="6241" y="4963"/>
                    <a:pt x="6241" y="5035"/>
                  </a:cubicBezTo>
                  <a:cubicBezTo>
                    <a:pt x="6133" y="5752"/>
                    <a:pt x="6061" y="6308"/>
                    <a:pt x="5613" y="6308"/>
                  </a:cubicBezTo>
                  <a:lnTo>
                    <a:pt x="3587" y="6308"/>
                  </a:lnTo>
                  <a:lnTo>
                    <a:pt x="3587" y="2610"/>
                  </a:lnTo>
                  <a:cubicBezTo>
                    <a:pt x="3587" y="2233"/>
                    <a:pt x="3676" y="2089"/>
                    <a:pt x="3838" y="2089"/>
                  </a:cubicBezTo>
                  <a:lnTo>
                    <a:pt x="6169" y="2089"/>
                  </a:lnTo>
                  <a:cubicBezTo>
                    <a:pt x="7371" y="2089"/>
                    <a:pt x="7819" y="3418"/>
                    <a:pt x="8070" y="4334"/>
                  </a:cubicBezTo>
                  <a:lnTo>
                    <a:pt x="8787" y="4173"/>
                  </a:lnTo>
                  <a:cubicBezTo>
                    <a:pt x="8608" y="3257"/>
                    <a:pt x="8482" y="2305"/>
                    <a:pt x="8411" y="1264"/>
                  </a:cubicBezTo>
                  <a:lnTo>
                    <a:pt x="54" y="1264"/>
                  </a:lnTo>
                  <a:lnTo>
                    <a:pt x="0" y="1301"/>
                  </a:lnTo>
                  <a:lnTo>
                    <a:pt x="0" y="1713"/>
                  </a:lnTo>
                  <a:cubicBezTo>
                    <a:pt x="0" y="1803"/>
                    <a:pt x="72" y="1856"/>
                    <a:pt x="144" y="1856"/>
                  </a:cubicBezTo>
                  <a:lnTo>
                    <a:pt x="395" y="1856"/>
                  </a:lnTo>
                  <a:cubicBezTo>
                    <a:pt x="1112" y="1856"/>
                    <a:pt x="1381" y="2072"/>
                    <a:pt x="1381" y="2647"/>
                  </a:cubicBezTo>
                  <a:lnTo>
                    <a:pt x="1381" y="11476"/>
                  </a:lnTo>
                  <a:cubicBezTo>
                    <a:pt x="1381" y="12051"/>
                    <a:pt x="1112" y="12266"/>
                    <a:pt x="395" y="12266"/>
                  </a:cubicBezTo>
                  <a:lnTo>
                    <a:pt x="144" y="12266"/>
                  </a:lnTo>
                  <a:cubicBezTo>
                    <a:pt x="72" y="12266"/>
                    <a:pt x="0" y="12320"/>
                    <a:pt x="0" y="12428"/>
                  </a:cubicBezTo>
                  <a:lnTo>
                    <a:pt x="0" y="12822"/>
                  </a:lnTo>
                  <a:lnTo>
                    <a:pt x="54" y="12858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26" name="Paper math native glyph 2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21325" y="7673"/>
                  </a:moveTo>
                  <a:cubicBezTo>
                    <a:pt x="21325" y="7202"/>
                    <a:pt x="21233" y="6665"/>
                    <a:pt x="20644" y="6665"/>
                  </a:cubicBezTo>
                  <a:cubicBezTo>
                    <a:pt x="17895" y="6665"/>
                    <a:pt x="16364" y="10937"/>
                    <a:pt x="14609" y="10989"/>
                  </a:cubicBezTo>
                  <a:cubicBezTo>
                    <a:pt x="15067" y="9626"/>
                    <a:pt x="15434" y="8223"/>
                    <a:pt x="15945" y="6875"/>
                  </a:cubicBezTo>
                  <a:cubicBezTo>
                    <a:pt x="15735" y="6796"/>
                    <a:pt x="15500" y="6757"/>
                    <a:pt x="15277" y="6757"/>
                  </a:cubicBezTo>
                  <a:cubicBezTo>
                    <a:pt x="14714" y="6757"/>
                    <a:pt x="14151" y="6862"/>
                    <a:pt x="13615" y="7005"/>
                  </a:cubicBezTo>
                  <a:cubicBezTo>
                    <a:pt x="12580" y="7280"/>
                    <a:pt x="9740" y="8394"/>
                    <a:pt x="9740" y="9665"/>
                  </a:cubicBezTo>
                  <a:cubicBezTo>
                    <a:pt x="9740" y="10321"/>
                    <a:pt x="10302" y="11291"/>
                    <a:pt x="11036" y="11291"/>
                  </a:cubicBezTo>
                  <a:cubicBezTo>
                    <a:pt x="11088" y="11291"/>
                    <a:pt x="11140" y="11278"/>
                    <a:pt x="11193" y="11251"/>
                  </a:cubicBezTo>
                  <a:cubicBezTo>
                    <a:pt x="10879" y="10976"/>
                    <a:pt x="10826" y="10517"/>
                    <a:pt x="10826" y="10124"/>
                  </a:cubicBezTo>
                  <a:cubicBezTo>
                    <a:pt x="10826" y="8525"/>
                    <a:pt x="12476" y="7398"/>
                    <a:pt x="13955" y="7398"/>
                  </a:cubicBezTo>
                  <a:cubicBezTo>
                    <a:pt x="14047" y="7398"/>
                    <a:pt x="14125" y="7398"/>
                    <a:pt x="14217" y="7411"/>
                  </a:cubicBezTo>
                  <a:cubicBezTo>
                    <a:pt x="14099" y="9403"/>
                    <a:pt x="13078" y="12051"/>
                    <a:pt x="12371" y="13952"/>
                  </a:cubicBezTo>
                  <a:cubicBezTo>
                    <a:pt x="12135" y="14568"/>
                    <a:pt x="11638" y="15956"/>
                    <a:pt x="10865" y="16022"/>
                  </a:cubicBezTo>
                  <a:cubicBezTo>
                    <a:pt x="10996" y="16113"/>
                    <a:pt x="11167" y="16166"/>
                    <a:pt x="11324" y="16166"/>
                  </a:cubicBezTo>
                  <a:cubicBezTo>
                    <a:pt x="11716" y="16166"/>
                    <a:pt x="12855" y="15616"/>
                    <a:pt x="13143" y="15341"/>
                  </a:cubicBezTo>
                  <a:cubicBezTo>
                    <a:pt x="13392" y="15105"/>
                    <a:pt x="14361" y="12038"/>
                    <a:pt x="14505" y="11500"/>
                  </a:cubicBezTo>
                  <a:cubicBezTo>
                    <a:pt x="14793" y="11409"/>
                    <a:pt x="15067" y="11317"/>
                    <a:pt x="15343" y="11212"/>
                  </a:cubicBezTo>
                  <a:cubicBezTo>
                    <a:pt x="15604" y="11959"/>
                    <a:pt x="17136" y="16074"/>
                    <a:pt x="17856" y="16074"/>
                  </a:cubicBezTo>
                  <a:cubicBezTo>
                    <a:pt x="18314" y="16074"/>
                    <a:pt x="19427" y="15799"/>
                    <a:pt x="19505" y="15249"/>
                  </a:cubicBezTo>
                  <a:cubicBezTo>
                    <a:pt x="19466" y="15289"/>
                    <a:pt x="19427" y="15302"/>
                    <a:pt x="19375" y="15302"/>
                  </a:cubicBezTo>
                  <a:cubicBezTo>
                    <a:pt x="18157" y="15302"/>
                    <a:pt x="16822" y="11540"/>
                    <a:pt x="16507" y="10517"/>
                  </a:cubicBezTo>
                  <a:cubicBezTo>
                    <a:pt x="17319" y="9757"/>
                    <a:pt x="19492" y="7830"/>
                    <a:pt x="20579" y="7830"/>
                  </a:cubicBezTo>
                  <a:cubicBezTo>
                    <a:pt x="20919" y="7830"/>
                    <a:pt x="21142" y="8092"/>
                    <a:pt x="21103" y="8420"/>
                  </a:cubicBezTo>
                  <a:lnTo>
                    <a:pt x="21247" y="8354"/>
                  </a:lnTo>
                  <a:cubicBezTo>
                    <a:pt x="21299" y="8132"/>
                    <a:pt x="21325" y="7896"/>
                    <a:pt x="21325" y="767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27" name="Paper math native glyph 3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43768" y="8749"/>
                  </a:moveTo>
                  <a:lnTo>
                    <a:pt x="43768" y="7744"/>
                  </a:lnTo>
                  <a:lnTo>
                    <a:pt x="29565" y="7744"/>
                  </a:lnTo>
                  <a:lnTo>
                    <a:pt x="31699" y="5162"/>
                  </a:lnTo>
                  <a:lnTo>
                    <a:pt x="31143" y="4570"/>
                  </a:lnTo>
                  <a:lnTo>
                    <a:pt x="27628" y="8264"/>
                  </a:lnTo>
                  <a:lnTo>
                    <a:pt x="31143" y="11922"/>
                  </a:lnTo>
                  <a:lnTo>
                    <a:pt x="31699" y="11331"/>
                  </a:lnTo>
                  <a:lnTo>
                    <a:pt x="29565" y="8749"/>
                  </a:lnTo>
                  <a:lnTo>
                    <a:pt x="43768" y="874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28" name="Paper math native glyph 4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58289" y="10668"/>
                  </a:moveTo>
                  <a:lnTo>
                    <a:pt x="58289" y="6881"/>
                  </a:lnTo>
                  <a:cubicBezTo>
                    <a:pt x="58289" y="6181"/>
                    <a:pt x="58361" y="5032"/>
                    <a:pt x="58361" y="5032"/>
                  </a:cubicBezTo>
                  <a:cubicBezTo>
                    <a:pt x="58361" y="4961"/>
                    <a:pt x="58253" y="4925"/>
                    <a:pt x="58182" y="4925"/>
                  </a:cubicBezTo>
                  <a:cubicBezTo>
                    <a:pt x="57644" y="5152"/>
                    <a:pt x="57124" y="5170"/>
                    <a:pt x="56496" y="5170"/>
                  </a:cubicBezTo>
                  <a:lnTo>
                    <a:pt x="52963" y="5170"/>
                  </a:lnTo>
                  <a:lnTo>
                    <a:pt x="52963" y="4145"/>
                  </a:lnTo>
                  <a:cubicBezTo>
                    <a:pt x="52963" y="2438"/>
                    <a:pt x="53573" y="946"/>
                    <a:pt x="54792" y="946"/>
                  </a:cubicBezTo>
                  <a:cubicBezTo>
                    <a:pt x="55563" y="946"/>
                    <a:pt x="56173" y="1144"/>
                    <a:pt x="56317" y="1881"/>
                  </a:cubicBezTo>
                  <a:cubicBezTo>
                    <a:pt x="56496" y="2779"/>
                    <a:pt x="56873" y="3049"/>
                    <a:pt x="57429" y="3049"/>
                  </a:cubicBezTo>
                  <a:cubicBezTo>
                    <a:pt x="57823" y="3049"/>
                    <a:pt x="58200" y="2690"/>
                    <a:pt x="58200" y="2312"/>
                  </a:cubicBezTo>
                  <a:cubicBezTo>
                    <a:pt x="58200" y="1198"/>
                    <a:pt x="56675" y="336"/>
                    <a:pt x="55007" y="336"/>
                  </a:cubicBezTo>
                  <a:cubicBezTo>
                    <a:pt x="54183" y="336"/>
                    <a:pt x="53196" y="659"/>
                    <a:pt x="52461" y="1521"/>
                  </a:cubicBezTo>
                  <a:cubicBezTo>
                    <a:pt x="51708" y="2402"/>
                    <a:pt x="51547" y="3498"/>
                    <a:pt x="51547" y="4900"/>
                  </a:cubicBezTo>
                  <a:lnTo>
                    <a:pt x="51547" y="5170"/>
                  </a:lnTo>
                  <a:lnTo>
                    <a:pt x="50668" y="5170"/>
                  </a:lnTo>
                  <a:cubicBezTo>
                    <a:pt x="50345" y="5170"/>
                    <a:pt x="50255" y="5385"/>
                    <a:pt x="50255" y="5528"/>
                  </a:cubicBezTo>
                  <a:lnTo>
                    <a:pt x="50255" y="5762"/>
                  </a:lnTo>
                  <a:cubicBezTo>
                    <a:pt x="50255" y="5851"/>
                    <a:pt x="50273" y="5869"/>
                    <a:pt x="50345" y="5869"/>
                  </a:cubicBezTo>
                  <a:lnTo>
                    <a:pt x="51547" y="5869"/>
                  </a:lnTo>
                  <a:lnTo>
                    <a:pt x="51547" y="10671"/>
                  </a:lnTo>
                  <a:cubicBezTo>
                    <a:pt x="51547" y="12158"/>
                    <a:pt x="51349" y="12229"/>
                    <a:pt x="50381" y="12301"/>
                  </a:cubicBezTo>
                  <a:cubicBezTo>
                    <a:pt x="50273" y="12409"/>
                    <a:pt x="50273" y="12785"/>
                    <a:pt x="50381" y="12893"/>
                  </a:cubicBezTo>
                  <a:cubicBezTo>
                    <a:pt x="50991" y="12875"/>
                    <a:pt x="51636" y="12857"/>
                    <a:pt x="52264" y="12857"/>
                  </a:cubicBezTo>
                  <a:cubicBezTo>
                    <a:pt x="52891" y="12857"/>
                    <a:pt x="53698" y="12875"/>
                    <a:pt x="54290" y="12893"/>
                  </a:cubicBezTo>
                  <a:cubicBezTo>
                    <a:pt x="54398" y="12785"/>
                    <a:pt x="54398" y="12409"/>
                    <a:pt x="54290" y="12301"/>
                  </a:cubicBezTo>
                  <a:cubicBezTo>
                    <a:pt x="53143" y="12229"/>
                    <a:pt x="52963" y="12158"/>
                    <a:pt x="52963" y="10671"/>
                  </a:cubicBezTo>
                  <a:lnTo>
                    <a:pt x="52963" y="5869"/>
                  </a:lnTo>
                  <a:lnTo>
                    <a:pt x="56173" y="5869"/>
                  </a:lnTo>
                  <a:cubicBezTo>
                    <a:pt x="56729" y="5858"/>
                    <a:pt x="56873" y="6217"/>
                    <a:pt x="56873" y="7132"/>
                  </a:cubicBezTo>
                  <a:lnTo>
                    <a:pt x="56873" y="10668"/>
                  </a:lnTo>
                  <a:cubicBezTo>
                    <a:pt x="56873" y="12157"/>
                    <a:pt x="56657" y="12229"/>
                    <a:pt x="55671" y="12301"/>
                  </a:cubicBezTo>
                  <a:cubicBezTo>
                    <a:pt x="55563" y="12409"/>
                    <a:pt x="55563" y="12785"/>
                    <a:pt x="55671" y="12893"/>
                  </a:cubicBezTo>
                  <a:cubicBezTo>
                    <a:pt x="56299" y="12875"/>
                    <a:pt x="56944" y="12857"/>
                    <a:pt x="57590" y="12857"/>
                  </a:cubicBezTo>
                  <a:cubicBezTo>
                    <a:pt x="58217" y="12857"/>
                    <a:pt x="58917" y="12875"/>
                    <a:pt x="59580" y="12893"/>
                  </a:cubicBezTo>
                  <a:cubicBezTo>
                    <a:pt x="59688" y="12785"/>
                    <a:pt x="59688" y="12409"/>
                    <a:pt x="59580" y="12301"/>
                  </a:cubicBezTo>
                  <a:cubicBezTo>
                    <a:pt x="58486" y="12229"/>
                    <a:pt x="58289" y="12157"/>
                    <a:pt x="58289" y="1066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29" name="Paper math native glyph 5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60674" y="5170"/>
                  </a:moveTo>
                  <a:cubicBezTo>
                    <a:pt x="60423" y="5170"/>
                    <a:pt x="60352" y="5385"/>
                    <a:pt x="60352" y="5528"/>
                  </a:cubicBezTo>
                  <a:lnTo>
                    <a:pt x="60352" y="5762"/>
                  </a:lnTo>
                  <a:cubicBezTo>
                    <a:pt x="60352" y="5851"/>
                    <a:pt x="60369" y="5869"/>
                    <a:pt x="60441" y="5869"/>
                  </a:cubicBezTo>
                  <a:lnTo>
                    <a:pt x="61499" y="5869"/>
                  </a:lnTo>
                  <a:lnTo>
                    <a:pt x="61499" y="11259"/>
                  </a:lnTo>
                  <a:cubicBezTo>
                    <a:pt x="61499" y="12531"/>
                    <a:pt x="62055" y="13033"/>
                    <a:pt x="62880" y="13033"/>
                  </a:cubicBezTo>
                  <a:cubicBezTo>
                    <a:pt x="63705" y="13033"/>
                    <a:pt x="64602" y="12639"/>
                    <a:pt x="65301" y="11850"/>
                  </a:cubicBezTo>
                  <a:cubicBezTo>
                    <a:pt x="65265" y="11671"/>
                    <a:pt x="65158" y="11563"/>
                    <a:pt x="64978" y="11545"/>
                  </a:cubicBezTo>
                  <a:cubicBezTo>
                    <a:pt x="64512" y="11904"/>
                    <a:pt x="63974" y="12047"/>
                    <a:pt x="63508" y="12047"/>
                  </a:cubicBezTo>
                  <a:cubicBezTo>
                    <a:pt x="63024" y="12047"/>
                    <a:pt x="62916" y="11510"/>
                    <a:pt x="62916" y="10399"/>
                  </a:cubicBezTo>
                  <a:lnTo>
                    <a:pt x="62916" y="5869"/>
                  </a:lnTo>
                  <a:lnTo>
                    <a:pt x="64781" y="5869"/>
                  </a:lnTo>
                  <a:cubicBezTo>
                    <a:pt x="64960" y="5869"/>
                    <a:pt x="65211" y="5797"/>
                    <a:pt x="65211" y="5636"/>
                  </a:cubicBezTo>
                  <a:lnTo>
                    <a:pt x="65211" y="5278"/>
                  </a:lnTo>
                  <a:cubicBezTo>
                    <a:pt x="65211" y="5206"/>
                    <a:pt x="65158" y="5170"/>
                    <a:pt x="65068" y="5170"/>
                  </a:cubicBezTo>
                  <a:lnTo>
                    <a:pt x="62916" y="5170"/>
                  </a:lnTo>
                  <a:lnTo>
                    <a:pt x="62916" y="4471"/>
                  </a:lnTo>
                  <a:cubicBezTo>
                    <a:pt x="62916" y="3305"/>
                    <a:pt x="62988" y="2587"/>
                    <a:pt x="62988" y="2587"/>
                  </a:cubicBezTo>
                  <a:cubicBezTo>
                    <a:pt x="62988" y="2480"/>
                    <a:pt x="62934" y="2426"/>
                    <a:pt x="62844" y="2426"/>
                  </a:cubicBezTo>
                  <a:cubicBezTo>
                    <a:pt x="62772" y="2426"/>
                    <a:pt x="62611" y="2498"/>
                    <a:pt x="62450" y="2587"/>
                  </a:cubicBezTo>
                  <a:cubicBezTo>
                    <a:pt x="62252" y="2695"/>
                    <a:pt x="62073" y="2785"/>
                    <a:pt x="61840" y="2839"/>
                  </a:cubicBezTo>
                  <a:cubicBezTo>
                    <a:pt x="61625" y="2910"/>
                    <a:pt x="61446" y="2964"/>
                    <a:pt x="61446" y="3090"/>
                  </a:cubicBezTo>
                  <a:cubicBezTo>
                    <a:pt x="61446" y="3305"/>
                    <a:pt x="61499" y="3179"/>
                    <a:pt x="61499" y="5170"/>
                  </a:cubicBezTo>
                  <a:lnTo>
                    <a:pt x="60674" y="517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30" name="Paper math native glyph 6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71757" y="0"/>
                  </a:moveTo>
                  <a:cubicBezTo>
                    <a:pt x="69157" y="1686"/>
                    <a:pt x="67327" y="4591"/>
                    <a:pt x="67327" y="8249"/>
                  </a:cubicBezTo>
                  <a:cubicBezTo>
                    <a:pt x="67327" y="11584"/>
                    <a:pt x="69228" y="14956"/>
                    <a:pt x="71703" y="16480"/>
                  </a:cubicBezTo>
                  <a:lnTo>
                    <a:pt x="71918" y="16193"/>
                  </a:lnTo>
                  <a:cubicBezTo>
                    <a:pt x="69551" y="14328"/>
                    <a:pt x="68869" y="12159"/>
                    <a:pt x="68869" y="8195"/>
                  </a:cubicBezTo>
                  <a:cubicBezTo>
                    <a:pt x="68869" y="4214"/>
                    <a:pt x="69605" y="2152"/>
                    <a:pt x="71918" y="287"/>
                  </a:cubicBezTo>
                  <a:lnTo>
                    <a:pt x="71757" y="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31" name="Paper math native glyph 7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73640" y="12858"/>
                  </a:moveTo>
                  <a:lnTo>
                    <a:pt x="82391" y="12858"/>
                  </a:lnTo>
                  <a:cubicBezTo>
                    <a:pt x="82516" y="11889"/>
                    <a:pt x="82696" y="10776"/>
                    <a:pt x="82875" y="9825"/>
                  </a:cubicBezTo>
                  <a:lnTo>
                    <a:pt x="82104" y="9646"/>
                  </a:lnTo>
                  <a:cubicBezTo>
                    <a:pt x="81799" y="10974"/>
                    <a:pt x="81154" y="12033"/>
                    <a:pt x="80167" y="12033"/>
                  </a:cubicBezTo>
                  <a:lnTo>
                    <a:pt x="77423" y="12033"/>
                  </a:lnTo>
                  <a:cubicBezTo>
                    <a:pt x="77262" y="12033"/>
                    <a:pt x="77173" y="11925"/>
                    <a:pt x="77173" y="11513"/>
                  </a:cubicBezTo>
                  <a:lnTo>
                    <a:pt x="77173" y="7061"/>
                  </a:lnTo>
                  <a:lnTo>
                    <a:pt x="79199" y="7061"/>
                  </a:lnTo>
                  <a:cubicBezTo>
                    <a:pt x="79647" y="7061"/>
                    <a:pt x="79719" y="7600"/>
                    <a:pt x="79827" y="8336"/>
                  </a:cubicBezTo>
                  <a:cubicBezTo>
                    <a:pt x="79827" y="8407"/>
                    <a:pt x="79934" y="8515"/>
                    <a:pt x="80114" y="8515"/>
                  </a:cubicBezTo>
                  <a:lnTo>
                    <a:pt x="80490" y="8515"/>
                  </a:lnTo>
                  <a:lnTo>
                    <a:pt x="80598" y="8354"/>
                  </a:lnTo>
                  <a:cubicBezTo>
                    <a:pt x="80562" y="8048"/>
                    <a:pt x="80472" y="7331"/>
                    <a:pt x="80472" y="6685"/>
                  </a:cubicBezTo>
                  <a:cubicBezTo>
                    <a:pt x="80472" y="6021"/>
                    <a:pt x="80562" y="5304"/>
                    <a:pt x="80598" y="5016"/>
                  </a:cubicBezTo>
                  <a:lnTo>
                    <a:pt x="80490" y="4837"/>
                  </a:lnTo>
                  <a:lnTo>
                    <a:pt x="80114" y="4837"/>
                  </a:lnTo>
                  <a:cubicBezTo>
                    <a:pt x="79934" y="4837"/>
                    <a:pt x="79827" y="4963"/>
                    <a:pt x="79827" y="5035"/>
                  </a:cubicBezTo>
                  <a:cubicBezTo>
                    <a:pt x="79719" y="5752"/>
                    <a:pt x="79647" y="6308"/>
                    <a:pt x="79199" y="6308"/>
                  </a:cubicBezTo>
                  <a:lnTo>
                    <a:pt x="77173" y="6308"/>
                  </a:lnTo>
                  <a:lnTo>
                    <a:pt x="77173" y="2610"/>
                  </a:lnTo>
                  <a:cubicBezTo>
                    <a:pt x="77173" y="2233"/>
                    <a:pt x="77262" y="2089"/>
                    <a:pt x="77423" y="2089"/>
                  </a:cubicBezTo>
                  <a:lnTo>
                    <a:pt x="79755" y="2089"/>
                  </a:lnTo>
                  <a:cubicBezTo>
                    <a:pt x="80956" y="2089"/>
                    <a:pt x="81405" y="3418"/>
                    <a:pt x="81656" y="4334"/>
                  </a:cubicBezTo>
                  <a:lnTo>
                    <a:pt x="82373" y="4173"/>
                  </a:lnTo>
                  <a:cubicBezTo>
                    <a:pt x="82194" y="3257"/>
                    <a:pt x="82068" y="2305"/>
                    <a:pt x="81996" y="1264"/>
                  </a:cubicBezTo>
                  <a:lnTo>
                    <a:pt x="73640" y="1264"/>
                  </a:lnTo>
                  <a:lnTo>
                    <a:pt x="73586" y="1301"/>
                  </a:lnTo>
                  <a:lnTo>
                    <a:pt x="73586" y="1713"/>
                  </a:lnTo>
                  <a:cubicBezTo>
                    <a:pt x="73586" y="1803"/>
                    <a:pt x="73658" y="1856"/>
                    <a:pt x="73729" y="1856"/>
                  </a:cubicBezTo>
                  <a:lnTo>
                    <a:pt x="73980" y="1856"/>
                  </a:lnTo>
                  <a:cubicBezTo>
                    <a:pt x="74698" y="1856"/>
                    <a:pt x="74967" y="2072"/>
                    <a:pt x="74967" y="2647"/>
                  </a:cubicBezTo>
                  <a:lnTo>
                    <a:pt x="74967" y="11476"/>
                  </a:lnTo>
                  <a:cubicBezTo>
                    <a:pt x="74967" y="12051"/>
                    <a:pt x="74698" y="12266"/>
                    <a:pt x="73980" y="12266"/>
                  </a:cubicBezTo>
                  <a:lnTo>
                    <a:pt x="73729" y="12266"/>
                  </a:lnTo>
                  <a:cubicBezTo>
                    <a:pt x="73658" y="12266"/>
                    <a:pt x="73586" y="12320"/>
                    <a:pt x="73586" y="12428"/>
                  </a:cubicBezTo>
                  <a:lnTo>
                    <a:pt x="73586" y="12822"/>
                  </a:lnTo>
                  <a:lnTo>
                    <a:pt x="73640" y="12858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32" name="Paper math native glyph 8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94911" y="7673"/>
                  </a:moveTo>
                  <a:cubicBezTo>
                    <a:pt x="94911" y="7202"/>
                    <a:pt x="94819" y="6665"/>
                    <a:pt x="94230" y="6665"/>
                  </a:cubicBezTo>
                  <a:cubicBezTo>
                    <a:pt x="91481" y="6665"/>
                    <a:pt x="89949" y="10937"/>
                    <a:pt x="88195" y="10989"/>
                  </a:cubicBezTo>
                  <a:cubicBezTo>
                    <a:pt x="88653" y="9626"/>
                    <a:pt x="89020" y="8223"/>
                    <a:pt x="89530" y="6875"/>
                  </a:cubicBezTo>
                  <a:cubicBezTo>
                    <a:pt x="89321" y="6796"/>
                    <a:pt x="89085" y="6757"/>
                    <a:pt x="88863" y="6757"/>
                  </a:cubicBezTo>
                  <a:cubicBezTo>
                    <a:pt x="88300" y="6757"/>
                    <a:pt x="87737" y="6862"/>
                    <a:pt x="87200" y="7005"/>
                  </a:cubicBezTo>
                  <a:cubicBezTo>
                    <a:pt x="86166" y="7280"/>
                    <a:pt x="83325" y="8394"/>
                    <a:pt x="83325" y="9665"/>
                  </a:cubicBezTo>
                  <a:cubicBezTo>
                    <a:pt x="83325" y="10321"/>
                    <a:pt x="83888" y="11291"/>
                    <a:pt x="84621" y="11291"/>
                  </a:cubicBezTo>
                  <a:cubicBezTo>
                    <a:pt x="84674" y="11291"/>
                    <a:pt x="84726" y="11278"/>
                    <a:pt x="84779" y="11251"/>
                  </a:cubicBezTo>
                  <a:cubicBezTo>
                    <a:pt x="84464" y="10976"/>
                    <a:pt x="84412" y="10517"/>
                    <a:pt x="84412" y="10124"/>
                  </a:cubicBezTo>
                  <a:cubicBezTo>
                    <a:pt x="84412" y="8525"/>
                    <a:pt x="86061" y="7398"/>
                    <a:pt x="87541" y="7398"/>
                  </a:cubicBezTo>
                  <a:cubicBezTo>
                    <a:pt x="87632" y="7398"/>
                    <a:pt x="87711" y="7398"/>
                    <a:pt x="87803" y="7411"/>
                  </a:cubicBezTo>
                  <a:cubicBezTo>
                    <a:pt x="87685" y="9403"/>
                    <a:pt x="86664" y="12051"/>
                    <a:pt x="85957" y="13952"/>
                  </a:cubicBezTo>
                  <a:cubicBezTo>
                    <a:pt x="85721" y="14568"/>
                    <a:pt x="85224" y="15956"/>
                    <a:pt x="84451" y="16022"/>
                  </a:cubicBezTo>
                  <a:cubicBezTo>
                    <a:pt x="84582" y="16113"/>
                    <a:pt x="84752" y="16166"/>
                    <a:pt x="84909" y="16166"/>
                  </a:cubicBezTo>
                  <a:cubicBezTo>
                    <a:pt x="85302" y="16166"/>
                    <a:pt x="86441" y="15616"/>
                    <a:pt x="86729" y="15341"/>
                  </a:cubicBezTo>
                  <a:cubicBezTo>
                    <a:pt x="86978" y="15105"/>
                    <a:pt x="87947" y="12038"/>
                    <a:pt x="88090" y="11500"/>
                  </a:cubicBezTo>
                  <a:cubicBezTo>
                    <a:pt x="88378" y="11409"/>
                    <a:pt x="88653" y="11317"/>
                    <a:pt x="88928" y="11212"/>
                  </a:cubicBezTo>
                  <a:cubicBezTo>
                    <a:pt x="89190" y="11959"/>
                    <a:pt x="90722" y="16074"/>
                    <a:pt x="91442" y="16074"/>
                  </a:cubicBezTo>
                  <a:cubicBezTo>
                    <a:pt x="91900" y="16074"/>
                    <a:pt x="93013" y="15799"/>
                    <a:pt x="93091" y="15249"/>
                  </a:cubicBezTo>
                  <a:cubicBezTo>
                    <a:pt x="93052" y="15289"/>
                    <a:pt x="93013" y="15302"/>
                    <a:pt x="92960" y="15302"/>
                  </a:cubicBezTo>
                  <a:cubicBezTo>
                    <a:pt x="91743" y="15302"/>
                    <a:pt x="90407" y="11540"/>
                    <a:pt x="90093" y="10517"/>
                  </a:cubicBezTo>
                  <a:cubicBezTo>
                    <a:pt x="90905" y="9757"/>
                    <a:pt x="93078" y="7830"/>
                    <a:pt x="94165" y="7830"/>
                  </a:cubicBezTo>
                  <a:cubicBezTo>
                    <a:pt x="94505" y="7830"/>
                    <a:pt x="94727" y="8092"/>
                    <a:pt x="94688" y="8420"/>
                  </a:cubicBezTo>
                  <a:lnTo>
                    <a:pt x="94832" y="8354"/>
                  </a:lnTo>
                  <a:cubicBezTo>
                    <a:pt x="94885" y="8132"/>
                    <a:pt x="94911" y="7896"/>
                    <a:pt x="94911" y="767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33" name="Paper math native glyph 9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96376" y="6488"/>
                  </a:moveTo>
                  <a:cubicBezTo>
                    <a:pt x="96376" y="7008"/>
                    <a:pt x="96807" y="7438"/>
                    <a:pt x="97326" y="7438"/>
                  </a:cubicBezTo>
                  <a:cubicBezTo>
                    <a:pt x="97847" y="7438"/>
                    <a:pt x="98277" y="7008"/>
                    <a:pt x="98277" y="6488"/>
                  </a:cubicBezTo>
                  <a:cubicBezTo>
                    <a:pt x="98277" y="5968"/>
                    <a:pt x="97847" y="5537"/>
                    <a:pt x="97326" y="5537"/>
                  </a:cubicBezTo>
                  <a:cubicBezTo>
                    <a:pt x="96807" y="5537"/>
                    <a:pt x="96376" y="5968"/>
                    <a:pt x="96376" y="6488"/>
                  </a:cubicBezTo>
                  <a:moveTo>
                    <a:pt x="97326" y="11155"/>
                  </a:moveTo>
                  <a:cubicBezTo>
                    <a:pt x="96771" y="11155"/>
                    <a:pt x="96376" y="11532"/>
                    <a:pt x="96376" y="12034"/>
                  </a:cubicBezTo>
                  <a:cubicBezTo>
                    <a:pt x="96376" y="12590"/>
                    <a:pt x="96842" y="12769"/>
                    <a:pt x="97165" y="12823"/>
                  </a:cubicBezTo>
                  <a:cubicBezTo>
                    <a:pt x="97506" y="12859"/>
                    <a:pt x="97811" y="12966"/>
                    <a:pt x="97811" y="13378"/>
                  </a:cubicBezTo>
                  <a:cubicBezTo>
                    <a:pt x="97811" y="13753"/>
                    <a:pt x="97165" y="14576"/>
                    <a:pt x="96233" y="14809"/>
                  </a:cubicBezTo>
                  <a:cubicBezTo>
                    <a:pt x="96233" y="14988"/>
                    <a:pt x="96269" y="15114"/>
                    <a:pt x="96394" y="15239"/>
                  </a:cubicBezTo>
                  <a:cubicBezTo>
                    <a:pt x="97470" y="15042"/>
                    <a:pt x="98510" y="14183"/>
                    <a:pt x="98510" y="12930"/>
                  </a:cubicBezTo>
                  <a:cubicBezTo>
                    <a:pt x="98510" y="11855"/>
                    <a:pt x="98044" y="11155"/>
                    <a:pt x="97326" y="11155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34" name="Paper math native glyph 10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124345" y="875"/>
                  </a:moveTo>
                  <a:cubicBezTo>
                    <a:pt x="124345" y="623"/>
                    <a:pt x="124166" y="354"/>
                    <a:pt x="123897" y="354"/>
                  </a:cubicBezTo>
                  <a:cubicBezTo>
                    <a:pt x="123216" y="354"/>
                    <a:pt x="121996" y="659"/>
                    <a:pt x="121386" y="964"/>
                  </a:cubicBezTo>
                  <a:lnTo>
                    <a:pt x="121476" y="1108"/>
                  </a:lnTo>
                  <a:cubicBezTo>
                    <a:pt x="122050" y="856"/>
                    <a:pt x="122104" y="1772"/>
                    <a:pt x="122104" y="2095"/>
                  </a:cubicBezTo>
                  <a:cubicBezTo>
                    <a:pt x="122104" y="3926"/>
                    <a:pt x="118786" y="8575"/>
                    <a:pt x="117316" y="9688"/>
                  </a:cubicBezTo>
                  <a:cubicBezTo>
                    <a:pt x="117244" y="7354"/>
                    <a:pt x="116670" y="5057"/>
                    <a:pt x="116670" y="2705"/>
                  </a:cubicBezTo>
                  <a:cubicBezTo>
                    <a:pt x="116670" y="2059"/>
                    <a:pt x="116778" y="1395"/>
                    <a:pt x="116939" y="767"/>
                  </a:cubicBezTo>
                  <a:cubicBezTo>
                    <a:pt x="116042" y="767"/>
                    <a:pt x="115576" y="1269"/>
                    <a:pt x="114769" y="1467"/>
                  </a:cubicBezTo>
                  <a:cubicBezTo>
                    <a:pt x="114859" y="4590"/>
                    <a:pt x="113406" y="7606"/>
                    <a:pt x="111236" y="9796"/>
                  </a:cubicBezTo>
                  <a:cubicBezTo>
                    <a:pt x="111057" y="7570"/>
                    <a:pt x="110358" y="5416"/>
                    <a:pt x="110358" y="3172"/>
                  </a:cubicBezTo>
                  <a:cubicBezTo>
                    <a:pt x="110358" y="2328"/>
                    <a:pt x="110447" y="1467"/>
                    <a:pt x="110752" y="659"/>
                  </a:cubicBezTo>
                  <a:cubicBezTo>
                    <a:pt x="109120" y="713"/>
                    <a:pt x="102467" y="2795"/>
                    <a:pt x="102467" y="4716"/>
                  </a:cubicBezTo>
                  <a:cubicBezTo>
                    <a:pt x="102467" y="5362"/>
                    <a:pt x="103597" y="6852"/>
                    <a:pt x="104278" y="6852"/>
                  </a:cubicBezTo>
                  <a:lnTo>
                    <a:pt x="104458" y="6834"/>
                  </a:lnTo>
                  <a:cubicBezTo>
                    <a:pt x="104153" y="6547"/>
                    <a:pt x="104081" y="6134"/>
                    <a:pt x="104081" y="5739"/>
                  </a:cubicBezTo>
                  <a:cubicBezTo>
                    <a:pt x="104081" y="3729"/>
                    <a:pt x="106843" y="2005"/>
                    <a:pt x="108618" y="1736"/>
                  </a:cubicBezTo>
                  <a:cubicBezTo>
                    <a:pt x="108547" y="2203"/>
                    <a:pt x="108511" y="2687"/>
                    <a:pt x="108511" y="3154"/>
                  </a:cubicBezTo>
                  <a:cubicBezTo>
                    <a:pt x="108511" y="5290"/>
                    <a:pt x="109282" y="7319"/>
                    <a:pt x="109282" y="9706"/>
                  </a:cubicBezTo>
                  <a:cubicBezTo>
                    <a:pt x="109282" y="10873"/>
                    <a:pt x="109228" y="12057"/>
                    <a:pt x="109138" y="13224"/>
                  </a:cubicBezTo>
                  <a:cubicBezTo>
                    <a:pt x="109784" y="13188"/>
                    <a:pt x="110358" y="12883"/>
                    <a:pt x="110896" y="12542"/>
                  </a:cubicBezTo>
                  <a:cubicBezTo>
                    <a:pt x="111559" y="10245"/>
                    <a:pt x="113353" y="7713"/>
                    <a:pt x="114966" y="5972"/>
                  </a:cubicBezTo>
                  <a:cubicBezTo>
                    <a:pt x="115325" y="7354"/>
                    <a:pt x="115540" y="8773"/>
                    <a:pt x="115540" y="10191"/>
                  </a:cubicBezTo>
                  <a:cubicBezTo>
                    <a:pt x="115540" y="11034"/>
                    <a:pt x="115576" y="12470"/>
                    <a:pt x="115074" y="13170"/>
                  </a:cubicBezTo>
                  <a:lnTo>
                    <a:pt x="115164" y="13296"/>
                  </a:lnTo>
                  <a:cubicBezTo>
                    <a:pt x="115648" y="13152"/>
                    <a:pt x="116993" y="12704"/>
                    <a:pt x="117244" y="12273"/>
                  </a:cubicBezTo>
                  <a:cubicBezTo>
                    <a:pt x="117351" y="12093"/>
                    <a:pt x="117370" y="11860"/>
                    <a:pt x="117423" y="11662"/>
                  </a:cubicBezTo>
                  <a:cubicBezTo>
                    <a:pt x="117656" y="10765"/>
                    <a:pt x="118105" y="9921"/>
                    <a:pt x="118643" y="9185"/>
                  </a:cubicBezTo>
                  <a:cubicBezTo>
                    <a:pt x="120023" y="7301"/>
                    <a:pt x="124345" y="3082"/>
                    <a:pt x="124345" y="875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35" name="Paper math native glyph 11"/>
            <p:cNvSpPr/>
            <p:nvPr/>
          </p:nvSpPr>
          <p:spPr>
            <a:xfrm>
              <a:off x="0" y="0"/>
              <a:ext cx="1651380" cy="209300"/>
            </a:xfrm>
            <a:custGeom>
              <a:avLst/>
              <a:gdLst/>
              <a:ahLst/>
              <a:cxnLst/>
              <a:rect l="0" t="0" r="r" b="b"/>
              <a:pathLst>
                <a:path w="130030" h="16480" stroke="0" extrusionOk="0">
                  <a:moveTo>
                    <a:pt x="125601" y="0"/>
                  </a:moveTo>
                  <a:lnTo>
                    <a:pt x="125439" y="287"/>
                  </a:lnTo>
                  <a:cubicBezTo>
                    <a:pt x="127752" y="2152"/>
                    <a:pt x="128488" y="4214"/>
                    <a:pt x="128488" y="8195"/>
                  </a:cubicBezTo>
                  <a:cubicBezTo>
                    <a:pt x="128488" y="12159"/>
                    <a:pt x="127806" y="14328"/>
                    <a:pt x="125439" y="16193"/>
                  </a:cubicBezTo>
                  <a:lnTo>
                    <a:pt x="125654" y="16480"/>
                  </a:lnTo>
                  <a:cubicBezTo>
                    <a:pt x="128129" y="14956"/>
                    <a:pt x="130030" y="11584"/>
                    <a:pt x="130030" y="8249"/>
                  </a:cubicBezTo>
                  <a:cubicBezTo>
                    <a:pt x="130030" y="4591"/>
                    <a:pt x="128201" y="1686"/>
                    <a:pt x="125601" y="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536" name="Label · Masked L1 loss · Adam"/>
          <p:cNvSpPr txBox="1"/>
          <p:nvPr/>
        </p:nvSpPr>
        <p:spPr>
          <a:xfrm>
            <a:off x="4667250" y="7353300"/>
            <a:ext cx="2905125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272C"/>
                </a:solidFill>
                <a:latin typeface="Times New Roman"/>
              </a:rPr>
              <a:t>Masked L1 loss · Adam</a:t>
            </a:r>
          </a:p>
        </p:txBody>
      </p:sp>
      <p:sp>
        <p:nvSpPr>
          <p:cNvPr id="1537" name="Label · Last 512 windows: early stopping"/>
          <p:cNvSpPr txBox="1"/>
          <p:nvPr/>
        </p:nvSpPr>
        <p:spPr>
          <a:xfrm>
            <a:off x="4638675" y="7658100"/>
            <a:ext cx="3009900" cy="2428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45B66"/>
                </a:solidFill>
                <a:latin typeface="Times New Roman"/>
              </a:rPr>
              <a:t>Last 512 windows: early stopping</a:t>
            </a:r>
          </a:p>
        </p:txBody>
      </p:sp>
      <p:sp>
        <p:nvSpPr>
          <p:cNvPr id="1538" name="Label · Shared weights stay frozen"/>
          <p:cNvSpPr txBox="1"/>
          <p:nvPr/>
        </p:nvSpPr>
        <p:spPr>
          <a:xfrm>
            <a:off x="4552950" y="8277225"/>
            <a:ext cx="3162300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45B66"/>
                </a:solidFill>
                <a:latin typeface="Times New Roman"/>
              </a:rPr>
              <a:t>Shared weights stay frozen</a:t>
            </a:r>
          </a:p>
        </p:txBody>
      </p:sp>
      <p:sp>
        <p:nvSpPr>
          <p:cNvPr id="1539" name="Sensor arrival and joint refit panel"/>
          <p:cNvSpPr/>
          <p:nvPr/>
        </p:nvSpPr>
        <p:spPr>
          <a:xfrm>
            <a:off x="8372475" y="3857625"/>
            <a:ext cx="3943350" cy="4848225"/>
          </a:xfrm>
          <a:prstGeom prst="roundRect">
            <a:avLst>
              <a:gd name="adj" fmla="val 8000"/>
            </a:avLst>
          </a:prstGeom>
          <a:solidFill>
            <a:srgbClr val="FFF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Label · Borrow then refit"/>
          <p:cNvSpPr txBox="1"/>
          <p:nvPr/>
        </p:nvSpPr>
        <p:spPr>
          <a:xfrm>
            <a:off x="8562975" y="4029075"/>
            <a:ext cx="3533775" cy="4000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6272C"/>
                </a:solidFill>
                <a:latin typeface="Times New Roman"/>
              </a:rPr>
              <a:t>Borrow then refit</a:t>
            </a:r>
          </a:p>
        </p:txBody>
      </p:sp>
      <p:grpSp>
        <p:nvGrpSpPr>
          <p:cNvPr id="1541" name="Formula · u\,\in\,\mathcal{U}" descr="Editable LaTeX source: $u\,\in\,\mathcal{U}$; native vector glyphs."/>
          <p:cNvGrpSpPr/>
          <p:nvPr/>
        </p:nvGrpSpPr>
        <p:grpSpPr>
          <a:xfrm>
            <a:off x="10639425" y="4391025"/>
            <a:ext cx="605203" cy="151682"/>
            <a:chOff x="0" y="0"/>
            <a:chExt cx="605203" cy="151682"/>
          </a:xfrm>
        </p:grpSpPr>
        <p:sp>
          <p:nvSpPr>
            <p:cNvPr id="1542" name="Paper math native glyph 1"/>
            <p:cNvSpPr/>
            <p:nvPr/>
          </p:nvSpPr>
          <p:spPr>
            <a:xfrm>
              <a:off x="0" y="0"/>
              <a:ext cx="605203" cy="151682"/>
            </a:xfrm>
            <a:custGeom>
              <a:avLst/>
              <a:gdLst/>
              <a:ahLst/>
              <a:cxnLst/>
              <a:rect l="0" t="0" r="r" b="b"/>
              <a:pathLst>
                <a:path w="47654" h="11943" stroke="0" extrusionOk="0">
                  <a:moveTo>
                    <a:pt x="6921" y="5620"/>
                  </a:moveTo>
                  <a:cubicBezTo>
                    <a:pt x="6986" y="5324"/>
                    <a:pt x="7134" y="4831"/>
                    <a:pt x="7134" y="4634"/>
                  </a:cubicBezTo>
                  <a:cubicBezTo>
                    <a:pt x="7134" y="4354"/>
                    <a:pt x="6970" y="4190"/>
                    <a:pt x="6444" y="4190"/>
                  </a:cubicBezTo>
                  <a:cubicBezTo>
                    <a:pt x="5819" y="4190"/>
                    <a:pt x="5852" y="4913"/>
                    <a:pt x="5688" y="5538"/>
                  </a:cubicBezTo>
                  <a:lnTo>
                    <a:pt x="5211" y="7348"/>
                  </a:lnTo>
                  <a:cubicBezTo>
                    <a:pt x="3994" y="9420"/>
                    <a:pt x="3189" y="10588"/>
                    <a:pt x="2367" y="10588"/>
                  </a:cubicBezTo>
                  <a:cubicBezTo>
                    <a:pt x="2071" y="10588"/>
                    <a:pt x="1874" y="10424"/>
                    <a:pt x="1874" y="9979"/>
                  </a:cubicBezTo>
                  <a:cubicBezTo>
                    <a:pt x="1874" y="9716"/>
                    <a:pt x="1907" y="9371"/>
                    <a:pt x="2022" y="8927"/>
                  </a:cubicBezTo>
                  <a:lnTo>
                    <a:pt x="2729" y="6245"/>
                  </a:lnTo>
                  <a:cubicBezTo>
                    <a:pt x="2860" y="5719"/>
                    <a:pt x="3074" y="5045"/>
                    <a:pt x="3074" y="4732"/>
                  </a:cubicBezTo>
                  <a:cubicBezTo>
                    <a:pt x="3074" y="4420"/>
                    <a:pt x="2975" y="4190"/>
                    <a:pt x="2482" y="4190"/>
                  </a:cubicBezTo>
                  <a:cubicBezTo>
                    <a:pt x="1693" y="4190"/>
                    <a:pt x="756" y="4749"/>
                    <a:pt x="0" y="5719"/>
                  </a:cubicBezTo>
                  <a:cubicBezTo>
                    <a:pt x="49" y="5867"/>
                    <a:pt x="148" y="5999"/>
                    <a:pt x="378" y="5999"/>
                  </a:cubicBezTo>
                  <a:cubicBezTo>
                    <a:pt x="805" y="5505"/>
                    <a:pt x="1348" y="5176"/>
                    <a:pt x="1512" y="5176"/>
                  </a:cubicBezTo>
                  <a:cubicBezTo>
                    <a:pt x="1627" y="5176"/>
                    <a:pt x="1677" y="5259"/>
                    <a:pt x="1677" y="5456"/>
                  </a:cubicBezTo>
                  <a:cubicBezTo>
                    <a:pt x="1677" y="5604"/>
                    <a:pt x="1578" y="5966"/>
                    <a:pt x="1463" y="6394"/>
                  </a:cubicBezTo>
                  <a:lnTo>
                    <a:pt x="740" y="9157"/>
                  </a:lnTo>
                  <a:cubicBezTo>
                    <a:pt x="625" y="9585"/>
                    <a:pt x="575" y="9947"/>
                    <a:pt x="575" y="10259"/>
                  </a:cubicBezTo>
                  <a:cubicBezTo>
                    <a:pt x="575" y="11196"/>
                    <a:pt x="1101" y="11574"/>
                    <a:pt x="1677" y="11574"/>
                  </a:cubicBezTo>
                  <a:cubicBezTo>
                    <a:pt x="2959" y="11574"/>
                    <a:pt x="3781" y="10555"/>
                    <a:pt x="4948" y="8844"/>
                  </a:cubicBezTo>
                  <a:lnTo>
                    <a:pt x="4997" y="8877"/>
                  </a:lnTo>
                  <a:lnTo>
                    <a:pt x="4816" y="9519"/>
                  </a:lnTo>
                  <a:cubicBezTo>
                    <a:pt x="4668" y="10045"/>
                    <a:pt x="4537" y="10720"/>
                    <a:pt x="4537" y="11032"/>
                  </a:cubicBezTo>
                  <a:cubicBezTo>
                    <a:pt x="4537" y="11344"/>
                    <a:pt x="4652" y="11574"/>
                    <a:pt x="5145" y="11574"/>
                  </a:cubicBezTo>
                  <a:cubicBezTo>
                    <a:pt x="5934" y="11574"/>
                    <a:pt x="6674" y="11015"/>
                    <a:pt x="7430" y="10045"/>
                  </a:cubicBezTo>
                  <a:cubicBezTo>
                    <a:pt x="7381" y="9897"/>
                    <a:pt x="7282" y="9766"/>
                    <a:pt x="7052" y="9766"/>
                  </a:cubicBezTo>
                  <a:cubicBezTo>
                    <a:pt x="6625" y="10259"/>
                    <a:pt x="6148" y="10588"/>
                    <a:pt x="5984" y="10588"/>
                  </a:cubicBezTo>
                  <a:cubicBezTo>
                    <a:pt x="5868" y="10588"/>
                    <a:pt x="5819" y="10506"/>
                    <a:pt x="5819" y="10308"/>
                  </a:cubicBezTo>
                  <a:cubicBezTo>
                    <a:pt x="5819" y="10160"/>
                    <a:pt x="5902" y="9799"/>
                    <a:pt x="6000" y="9371"/>
                  </a:cubicBezTo>
                  <a:lnTo>
                    <a:pt x="6921" y="562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43" name="Paper math native glyph 2"/>
            <p:cNvSpPr/>
            <p:nvPr/>
          </p:nvSpPr>
          <p:spPr>
            <a:xfrm>
              <a:off x="0" y="0"/>
              <a:ext cx="605203" cy="151682"/>
            </a:xfrm>
            <a:custGeom>
              <a:avLst/>
              <a:gdLst/>
              <a:ahLst/>
              <a:cxnLst/>
              <a:rect l="0" t="0" r="r" b="b"/>
              <a:pathLst>
                <a:path w="47654" h="11943" stroke="0" extrusionOk="0">
                  <a:moveTo>
                    <a:pt x="23752" y="11285"/>
                  </a:moveTo>
                  <a:lnTo>
                    <a:pt x="23752" y="10464"/>
                  </a:lnTo>
                  <a:lnTo>
                    <a:pt x="20629" y="10464"/>
                  </a:lnTo>
                  <a:cubicBezTo>
                    <a:pt x="19150" y="10464"/>
                    <a:pt x="17703" y="9244"/>
                    <a:pt x="17506" y="7596"/>
                  </a:cubicBezTo>
                  <a:lnTo>
                    <a:pt x="23473" y="7596"/>
                  </a:lnTo>
                  <a:lnTo>
                    <a:pt x="23473" y="6774"/>
                  </a:lnTo>
                  <a:lnTo>
                    <a:pt x="17506" y="6774"/>
                  </a:lnTo>
                  <a:cubicBezTo>
                    <a:pt x="17687" y="5214"/>
                    <a:pt x="18985" y="3917"/>
                    <a:pt x="20629" y="3917"/>
                  </a:cubicBezTo>
                  <a:lnTo>
                    <a:pt x="23752" y="3917"/>
                  </a:lnTo>
                  <a:lnTo>
                    <a:pt x="23752" y="3095"/>
                  </a:lnTo>
                  <a:lnTo>
                    <a:pt x="20695" y="3095"/>
                  </a:lnTo>
                  <a:cubicBezTo>
                    <a:pt x="18410" y="3095"/>
                    <a:pt x="16651" y="5001"/>
                    <a:pt x="16651" y="7186"/>
                  </a:cubicBezTo>
                  <a:cubicBezTo>
                    <a:pt x="16651" y="9376"/>
                    <a:pt x="18410" y="11285"/>
                    <a:pt x="20695" y="11285"/>
                  </a:cubicBezTo>
                  <a:lnTo>
                    <a:pt x="23752" y="11285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44" name="Paper math native glyph 3"/>
            <p:cNvSpPr/>
            <p:nvPr/>
          </p:nvSpPr>
          <p:spPr>
            <a:xfrm>
              <a:off x="0" y="0"/>
              <a:ext cx="605203" cy="151682"/>
            </a:xfrm>
            <a:custGeom>
              <a:avLst/>
              <a:gdLst/>
              <a:ahLst/>
              <a:cxnLst/>
              <a:rect l="0" t="0" r="r" b="b"/>
              <a:pathLst>
                <a:path w="47654" h="11943" stroke="0" extrusionOk="0">
                  <a:moveTo>
                    <a:pt x="47654" y="99"/>
                  </a:moveTo>
                  <a:lnTo>
                    <a:pt x="47572" y="0"/>
                  </a:lnTo>
                  <a:cubicBezTo>
                    <a:pt x="47046" y="66"/>
                    <a:pt x="45714" y="395"/>
                    <a:pt x="45336" y="757"/>
                  </a:cubicBezTo>
                  <a:cubicBezTo>
                    <a:pt x="45139" y="938"/>
                    <a:pt x="44514" y="3060"/>
                    <a:pt x="44383" y="3488"/>
                  </a:cubicBezTo>
                  <a:cubicBezTo>
                    <a:pt x="43725" y="5511"/>
                    <a:pt x="43068" y="7173"/>
                    <a:pt x="41457" y="8637"/>
                  </a:cubicBezTo>
                  <a:cubicBezTo>
                    <a:pt x="40569" y="9460"/>
                    <a:pt x="39172" y="10365"/>
                    <a:pt x="37922" y="10365"/>
                  </a:cubicBezTo>
                  <a:cubicBezTo>
                    <a:pt x="37659" y="10365"/>
                    <a:pt x="37462" y="10266"/>
                    <a:pt x="37462" y="9970"/>
                  </a:cubicBezTo>
                  <a:cubicBezTo>
                    <a:pt x="37462" y="7601"/>
                    <a:pt x="39484" y="2764"/>
                    <a:pt x="40273" y="296"/>
                  </a:cubicBezTo>
                  <a:cubicBezTo>
                    <a:pt x="40141" y="198"/>
                    <a:pt x="39994" y="181"/>
                    <a:pt x="39829" y="181"/>
                  </a:cubicBezTo>
                  <a:cubicBezTo>
                    <a:pt x="38070" y="181"/>
                    <a:pt x="32350" y="1826"/>
                    <a:pt x="32350" y="4014"/>
                  </a:cubicBezTo>
                  <a:cubicBezTo>
                    <a:pt x="32350" y="4640"/>
                    <a:pt x="33287" y="6137"/>
                    <a:pt x="33977" y="6137"/>
                  </a:cubicBezTo>
                  <a:cubicBezTo>
                    <a:pt x="34076" y="6137"/>
                    <a:pt x="34174" y="6120"/>
                    <a:pt x="34256" y="6087"/>
                  </a:cubicBezTo>
                  <a:cubicBezTo>
                    <a:pt x="33961" y="5725"/>
                    <a:pt x="33862" y="5265"/>
                    <a:pt x="33862" y="4804"/>
                  </a:cubicBezTo>
                  <a:cubicBezTo>
                    <a:pt x="33862" y="2879"/>
                    <a:pt x="36607" y="1070"/>
                    <a:pt x="38366" y="1020"/>
                  </a:cubicBezTo>
                  <a:cubicBezTo>
                    <a:pt x="37528" y="3406"/>
                    <a:pt x="35522" y="8094"/>
                    <a:pt x="35522" y="10447"/>
                  </a:cubicBezTo>
                  <a:cubicBezTo>
                    <a:pt x="35522" y="11171"/>
                    <a:pt x="35818" y="11763"/>
                    <a:pt x="36624" y="11763"/>
                  </a:cubicBezTo>
                  <a:cubicBezTo>
                    <a:pt x="38350" y="11763"/>
                    <a:pt x="41982" y="9230"/>
                    <a:pt x="43100" y="7913"/>
                  </a:cubicBezTo>
                  <a:cubicBezTo>
                    <a:pt x="42887" y="8637"/>
                    <a:pt x="42673" y="9378"/>
                    <a:pt x="42673" y="10134"/>
                  </a:cubicBezTo>
                  <a:cubicBezTo>
                    <a:pt x="42673" y="10595"/>
                    <a:pt x="42772" y="11943"/>
                    <a:pt x="43429" y="11943"/>
                  </a:cubicBezTo>
                  <a:cubicBezTo>
                    <a:pt x="44202" y="11943"/>
                    <a:pt x="45369" y="11236"/>
                    <a:pt x="45484" y="10430"/>
                  </a:cubicBezTo>
                  <a:cubicBezTo>
                    <a:pt x="45369" y="10529"/>
                    <a:pt x="45205" y="10595"/>
                    <a:pt x="45040" y="10595"/>
                  </a:cubicBezTo>
                  <a:cubicBezTo>
                    <a:pt x="44564" y="10595"/>
                    <a:pt x="44580" y="9937"/>
                    <a:pt x="44580" y="9624"/>
                  </a:cubicBezTo>
                  <a:cubicBezTo>
                    <a:pt x="44580" y="7946"/>
                    <a:pt x="46602" y="1316"/>
                    <a:pt x="47654" y="9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545" name="Borrow by behaviour: no training"/>
          <p:cNvSpPr/>
          <p:nvPr/>
        </p:nvSpPr>
        <p:spPr>
          <a:xfrm>
            <a:off x="8572500" y="4714875"/>
            <a:ext cx="3543300" cy="1714500"/>
          </a:xfrm>
          <a:prstGeom prst="roundRect">
            <a:avLst>
              <a:gd name="adj" fmla="val 8000"/>
            </a:avLst>
          </a:prstGeom>
          <a:solidFill>
            <a:srgbClr val="FEE695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Label · Borrow by behaviour"/>
          <p:cNvSpPr txBox="1"/>
          <p:nvPr/>
        </p:nvSpPr>
        <p:spPr>
          <a:xfrm>
            <a:off x="8724900" y="4829175"/>
            <a:ext cx="3200400" cy="3429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6272C"/>
                </a:solidFill>
                <a:latin typeface="Times New Roman"/>
              </a:rPr>
              <a:t>Borrow by behaviour</a:t>
            </a:r>
          </a:p>
        </p:txBody>
      </p:sp>
      <p:sp>
        <p:nvSpPr>
          <p:cNvPr id="1547" name="Label · Short post-arrival observations"/>
          <p:cNvSpPr txBox="1"/>
          <p:nvPr/>
        </p:nvSpPr>
        <p:spPr>
          <a:xfrm>
            <a:off x="8734425" y="5133975"/>
            <a:ext cx="3190875" cy="2571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45B66"/>
                </a:solidFill>
                <a:latin typeface="Times New Roman"/>
              </a:rPr>
              <a:t>Short post-arrival observations</a:t>
            </a:r>
          </a:p>
        </p:txBody>
      </p:sp>
      <p:grpSp>
        <p:nvGrpSpPr>
          <p:cNvPr id="1548" name="Five mature donor identities"/>
          <p:cNvGrpSpPr/>
          <p:nvPr/>
        </p:nvGrpSpPr>
        <p:grpSpPr>
          <a:xfrm>
            <a:off x="8772525" y="5467350"/>
            <a:ext cx="1447800" cy="352425"/>
            <a:chOff x="8772525" y="6038850"/>
            <a:chExt cx="1447800" cy="352425"/>
          </a:xfrm>
        </p:grpSpPr>
        <p:sp>
          <p:nvSpPr>
            <p:cNvPr id="1549" name="Five mature donor identities cell 1,1"/>
            <p:cNvSpPr/>
            <p:nvPr/>
          </p:nvSpPr>
          <p:spPr>
            <a:xfrm>
              <a:off x="8772525" y="603885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0" name="Five mature donor identities cell 1,2"/>
            <p:cNvSpPr/>
            <p:nvPr/>
          </p:nvSpPr>
          <p:spPr>
            <a:xfrm>
              <a:off x="9013825" y="603885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1" name="Five mature donor identities cell 1,3"/>
            <p:cNvSpPr/>
            <p:nvPr/>
          </p:nvSpPr>
          <p:spPr>
            <a:xfrm>
              <a:off x="9255125" y="603885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2" name="Five mature donor identities cell 1,4"/>
            <p:cNvSpPr/>
            <p:nvPr/>
          </p:nvSpPr>
          <p:spPr>
            <a:xfrm>
              <a:off x="9496425" y="603885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3" name="Five mature donor identities cell 1,5"/>
            <p:cNvSpPr/>
            <p:nvPr/>
          </p:nvSpPr>
          <p:spPr>
            <a:xfrm>
              <a:off x="9737725" y="603885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4" name="Five mature donor identities cell 1,6"/>
            <p:cNvSpPr/>
            <p:nvPr/>
          </p:nvSpPr>
          <p:spPr>
            <a:xfrm>
              <a:off x="9979025" y="603885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5" name="Five mature donor identities cell 2,1"/>
            <p:cNvSpPr/>
            <p:nvPr/>
          </p:nvSpPr>
          <p:spPr>
            <a:xfrm>
              <a:off x="8772525" y="610933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6" name="Five mature donor identities cell 2,2"/>
            <p:cNvSpPr/>
            <p:nvPr/>
          </p:nvSpPr>
          <p:spPr>
            <a:xfrm>
              <a:off x="9013825" y="610933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7" name="Five mature donor identities cell 2,3"/>
            <p:cNvSpPr/>
            <p:nvPr/>
          </p:nvSpPr>
          <p:spPr>
            <a:xfrm>
              <a:off x="9255125" y="610933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8" name="Five mature donor identities cell 2,4"/>
            <p:cNvSpPr/>
            <p:nvPr/>
          </p:nvSpPr>
          <p:spPr>
            <a:xfrm>
              <a:off x="9496425" y="610933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9" name="Five mature donor identities cell 2,5"/>
            <p:cNvSpPr/>
            <p:nvPr/>
          </p:nvSpPr>
          <p:spPr>
            <a:xfrm>
              <a:off x="9737725" y="610933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0" name="Five mature donor identities cell 2,6"/>
            <p:cNvSpPr/>
            <p:nvPr/>
          </p:nvSpPr>
          <p:spPr>
            <a:xfrm>
              <a:off x="9979025" y="610933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1" name="Five mature donor identities cell 3,1"/>
            <p:cNvSpPr/>
            <p:nvPr/>
          </p:nvSpPr>
          <p:spPr>
            <a:xfrm>
              <a:off x="8772525" y="617982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2" name="Five mature donor identities cell 3,2"/>
            <p:cNvSpPr/>
            <p:nvPr/>
          </p:nvSpPr>
          <p:spPr>
            <a:xfrm>
              <a:off x="9013825" y="617982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3" name="Five mature donor identities cell 3,3"/>
            <p:cNvSpPr/>
            <p:nvPr/>
          </p:nvSpPr>
          <p:spPr>
            <a:xfrm>
              <a:off x="9255125" y="617982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4" name="Five mature donor identities cell 3,4"/>
            <p:cNvSpPr/>
            <p:nvPr/>
          </p:nvSpPr>
          <p:spPr>
            <a:xfrm>
              <a:off x="9496425" y="617982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5" name="Five mature donor identities cell 3,5"/>
            <p:cNvSpPr/>
            <p:nvPr/>
          </p:nvSpPr>
          <p:spPr>
            <a:xfrm>
              <a:off x="9737725" y="617982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6" name="Five mature donor identities cell 3,6"/>
            <p:cNvSpPr/>
            <p:nvPr/>
          </p:nvSpPr>
          <p:spPr>
            <a:xfrm>
              <a:off x="9979025" y="617982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7" name="Five mature donor identities cell 4,1"/>
            <p:cNvSpPr/>
            <p:nvPr/>
          </p:nvSpPr>
          <p:spPr>
            <a:xfrm>
              <a:off x="8772525" y="625030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8" name="Five mature donor identities cell 4,2"/>
            <p:cNvSpPr/>
            <p:nvPr/>
          </p:nvSpPr>
          <p:spPr>
            <a:xfrm>
              <a:off x="9013825" y="625030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9" name="Five mature donor identities cell 4,3"/>
            <p:cNvSpPr/>
            <p:nvPr/>
          </p:nvSpPr>
          <p:spPr>
            <a:xfrm>
              <a:off x="9255125" y="625030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0" name="Five mature donor identities cell 4,4"/>
            <p:cNvSpPr/>
            <p:nvPr/>
          </p:nvSpPr>
          <p:spPr>
            <a:xfrm>
              <a:off x="9496425" y="625030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1" name="Five mature donor identities cell 4,5"/>
            <p:cNvSpPr/>
            <p:nvPr/>
          </p:nvSpPr>
          <p:spPr>
            <a:xfrm>
              <a:off x="9737725" y="625030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2" name="Five mature donor identities cell 4,6"/>
            <p:cNvSpPr/>
            <p:nvPr/>
          </p:nvSpPr>
          <p:spPr>
            <a:xfrm>
              <a:off x="9979025" y="6250305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3" name="Five mature donor identities cell 5,1"/>
            <p:cNvSpPr/>
            <p:nvPr/>
          </p:nvSpPr>
          <p:spPr>
            <a:xfrm>
              <a:off x="8772525" y="632079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4" name="Five mature donor identities cell 5,2"/>
            <p:cNvSpPr/>
            <p:nvPr/>
          </p:nvSpPr>
          <p:spPr>
            <a:xfrm>
              <a:off x="9013825" y="632079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5" name="Five mature donor identities cell 5,3"/>
            <p:cNvSpPr/>
            <p:nvPr/>
          </p:nvSpPr>
          <p:spPr>
            <a:xfrm>
              <a:off x="9255125" y="632079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6" name="Five mature donor identities cell 5,4"/>
            <p:cNvSpPr/>
            <p:nvPr/>
          </p:nvSpPr>
          <p:spPr>
            <a:xfrm>
              <a:off x="9496425" y="632079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7" name="Five mature donor identities cell 5,5"/>
            <p:cNvSpPr/>
            <p:nvPr/>
          </p:nvSpPr>
          <p:spPr>
            <a:xfrm>
              <a:off x="9737725" y="632079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8" name="Five mature donor identities cell 5,6"/>
            <p:cNvSpPr/>
            <p:nvPr/>
          </p:nvSpPr>
          <p:spPr>
            <a:xfrm>
              <a:off x="9979025" y="6320790"/>
              <a:ext cx="241300" cy="70485"/>
            </a:xfrm>
            <a:prstGeom prst="rect">
              <a:avLst/>
            </a:prstGeom>
            <a:solidFill>
              <a:srgbClr val="B6C7EA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579" name="Average five behaviour-nearest identities"/>
          <p:cNvCxnSpPr/>
          <p:nvPr/>
        </p:nvCxnSpPr>
        <p:spPr>
          <a:xfrm>
            <a:off x="10315575" y="5638800"/>
            <a:ext cx="628650" cy="0"/>
          </a:xfrm>
          <a:prstGeom prst="line">
            <a:avLst/>
          </a:prstGeom>
          <a:ln w="25146">
            <a:solidFill>
              <a:srgbClr val="B15E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0" name="Borrowed new identity row"/>
          <p:cNvGrpSpPr/>
          <p:nvPr/>
        </p:nvGrpSpPr>
        <p:grpSpPr>
          <a:xfrm>
            <a:off x="11049000" y="5534025"/>
            <a:ext cx="866774" cy="200025"/>
            <a:chOff x="11049000" y="6105525"/>
            <a:chExt cx="866774" cy="200025"/>
          </a:xfrm>
        </p:grpSpPr>
        <p:sp>
          <p:nvSpPr>
            <p:cNvPr id="1581" name="Borrowed new identity row cell 1,1"/>
            <p:cNvSpPr/>
            <p:nvPr/>
          </p:nvSpPr>
          <p:spPr>
            <a:xfrm>
              <a:off x="11049000" y="6105525"/>
              <a:ext cx="144462" cy="2000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2" name="Borrowed new identity row cell 1,2"/>
            <p:cNvSpPr/>
            <p:nvPr/>
          </p:nvSpPr>
          <p:spPr>
            <a:xfrm>
              <a:off x="11193462" y="6105525"/>
              <a:ext cx="144462" cy="2000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3" name="Borrowed new identity row cell 1,3"/>
            <p:cNvSpPr/>
            <p:nvPr/>
          </p:nvSpPr>
          <p:spPr>
            <a:xfrm>
              <a:off x="11337925" y="6105525"/>
              <a:ext cx="144462" cy="2000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4" name="Borrowed new identity row cell 1,4"/>
            <p:cNvSpPr/>
            <p:nvPr/>
          </p:nvSpPr>
          <p:spPr>
            <a:xfrm>
              <a:off x="11482388" y="6105525"/>
              <a:ext cx="144462" cy="2000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5" name="Borrowed new identity row cell 1,5"/>
            <p:cNvSpPr/>
            <p:nvPr/>
          </p:nvSpPr>
          <p:spPr>
            <a:xfrm>
              <a:off x="11626850" y="6105525"/>
              <a:ext cx="144462" cy="2000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6" name="Borrowed new identity row cell 1,6"/>
            <p:cNvSpPr/>
            <p:nvPr/>
          </p:nvSpPr>
          <p:spPr>
            <a:xfrm>
              <a:off x="11771312" y="6105525"/>
              <a:ext cx="144462" cy="200025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87" name="Formula · \textstyle\mathbf{e}_u=\frac{1}{5}\sum_{m\in\mathcal{N}_5(u)}\mathbf{e}_m" descr="Editable LaTeX source: $\textstyle\mathbf{e}_u=\frac{1}{5}\sum_{m\in\mathcal{N}_5(u)}\mathbf{e}_m$; native vector glyphs."/>
          <p:cNvGrpSpPr/>
          <p:nvPr/>
        </p:nvGrpSpPr>
        <p:grpSpPr>
          <a:xfrm>
            <a:off x="8791575" y="5953125"/>
            <a:ext cx="1686488" cy="275139"/>
            <a:chOff x="0" y="0"/>
            <a:chExt cx="1686488" cy="275139"/>
          </a:xfrm>
        </p:grpSpPr>
        <p:sp>
          <p:nvSpPr>
            <p:cNvPr id="1588" name="Paper math native glyph 1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2152" y="9916"/>
                  </a:moveTo>
                  <a:cubicBezTo>
                    <a:pt x="2403" y="8085"/>
                    <a:pt x="3461" y="7815"/>
                    <a:pt x="3837" y="7815"/>
                  </a:cubicBezTo>
                  <a:cubicBezTo>
                    <a:pt x="4322" y="7815"/>
                    <a:pt x="5057" y="8282"/>
                    <a:pt x="5057" y="9719"/>
                  </a:cubicBezTo>
                  <a:cubicBezTo>
                    <a:pt x="5057" y="9827"/>
                    <a:pt x="5057" y="9880"/>
                    <a:pt x="5021" y="9916"/>
                  </a:cubicBezTo>
                  <a:lnTo>
                    <a:pt x="2152" y="9916"/>
                  </a:lnTo>
                  <a:moveTo>
                    <a:pt x="6509" y="13072"/>
                  </a:moveTo>
                  <a:cubicBezTo>
                    <a:pt x="5846" y="13878"/>
                    <a:pt x="5183" y="14201"/>
                    <a:pt x="4501" y="14201"/>
                  </a:cubicBezTo>
                  <a:cubicBezTo>
                    <a:pt x="3102" y="14201"/>
                    <a:pt x="2062" y="12856"/>
                    <a:pt x="2062" y="11100"/>
                  </a:cubicBezTo>
                  <a:lnTo>
                    <a:pt x="2062" y="10634"/>
                  </a:lnTo>
                  <a:lnTo>
                    <a:pt x="6420" y="10634"/>
                  </a:lnTo>
                  <a:cubicBezTo>
                    <a:pt x="6850" y="10634"/>
                    <a:pt x="7119" y="10508"/>
                    <a:pt x="7119" y="10257"/>
                  </a:cubicBezTo>
                  <a:cubicBezTo>
                    <a:pt x="7119" y="8731"/>
                    <a:pt x="6492" y="7062"/>
                    <a:pt x="3855" y="7062"/>
                  </a:cubicBezTo>
                  <a:cubicBezTo>
                    <a:pt x="1973" y="7062"/>
                    <a:pt x="0" y="8731"/>
                    <a:pt x="0" y="11476"/>
                  </a:cubicBezTo>
                  <a:cubicBezTo>
                    <a:pt x="0" y="13448"/>
                    <a:pt x="1076" y="15205"/>
                    <a:pt x="3802" y="15205"/>
                  </a:cubicBezTo>
                  <a:cubicBezTo>
                    <a:pt x="5039" y="15205"/>
                    <a:pt x="6294" y="14793"/>
                    <a:pt x="6958" y="13448"/>
                  </a:cubicBezTo>
                  <a:lnTo>
                    <a:pt x="6509" y="1307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89" name="Paper math native glyph 2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13496" y="13106"/>
                  </a:moveTo>
                  <a:cubicBezTo>
                    <a:pt x="13548" y="12870"/>
                    <a:pt x="13666" y="12478"/>
                    <a:pt x="13666" y="12321"/>
                  </a:cubicBezTo>
                  <a:cubicBezTo>
                    <a:pt x="13666" y="12098"/>
                    <a:pt x="13535" y="11967"/>
                    <a:pt x="13116" y="11967"/>
                  </a:cubicBezTo>
                  <a:cubicBezTo>
                    <a:pt x="12619" y="11967"/>
                    <a:pt x="12645" y="12543"/>
                    <a:pt x="12514" y="13041"/>
                  </a:cubicBezTo>
                  <a:lnTo>
                    <a:pt x="12134" y="14482"/>
                  </a:lnTo>
                  <a:cubicBezTo>
                    <a:pt x="11166" y="16132"/>
                    <a:pt x="10524" y="17062"/>
                    <a:pt x="9870" y="17062"/>
                  </a:cubicBezTo>
                  <a:cubicBezTo>
                    <a:pt x="9634" y="17062"/>
                    <a:pt x="9477" y="16931"/>
                    <a:pt x="9477" y="16578"/>
                  </a:cubicBezTo>
                  <a:cubicBezTo>
                    <a:pt x="9477" y="16368"/>
                    <a:pt x="9503" y="16093"/>
                    <a:pt x="9595" y="15739"/>
                  </a:cubicBezTo>
                  <a:lnTo>
                    <a:pt x="10158" y="13604"/>
                  </a:lnTo>
                  <a:cubicBezTo>
                    <a:pt x="10262" y="13185"/>
                    <a:pt x="10432" y="12648"/>
                    <a:pt x="10432" y="12399"/>
                  </a:cubicBezTo>
                  <a:cubicBezTo>
                    <a:pt x="10432" y="12150"/>
                    <a:pt x="10354" y="11967"/>
                    <a:pt x="9961" y="11967"/>
                  </a:cubicBezTo>
                  <a:cubicBezTo>
                    <a:pt x="9333" y="11967"/>
                    <a:pt x="8587" y="12412"/>
                    <a:pt x="7984" y="13185"/>
                  </a:cubicBezTo>
                  <a:cubicBezTo>
                    <a:pt x="8024" y="13303"/>
                    <a:pt x="8102" y="13408"/>
                    <a:pt x="8286" y="13408"/>
                  </a:cubicBezTo>
                  <a:cubicBezTo>
                    <a:pt x="8626" y="13015"/>
                    <a:pt x="9058" y="12753"/>
                    <a:pt x="9189" y="12753"/>
                  </a:cubicBezTo>
                  <a:cubicBezTo>
                    <a:pt x="9280" y="12753"/>
                    <a:pt x="9320" y="12818"/>
                    <a:pt x="9320" y="12975"/>
                  </a:cubicBezTo>
                  <a:cubicBezTo>
                    <a:pt x="9320" y="13093"/>
                    <a:pt x="9241" y="13381"/>
                    <a:pt x="9150" y="13722"/>
                  </a:cubicBezTo>
                  <a:lnTo>
                    <a:pt x="8574" y="15923"/>
                  </a:lnTo>
                  <a:cubicBezTo>
                    <a:pt x="8482" y="16263"/>
                    <a:pt x="8443" y="16551"/>
                    <a:pt x="8443" y="16800"/>
                  </a:cubicBezTo>
                  <a:cubicBezTo>
                    <a:pt x="8443" y="17547"/>
                    <a:pt x="8862" y="17848"/>
                    <a:pt x="9320" y="17848"/>
                  </a:cubicBezTo>
                  <a:cubicBezTo>
                    <a:pt x="10341" y="17848"/>
                    <a:pt x="10995" y="17036"/>
                    <a:pt x="11925" y="15674"/>
                  </a:cubicBezTo>
                  <a:lnTo>
                    <a:pt x="11964" y="15700"/>
                  </a:lnTo>
                  <a:lnTo>
                    <a:pt x="11820" y="16211"/>
                  </a:lnTo>
                  <a:cubicBezTo>
                    <a:pt x="11702" y="16630"/>
                    <a:pt x="11598" y="17167"/>
                    <a:pt x="11598" y="17416"/>
                  </a:cubicBezTo>
                  <a:cubicBezTo>
                    <a:pt x="11598" y="17664"/>
                    <a:pt x="11689" y="17848"/>
                    <a:pt x="12082" y="17848"/>
                  </a:cubicBezTo>
                  <a:cubicBezTo>
                    <a:pt x="12710" y="17848"/>
                    <a:pt x="13299" y="17403"/>
                    <a:pt x="13901" y="16630"/>
                  </a:cubicBezTo>
                  <a:cubicBezTo>
                    <a:pt x="13862" y="16512"/>
                    <a:pt x="13784" y="16407"/>
                    <a:pt x="13600" y="16407"/>
                  </a:cubicBezTo>
                  <a:cubicBezTo>
                    <a:pt x="13260" y="16800"/>
                    <a:pt x="12881" y="17062"/>
                    <a:pt x="12750" y="17062"/>
                  </a:cubicBezTo>
                  <a:cubicBezTo>
                    <a:pt x="12658" y="17062"/>
                    <a:pt x="12619" y="16997"/>
                    <a:pt x="12619" y="16840"/>
                  </a:cubicBezTo>
                  <a:cubicBezTo>
                    <a:pt x="12619" y="16722"/>
                    <a:pt x="12684" y="16434"/>
                    <a:pt x="12763" y="16093"/>
                  </a:cubicBezTo>
                  <a:lnTo>
                    <a:pt x="13496" y="1310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0" name="Paper math native glyph 3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29862" y="9111"/>
                  </a:moveTo>
                  <a:lnTo>
                    <a:pt x="29862" y="8107"/>
                  </a:lnTo>
                  <a:lnTo>
                    <a:pt x="20681" y="8107"/>
                  </a:lnTo>
                  <a:lnTo>
                    <a:pt x="20681" y="9111"/>
                  </a:lnTo>
                  <a:lnTo>
                    <a:pt x="29862" y="9111"/>
                  </a:lnTo>
                  <a:moveTo>
                    <a:pt x="29862" y="12753"/>
                  </a:moveTo>
                  <a:lnTo>
                    <a:pt x="29862" y="11749"/>
                  </a:lnTo>
                  <a:lnTo>
                    <a:pt x="20681" y="11749"/>
                  </a:lnTo>
                  <a:lnTo>
                    <a:pt x="20681" y="12753"/>
                  </a:lnTo>
                  <a:lnTo>
                    <a:pt x="29862" y="1275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1" name="Paper math native glyph 4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40527" y="6366"/>
                  </a:moveTo>
                  <a:lnTo>
                    <a:pt x="40527" y="1821"/>
                  </a:lnTo>
                  <a:cubicBezTo>
                    <a:pt x="40527" y="1035"/>
                    <a:pt x="40540" y="236"/>
                    <a:pt x="40566" y="66"/>
                  </a:cubicBezTo>
                  <a:cubicBezTo>
                    <a:pt x="40566" y="0"/>
                    <a:pt x="40540" y="0"/>
                    <a:pt x="40487" y="0"/>
                  </a:cubicBezTo>
                  <a:cubicBezTo>
                    <a:pt x="39768" y="445"/>
                    <a:pt x="39074" y="773"/>
                    <a:pt x="37922" y="1310"/>
                  </a:cubicBezTo>
                  <a:cubicBezTo>
                    <a:pt x="37948" y="1454"/>
                    <a:pt x="38000" y="1585"/>
                    <a:pt x="38118" y="1664"/>
                  </a:cubicBezTo>
                  <a:cubicBezTo>
                    <a:pt x="38720" y="1415"/>
                    <a:pt x="39008" y="1336"/>
                    <a:pt x="39257" y="1336"/>
                  </a:cubicBezTo>
                  <a:cubicBezTo>
                    <a:pt x="39479" y="1336"/>
                    <a:pt x="39519" y="1651"/>
                    <a:pt x="39519" y="2096"/>
                  </a:cubicBezTo>
                  <a:lnTo>
                    <a:pt x="39519" y="6366"/>
                  </a:lnTo>
                  <a:cubicBezTo>
                    <a:pt x="39519" y="7453"/>
                    <a:pt x="39165" y="7519"/>
                    <a:pt x="38249" y="7558"/>
                  </a:cubicBezTo>
                  <a:cubicBezTo>
                    <a:pt x="38170" y="7637"/>
                    <a:pt x="38170" y="7912"/>
                    <a:pt x="38249" y="7990"/>
                  </a:cubicBezTo>
                  <a:cubicBezTo>
                    <a:pt x="38890" y="7977"/>
                    <a:pt x="39362" y="7964"/>
                    <a:pt x="40069" y="7964"/>
                  </a:cubicBezTo>
                  <a:cubicBezTo>
                    <a:pt x="40697" y="7964"/>
                    <a:pt x="41011" y="7977"/>
                    <a:pt x="41666" y="7990"/>
                  </a:cubicBezTo>
                  <a:cubicBezTo>
                    <a:pt x="41744" y="7912"/>
                    <a:pt x="41744" y="7637"/>
                    <a:pt x="41666" y="7558"/>
                  </a:cubicBezTo>
                  <a:cubicBezTo>
                    <a:pt x="40749" y="7519"/>
                    <a:pt x="40527" y="7453"/>
                    <a:pt x="40527" y="6366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2" name="Paper math native glyph 5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36757" y="9919"/>
                  </a:moveTo>
                  <a:lnTo>
                    <a:pt x="42844" y="9919"/>
                  </a:lnTo>
                  <a:lnTo>
                    <a:pt x="42844" y="10923"/>
                  </a:lnTo>
                  <a:lnTo>
                    <a:pt x="36757" y="1092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3" name="Paper math native glyph 6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40933" y="18742"/>
                  </a:moveTo>
                  <a:cubicBezTo>
                    <a:pt x="40933" y="19984"/>
                    <a:pt x="40278" y="20899"/>
                    <a:pt x="39493" y="20899"/>
                  </a:cubicBezTo>
                  <a:cubicBezTo>
                    <a:pt x="38995" y="20899"/>
                    <a:pt x="38825" y="20573"/>
                    <a:pt x="38629" y="20311"/>
                  </a:cubicBezTo>
                  <a:cubicBezTo>
                    <a:pt x="38458" y="20089"/>
                    <a:pt x="38236" y="19893"/>
                    <a:pt x="37961" y="19893"/>
                  </a:cubicBezTo>
                  <a:cubicBezTo>
                    <a:pt x="37712" y="19893"/>
                    <a:pt x="37463" y="20115"/>
                    <a:pt x="37463" y="20376"/>
                  </a:cubicBezTo>
                  <a:cubicBezTo>
                    <a:pt x="37463" y="20912"/>
                    <a:pt x="38576" y="21357"/>
                    <a:pt x="39322" y="21357"/>
                  </a:cubicBezTo>
                  <a:cubicBezTo>
                    <a:pt x="40946" y="21357"/>
                    <a:pt x="42098" y="20154"/>
                    <a:pt x="42098" y="18507"/>
                  </a:cubicBezTo>
                  <a:cubicBezTo>
                    <a:pt x="42098" y="17239"/>
                    <a:pt x="41220" y="16101"/>
                    <a:pt x="39754" y="16101"/>
                  </a:cubicBezTo>
                  <a:cubicBezTo>
                    <a:pt x="39191" y="16101"/>
                    <a:pt x="38707" y="16219"/>
                    <a:pt x="38472" y="16310"/>
                  </a:cubicBezTo>
                  <a:lnTo>
                    <a:pt x="38733" y="14127"/>
                  </a:lnTo>
                  <a:cubicBezTo>
                    <a:pt x="39218" y="14179"/>
                    <a:pt x="39636" y="14244"/>
                    <a:pt x="40265" y="14244"/>
                  </a:cubicBezTo>
                  <a:cubicBezTo>
                    <a:pt x="40658" y="14235"/>
                    <a:pt x="41103" y="14209"/>
                    <a:pt x="41639" y="14157"/>
                  </a:cubicBezTo>
                  <a:lnTo>
                    <a:pt x="41849" y="13266"/>
                  </a:lnTo>
                  <a:lnTo>
                    <a:pt x="41757" y="13214"/>
                  </a:lnTo>
                  <a:cubicBezTo>
                    <a:pt x="41011" y="13302"/>
                    <a:pt x="40304" y="13367"/>
                    <a:pt x="39610" y="13367"/>
                  </a:cubicBezTo>
                  <a:cubicBezTo>
                    <a:pt x="39126" y="13367"/>
                    <a:pt x="38655" y="13341"/>
                    <a:pt x="38196" y="13302"/>
                  </a:cubicBezTo>
                  <a:lnTo>
                    <a:pt x="37751" y="17069"/>
                  </a:lnTo>
                  <a:cubicBezTo>
                    <a:pt x="38445" y="16807"/>
                    <a:pt x="38943" y="16755"/>
                    <a:pt x="39414" y="16755"/>
                  </a:cubicBezTo>
                  <a:cubicBezTo>
                    <a:pt x="40265" y="16755"/>
                    <a:pt x="40933" y="17317"/>
                    <a:pt x="40933" y="1874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4" name="Paper math native glyph 7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60047" y="13469"/>
                  </a:moveTo>
                  <a:lnTo>
                    <a:pt x="59671" y="13469"/>
                  </a:lnTo>
                  <a:cubicBezTo>
                    <a:pt x="59312" y="15711"/>
                    <a:pt x="58487" y="16715"/>
                    <a:pt x="57232" y="16715"/>
                  </a:cubicBezTo>
                  <a:lnTo>
                    <a:pt x="50202" y="16715"/>
                  </a:lnTo>
                  <a:lnTo>
                    <a:pt x="55403" y="10044"/>
                  </a:lnTo>
                  <a:lnTo>
                    <a:pt x="50776" y="3176"/>
                  </a:lnTo>
                  <a:lnTo>
                    <a:pt x="56514" y="3176"/>
                  </a:lnTo>
                  <a:cubicBezTo>
                    <a:pt x="57824" y="3176"/>
                    <a:pt x="58649" y="3894"/>
                    <a:pt x="59025" y="6171"/>
                  </a:cubicBezTo>
                  <a:lnTo>
                    <a:pt x="59420" y="6171"/>
                  </a:lnTo>
                  <a:lnTo>
                    <a:pt x="59312" y="2477"/>
                  </a:lnTo>
                  <a:lnTo>
                    <a:pt x="48552" y="2477"/>
                  </a:lnTo>
                  <a:lnTo>
                    <a:pt x="54040" y="10349"/>
                  </a:lnTo>
                  <a:lnTo>
                    <a:pt x="47799" y="18257"/>
                  </a:lnTo>
                  <a:lnTo>
                    <a:pt x="59850" y="18257"/>
                  </a:lnTo>
                  <a:lnTo>
                    <a:pt x="60047" y="1346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5" name="Paper math native glyph 8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63076" y="14812"/>
                  </a:moveTo>
                  <a:lnTo>
                    <a:pt x="62330" y="18074"/>
                  </a:lnTo>
                  <a:cubicBezTo>
                    <a:pt x="62264" y="18336"/>
                    <a:pt x="62159" y="18664"/>
                    <a:pt x="62159" y="18794"/>
                  </a:cubicBezTo>
                  <a:cubicBezTo>
                    <a:pt x="62159" y="19017"/>
                    <a:pt x="62277" y="19148"/>
                    <a:pt x="62696" y="19148"/>
                  </a:cubicBezTo>
                  <a:cubicBezTo>
                    <a:pt x="63193" y="19148"/>
                    <a:pt x="63167" y="18572"/>
                    <a:pt x="63298" y="18074"/>
                  </a:cubicBezTo>
                  <a:lnTo>
                    <a:pt x="63822" y="15965"/>
                  </a:lnTo>
                  <a:cubicBezTo>
                    <a:pt x="64843" y="14485"/>
                    <a:pt x="65576" y="14053"/>
                    <a:pt x="65995" y="14053"/>
                  </a:cubicBezTo>
                  <a:cubicBezTo>
                    <a:pt x="66257" y="14053"/>
                    <a:pt x="66335" y="14144"/>
                    <a:pt x="66335" y="14537"/>
                  </a:cubicBezTo>
                  <a:cubicBezTo>
                    <a:pt x="66335" y="14695"/>
                    <a:pt x="66322" y="15009"/>
                    <a:pt x="66230" y="15415"/>
                  </a:cubicBezTo>
                  <a:lnTo>
                    <a:pt x="65602" y="18074"/>
                  </a:lnTo>
                  <a:cubicBezTo>
                    <a:pt x="65537" y="18336"/>
                    <a:pt x="65432" y="18664"/>
                    <a:pt x="65432" y="18794"/>
                  </a:cubicBezTo>
                  <a:cubicBezTo>
                    <a:pt x="65432" y="19017"/>
                    <a:pt x="65550" y="19148"/>
                    <a:pt x="65969" y="19148"/>
                  </a:cubicBezTo>
                  <a:cubicBezTo>
                    <a:pt x="66466" y="19148"/>
                    <a:pt x="66453" y="18572"/>
                    <a:pt x="66571" y="18074"/>
                  </a:cubicBezTo>
                  <a:lnTo>
                    <a:pt x="67068" y="16018"/>
                  </a:lnTo>
                  <a:cubicBezTo>
                    <a:pt x="68181" y="14459"/>
                    <a:pt x="68692" y="14053"/>
                    <a:pt x="69110" y="14053"/>
                  </a:cubicBezTo>
                  <a:cubicBezTo>
                    <a:pt x="69359" y="14053"/>
                    <a:pt x="69490" y="14144"/>
                    <a:pt x="69490" y="14537"/>
                  </a:cubicBezTo>
                  <a:cubicBezTo>
                    <a:pt x="69490" y="14682"/>
                    <a:pt x="69477" y="15061"/>
                    <a:pt x="69372" y="15467"/>
                  </a:cubicBezTo>
                  <a:lnTo>
                    <a:pt x="68862" y="17524"/>
                  </a:lnTo>
                  <a:cubicBezTo>
                    <a:pt x="68731" y="18061"/>
                    <a:pt x="68626" y="18598"/>
                    <a:pt x="68626" y="18716"/>
                  </a:cubicBezTo>
                  <a:cubicBezTo>
                    <a:pt x="68626" y="18978"/>
                    <a:pt x="68862" y="19148"/>
                    <a:pt x="69045" y="19148"/>
                  </a:cubicBezTo>
                  <a:cubicBezTo>
                    <a:pt x="69817" y="19148"/>
                    <a:pt x="70537" y="18768"/>
                    <a:pt x="70982" y="17694"/>
                  </a:cubicBezTo>
                  <a:cubicBezTo>
                    <a:pt x="70956" y="17577"/>
                    <a:pt x="70865" y="17511"/>
                    <a:pt x="70694" y="17511"/>
                  </a:cubicBezTo>
                  <a:cubicBezTo>
                    <a:pt x="70380" y="18009"/>
                    <a:pt x="70014" y="18362"/>
                    <a:pt x="69778" y="18362"/>
                  </a:cubicBezTo>
                  <a:cubicBezTo>
                    <a:pt x="69713" y="18362"/>
                    <a:pt x="69687" y="18284"/>
                    <a:pt x="69687" y="18218"/>
                  </a:cubicBezTo>
                  <a:cubicBezTo>
                    <a:pt x="69687" y="18166"/>
                    <a:pt x="69713" y="17838"/>
                    <a:pt x="69752" y="17694"/>
                  </a:cubicBezTo>
                  <a:lnTo>
                    <a:pt x="70367" y="15363"/>
                  </a:lnTo>
                  <a:cubicBezTo>
                    <a:pt x="70446" y="15061"/>
                    <a:pt x="70498" y="14655"/>
                    <a:pt x="70498" y="14406"/>
                  </a:cubicBezTo>
                  <a:cubicBezTo>
                    <a:pt x="70498" y="13581"/>
                    <a:pt x="70105" y="13267"/>
                    <a:pt x="69699" y="13267"/>
                  </a:cubicBezTo>
                  <a:cubicBezTo>
                    <a:pt x="68770" y="13267"/>
                    <a:pt x="68050" y="14066"/>
                    <a:pt x="67291" y="15022"/>
                  </a:cubicBezTo>
                  <a:cubicBezTo>
                    <a:pt x="67330" y="14812"/>
                    <a:pt x="67343" y="14577"/>
                    <a:pt x="67343" y="14406"/>
                  </a:cubicBezTo>
                  <a:cubicBezTo>
                    <a:pt x="67343" y="13490"/>
                    <a:pt x="66951" y="13267"/>
                    <a:pt x="66584" y="13267"/>
                  </a:cubicBezTo>
                  <a:cubicBezTo>
                    <a:pt x="65641" y="13267"/>
                    <a:pt x="64790" y="13961"/>
                    <a:pt x="64018" y="14957"/>
                  </a:cubicBezTo>
                  <a:lnTo>
                    <a:pt x="63992" y="14943"/>
                  </a:lnTo>
                  <a:lnTo>
                    <a:pt x="64018" y="14826"/>
                  </a:lnTo>
                  <a:cubicBezTo>
                    <a:pt x="64149" y="14315"/>
                    <a:pt x="64306" y="13804"/>
                    <a:pt x="64306" y="13581"/>
                  </a:cubicBezTo>
                  <a:cubicBezTo>
                    <a:pt x="64306" y="13398"/>
                    <a:pt x="64215" y="13307"/>
                    <a:pt x="64044" y="13307"/>
                  </a:cubicBezTo>
                  <a:cubicBezTo>
                    <a:pt x="63625" y="13306"/>
                    <a:pt x="63036" y="13397"/>
                    <a:pt x="62421" y="13476"/>
                  </a:cubicBezTo>
                  <a:cubicBezTo>
                    <a:pt x="62330" y="13581"/>
                    <a:pt x="62356" y="13725"/>
                    <a:pt x="62434" y="13842"/>
                  </a:cubicBezTo>
                  <a:lnTo>
                    <a:pt x="62958" y="13882"/>
                  </a:lnTo>
                  <a:cubicBezTo>
                    <a:pt x="63115" y="13895"/>
                    <a:pt x="63193" y="14013"/>
                    <a:pt x="63193" y="14144"/>
                  </a:cubicBezTo>
                  <a:cubicBezTo>
                    <a:pt x="63193" y="14262"/>
                    <a:pt x="63154" y="14446"/>
                    <a:pt x="63076" y="1481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6" name="Paper math native glyph 9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77999" y="18918"/>
                  </a:moveTo>
                  <a:lnTo>
                    <a:pt x="77999" y="18263"/>
                  </a:lnTo>
                  <a:lnTo>
                    <a:pt x="75512" y="18263"/>
                  </a:lnTo>
                  <a:cubicBezTo>
                    <a:pt x="74334" y="18263"/>
                    <a:pt x="73182" y="17292"/>
                    <a:pt x="73025" y="15980"/>
                  </a:cubicBezTo>
                  <a:lnTo>
                    <a:pt x="77777" y="15980"/>
                  </a:lnTo>
                  <a:lnTo>
                    <a:pt x="77777" y="15325"/>
                  </a:lnTo>
                  <a:lnTo>
                    <a:pt x="73025" y="15325"/>
                  </a:lnTo>
                  <a:cubicBezTo>
                    <a:pt x="73169" y="14083"/>
                    <a:pt x="74203" y="13050"/>
                    <a:pt x="75512" y="13050"/>
                  </a:cubicBezTo>
                  <a:lnTo>
                    <a:pt x="77999" y="13050"/>
                  </a:lnTo>
                  <a:lnTo>
                    <a:pt x="77999" y="12395"/>
                  </a:lnTo>
                  <a:lnTo>
                    <a:pt x="75564" y="12395"/>
                  </a:lnTo>
                  <a:cubicBezTo>
                    <a:pt x="73745" y="12395"/>
                    <a:pt x="72344" y="13913"/>
                    <a:pt x="72344" y="15653"/>
                  </a:cubicBezTo>
                  <a:cubicBezTo>
                    <a:pt x="72344" y="17397"/>
                    <a:pt x="73745" y="18918"/>
                    <a:pt x="75564" y="18918"/>
                  </a:cubicBezTo>
                  <a:lnTo>
                    <a:pt x="77999" y="18918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7" name="Paper math native glyph 10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90867" y="10255"/>
                  </a:moveTo>
                  <a:lnTo>
                    <a:pt x="90867" y="10071"/>
                  </a:lnTo>
                  <a:cubicBezTo>
                    <a:pt x="90239" y="10202"/>
                    <a:pt x="89532" y="10333"/>
                    <a:pt x="89022" y="10765"/>
                  </a:cubicBezTo>
                  <a:cubicBezTo>
                    <a:pt x="88590" y="11131"/>
                    <a:pt x="87333" y="16090"/>
                    <a:pt x="87084" y="17006"/>
                  </a:cubicBezTo>
                  <a:cubicBezTo>
                    <a:pt x="86050" y="15227"/>
                    <a:pt x="83733" y="12767"/>
                    <a:pt x="83733" y="10660"/>
                  </a:cubicBezTo>
                  <a:cubicBezTo>
                    <a:pt x="83733" y="10477"/>
                    <a:pt x="83759" y="10294"/>
                    <a:pt x="83798" y="10124"/>
                  </a:cubicBezTo>
                  <a:cubicBezTo>
                    <a:pt x="83458" y="10176"/>
                    <a:pt x="82188" y="10477"/>
                    <a:pt x="82188" y="10909"/>
                  </a:cubicBezTo>
                  <a:cubicBezTo>
                    <a:pt x="82188" y="11040"/>
                    <a:pt x="82214" y="11157"/>
                    <a:pt x="82214" y="11288"/>
                  </a:cubicBezTo>
                  <a:cubicBezTo>
                    <a:pt x="82214" y="12898"/>
                    <a:pt x="80696" y="18995"/>
                    <a:pt x="79033" y="19427"/>
                  </a:cubicBezTo>
                  <a:cubicBezTo>
                    <a:pt x="79125" y="19492"/>
                    <a:pt x="79243" y="19519"/>
                    <a:pt x="79361" y="19519"/>
                  </a:cubicBezTo>
                  <a:cubicBezTo>
                    <a:pt x="79858" y="19519"/>
                    <a:pt x="80670" y="19113"/>
                    <a:pt x="81036" y="18773"/>
                  </a:cubicBezTo>
                  <a:cubicBezTo>
                    <a:pt x="81521" y="18328"/>
                    <a:pt x="82555" y="13604"/>
                    <a:pt x="82738" y="12662"/>
                  </a:cubicBezTo>
                  <a:cubicBezTo>
                    <a:pt x="83118" y="13434"/>
                    <a:pt x="83563" y="14167"/>
                    <a:pt x="84034" y="14873"/>
                  </a:cubicBezTo>
                  <a:cubicBezTo>
                    <a:pt x="84793" y="15999"/>
                    <a:pt x="86390" y="18105"/>
                    <a:pt x="86469" y="19427"/>
                  </a:cubicBezTo>
                  <a:cubicBezTo>
                    <a:pt x="86744" y="19335"/>
                    <a:pt x="87778" y="18891"/>
                    <a:pt x="87778" y="18563"/>
                  </a:cubicBezTo>
                  <a:cubicBezTo>
                    <a:pt x="87778" y="16130"/>
                    <a:pt x="88838" y="11772"/>
                    <a:pt x="90867" y="10255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8" name="Paper math native glyph 11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92260" y="19119"/>
                  </a:moveTo>
                  <a:cubicBezTo>
                    <a:pt x="92260" y="20055"/>
                    <a:pt x="91767" y="20744"/>
                    <a:pt x="91175" y="20744"/>
                  </a:cubicBezTo>
                  <a:cubicBezTo>
                    <a:pt x="90800" y="20744"/>
                    <a:pt x="90672" y="20498"/>
                    <a:pt x="90524" y="20301"/>
                  </a:cubicBezTo>
                  <a:cubicBezTo>
                    <a:pt x="90395" y="20134"/>
                    <a:pt x="90228" y="19986"/>
                    <a:pt x="90021" y="19986"/>
                  </a:cubicBezTo>
                  <a:cubicBezTo>
                    <a:pt x="89833" y="19986"/>
                    <a:pt x="89646" y="20153"/>
                    <a:pt x="89646" y="20350"/>
                  </a:cubicBezTo>
                  <a:cubicBezTo>
                    <a:pt x="89646" y="20754"/>
                    <a:pt x="90484" y="21090"/>
                    <a:pt x="91047" y="21090"/>
                  </a:cubicBezTo>
                  <a:cubicBezTo>
                    <a:pt x="92269" y="21090"/>
                    <a:pt x="93137" y="20183"/>
                    <a:pt x="93137" y="18942"/>
                  </a:cubicBezTo>
                  <a:cubicBezTo>
                    <a:pt x="93137" y="17987"/>
                    <a:pt x="92477" y="17129"/>
                    <a:pt x="91372" y="17129"/>
                  </a:cubicBezTo>
                  <a:cubicBezTo>
                    <a:pt x="90948" y="17129"/>
                    <a:pt x="90583" y="17218"/>
                    <a:pt x="90405" y="17287"/>
                  </a:cubicBezTo>
                  <a:lnTo>
                    <a:pt x="90603" y="15642"/>
                  </a:lnTo>
                  <a:cubicBezTo>
                    <a:pt x="90968" y="15681"/>
                    <a:pt x="91283" y="15730"/>
                    <a:pt x="91757" y="15730"/>
                  </a:cubicBezTo>
                  <a:cubicBezTo>
                    <a:pt x="92052" y="15724"/>
                    <a:pt x="92388" y="15704"/>
                    <a:pt x="92792" y="15664"/>
                  </a:cubicBezTo>
                  <a:lnTo>
                    <a:pt x="92950" y="14994"/>
                  </a:lnTo>
                  <a:lnTo>
                    <a:pt x="92881" y="14954"/>
                  </a:lnTo>
                  <a:cubicBezTo>
                    <a:pt x="92319" y="15020"/>
                    <a:pt x="91786" y="15070"/>
                    <a:pt x="91263" y="15070"/>
                  </a:cubicBezTo>
                  <a:cubicBezTo>
                    <a:pt x="90899" y="15070"/>
                    <a:pt x="90543" y="15050"/>
                    <a:pt x="90198" y="15020"/>
                  </a:cubicBezTo>
                  <a:lnTo>
                    <a:pt x="89863" y="17858"/>
                  </a:lnTo>
                  <a:cubicBezTo>
                    <a:pt x="90386" y="17661"/>
                    <a:pt x="90760" y="17622"/>
                    <a:pt x="91115" y="17622"/>
                  </a:cubicBezTo>
                  <a:cubicBezTo>
                    <a:pt x="91757" y="17622"/>
                    <a:pt x="92260" y="18046"/>
                    <a:pt x="92260" y="1911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599" name="Paper math native glyph 12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98714" y="9634"/>
                  </a:moveTo>
                  <a:cubicBezTo>
                    <a:pt x="96816" y="10864"/>
                    <a:pt x="95481" y="12985"/>
                    <a:pt x="95481" y="15656"/>
                  </a:cubicBezTo>
                  <a:cubicBezTo>
                    <a:pt x="95481" y="18091"/>
                    <a:pt x="96868" y="20552"/>
                    <a:pt x="98675" y="21664"/>
                  </a:cubicBezTo>
                  <a:lnTo>
                    <a:pt x="98832" y="21455"/>
                  </a:lnTo>
                  <a:cubicBezTo>
                    <a:pt x="97104" y="20093"/>
                    <a:pt x="96606" y="18510"/>
                    <a:pt x="96606" y="15616"/>
                  </a:cubicBezTo>
                  <a:cubicBezTo>
                    <a:pt x="96606" y="12710"/>
                    <a:pt x="97143" y="11205"/>
                    <a:pt x="98832" y="9843"/>
                  </a:cubicBezTo>
                  <a:lnTo>
                    <a:pt x="98714" y="9634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00" name="Paper math native glyph 13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105574" y="14406"/>
                  </a:moveTo>
                  <a:cubicBezTo>
                    <a:pt x="105626" y="14171"/>
                    <a:pt x="105744" y="13778"/>
                    <a:pt x="105744" y="13621"/>
                  </a:cubicBezTo>
                  <a:cubicBezTo>
                    <a:pt x="105744" y="13398"/>
                    <a:pt x="105613" y="13267"/>
                    <a:pt x="105194" y="13267"/>
                  </a:cubicBezTo>
                  <a:cubicBezTo>
                    <a:pt x="104697" y="13267"/>
                    <a:pt x="104723" y="13843"/>
                    <a:pt x="104592" y="14341"/>
                  </a:cubicBezTo>
                  <a:lnTo>
                    <a:pt x="104212" y="15782"/>
                  </a:lnTo>
                  <a:cubicBezTo>
                    <a:pt x="103243" y="17432"/>
                    <a:pt x="102602" y="18362"/>
                    <a:pt x="101947" y="18362"/>
                  </a:cubicBezTo>
                  <a:cubicBezTo>
                    <a:pt x="101712" y="18362"/>
                    <a:pt x="101555" y="18232"/>
                    <a:pt x="101555" y="17878"/>
                  </a:cubicBezTo>
                  <a:cubicBezTo>
                    <a:pt x="101555" y="17668"/>
                    <a:pt x="101581" y="17393"/>
                    <a:pt x="101673" y="17039"/>
                  </a:cubicBezTo>
                  <a:lnTo>
                    <a:pt x="102235" y="14904"/>
                  </a:lnTo>
                  <a:cubicBezTo>
                    <a:pt x="102340" y="14485"/>
                    <a:pt x="102510" y="13948"/>
                    <a:pt x="102510" y="13699"/>
                  </a:cubicBezTo>
                  <a:cubicBezTo>
                    <a:pt x="102510" y="13451"/>
                    <a:pt x="102432" y="13267"/>
                    <a:pt x="102039" y="13267"/>
                  </a:cubicBezTo>
                  <a:cubicBezTo>
                    <a:pt x="101411" y="13267"/>
                    <a:pt x="100665" y="13712"/>
                    <a:pt x="100062" y="14485"/>
                  </a:cubicBezTo>
                  <a:cubicBezTo>
                    <a:pt x="100102" y="14603"/>
                    <a:pt x="100180" y="14708"/>
                    <a:pt x="100363" y="14708"/>
                  </a:cubicBezTo>
                  <a:cubicBezTo>
                    <a:pt x="100704" y="14315"/>
                    <a:pt x="101136" y="14053"/>
                    <a:pt x="101267" y="14053"/>
                  </a:cubicBezTo>
                  <a:cubicBezTo>
                    <a:pt x="101358" y="14053"/>
                    <a:pt x="101398" y="14118"/>
                    <a:pt x="101398" y="14276"/>
                  </a:cubicBezTo>
                  <a:cubicBezTo>
                    <a:pt x="101398" y="14393"/>
                    <a:pt x="101319" y="14682"/>
                    <a:pt x="101228" y="15022"/>
                  </a:cubicBezTo>
                  <a:lnTo>
                    <a:pt x="100651" y="17223"/>
                  </a:lnTo>
                  <a:cubicBezTo>
                    <a:pt x="100560" y="17563"/>
                    <a:pt x="100521" y="17852"/>
                    <a:pt x="100521" y="18101"/>
                  </a:cubicBezTo>
                  <a:cubicBezTo>
                    <a:pt x="100521" y="18847"/>
                    <a:pt x="100939" y="19148"/>
                    <a:pt x="101398" y="19148"/>
                  </a:cubicBezTo>
                  <a:cubicBezTo>
                    <a:pt x="102419" y="19148"/>
                    <a:pt x="103073" y="18336"/>
                    <a:pt x="104003" y="16974"/>
                  </a:cubicBezTo>
                  <a:lnTo>
                    <a:pt x="104042" y="17000"/>
                  </a:lnTo>
                  <a:lnTo>
                    <a:pt x="103898" y="17511"/>
                  </a:lnTo>
                  <a:cubicBezTo>
                    <a:pt x="103780" y="17930"/>
                    <a:pt x="103675" y="18467"/>
                    <a:pt x="103675" y="18716"/>
                  </a:cubicBezTo>
                  <a:cubicBezTo>
                    <a:pt x="103675" y="18965"/>
                    <a:pt x="103767" y="19148"/>
                    <a:pt x="104160" y="19148"/>
                  </a:cubicBezTo>
                  <a:cubicBezTo>
                    <a:pt x="104788" y="19148"/>
                    <a:pt x="105377" y="18703"/>
                    <a:pt x="105979" y="17930"/>
                  </a:cubicBezTo>
                  <a:cubicBezTo>
                    <a:pt x="105940" y="17812"/>
                    <a:pt x="105862" y="17707"/>
                    <a:pt x="105678" y="17707"/>
                  </a:cubicBezTo>
                  <a:cubicBezTo>
                    <a:pt x="105338" y="18101"/>
                    <a:pt x="104958" y="18362"/>
                    <a:pt x="104827" y="18362"/>
                  </a:cubicBezTo>
                  <a:cubicBezTo>
                    <a:pt x="104736" y="18362"/>
                    <a:pt x="104697" y="18297"/>
                    <a:pt x="104697" y="18140"/>
                  </a:cubicBezTo>
                  <a:cubicBezTo>
                    <a:pt x="104697" y="18022"/>
                    <a:pt x="104762" y="17734"/>
                    <a:pt x="104841" y="17393"/>
                  </a:cubicBezTo>
                  <a:lnTo>
                    <a:pt x="105574" y="1440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01" name="Paper math native glyph 14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107059" y="9634"/>
                  </a:moveTo>
                  <a:lnTo>
                    <a:pt x="106942" y="9843"/>
                  </a:lnTo>
                  <a:cubicBezTo>
                    <a:pt x="108630" y="11205"/>
                    <a:pt x="109167" y="12710"/>
                    <a:pt x="109167" y="15616"/>
                  </a:cubicBezTo>
                  <a:cubicBezTo>
                    <a:pt x="109167" y="18510"/>
                    <a:pt x="108670" y="20093"/>
                    <a:pt x="106942" y="21455"/>
                  </a:cubicBezTo>
                  <a:lnTo>
                    <a:pt x="107099" y="21664"/>
                  </a:lnTo>
                  <a:cubicBezTo>
                    <a:pt x="108905" y="20552"/>
                    <a:pt x="110293" y="18091"/>
                    <a:pt x="110293" y="15656"/>
                  </a:cubicBezTo>
                  <a:cubicBezTo>
                    <a:pt x="110293" y="12985"/>
                    <a:pt x="108958" y="10864"/>
                    <a:pt x="107059" y="963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02" name="Paper math native glyph 15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117824" y="9916"/>
                  </a:moveTo>
                  <a:cubicBezTo>
                    <a:pt x="118075" y="8085"/>
                    <a:pt x="119133" y="7815"/>
                    <a:pt x="119510" y="7815"/>
                  </a:cubicBezTo>
                  <a:cubicBezTo>
                    <a:pt x="119994" y="7815"/>
                    <a:pt x="120729" y="8282"/>
                    <a:pt x="120729" y="9719"/>
                  </a:cubicBezTo>
                  <a:cubicBezTo>
                    <a:pt x="120729" y="9827"/>
                    <a:pt x="120729" y="9880"/>
                    <a:pt x="120694" y="9916"/>
                  </a:cubicBezTo>
                  <a:lnTo>
                    <a:pt x="117824" y="9916"/>
                  </a:lnTo>
                  <a:moveTo>
                    <a:pt x="122182" y="13072"/>
                  </a:moveTo>
                  <a:cubicBezTo>
                    <a:pt x="121519" y="13878"/>
                    <a:pt x="120855" y="14201"/>
                    <a:pt x="120173" y="14201"/>
                  </a:cubicBezTo>
                  <a:cubicBezTo>
                    <a:pt x="118775" y="14201"/>
                    <a:pt x="117734" y="12856"/>
                    <a:pt x="117734" y="11100"/>
                  </a:cubicBezTo>
                  <a:lnTo>
                    <a:pt x="117734" y="10634"/>
                  </a:lnTo>
                  <a:lnTo>
                    <a:pt x="122092" y="10634"/>
                  </a:lnTo>
                  <a:cubicBezTo>
                    <a:pt x="122523" y="10634"/>
                    <a:pt x="122792" y="10508"/>
                    <a:pt x="122792" y="10257"/>
                  </a:cubicBezTo>
                  <a:cubicBezTo>
                    <a:pt x="122792" y="8731"/>
                    <a:pt x="122164" y="7062"/>
                    <a:pt x="119528" y="7062"/>
                  </a:cubicBezTo>
                  <a:cubicBezTo>
                    <a:pt x="117645" y="7062"/>
                    <a:pt x="115672" y="8731"/>
                    <a:pt x="115672" y="11476"/>
                  </a:cubicBezTo>
                  <a:cubicBezTo>
                    <a:pt x="115672" y="13448"/>
                    <a:pt x="116748" y="15205"/>
                    <a:pt x="119474" y="15205"/>
                  </a:cubicBezTo>
                  <a:cubicBezTo>
                    <a:pt x="120711" y="15205"/>
                    <a:pt x="121967" y="14793"/>
                    <a:pt x="122630" y="13448"/>
                  </a:cubicBezTo>
                  <a:lnTo>
                    <a:pt x="122182" y="1307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03" name="Paper math native glyph 16"/>
            <p:cNvSpPr/>
            <p:nvPr/>
          </p:nvSpPr>
          <p:spPr>
            <a:xfrm>
              <a:off x="0" y="0"/>
              <a:ext cx="1686488" cy="275139"/>
            </a:xfrm>
            <a:custGeom>
              <a:avLst/>
              <a:gdLst/>
              <a:ahLst/>
              <a:cxnLst/>
              <a:rect l="0" t="0" r="r" b="b"/>
              <a:pathLst>
                <a:path w="132794" h="21664" stroke="0" extrusionOk="0">
                  <a:moveTo>
                    <a:pt x="124887" y="13512"/>
                  </a:moveTo>
                  <a:lnTo>
                    <a:pt x="124141" y="16774"/>
                  </a:lnTo>
                  <a:cubicBezTo>
                    <a:pt x="124076" y="17036"/>
                    <a:pt x="123971" y="17363"/>
                    <a:pt x="123971" y="17494"/>
                  </a:cubicBezTo>
                  <a:cubicBezTo>
                    <a:pt x="123971" y="17717"/>
                    <a:pt x="124089" y="17848"/>
                    <a:pt x="124508" y="17848"/>
                  </a:cubicBezTo>
                  <a:cubicBezTo>
                    <a:pt x="125005" y="17848"/>
                    <a:pt x="124979" y="17272"/>
                    <a:pt x="125110" y="16774"/>
                  </a:cubicBezTo>
                  <a:lnTo>
                    <a:pt x="125634" y="14665"/>
                  </a:lnTo>
                  <a:cubicBezTo>
                    <a:pt x="126655" y="13185"/>
                    <a:pt x="127388" y="12753"/>
                    <a:pt x="127807" y="12753"/>
                  </a:cubicBezTo>
                  <a:cubicBezTo>
                    <a:pt x="128068" y="12753"/>
                    <a:pt x="128147" y="12844"/>
                    <a:pt x="128147" y="13237"/>
                  </a:cubicBezTo>
                  <a:cubicBezTo>
                    <a:pt x="128147" y="13394"/>
                    <a:pt x="128134" y="13709"/>
                    <a:pt x="128042" y="14115"/>
                  </a:cubicBezTo>
                  <a:lnTo>
                    <a:pt x="127414" y="16774"/>
                  </a:lnTo>
                  <a:cubicBezTo>
                    <a:pt x="127349" y="17036"/>
                    <a:pt x="127244" y="17363"/>
                    <a:pt x="127244" y="17494"/>
                  </a:cubicBezTo>
                  <a:cubicBezTo>
                    <a:pt x="127244" y="17717"/>
                    <a:pt x="127362" y="17848"/>
                    <a:pt x="127781" y="17848"/>
                  </a:cubicBezTo>
                  <a:cubicBezTo>
                    <a:pt x="128278" y="17848"/>
                    <a:pt x="128265" y="17272"/>
                    <a:pt x="128383" y="16774"/>
                  </a:cubicBezTo>
                  <a:lnTo>
                    <a:pt x="128880" y="14718"/>
                  </a:lnTo>
                  <a:cubicBezTo>
                    <a:pt x="129993" y="13159"/>
                    <a:pt x="130503" y="12753"/>
                    <a:pt x="130922" y="12753"/>
                  </a:cubicBezTo>
                  <a:cubicBezTo>
                    <a:pt x="131171" y="12753"/>
                    <a:pt x="131302" y="12844"/>
                    <a:pt x="131302" y="13237"/>
                  </a:cubicBezTo>
                  <a:cubicBezTo>
                    <a:pt x="131302" y="13381"/>
                    <a:pt x="131289" y="13761"/>
                    <a:pt x="131184" y="14167"/>
                  </a:cubicBezTo>
                  <a:lnTo>
                    <a:pt x="130674" y="16224"/>
                  </a:lnTo>
                  <a:cubicBezTo>
                    <a:pt x="130543" y="16761"/>
                    <a:pt x="130438" y="17298"/>
                    <a:pt x="130438" y="17416"/>
                  </a:cubicBezTo>
                  <a:cubicBezTo>
                    <a:pt x="130438" y="17678"/>
                    <a:pt x="130674" y="17848"/>
                    <a:pt x="130857" y="17848"/>
                  </a:cubicBezTo>
                  <a:cubicBezTo>
                    <a:pt x="131629" y="17848"/>
                    <a:pt x="132349" y="17468"/>
                    <a:pt x="132794" y="16394"/>
                  </a:cubicBezTo>
                  <a:cubicBezTo>
                    <a:pt x="132768" y="16276"/>
                    <a:pt x="132677" y="16211"/>
                    <a:pt x="132506" y="16211"/>
                  </a:cubicBezTo>
                  <a:cubicBezTo>
                    <a:pt x="132192" y="16709"/>
                    <a:pt x="131826" y="17062"/>
                    <a:pt x="131590" y="17062"/>
                  </a:cubicBezTo>
                  <a:cubicBezTo>
                    <a:pt x="131525" y="17062"/>
                    <a:pt x="131498" y="16984"/>
                    <a:pt x="131498" y="16918"/>
                  </a:cubicBezTo>
                  <a:cubicBezTo>
                    <a:pt x="131498" y="16866"/>
                    <a:pt x="131525" y="16538"/>
                    <a:pt x="131564" y="16394"/>
                  </a:cubicBezTo>
                  <a:lnTo>
                    <a:pt x="132179" y="14063"/>
                  </a:lnTo>
                  <a:cubicBezTo>
                    <a:pt x="132258" y="13761"/>
                    <a:pt x="132310" y="13355"/>
                    <a:pt x="132310" y="13106"/>
                  </a:cubicBezTo>
                  <a:cubicBezTo>
                    <a:pt x="132310" y="12281"/>
                    <a:pt x="131917" y="11967"/>
                    <a:pt x="131511" y="11967"/>
                  </a:cubicBezTo>
                  <a:cubicBezTo>
                    <a:pt x="130582" y="11967"/>
                    <a:pt x="129862" y="12766"/>
                    <a:pt x="129103" y="13722"/>
                  </a:cubicBezTo>
                  <a:cubicBezTo>
                    <a:pt x="129142" y="13512"/>
                    <a:pt x="129155" y="13277"/>
                    <a:pt x="129155" y="13106"/>
                  </a:cubicBezTo>
                  <a:cubicBezTo>
                    <a:pt x="129155" y="12190"/>
                    <a:pt x="128762" y="11967"/>
                    <a:pt x="128396" y="11967"/>
                  </a:cubicBezTo>
                  <a:cubicBezTo>
                    <a:pt x="127453" y="11967"/>
                    <a:pt x="126602" y="12661"/>
                    <a:pt x="125830" y="13657"/>
                  </a:cubicBezTo>
                  <a:lnTo>
                    <a:pt x="125804" y="13643"/>
                  </a:lnTo>
                  <a:lnTo>
                    <a:pt x="125830" y="13525"/>
                  </a:lnTo>
                  <a:cubicBezTo>
                    <a:pt x="125961" y="13015"/>
                    <a:pt x="126118" y="12504"/>
                    <a:pt x="126118" y="12281"/>
                  </a:cubicBezTo>
                  <a:cubicBezTo>
                    <a:pt x="126118" y="12098"/>
                    <a:pt x="126026" y="12006"/>
                    <a:pt x="125856" y="12006"/>
                  </a:cubicBezTo>
                  <a:cubicBezTo>
                    <a:pt x="125437" y="12006"/>
                    <a:pt x="124848" y="12097"/>
                    <a:pt x="124233" y="12176"/>
                  </a:cubicBezTo>
                  <a:cubicBezTo>
                    <a:pt x="124141" y="12281"/>
                    <a:pt x="124168" y="12425"/>
                    <a:pt x="124246" y="12542"/>
                  </a:cubicBezTo>
                  <a:lnTo>
                    <a:pt x="124770" y="12582"/>
                  </a:lnTo>
                  <a:cubicBezTo>
                    <a:pt x="124927" y="12595"/>
                    <a:pt x="125005" y="12713"/>
                    <a:pt x="125005" y="12844"/>
                  </a:cubicBezTo>
                  <a:cubicBezTo>
                    <a:pt x="125005" y="12962"/>
                    <a:pt x="124966" y="13146"/>
                    <a:pt x="124887" y="1351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cxnSp>
        <p:nvCxnSpPr>
          <p:cNvPr id="1604" name="More released data before refit"/>
          <p:cNvCxnSpPr/>
          <p:nvPr/>
        </p:nvCxnSpPr>
        <p:spPr>
          <a:xfrm>
            <a:off x="10344150" y="6429375"/>
            <a:ext cx="0" cy="457200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5" name="Refit event label backing"/>
          <p:cNvSpPr/>
          <p:nvPr/>
        </p:nvSpPr>
        <p:spPr>
          <a:xfrm>
            <a:off x="10448925" y="6515100"/>
            <a:ext cx="1714500" cy="238125"/>
          </a:xfrm>
          <a:prstGeom prst="rect">
            <a:avLst/>
          </a:prstGeom>
          <a:solidFill>
            <a:srgbClr val="FFF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Label · Stream window 1,024"/>
          <p:cNvSpPr txBox="1"/>
          <p:nvPr/>
        </p:nvSpPr>
        <p:spPr>
          <a:xfrm>
            <a:off x="10496550" y="6524625"/>
            <a:ext cx="1666875" cy="2428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45B66"/>
                </a:solidFill>
                <a:latin typeface="Times New Roman"/>
              </a:rPr>
              <a:t>Stream window 1,024</a:t>
            </a:r>
          </a:p>
        </p:txBody>
      </p:sp>
      <p:sp>
        <p:nvSpPr>
          <p:cNvPr id="1607" name="Joint all-sensor identity and calibrator refit"/>
          <p:cNvSpPr/>
          <p:nvPr/>
        </p:nvSpPr>
        <p:spPr>
          <a:xfrm>
            <a:off x="8572500" y="6886575"/>
            <a:ext cx="3543300" cy="1609725"/>
          </a:xfrm>
          <a:prstGeom prst="roundRect">
            <a:avLst>
              <a:gd name="adj" fmla="val 8000"/>
            </a:avLst>
          </a:prstGeom>
          <a:solidFill>
            <a:srgbClr val="F5B7BF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Label · Refit identities + calibrators"/>
          <p:cNvSpPr txBox="1"/>
          <p:nvPr/>
        </p:nvSpPr>
        <p:spPr>
          <a:xfrm>
            <a:off x="8724900" y="7000875"/>
            <a:ext cx="3238500" cy="3286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6272C"/>
                </a:solidFill>
                <a:latin typeface="Times New Roman"/>
              </a:rPr>
              <a:t>Refit identities + calibrators</a:t>
            </a:r>
          </a:p>
        </p:txBody>
      </p:sp>
      <p:sp>
        <p:nvSpPr>
          <p:cNvPr id="1609" name="Scope · all mature and new sensors"/>
          <p:cNvSpPr txBox="1"/>
          <p:nvPr/>
        </p:nvSpPr>
        <p:spPr>
          <a:xfrm>
            <a:off x="8724900" y="7343775"/>
            <a:ext cx="3238500" cy="2571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6272C"/>
                </a:solidFill>
                <a:latin typeface="Times New Roman"/>
              </a:rPr>
              <a:t>All sensors; shared weights frozen</a:t>
            </a:r>
          </a:p>
        </p:txBody>
      </p:sp>
      <p:sp>
        <p:nvSpPr>
          <p:cNvPr id="1610" name="Label · Latest 1,024 released windows"/>
          <p:cNvSpPr txBox="1"/>
          <p:nvPr/>
        </p:nvSpPr>
        <p:spPr>
          <a:xfrm>
            <a:off x="8724900" y="7600950"/>
            <a:ext cx="3238500" cy="2571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45B66"/>
                </a:solidFill>
                <a:latin typeface="Times New Roman"/>
              </a:rPr>
              <a:t>Latest 1,024 released windows</a:t>
            </a:r>
          </a:p>
        </p:txBody>
      </p:sp>
      <p:sp>
        <p:nvSpPr>
          <p:cNvPr id="1611" name="Refit all identity rows"/>
          <p:cNvSpPr/>
          <p:nvPr/>
        </p:nvSpPr>
        <p:spPr>
          <a:xfrm>
            <a:off x="8753475" y="7915275"/>
            <a:ext cx="1257300" cy="409575"/>
          </a:xfrm>
          <a:prstGeom prst="roundRect">
            <a:avLst>
              <a:gd name="adj" fmla="val 8000"/>
            </a:avLst>
          </a:prstGeom>
          <a:solidFill>
            <a:srgbClr val="FFF1C7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Restart all-sensor ridge coefficients and covariance"/>
          <p:cNvSpPr/>
          <p:nvPr/>
        </p:nvSpPr>
        <p:spPr>
          <a:xfrm>
            <a:off x="10420350" y="7915275"/>
            <a:ext cx="1504950" cy="409575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3" name="Fit all calibrators from jointly refreshed identities"/>
          <p:cNvCxnSpPr/>
          <p:nvPr/>
        </p:nvCxnSpPr>
        <p:spPr>
          <a:xfrm>
            <a:off x="10010775" y="8115300"/>
            <a:ext cx="409575" cy="0"/>
          </a:xfrm>
          <a:prstGeom prst="line">
            <a:avLst/>
          </a:prstGeom>
          <a:ln w="25146">
            <a:solidFill>
              <a:srgbClr val="B15E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4" name="Write mature identity rows into E"/>
          <p:cNvCxnSpPr/>
          <p:nvPr/>
        </p:nvCxnSpPr>
        <p:spPr>
          <a:xfrm flipV="1">
            <a:off x="6124575" y="3543300"/>
            <a:ext cx="0" cy="314325"/>
          </a:xfrm>
          <a:prstGeom prst="line">
            <a:avLst/>
          </a:prstGeom>
          <a:ln w="26670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5" name="Write mature identity rows into E"/>
          <p:cNvCxnSpPr/>
          <p:nvPr/>
        </p:nvCxnSpPr>
        <p:spPr>
          <a:xfrm>
            <a:off x="6124575" y="3543300"/>
            <a:ext cx="1990725" cy="0"/>
          </a:xfrm>
          <a:prstGeom prst="line">
            <a:avLst/>
          </a:prstGeom>
          <a:ln w="26670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6" name="Write mature identity rows into E"/>
          <p:cNvCxnSpPr/>
          <p:nvPr/>
        </p:nvCxnSpPr>
        <p:spPr>
          <a:xfrm flipV="1">
            <a:off x="8115300" y="2847975"/>
            <a:ext cx="0" cy="695325"/>
          </a:xfrm>
          <a:prstGeom prst="line">
            <a:avLst/>
          </a:prstGeom>
          <a:ln w="26670">
            <a:solidFill>
              <a:srgbClr val="B15E7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7" name="Label · Identity-state writes"/>
          <p:cNvSpPr txBox="1"/>
          <p:nvPr/>
        </p:nvSpPr>
        <p:spPr>
          <a:xfrm>
            <a:off x="6305550" y="3257550"/>
            <a:ext cx="1743075" cy="2571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15E73"/>
                </a:solidFill>
                <a:latin typeface="Times New Roman"/>
              </a:rPr>
              <a:t>Identity-state writes</a:t>
            </a:r>
          </a:p>
        </p:txBody>
      </p:sp>
      <p:sp>
        <p:nvSpPr>
          <p:cNvPr id="1618" name="Feature-RLS residual calibration panel"/>
          <p:cNvSpPr/>
          <p:nvPr/>
        </p:nvSpPr>
        <p:spPr>
          <a:xfrm>
            <a:off x="13049250" y="552450"/>
            <a:ext cx="4762500" cy="5562600"/>
          </a:xfrm>
          <a:prstGeom prst="roundRect">
            <a:avLst>
              <a:gd name="adj" fmla="val 8000"/>
            </a:avLst>
          </a:prstGeom>
          <a:solidFill>
            <a:srgbClr val="FF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Label · Feature-RLS Calibration"/>
          <p:cNvSpPr txBox="1"/>
          <p:nvPr/>
        </p:nvSpPr>
        <p:spPr>
          <a:xfrm>
            <a:off x="13249275" y="723900"/>
            <a:ext cx="4352925" cy="4143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6272C"/>
                </a:solidFill>
                <a:latin typeface="Times New Roman"/>
              </a:rPr>
              <a:t>Feature-RLS Calibration</a:t>
            </a:r>
          </a:p>
        </p:txBody>
      </p:sp>
      <p:sp>
        <p:nvSpPr>
          <p:cNvPr id="1620" name="RLS feature History"/>
          <p:cNvSpPr/>
          <p:nvPr/>
        </p:nvSpPr>
        <p:spPr>
          <a:xfrm>
            <a:off x="13249275" y="1181100"/>
            <a:ext cx="1314450" cy="371475"/>
          </a:xfrm>
          <a:prstGeom prst="roundRect">
            <a:avLst>
              <a:gd name="adj" fmla="val 8000"/>
            </a:avLst>
          </a:prstGeom>
          <a:solidFill>
            <a:srgbClr val="B6C7EA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Label · History"/>
          <p:cNvSpPr txBox="1"/>
          <p:nvPr/>
        </p:nvSpPr>
        <p:spPr>
          <a:xfrm>
            <a:off x="13277850" y="1247775"/>
            <a:ext cx="1257300" cy="2714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6272C"/>
                </a:solidFill>
                <a:latin typeface="Times New Roman"/>
              </a:rPr>
              <a:t>History</a:t>
            </a:r>
          </a:p>
        </p:txBody>
      </p:sp>
      <p:sp>
        <p:nvSpPr>
          <p:cNvPr id="1622" name="RLS feature Base forecast"/>
          <p:cNvSpPr/>
          <p:nvPr/>
        </p:nvSpPr>
        <p:spPr>
          <a:xfrm>
            <a:off x="14668500" y="1181100"/>
            <a:ext cx="1419225" cy="371475"/>
          </a:xfrm>
          <a:prstGeom prst="roundRect">
            <a:avLst>
              <a:gd name="adj" fmla="val 8000"/>
            </a:avLst>
          </a:prstGeom>
          <a:solidFill>
            <a:srgbClr val="F8CDAC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Label · Base forecast"/>
          <p:cNvSpPr txBox="1"/>
          <p:nvPr/>
        </p:nvSpPr>
        <p:spPr>
          <a:xfrm>
            <a:off x="14697075" y="1247775"/>
            <a:ext cx="1362075" cy="2714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6272C"/>
                </a:solidFill>
                <a:latin typeface="Times New Roman"/>
              </a:rPr>
              <a:t>Base forecast</a:t>
            </a:r>
          </a:p>
        </p:txBody>
      </p:sp>
      <p:sp>
        <p:nvSpPr>
          <p:cNvPr id="1624" name="RLS feature Statistics"/>
          <p:cNvSpPr/>
          <p:nvPr/>
        </p:nvSpPr>
        <p:spPr>
          <a:xfrm>
            <a:off x="16192500" y="1181100"/>
            <a:ext cx="1419225" cy="371475"/>
          </a:xfrm>
          <a:prstGeom prst="roundRect">
            <a:avLst>
              <a:gd name="adj" fmla="val 8000"/>
            </a:avLst>
          </a:prstGeom>
          <a:solidFill>
            <a:srgbClr val="FEE695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Label · Statistics"/>
          <p:cNvSpPr txBox="1"/>
          <p:nvPr/>
        </p:nvSpPr>
        <p:spPr>
          <a:xfrm>
            <a:off x="16221075" y="1247775"/>
            <a:ext cx="1362075" cy="2714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6272C"/>
                </a:solidFill>
                <a:latin typeface="Times New Roman"/>
              </a:rPr>
              <a:t>Statistics</a:t>
            </a:r>
          </a:p>
        </p:txBody>
      </p:sp>
      <p:sp>
        <p:nvSpPr>
          <p:cNvPr id="1626" name="RLS feature component"/>
          <p:cNvSpPr/>
          <p:nvPr/>
        </p:nvSpPr>
        <p:spPr>
          <a:xfrm>
            <a:off x="13277850" y="1905000"/>
            <a:ext cx="219075" cy="323850"/>
          </a:xfrm>
          <a:prstGeom prst="rect">
            <a:avLst/>
          </a:prstGeom>
          <a:solidFill>
            <a:srgbClr val="B6C7EA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RLS feature component"/>
          <p:cNvSpPr/>
          <p:nvPr/>
        </p:nvSpPr>
        <p:spPr>
          <a:xfrm>
            <a:off x="13496925" y="1905000"/>
            <a:ext cx="219075" cy="323850"/>
          </a:xfrm>
          <a:prstGeom prst="rect">
            <a:avLst/>
          </a:prstGeom>
          <a:solidFill>
            <a:srgbClr val="B6C7EA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RLS feature component"/>
          <p:cNvSpPr/>
          <p:nvPr/>
        </p:nvSpPr>
        <p:spPr>
          <a:xfrm>
            <a:off x="13716000" y="1905000"/>
            <a:ext cx="219075" cy="323850"/>
          </a:xfrm>
          <a:prstGeom prst="rect">
            <a:avLst/>
          </a:prstGeom>
          <a:solidFill>
            <a:srgbClr val="B6C7EA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RLS feature component"/>
          <p:cNvSpPr/>
          <p:nvPr/>
        </p:nvSpPr>
        <p:spPr>
          <a:xfrm>
            <a:off x="13935075" y="1905000"/>
            <a:ext cx="219075" cy="323850"/>
          </a:xfrm>
          <a:prstGeom prst="rect">
            <a:avLst/>
          </a:prstGeom>
          <a:solidFill>
            <a:srgbClr val="F8CDAC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RLS feature component"/>
          <p:cNvSpPr/>
          <p:nvPr/>
        </p:nvSpPr>
        <p:spPr>
          <a:xfrm>
            <a:off x="14154150" y="1905000"/>
            <a:ext cx="219075" cy="323850"/>
          </a:xfrm>
          <a:prstGeom prst="rect">
            <a:avLst/>
          </a:prstGeom>
          <a:solidFill>
            <a:srgbClr val="F8CDAC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RLS feature component"/>
          <p:cNvSpPr/>
          <p:nvPr/>
        </p:nvSpPr>
        <p:spPr>
          <a:xfrm>
            <a:off x="14373225" y="1905000"/>
            <a:ext cx="219075" cy="323850"/>
          </a:xfrm>
          <a:prstGeom prst="rect">
            <a:avLst/>
          </a:prstGeom>
          <a:solidFill>
            <a:srgbClr val="F8CDAC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RLS feature component"/>
          <p:cNvSpPr/>
          <p:nvPr/>
        </p:nvSpPr>
        <p:spPr>
          <a:xfrm>
            <a:off x="14592300" y="1905000"/>
            <a:ext cx="219075" cy="323850"/>
          </a:xfrm>
          <a:prstGeom prst="rect">
            <a:avLst/>
          </a:prstGeom>
          <a:solidFill>
            <a:srgbClr val="FEE695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RLS feature component"/>
          <p:cNvSpPr/>
          <p:nvPr/>
        </p:nvSpPr>
        <p:spPr>
          <a:xfrm>
            <a:off x="14811375" y="1905000"/>
            <a:ext cx="219075" cy="323850"/>
          </a:xfrm>
          <a:prstGeom prst="rect">
            <a:avLst/>
          </a:prstGeom>
          <a:solidFill>
            <a:srgbClr val="FEE695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RLS feature component"/>
          <p:cNvSpPr/>
          <p:nvPr/>
        </p:nvSpPr>
        <p:spPr>
          <a:xfrm>
            <a:off x="15030450" y="1905000"/>
            <a:ext cx="219075" cy="323850"/>
          </a:xfrm>
          <a:prstGeom prst="rect">
            <a:avLst/>
          </a:prstGeom>
          <a:solidFill>
            <a:srgbClr val="F9D7BD"/>
          </a:solidFill>
          <a:ln w="952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Label · 12 + 12 + 4 + 1"/>
          <p:cNvSpPr txBox="1"/>
          <p:nvPr/>
        </p:nvSpPr>
        <p:spPr>
          <a:xfrm>
            <a:off x="13373100" y="2343150"/>
            <a:ext cx="1866900" cy="2571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45B66"/>
                </a:solidFill>
                <a:latin typeface="Times New Roman"/>
              </a:rPr>
              <a:t>12 + 12 + 4 + 1</a:t>
            </a:r>
          </a:p>
        </p:txBody>
      </p:sp>
      <p:grpSp>
        <p:nvGrpSpPr>
          <p:cNvPr id="1636" name="Formula · \mathbf{z}_{t,n}\,\in\,\mathbb{R}^{29}" descr="Editable LaTeX source: $\mathbf{z}_{t,n}\,\in\,\mathbb{R}^{29}$; native vector glyphs."/>
          <p:cNvGrpSpPr/>
          <p:nvPr/>
        </p:nvGrpSpPr>
        <p:grpSpPr>
          <a:xfrm>
            <a:off x="13392150" y="2657475"/>
            <a:ext cx="910803" cy="251774"/>
            <a:chOff x="0" y="0"/>
            <a:chExt cx="910803" cy="251774"/>
          </a:xfrm>
        </p:grpSpPr>
        <p:sp>
          <p:nvSpPr>
            <p:cNvPr id="1637" name="Paper math native glyph 1"/>
            <p:cNvSpPr/>
            <p:nvPr/>
          </p:nvSpPr>
          <p:spPr>
            <a:xfrm>
              <a:off x="0" y="0"/>
              <a:ext cx="910803" cy="251774"/>
            </a:xfrm>
            <a:custGeom>
              <a:avLst/>
              <a:gdLst/>
              <a:ahLst/>
              <a:cxnLst/>
              <a:rect l="0" t="0" r="r" b="b"/>
              <a:pathLst>
                <a:path w="71717" h="19825" stroke="0" extrusionOk="0">
                  <a:moveTo>
                    <a:pt x="1183" y="7393"/>
                  </a:moveTo>
                  <a:lnTo>
                    <a:pt x="592" y="7393"/>
                  </a:lnTo>
                  <a:cubicBezTo>
                    <a:pt x="556" y="8165"/>
                    <a:pt x="484" y="8793"/>
                    <a:pt x="197" y="9977"/>
                  </a:cubicBezTo>
                  <a:lnTo>
                    <a:pt x="968" y="10085"/>
                  </a:lnTo>
                  <a:cubicBezTo>
                    <a:pt x="1273" y="8768"/>
                    <a:pt x="1704" y="8374"/>
                    <a:pt x="2242" y="8374"/>
                  </a:cubicBezTo>
                  <a:lnTo>
                    <a:pt x="4322" y="8374"/>
                  </a:lnTo>
                  <a:cubicBezTo>
                    <a:pt x="2923" y="10488"/>
                    <a:pt x="1596" y="12619"/>
                    <a:pt x="197" y="14715"/>
                  </a:cubicBezTo>
                  <a:cubicBezTo>
                    <a:pt x="54" y="14948"/>
                    <a:pt x="0" y="15074"/>
                    <a:pt x="0" y="15109"/>
                  </a:cubicBezTo>
                  <a:cubicBezTo>
                    <a:pt x="0" y="15289"/>
                    <a:pt x="215" y="15396"/>
                    <a:pt x="986" y="15396"/>
                  </a:cubicBezTo>
                  <a:lnTo>
                    <a:pt x="6330" y="15396"/>
                  </a:lnTo>
                  <a:cubicBezTo>
                    <a:pt x="6402" y="14661"/>
                    <a:pt x="6527" y="13873"/>
                    <a:pt x="6796" y="12906"/>
                  </a:cubicBezTo>
                  <a:lnTo>
                    <a:pt x="6043" y="12744"/>
                  </a:lnTo>
                  <a:cubicBezTo>
                    <a:pt x="5738" y="13909"/>
                    <a:pt x="5218" y="14643"/>
                    <a:pt x="4429" y="14643"/>
                  </a:cubicBezTo>
                  <a:lnTo>
                    <a:pt x="2349" y="14643"/>
                  </a:lnTo>
                  <a:lnTo>
                    <a:pt x="6348" y="8499"/>
                  </a:lnTo>
                  <a:cubicBezTo>
                    <a:pt x="6545" y="8195"/>
                    <a:pt x="6707" y="7908"/>
                    <a:pt x="6707" y="7854"/>
                  </a:cubicBezTo>
                  <a:cubicBezTo>
                    <a:pt x="6707" y="7675"/>
                    <a:pt x="6420" y="7567"/>
                    <a:pt x="6061" y="7567"/>
                  </a:cubicBezTo>
                  <a:cubicBezTo>
                    <a:pt x="6007" y="7567"/>
                    <a:pt x="5577" y="7621"/>
                    <a:pt x="5147" y="7621"/>
                  </a:cubicBezTo>
                  <a:lnTo>
                    <a:pt x="1488" y="7621"/>
                  </a:lnTo>
                  <a:cubicBezTo>
                    <a:pt x="1381" y="7608"/>
                    <a:pt x="1255" y="7591"/>
                    <a:pt x="1183" y="739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38" name="Paper math native glyph 2"/>
            <p:cNvSpPr/>
            <p:nvPr/>
          </p:nvSpPr>
          <p:spPr>
            <a:xfrm>
              <a:off x="0" y="0"/>
              <a:ext cx="910803" cy="251774"/>
            </a:xfrm>
            <a:custGeom>
              <a:avLst/>
              <a:gdLst/>
              <a:ahLst/>
              <a:cxnLst/>
              <a:rect l="0" t="0" r="r" b="b"/>
              <a:pathLst>
                <a:path w="71717" h="19825" stroke="0" extrusionOk="0">
                  <a:moveTo>
                    <a:pt x="9150" y="12462"/>
                  </a:moveTo>
                  <a:lnTo>
                    <a:pt x="8456" y="12501"/>
                  </a:lnTo>
                  <a:cubicBezTo>
                    <a:pt x="8207" y="12514"/>
                    <a:pt x="8116" y="12619"/>
                    <a:pt x="8089" y="12724"/>
                  </a:cubicBezTo>
                  <a:cubicBezTo>
                    <a:pt x="8076" y="12763"/>
                    <a:pt x="8037" y="12920"/>
                    <a:pt x="8037" y="12946"/>
                  </a:cubicBezTo>
                  <a:cubicBezTo>
                    <a:pt x="8037" y="12973"/>
                    <a:pt x="8076" y="12973"/>
                    <a:pt x="8116" y="12973"/>
                  </a:cubicBezTo>
                  <a:lnTo>
                    <a:pt x="9032" y="12973"/>
                  </a:lnTo>
                  <a:lnTo>
                    <a:pt x="8233" y="16537"/>
                  </a:lnTo>
                  <a:cubicBezTo>
                    <a:pt x="8142" y="16957"/>
                    <a:pt x="8050" y="17363"/>
                    <a:pt x="8050" y="17612"/>
                  </a:cubicBezTo>
                  <a:cubicBezTo>
                    <a:pt x="8050" y="18083"/>
                    <a:pt x="8286" y="18214"/>
                    <a:pt x="8691" y="18214"/>
                  </a:cubicBezTo>
                  <a:cubicBezTo>
                    <a:pt x="9281" y="18214"/>
                    <a:pt x="10145" y="17677"/>
                    <a:pt x="10590" y="16865"/>
                  </a:cubicBezTo>
                  <a:cubicBezTo>
                    <a:pt x="10551" y="16695"/>
                    <a:pt x="10459" y="16616"/>
                    <a:pt x="10302" y="16616"/>
                  </a:cubicBezTo>
                  <a:cubicBezTo>
                    <a:pt x="9700" y="17298"/>
                    <a:pt x="9464" y="17429"/>
                    <a:pt x="9255" y="17429"/>
                  </a:cubicBezTo>
                  <a:cubicBezTo>
                    <a:pt x="9215" y="17429"/>
                    <a:pt x="9084" y="17402"/>
                    <a:pt x="9084" y="17245"/>
                  </a:cubicBezTo>
                  <a:cubicBezTo>
                    <a:pt x="9084" y="17127"/>
                    <a:pt x="9124" y="16865"/>
                    <a:pt x="9228" y="16419"/>
                  </a:cubicBezTo>
                  <a:lnTo>
                    <a:pt x="10001" y="12973"/>
                  </a:lnTo>
                  <a:lnTo>
                    <a:pt x="11284" y="12973"/>
                  </a:lnTo>
                  <a:cubicBezTo>
                    <a:pt x="11441" y="12907"/>
                    <a:pt x="11559" y="12567"/>
                    <a:pt x="11414" y="12462"/>
                  </a:cubicBezTo>
                  <a:lnTo>
                    <a:pt x="10119" y="12462"/>
                  </a:lnTo>
                  <a:lnTo>
                    <a:pt x="10249" y="11873"/>
                  </a:lnTo>
                  <a:cubicBezTo>
                    <a:pt x="10302" y="11624"/>
                    <a:pt x="10420" y="11245"/>
                    <a:pt x="10420" y="11087"/>
                  </a:cubicBezTo>
                  <a:cubicBezTo>
                    <a:pt x="10420" y="10865"/>
                    <a:pt x="10315" y="10734"/>
                    <a:pt x="9896" y="10734"/>
                  </a:cubicBezTo>
                  <a:cubicBezTo>
                    <a:pt x="9425" y="10734"/>
                    <a:pt x="9451" y="11323"/>
                    <a:pt x="9320" y="11808"/>
                  </a:cubicBezTo>
                  <a:lnTo>
                    <a:pt x="9150" y="1246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39" name="Paper math native glyph 3"/>
            <p:cNvSpPr/>
            <p:nvPr/>
          </p:nvSpPr>
          <p:spPr>
            <a:xfrm>
              <a:off x="0" y="0"/>
              <a:ext cx="910803" cy="251774"/>
            </a:xfrm>
            <a:custGeom>
              <a:avLst/>
              <a:gdLst/>
              <a:ahLst/>
              <a:cxnLst/>
              <a:rect l="0" t="0" r="r" b="b"/>
              <a:pathLst>
                <a:path w="71717" h="19825" stroke="0" extrusionOk="0">
                  <a:moveTo>
                    <a:pt x="12946" y="16843"/>
                  </a:moveTo>
                  <a:cubicBezTo>
                    <a:pt x="12540" y="16843"/>
                    <a:pt x="12252" y="17118"/>
                    <a:pt x="12252" y="17485"/>
                  </a:cubicBezTo>
                  <a:cubicBezTo>
                    <a:pt x="12252" y="17904"/>
                    <a:pt x="12593" y="18021"/>
                    <a:pt x="12828" y="18061"/>
                  </a:cubicBezTo>
                  <a:cubicBezTo>
                    <a:pt x="13077" y="18087"/>
                    <a:pt x="13300" y="18165"/>
                    <a:pt x="13300" y="18466"/>
                  </a:cubicBezTo>
                  <a:cubicBezTo>
                    <a:pt x="13300" y="18740"/>
                    <a:pt x="12828" y="19341"/>
                    <a:pt x="12148" y="19511"/>
                  </a:cubicBezTo>
                  <a:cubicBezTo>
                    <a:pt x="12148" y="19642"/>
                    <a:pt x="12174" y="19733"/>
                    <a:pt x="12265" y="19825"/>
                  </a:cubicBezTo>
                  <a:cubicBezTo>
                    <a:pt x="13051" y="19681"/>
                    <a:pt x="13810" y="19054"/>
                    <a:pt x="13810" y="18139"/>
                  </a:cubicBezTo>
                  <a:cubicBezTo>
                    <a:pt x="13810" y="17354"/>
                    <a:pt x="13470" y="16843"/>
                    <a:pt x="12946" y="1684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40" name="Paper math native glyph 4"/>
            <p:cNvSpPr/>
            <p:nvPr/>
          </p:nvSpPr>
          <p:spPr>
            <a:xfrm>
              <a:off x="0" y="0"/>
              <a:ext cx="910803" cy="251774"/>
            </a:xfrm>
            <a:custGeom>
              <a:avLst/>
              <a:gdLst/>
              <a:ahLst/>
              <a:cxnLst/>
              <a:rect l="0" t="0" r="r" b="b"/>
              <a:pathLst>
                <a:path w="71717" h="19825" stroke="0" extrusionOk="0">
                  <a:moveTo>
                    <a:pt x="19753" y="16459"/>
                  </a:moveTo>
                  <a:lnTo>
                    <a:pt x="20251" y="14376"/>
                  </a:lnTo>
                  <a:cubicBezTo>
                    <a:pt x="20355" y="13918"/>
                    <a:pt x="20421" y="13617"/>
                    <a:pt x="20421" y="13381"/>
                  </a:cubicBezTo>
                  <a:cubicBezTo>
                    <a:pt x="20421" y="12595"/>
                    <a:pt x="20068" y="12333"/>
                    <a:pt x="19557" y="12333"/>
                  </a:cubicBezTo>
                  <a:cubicBezTo>
                    <a:pt x="18876" y="12333"/>
                    <a:pt x="18313" y="12608"/>
                    <a:pt x="17109" y="14023"/>
                  </a:cubicBezTo>
                  <a:lnTo>
                    <a:pt x="17096" y="14010"/>
                  </a:lnTo>
                  <a:lnTo>
                    <a:pt x="17122" y="13892"/>
                  </a:lnTo>
                  <a:cubicBezTo>
                    <a:pt x="17253" y="13381"/>
                    <a:pt x="17410" y="12870"/>
                    <a:pt x="17410" y="12648"/>
                  </a:cubicBezTo>
                  <a:cubicBezTo>
                    <a:pt x="17410" y="12464"/>
                    <a:pt x="17318" y="12373"/>
                    <a:pt x="17148" y="12373"/>
                  </a:cubicBezTo>
                  <a:cubicBezTo>
                    <a:pt x="16729" y="12372"/>
                    <a:pt x="16114" y="12464"/>
                    <a:pt x="15499" y="12542"/>
                  </a:cubicBezTo>
                  <a:cubicBezTo>
                    <a:pt x="15407" y="12647"/>
                    <a:pt x="15433" y="12791"/>
                    <a:pt x="15512" y="12909"/>
                  </a:cubicBezTo>
                  <a:lnTo>
                    <a:pt x="16035" y="12948"/>
                  </a:lnTo>
                  <a:cubicBezTo>
                    <a:pt x="16193" y="12961"/>
                    <a:pt x="16271" y="13079"/>
                    <a:pt x="16271" y="13210"/>
                  </a:cubicBezTo>
                  <a:cubicBezTo>
                    <a:pt x="16271" y="13328"/>
                    <a:pt x="16232" y="13511"/>
                    <a:pt x="16153" y="13878"/>
                  </a:cubicBezTo>
                  <a:lnTo>
                    <a:pt x="15420" y="17140"/>
                  </a:lnTo>
                  <a:cubicBezTo>
                    <a:pt x="15355" y="17402"/>
                    <a:pt x="15250" y="17730"/>
                    <a:pt x="15250" y="17861"/>
                  </a:cubicBezTo>
                  <a:cubicBezTo>
                    <a:pt x="15250" y="18083"/>
                    <a:pt x="15394" y="18214"/>
                    <a:pt x="15813" y="18214"/>
                  </a:cubicBezTo>
                  <a:cubicBezTo>
                    <a:pt x="16311" y="18214"/>
                    <a:pt x="16297" y="17638"/>
                    <a:pt x="16415" y="17140"/>
                  </a:cubicBezTo>
                  <a:lnTo>
                    <a:pt x="16913" y="14966"/>
                  </a:lnTo>
                  <a:cubicBezTo>
                    <a:pt x="17737" y="13892"/>
                    <a:pt x="18457" y="13119"/>
                    <a:pt x="18929" y="13119"/>
                  </a:cubicBezTo>
                  <a:cubicBezTo>
                    <a:pt x="19203" y="13119"/>
                    <a:pt x="19387" y="13184"/>
                    <a:pt x="19387" y="13591"/>
                  </a:cubicBezTo>
                  <a:cubicBezTo>
                    <a:pt x="19387" y="13774"/>
                    <a:pt x="19321" y="14036"/>
                    <a:pt x="19217" y="14481"/>
                  </a:cubicBezTo>
                  <a:lnTo>
                    <a:pt x="18719" y="16577"/>
                  </a:lnTo>
                  <a:cubicBezTo>
                    <a:pt x="18614" y="16996"/>
                    <a:pt x="18497" y="17533"/>
                    <a:pt x="18497" y="17782"/>
                  </a:cubicBezTo>
                  <a:cubicBezTo>
                    <a:pt x="18497" y="18031"/>
                    <a:pt x="18641" y="18214"/>
                    <a:pt x="19033" y="18214"/>
                  </a:cubicBezTo>
                  <a:cubicBezTo>
                    <a:pt x="19662" y="18214"/>
                    <a:pt x="20290" y="17769"/>
                    <a:pt x="20892" y="16996"/>
                  </a:cubicBezTo>
                  <a:cubicBezTo>
                    <a:pt x="20853" y="16878"/>
                    <a:pt x="20774" y="16774"/>
                    <a:pt x="20591" y="16774"/>
                  </a:cubicBezTo>
                  <a:cubicBezTo>
                    <a:pt x="20251" y="17167"/>
                    <a:pt x="19871" y="17429"/>
                    <a:pt x="19740" y="17429"/>
                  </a:cubicBezTo>
                  <a:cubicBezTo>
                    <a:pt x="19649" y="17429"/>
                    <a:pt x="19609" y="17363"/>
                    <a:pt x="19609" y="17206"/>
                  </a:cubicBezTo>
                  <a:cubicBezTo>
                    <a:pt x="19609" y="17088"/>
                    <a:pt x="19675" y="16800"/>
                    <a:pt x="19753" y="1645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41" name="Paper math native glyph 5"/>
            <p:cNvSpPr/>
            <p:nvPr/>
          </p:nvSpPr>
          <p:spPr>
            <a:xfrm>
              <a:off x="0" y="0"/>
              <a:ext cx="910803" cy="251774"/>
            </a:xfrm>
            <a:custGeom>
              <a:avLst/>
              <a:gdLst/>
              <a:ahLst/>
              <a:cxnLst/>
              <a:rect l="0" t="0" r="r" b="b"/>
              <a:pathLst>
                <a:path w="71717" h="19825" stroke="0" extrusionOk="0">
                  <a:moveTo>
                    <a:pt x="38817" y="15256"/>
                  </a:moveTo>
                  <a:lnTo>
                    <a:pt x="38817" y="14360"/>
                  </a:lnTo>
                  <a:lnTo>
                    <a:pt x="35410" y="14360"/>
                  </a:lnTo>
                  <a:cubicBezTo>
                    <a:pt x="33796" y="14360"/>
                    <a:pt x="32218" y="13030"/>
                    <a:pt x="32003" y="11232"/>
                  </a:cubicBezTo>
                  <a:lnTo>
                    <a:pt x="38513" y="11232"/>
                  </a:lnTo>
                  <a:lnTo>
                    <a:pt x="38513" y="10335"/>
                  </a:lnTo>
                  <a:lnTo>
                    <a:pt x="32003" y="10335"/>
                  </a:lnTo>
                  <a:cubicBezTo>
                    <a:pt x="32200" y="8633"/>
                    <a:pt x="33617" y="7218"/>
                    <a:pt x="35410" y="7218"/>
                  </a:cubicBezTo>
                  <a:lnTo>
                    <a:pt x="38817" y="7218"/>
                  </a:lnTo>
                  <a:lnTo>
                    <a:pt x="38817" y="6321"/>
                  </a:lnTo>
                  <a:lnTo>
                    <a:pt x="35482" y="6321"/>
                  </a:lnTo>
                  <a:cubicBezTo>
                    <a:pt x="32989" y="6321"/>
                    <a:pt x="31070" y="8401"/>
                    <a:pt x="31070" y="10784"/>
                  </a:cubicBezTo>
                  <a:cubicBezTo>
                    <a:pt x="31070" y="13173"/>
                    <a:pt x="32989" y="15256"/>
                    <a:pt x="35482" y="15256"/>
                  </a:cubicBezTo>
                  <a:lnTo>
                    <a:pt x="38817" y="1525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42" name="Paper math native glyph 6"/>
            <p:cNvSpPr/>
            <p:nvPr/>
          </p:nvSpPr>
          <p:spPr>
            <a:xfrm>
              <a:off x="0" y="0"/>
              <a:ext cx="910803" cy="251774"/>
            </a:xfrm>
            <a:custGeom>
              <a:avLst/>
              <a:gdLst/>
              <a:ahLst/>
              <a:cxnLst/>
              <a:rect l="0" t="0" r="r" b="b"/>
              <a:pathLst>
                <a:path w="71717" h="19825" stroke="0" extrusionOk="0">
                  <a:moveTo>
                    <a:pt x="59932" y="15449"/>
                  </a:moveTo>
                  <a:lnTo>
                    <a:pt x="59932" y="14606"/>
                  </a:lnTo>
                  <a:cubicBezTo>
                    <a:pt x="59269" y="14570"/>
                    <a:pt x="58821" y="14409"/>
                    <a:pt x="58372" y="13871"/>
                  </a:cubicBezTo>
                  <a:lnTo>
                    <a:pt x="55090" y="9838"/>
                  </a:lnTo>
                  <a:cubicBezTo>
                    <a:pt x="56722" y="9461"/>
                    <a:pt x="58014" y="8583"/>
                    <a:pt x="58014" y="6771"/>
                  </a:cubicBezTo>
                  <a:cubicBezTo>
                    <a:pt x="58014" y="4169"/>
                    <a:pt x="55503" y="3488"/>
                    <a:pt x="53369" y="3488"/>
                  </a:cubicBezTo>
                  <a:lnTo>
                    <a:pt x="48330" y="3488"/>
                  </a:lnTo>
                  <a:lnTo>
                    <a:pt x="48330" y="4313"/>
                  </a:lnTo>
                  <a:cubicBezTo>
                    <a:pt x="49477" y="4403"/>
                    <a:pt x="49800" y="4367"/>
                    <a:pt x="49800" y="5622"/>
                  </a:cubicBezTo>
                  <a:lnTo>
                    <a:pt x="49800" y="13100"/>
                  </a:lnTo>
                  <a:cubicBezTo>
                    <a:pt x="49800" y="14427"/>
                    <a:pt x="49675" y="14534"/>
                    <a:pt x="48330" y="14606"/>
                  </a:cubicBezTo>
                  <a:lnTo>
                    <a:pt x="48330" y="15449"/>
                  </a:lnTo>
                  <a:lnTo>
                    <a:pt x="53638" y="15449"/>
                  </a:lnTo>
                  <a:lnTo>
                    <a:pt x="53638" y="14606"/>
                  </a:lnTo>
                  <a:cubicBezTo>
                    <a:pt x="52490" y="14552"/>
                    <a:pt x="52096" y="14588"/>
                    <a:pt x="52096" y="13298"/>
                  </a:cubicBezTo>
                  <a:lnTo>
                    <a:pt x="52096" y="10143"/>
                  </a:lnTo>
                  <a:lnTo>
                    <a:pt x="52670" y="10125"/>
                  </a:lnTo>
                  <a:lnTo>
                    <a:pt x="56776" y="15449"/>
                  </a:lnTo>
                  <a:lnTo>
                    <a:pt x="59932" y="15449"/>
                  </a:lnTo>
                  <a:moveTo>
                    <a:pt x="58838" y="14911"/>
                  </a:moveTo>
                  <a:lnTo>
                    <a:pt x="57027" y="14911"/>
                  </a:lnTo>
                  <a:lnTo>
                    <a:pt x="52920" y="9587"/>
                  </a:lnTo>
                  <a:lnTo>
                    <a:pt x="51558" y="9641"/>
                  </a:lnTo>
                  <a:lnTo>
                    <a:pt x="51558" y="13298"/>
                  </a:lnTo>
                  <a:cubicBezTo>
                    <a:pt x="51558" y="13943"/>
                    <a:pt x="51594" y="14624"/>
                    <a:pt x="52275" y="14911"/>
                  </a:cubicBezTo>
                  <a:lnTo>
                    <a:pt x="49621" y="14911"/>
                  </a:lnTo>
                  <a:cubicBezTo>
                    <a:pt x="50267" y="14642"/>
                    <a:pt x="50320" y="13979"/>
                    <a:pt x="50320" y="13351"/>
                  </a:cubicBezTo>
                  <a:lnTo>
                    <a:pt x="50320" y="5622"/>
                  </a:lnTo>
                  <a:cubicBezTo>
                    <a:pt x="50320" y="4977"/>
                    <a:pt x="50302" y="4277"/>
                    <a:pt x="49603" y="4008"/>
                  </a:cubicBezTo>
                  <a:lnTo>
                    <a:pt x="53369" y="4008"/>
                  </a:lnTo>
                  <a:cubicBezTo>
                    <a:pt x="55180" y="4008"/>
                    <a:pt x="57493" y="4510"/>
                    <a:pt x="57493" y="6771"/>
                  </a:cubicBezTo>
                  <a:cubicBezTo>
                    <a:pt x="57493" y="8762"/>
                    <a:pt x="55754" y="9192"/>
                    <a:pt x="54140" y="9498"/>
                  </a:cubicBezTo>
                  <a:lnTo>
                    <a:pt x="57977" y="14212"/>
                  </a:lnTo>
                  <a:cubicBezTo>
                    <a:pt x="58211" y="14498"/>
                    <a:pt x="58498" y="14750"/>
                    <a:pt x="58838" y="14911"/>
                  </a:cubicBezTo>
                  <a:moveTo>
                    <a:pt x="56130" y="6735"/>
                  </a:moveTo>
                  <a:cubicBezTo>
                    <a:pt x="56130" y="4761"/>
                    <a:pt x="54624" y="4115"/>
                    <a:pt x="52903" y="4115"/>
                  </a:cubicBezTo>
                  <a:cubicBezTo>
                    <a:pt x="52221" y="4115"/>
                    <a:pt x="51558" y="4134"/>
                    <a:pt x="51558" y="4994"/>
                  </a:cubicBezTo>
                  <a:lnTo>
                    <a:pt x="51558" y="9515"/>
                  </a:lnTo>
                  <a:cubicBezTo>
                    <a:pt x="53566" y="9498"/>
                    <a:pt x="56130" y="9354"/>
                    <a:pt x="56130" y="6735"/>
                  </a:cubicBezTo>
                  <a:moveTo>
                    <a:pt x="55611" y="6735"/>
                  </a:moveTo>
                  <a:cubicBezTo>
                    <a:pt x="55611" y="8744"/>
                    <a:pt x="53656" y="8959"/>
                    <a:pt x="52096" y="8995"/>
                  </a:cubicBezTo>
                  <a:lnTo>
                    <a:pt x="52096" y="4994"/>
                  </a:lnTo>
                  <a:cubicBezTo>
                    <a:pt x="52096" y="4671"/>
                    <a:pt x="52329" y="4636"/>
                    <a:pt x="52580" y="4636"/>
                  </a:cubicBezTo>
                  <a:cubicBezTo>
                    <a:pt x="54068" y="4636"/>
                    <a:pt x="55611" y="4887"/>
                    <a:pt x="55611" y="6735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43" name="Paper math native glyph 7"/>
            <p:cNvSpPr/>
            <p:nvPr/>
          </p:nvSpPr>
          <p:spPr>
            <a:xfrm>
              <a:off x="0" y="0"/>
              <a:ext cx="910803" cy="251774"/>
            </a:xfrm>
            <a:custGeom>
              <a:avLst/>
              <a:gdLst/>
              <a:ahLst/>
              <a:cxnLst/>
              <a:rect l="0" t="0" r="r" b="b"/>
              <a:pathLst>
                <a:path w="71717" h="19825" stroke="0" extrusionOk="0">
                  <a:moveTo>
                    <a:pt x="60838" y="1856"/>
                  </a:moveTo>
                  <a:cubicBezTo>
                    <a:pt x="60838" y="2130"/>
                    <a:pt x="61087" y="2365"/>
                    <a:pt x="61362" y="2365"/>
                  </a:cubicBezTo>
                  <a:cubicBezTo>
                    <a:pt x="61585" y="2365"/>
                    <a:pt x="61977" y="2130"/>
                    <a:pt x="61977" y="1843"/>
                  </a:cubicBezTo>
                  <a:cubicBezTo>
                    <a:pt x="61977" y="1738"/>
                    <a:pt x="61951" y="1660"/>
                    <a:pt x="61925" y="1568"/>
                  </a:cubicBezTo>
                  <a:cubicBezTo>
                    <a:pt x="61899" y="1477"/>
                    <a:pt x="61820" y="1360"/>
                    <a:pt x="61820" y="1255"/>
                  </a:cubicBezTo>
                  <a:cubicBezTo>
                    <a:pt x="61820" y="928"/>
                    <a:pt x="62161" y="458"/>
                    <a:pt x="63116" y="458"/>
                  </a:cubicBezTo>
                  <a:cubicBezTo>
                    <a:pt x="63588" y="458"/>
                    <a:pt x="64255" y="785"/>
                    <a:pt x="64255" y="2039"/>
                  </a:cubicBezTo>
                  <a:cubicBezTo>
                    <a:pt x="64255" y="2877"/>
                    <a:pt x="63954" y="3559"/>
                    <a:pt x="63182" y="4346"/>
                  </a:cubicBezTo>
                  <a:lnTo>
                    <a:pt x="62213" y="5303"/>
                  </a:lnTo>
                  <a:cubicBezTo>
                    <a:pt x="60930" y="6615"/>
                    <a:pt x="60721" y="7244"/>
                    <a:pt x="60721" y="8016"/>
                  </a:cubicBezTo>
                  <a:cubicBezTo>
                    <a:pt x="60721" y="8016"/>
                    <a:pt x="61388" y="7990"/>
                    <a:pt x="61807" y="7990"/>
                  </a:cubicBezTo>
                  <a:lnTo>
                    <a:pt x="64098" y="7990"/>
                  </a:lnTo>
                  <a:cubicBezTo>
                    <a:pt x="64517" y="7990"/>
                    <a:pt x="65119" y="8016"/>
                    <a:pt x="65119" y="8016"/>
                  </a:cubicBezTo>
                  <a:cubicBezTo>
                    <a:pt x="65289" y="7322"/>
                    <a:pt x="65420" y="6339"/>
                    <a:pt x="65433" y="5946"/>
                  </a:cubicBezTo>
                  <a:cubicBezTo>
                    <a:pt x="65355" y="5880"/>
                    <a:pt x="65185" y="5854"/>
                    <a:pt x="65054" y="5880"/>
                  </a:cubicBezTo>
                  <a:cubicBezTo>
                    <a:pt x="64831" y="6811"/>
                    <a:pt x="64609" y="7139"/>
                    <a:pt x="64137" y="7139"/>
                  </a:cubicBezTo>
                  <a:lnTo>
                    <a:pt x="61807" y="7139"/>
                  </a:lnTo>
                  <a:cubicBezTo>
                    <a:pt x="61807" y="6510"/>
                    <a:pt x="62710" y="5618"/>
                    <a:pt x="62776" y="5552"/>
                  </a:cubicBezTo>
                  <a:lnTo>
                    <a:pt x="64098" y="4280"/>
                  </a:lnTo>
                  <a:cubicBezTo>
                    <a:pt x="64844" y="3559"/>
                    <a:pt x="65407" y="2981"/>
                    <a:pt x="65407" y="1986"/>
                  </a:cubicBezTo>
                  <a:cubicBezTo>
                    <a:pt x="65407" y="576"/>
                    <a:pt x="64255" y="0"/>
                    <a:pt x="63195" y="0"/>
                  </a:cubicBezTo>
                  <a:cubicBezTo>
                    <a:pt x="61742" y="0"/>
                    <a:pt x="60838" y="1072"/>
                    <a:pt x="60838" y="1856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44" name="Paper math native glyph 8"/>
            <p:cNvSpPr/>
            <p:nvPr/>
          </p:nvSpPr>
          <p:spPr>
            <a:xfrm>
              <a:off x="0" y="0"/>
              <a:ext cx="910803" cy="251774"/>
            </a:xfrm>
            <a:custGeom>
              <a:avLst/>
              <a:gdLst/>
              <a:ahLst/>
              <a:cxnLst/>
              <a:rect l="0" t="0" r="r" b="b"/>
              <a:pathLst>
                <a:path w="71717" h="19825" stroke="0" extrusionOk="0">
                  <a:moveTo>
                    <a:pt x="70526" y="4163"/>
                  </a:moveTo>
                  <a:cubicBezTo>
                    <a:pt x="70094" y="4451"/>
                    <a:pt x="69662" y="4464"/>
                    <a:pt x="69439" y="4464"/>
                  </a:cubicBezTo>
                  <a:cubicBezTo>
                    <a:pt x="68156" y="4464"/>
                    <a:pt x="67868" y="3207"/>
                    <a:pt x="67868" y="2553"/>
                  </a:cubicBezTo>
                  <a:cubicBezTo>
                    <a:pt x="67868" y="1113"/>
                    <a:pt x="68418" y="458"/>
                    <a:pt x="69060" y="458"/>
                  </a:cubicBezTo>
                  <a:cubicBezTo>
                    <a:pt x="69884" y="458"/>
                    <a:pt x="70630" y="903"/>
                    <a:pt x="70630" y="3142"/>
                  </a:cubicBezTo>
                  <a:cubicBezTo>
                    <a:pt x="70630" y="3430"/>
                    <a:pt x="70604" y="3783"/>
                    <a:pt x="70526" y="4163"/>
                  </a:cubicBezTo>
                  <a:moveTo>
                    <a:pt x="70408" y="4634"/>
                  </a:moveTo>
                  <a:cubicBezTo>
                    <a:pt x="70054" y="5826"/>
                    <a:pt x="69217" y="7148"/>
                    <a:pt x="67475" y="7803"/>
                  </a:cubicBezTo>
                  <a:cubicBezTo>
                    <a:pt x="67475" y="7960"/>
                    <a:pt x="67528" y="8078"/>
                    <a:pt x="67633" y="8143"/>
                  </a:cubicBezTo>
                  <a:cubicBezTo>
                    <a:pt x="68955" y="7751"/>
                    <a:pt x="69766" y="7201"/>
                    <a:pt x="70500" y="6349"/>
                  </a:cubicBezTo>
                  <a:cubicBezTo>
                    <a:pt x="71311" y="5406"/>
                    <a:pt x="71717" y="4215"/>
                    <a:pt x="71717" y="3181"/>
                  </a:cubicBezTo>
                  <a:cubicBezTo>
                    <a:pt x="71717" y="524"/>
                    <a:pt x="70211" y="0"/>
                    <a:pt x="69203" y="0"/>
                  </a:cubicBezTo>
                  <a:cubicBezTo>
                    <a:pt x="67488" y="0"/>
                    <a:pt x="66782" y="1663"/>
                    <a:pt x="66782" y="2788"/>
                  </a:cubicBezTo>
                  <a:cubicBezTo>
                    <a:pt x="66782" y="3914"/>
                    <a:pt x="67384" y="4922"/>
                    <a:pt x="69164" y="4922"/>
                  </a:cubicBezTo>
                  <a:cubicBezTo>
                    <a:pt x="69505" y="4922"/>
                    <a:pt x="70015" y="4817"/>
                    <a:pt x="70408" y="463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cxnSp>
        <p:nvCxnSpPr>
          <p:cNvPr id="1645" name="Feature vector to per-node coefficients"/>
          <p:cNvCxnSpPr/>
          <p:nvPr/>
        </p:nvCxnSpPr>
        <p:spPr>
          <a:xfrm>
            <a:off x="15335250" y="2066925"/>
            <a:ext cx="409575" cy="0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6" name="RLS coefficient matrix"/>
          <p:cNvGrpSpPr/>
          <p:nvPr/>
        </p:nvGrpSpPr>
        <p:grpSpPr>
          <a:xfrm>
            <a:off x="15849600" y="1800225"/>
            <a:ext cx="1447800" cy="590550"/>
            <a:chOff x="15849600" y="2371725"/>
            <a:chExt cx="1447800" cy="590550"/>
          </a:xfrm>
        </p:grpSpPr>
        <p:sp>
          <p:nvSpPr>
            <p:cNvPr id="1647" name="RLS coefficient matrix cell 1,1"/>
            <p:cNvSpPr/>
            <p:nvPr/>
          </p:nvSpPr>
          <p:spPr>
            <a:xfrm>
              <a:off x="15849600" y="23717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8" name="RLS coefficient matrix cell 1,2"/>
            <p:cNvSpPr/>
            <p:nvPr/>
          </p:nvSpPr>
          <p:spPr>
            <a:xfrm>
              <a:off x="16090900" y="23717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9" name="RLS coefficient matrix cell 1,3"/>
            <p:cNvSpPr/>
            <p:nvPr/>
          </p:nvSpPr>
          <p:spPr>
            <a:xfrm>
              <a:off x="16332200" y="23717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0" name="RLS coefficient matrix cell 1,4"/>
            <p:cNvSpPr/>
            <p:nvPr/>
          </p:nvSpPr>
          <p:spPr>
            <a:xfrm>
              <a:off x="16573500" y="23717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1" name="RLS coefficient matrix cell 1,5"/>
            <p:cNvSpPr/>
            <p:nvPr/>
          </p:nvSpPr>
          <p:spPr>
            <a:xfrm>
              <a:off x="16814800" y="23717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2" name="RLS coefficient matrix cell 1,6"/>
            <p:cNvSpPr/>
            <p:nvPr/>
          </p:nvSpPr>
          <p:spPr>
            <a:xfrm>
              <a:off x="17056100" y="23717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3" name="RLS coefficient matrix cell 2,1"/>
            <p:cNvSpPr/>
            <p:nvPr/>
          </p:nvSpPr>
          <p:spPr>
            <a:xfrm>
              <a:off x="15849600" y="256857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4" name="RLS coefficient matrix cell 2,2"/>
            <p:cNvSpPr/>
            <p:nvPr/>
          </p:nvSpPr>
          <p:spPr>
            <a:xfrm>
              <a:off x="16090900" y="256857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5" name="RLS coefficient matrix cell 2,3"/>
            <p:cNvSpPr/>
            <p:nvPr/>
          </p:nvSpPr>
          <p:spPr>
            <a:xfrm>
              <a:off x="16332200" y="256857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6" name="RLS coefficient matrix cell 2,4"/>
            <p:cNvSpPr/>
            <p:nvPr/>
          </p:nvSpPr>
          <p:spPr>
            <a:xfrm>
              <a:off x="16573500" y="256857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7" name="RLS coefficient matrix cell 2,5"/>
            <p:cNvSpPr/>
            <p:nvPr/>
          </p:nvSpPr>
          <p:spPr>
            <a:xfrm>
              <a:off x="16814800" y="256857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8" name="RLS coefficient matrix cell 2,6"/>
            <p:cNvSpPr/>
            <p:nvPr/>
          </p:nvSpPr>
          <p:spPr>
            <a:xfrm>
              <a:off x="17056100" y="256857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9" name="RLS coefficient matrix cell 3,1"/>
            <p:cNvSpPr/>
            <p:nvPr/>
          </p:nvSpPr>
          <p:spPr>
            <a:xfrm>
              <a:off x="15849600" y="27654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0" name="RLS coefficient matrix cell 3,2"/>
            <p:cNvSpPr/>
            <p:nvPr/>
          </p:nvSpPr>
          <p:spPr>
            <a:xfrm>
              <a:off x="16090900" y="27654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1" name="RLS coefficient matrix cell 3,3"/>
            <p:cNvSpPr/>
            <p:nvPr/>
          </p:nvSpPr>
          <p:spPr>
            <a:xfrm>
              <a:off x="16332200" y="27654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2" name="RLS coefficient matrix cell 3,4"/>
            <p:cNvSpPr/>
            <p:nvPr/>
          </p:nvSpPr>
          <p:spPr>
            <a:xfrm>
              <a:off x="16573500" y="27654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3" name="RLS coefficient matrix cell 3,5"/>
            <p:cNvSpPr/>
            <p:nvPr/>
          </p:nvSpPr>
          <p:spPr>
            <a:xfrm>
              <a:off x="16814800" y="27654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4" name="RLS coefficient matrix cell 3,6"/>
            <p:cNvSpPr/>
            <p:nvPr/>
          </p:nvSpPr>
          <p:spPr>
            <a:xfrm>
              <a:off x="17056100" y="2765425"/>
              <a:ext cx="241300" cy="196850"/>
            </a:xfrm>
            <a:prstGeom prst="rect">
              <a:avLst/>
            </a:prstGeom>
            <a:solidFill>
              <a:srgbClr val="F8CDAC"/>
            </a:solidFill>
            <a:ln w="9525">
              <a:solidFill>
                <a:srgbClr val="747C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5" name="Formula · \boldsymbol{\Theta}_n\,\in\,\mathbb{R}^{29\times12}" descr="Editable LaTeX source: $\boldsymbol{\Theta}_n\,\in\,\mathbb{R}^{29\times12}$; native vector glyphs."/>
          <p:cNvGrpSpPr/>
          <p:nvPr/>
        </p:nvGrpSpPr>
        <p:grpSpPr>
          <a:xfrm>
            <a:off x="15621000" y="2657475"/>
            <a:ext cx="1093845" cy="221679"/>
            <a:chOff x="0" y="0"/>
            <a:chExt cx="1093845" cy="221679"/>
          </a:xfrm>
        </p:grpSpPr>
        <p:sp>
          <p:nvSpPr>
            <p:cNvPr id="1666" name="Paper math native glyph 1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6891" y="8603"/>
                  </a:moveTo>
                  <a:lnTo>
                    <a:pt x="4417" y="8603"/>
                  </a:lnTo>
                  <a:cubicBezTo>
                    <a:pt x="3833" y="8603"/>
                    <a:pt x="3643" y="8568"/>
                    <a:pt x="3643" y="7966"/>
                  </a:cubicBezTo>
                  <a:lnTo>
                    <a:pt x="3643" y="7846"/>
                  </a:lnTo>
                  <a:cubicBezTo>
                    <a:pt x="3643" y="7794"/>
                    <a:pt x="3626" y="7725"/>
                    <a:pt x="3506" y="7708"/>
                  </a:cubicBezTo>
                  <a:lnTo>
                    <a:pt x="3042" y="7708"/>
                  </a:lnTo>
                  <a:cubicBezTo>
                    <a:pt x="3042" y="7708"/>
                    <a:pt x="3094" y="8534"/>
                    <a:pt x="3094" y="9049"/>
                  </a:cubicBezTo>
                  <a:cubicBezTo>
                    <a:pt x="3094" y="9668"/>
                    <a:pt x="3042" y="10613"/>
                    <a:pt x="3042" y="10613"/>
                  </a:cubicBezTo>
                  <a:lnTo>
                    <a:pt x="3506" y="10613"/>
                  </a:lnTo>
                  <a:cubicBezTo>
                    <a:pt x="3557" y="10613"/>
                    <a:pt x="3626" y="10578"/>
                    <a:pt x="3643" y="10475"/>
                  </a:cubicBezTo>
                  <a:lnTo>
                    <a:pt x="3643" y="10355"/>
                  </a:lnTo>
                  <a:cubicBezTo>
                    <a:pt x="3643" y="9788"/>
                    <a:pt x="3850" y="9737"/>
                    <a:pt x="4417" y="9737"/>
                  </a:cubicBezTo>
                  <a:lnTo>
                    <a:pt x="6891" y="9737"/>
                  </a:lnTo>
                  <a:cubicBezTo>
                    <a:pt x="7390" y="9737"/>
                    <a:pt x="7665" y="9788"/>
                    <a:pt x="7665" y="10355"/>
                  </a:cubicBezTo>
                  <a:lnTo>
                    <a:pt x="7665" y="10475"/>
                  </a:lnTo>
                  <a:cubicBezTo>
                    <a:pt x="7682" y="10595"/>
                    <a:pt x="7768" y="10613"/>
                    <a:pt x="7802" y="10613"/>
                  </a:cubicBezTo>
                  <a:lnTo>
                    <a:pt x="8266" y="10613"/>
                  </a:lnTo>
                  <a:cubicBezTo>
                    <a:pt x="8266" y="10613"/>
                    <a:pt x="8215" y="9668"/>
                    <a:pt x="8215" y="9049"/>
                  </a:cubicBezTo>
                  <a:cubicBezTo>
                    <a:pt x="8215" y="8534"/>
                    <a:pt x="8266" y="7725"/>
                    <a:pt x="8266" y="7725"/>
                  </a:cubicBezTo>
                  <a:lnTo>
                    <a:pt x="7785" y="7725"/>
                  </a:lnTo>
                  <a:cubicBezTo>
                    <a:pt x="7716" y="7725"/>
                    <a:pt x="7682" y="7760"/>
                    <a:pt x="7665" y="7863"/>
                  </a:cubicBezTo>
                  <a:lnTo>
                    <a:pt x="7665" y="7966"/>
                  </a:lnTo>
                  <a:cubicBezTo>
                    <a:pt x="7665" y="8551"/>
                    <a:pt x="7441" y="8603"/>
                    <a:pt x="6891" y="8603"/>
                  </a:cubicBezTo>
                  <a:moveTo>
                    <a:pt x="5396" y="4148"/>
                  </a:moveTo>
                  <a:cubicBezTo>
                    <a:pt x="7338" y="4148"/>
                    <a:pt x="9023" y="5937"/>
                    <a:pt x="9023" y="9427"/>
                  </a:cubicBezTo>
                  <a:cubicBezTo>
                    <a:pt x="9023" y="12415"/>
                    <a:pt x="7699" y="14218"/>
                    <a:pt x="5963" y="14218"/>
                  </a:cubicBezTo>
                  <a:cubicBezTo>
                    <a:pt x="3936" y="14218"/>
                    <a:pt x="2252" y="12347"/>
                    <a:pt x="2252" y="9118"/>
                  </a:cubicBezTo>
                  <a:cubicBezTo>
                    <a:pt x="2252" y="5610"/>
                    <a:pt x="3936" y="4148"/>
                    <a:pt x="5396" y="4148"/>
                  </a:cubicBezTo>
                  <a:moveTo>
                    <a:pt x="11291" y="9101"/>
                  </a:moveTo>
                  <a:cubicBezTo>
                    <a:pt x="11291" y="5679"/>
                    <a:pt x="8644" y="3444"/>
                    <a:pt x="5603" y="3444"/>
                  </a:cubicBezTo>
                  <a:cubicBezTo>
                    <a:pt x="2337" y="3444"/>
                    <a:pt x="0" y="6040"/>
                    <a:pt x="0" y="9410"/>
                  </a:cubicBezTo>
                  <a:cubicBezTo>
                    <a:pt x="0" y="12810"/>
                    <a:pt x="2492" y="14923"/>
                    <a:pt x="5620" y="14923"/>
                  </a:cubicBezTo>
                  <a:cubicBezTo>
                    <a:pt x="9091" y="14923"/>
                    <a:pt x="11291" y="12535"/>
                    <a:pt x="11291" y="9101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67" name="Paper math native glyph 2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16840" y="15773"/>
                  </a:moveTo>
                  <a:lnTo>
                    <a:pt x="17317" y="13777"/>
                  </a:lnTo>
                  <a:cubicBezTo>
                    <a:pt x="17417" y="13338"/>
                    <a:pt x="17480" y="13049"/>
                    <a:pt x="17480" y="12823"/>
                  </a:cubicBezTo>
                  <a:cubicBezTo>
                    <a:pt x="17480" y="12070"/>
                    <a:pt x="17141" y="11819"/>
                    <a:pt x="16652" y="11819"/>
                  </a:cubicBezTo>
                  <a:cubicBezTo>
                    <a:pt x="16000" y="11819"/>
                    <a:pt x="15460" y="12083"/>
                    <a:pt x="14306" y="13439"/>
                  </a:cubicBezTo>
                  <a:lnTo>
                    <a:pt x="14293" y="13426"/>
                  </a:lnTo>
                  <a:lnTo>
                    <a:pt x="14318" y="13313"/>
                  </a:lnTo>
                  <a:cubicBezTo>
                    <a:pt x="14444" y="12823"/>
                    <a:pt x="14594" y="12334"/>
                    <a:pt x="14594" y="12121"/>
                  </a:cubicBezTo>
                  <a:cubicBezTo>
                    <a:pt x="14594" y="11945"/>
                    <a:pt x="14507" y="11857"/>
                    <a:pt x="14344" y="11857"/>
                  </a:cubicBezTo>
                  <a:cubicBezTo>
                    <a:pt x="13942" y="11857"/>
                    <a:pt x="13352" y="11944"/>
                    <a:pt x="12763" y="12019"/>
                  </a:cubicBezTo>
                  <a:cubicBezTo>
                    <a:pt x="12675" y="12120"/>
                    <a:pt x="12700" y="12258"/>
                    <a:pt x="12775" y="12371"/>
                  </a:cubicBezTo>
                  <a:lnTo>
                    <a:pt x="13277" y="12408"/>
                  </a:lnTo>
                  <a:cubicBezTo>
                    <a:pt x="13428" y="12421"/>
                    <a:pt x="13503" y="12534"/>
                    <a:pt x="13503" y="12660"/>
                  </a:cubicBezTo>
                  <a:cubicBezTo>
                    <a:pt x="13503" y="12773"/>
                    <a:pt x="13465" y="12948"/>
                    <a:pt x="13390" y="13300"/>
                  </a:cubicBezTo>
                  <a:lnTo>
                    <a:pt x="12687" y="16426"/>
                  </a:lnTo>
                  <a:cubicBezTo>
                    <a:pt x="12625" y="16677"/>
                    <a:pt x="12524" y="16991"/>
                    <a:pt x="12524" y="17116"/>
                  </a:cubicBezTo>
                  <a:cubicBezTo>
                    <a:pt x="12524" y="17330"/>
                    <a:pt x="12662" y="17455"/>
                    <a:pt x="13064" y="17455"/>
                  </a:cubicBezTo>
                  <a:cubicBezTo>
                    <a:pt x="13541" y="17455"/>
                    <a:pt x="13528" y="16903"/>
                    <a:pt x="13641" y="16426"/>
                  </a:cubicBezTo>
                  <a:lnTo>
                    <a:pt x="14118" y="14342"/>
                  </a:lnTo>
                  <a:cubicBezTo>
                    <a:pt x="14908" y="13313"/>
                    <a:pt x="15598" y="12572"/>
                    <a:pt x="16050" y="12572"/>
                  </a:cubicBezTo>
                  <a:cubicBezTo>
                    <a:pt x="16313" y="12572"/>
                    <a:pt x="16489" y="12635"/>
                    <a:pt x="16489" y="13024"/>
                  </a:cubicBezTo>
                  <a:cubicBezTo>
                    <a:pt x="16489" y="13200"/>
                    <a:pt x="16426" y="13451"/>
                    <a:pt x="16326" y="13878"/>
                  </a:cubicBezTo>
                  <a:lnTo>
                    <a:pt x="15849" y="15886"/>
                  </a:lnTo>
                  <a:cubicBezTo>
                    <a:pt x="15749" y="16288"/>
                    <a:pt x="15636" y="16803"/>
                    <a:pt x="15636" y="17041"/>
                  </a:cubicBezTo>
                  <a:cubicBezTo>
                    <a:pt x="15636" y="17279"/>
                    <a:pt x="15774" y="17455"/>
                    <a:pt x="16150" y="17455"/>
                  </a:cubicBezTo>
                  <a:cubicBezTo>
                    <a:pt x="16752" y="17455"/>
                    <a:pt x="17354" y="17029"/>
                    <a:pt x="17931" y="16288"/>
                  </a:cubicBezTo>
                  <a:cubicBezTo>
                    <a:pt x="17894" y="16175"/>
                    <a:pt x="17818" y="16075"/>
                    <a:pt x="17643" y="16075"/>
                  </a:cubicBezTo>
                  <a:cubicBezTo>
                    <a:pt x="17317" y="16451"/>
                    <a:pt x="16953" y="16702"/>
                    <a:pt x="16827" y="16702"/>
                  </a:cubicBezTo>
                  <a:cubicBezTo>
                    <a:pt x="16740" y="16702"/>
                    <a:pt x="16702" y="16640"/>
                    <a:pt x="16702" y="16489"/>
                  </a:cubicBezTo>
                  <a:cubicBezTo>
                    <a:pt x="16702" y="16376"/>
                    <a:pt x="16765" y="16100"/>
                    <a:pt x="16840" y="1577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68" name="Paper math native glyph 3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35143" y="14620"/>
                  </a:moveTo>
                  <a:lnTo>
                    <a:pt x="35143" y="13761"/>
                  </a:lnTo>
                  <a:lnTo>
                    <a:pt x="31878" y="13761"/>
                  </a:lnTo>
                  <a:cubicBezTo>
                    <a:pt x="30331" y="13761"/>
                    <a:pt x="28819" y="12487"/>
                    <a:pt x="28612" y="10764"/>
                  </a:cubicBezTo>
                  <a:lnTo>
                    <a:pt x="34851" y="10764"/>
                  </a:lnTo>
                  <a:lnTo>
                    <a:pt x="34851" y="9904"/>
                  </a:lnTo>
                  <a:lnTo>
                    <a:pt x="28612" y="9904"/>
                  </a:lnTo>
                  <a:cubicBezTo>
                    <a:pt x="28802" y="8274"/>
                    <a:pt x="30159" y="6917"/>
                    <a:pt x="31878" y="6917"/>
                  </a:cubicBezTo>
                  <a:lnTo>
                    <a:pt x="35143" y="6917"/>
                  </a:lnTo>
                  <a:lnTo>
                    <a:pt x="35143" y="6058"/>
                  </a:lnTo>
                  <a:lnTo>
                    <a:pt x="31946" y="6058"/>
                  </a:lnTo>
                  <a:cubicBezTo>
                    <a:pt x="29558" y="6058"/>
                    <a:pt x="27719" y="8051"/>
                    <a:pt x="27719" y="10334"/>
                  </a:cubicBezTo>
                  <a:cubicBezTo>
                    <a:pt x="27719" y="12624"/>
                    <a:pt x="29558" y="14620"/>
                    <a:pt x="31946" y="14620"/>
                  </a:cubicBezTo>
                  <a:lnTo>
                    <a:pt x="35143" y="1462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69" name="Paper math native glyph 4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55378" y="14805"/>
                  </a:moveTo>
                  <a:lnTo>
                    <a:pt x="55378" y="13997"/>
                  </a:lnTo>
                  <a:cubicBezTo>
                    <a:pt x="54742" y="13963"/>
                    <a:pt x="54313" y="13809"/>
                    <a:pt x="53883" y="13293"/>
                  </a:cubicBezTo>
                  <a:lnTo>
                    <a:pt x="50738" y="9428"/>
                  </a:lnTo>
                  <a:cubicBezTo>
                    <a:pt x="52302" y="9067"/>
                    <a:pt x="53539" y="8225"/>
                    <a:pt x="53539" y="6488"/>
                  </a:cubicBezTo>
                  <a:cubicBezTo>
                    <a:pt x="53539" y="3996"/>
                    <a:pt x="51133" y="3342"/>
                    <a:pt x="49088" y="3342"/>
                  </a:cubicBezTo>
                  <a:lnTo>
                    <a:pt x="44259" y="3342"/>
                  </a:lnTo>
                  <a:lnTo>
                    <a:pt x="44259" y="4133"/>
                  </a:lnTo>
                  <a:cubicBezTo>
                    <a:pt x="45359" y="4219"/>
                    <a:pt x="45668" y="4185"/>
                    <a:pt x="45668" y="5388"/>
                  </a:cubicBezTo>
                  <a:lnTo>
                    <a:pt x="45668" y="12555"/>
                  </a:lnTo>
                  <a:cubicBezTo>
                    <a:pt x="45668" y="13826"/>
                    <a:pt x="45548" y="13929"/>
                    <a:pt x="44259" y="13997"/>
                  </a:cubicBezTo>
                  <a:lnTo>
                    <a:pt x="44259" y="14805"/>
                  </a:lnTo>
                  <a:lnTo>
                    <a:pt x="49346" y="14805"/>
                  </a:lnTo>
                  <a:lnTo>
                    <a:pt x="49346" y="13997"/>
                  </a:lnTo>
                  <a:cubicBezTo>
                    <a:pt x="48246" y="13946"/>
                    <a:pt x="47868" y="13980"/>
                    <a:pt x="47868" y="12744"/>
                  </a:cubicBezTo>
                  <a:lnTo>
                    <a:pt x="47868" y="9720"/>
                  </a:lnTo>
                  <a:lnTo>
                    <a:pt x="48418" y="9703"/>
                  </a:lnTo>
                  <a:lnTo>
                    <a:pt x="52354" y="14805"/>
                  </a:lnTo>
                  <a:lnTo>
                    <a:pt x="55378" y="14805"/>
                  </a:lnTo>
                  <a:moveTo>
                    <a:pt x="54330" y="14290"/>
                  </a:moveTo>
                  <a:lnTo>
                    <a:pt x="52594" y="14290"/>
                  </a:lnTo>
                  <a:lnTo>
                    <a:pt x="48658" y="9188"/>
                  </a:lnTo>
                  <a:lnTo>
                    <a:pt x="47353" y="9239"/>
                  </a:lnTo>
                  <a:lnTo>
                    <a:pt x="47353" y="12744"/>
                  </a:lnTo>
                  <a:cubicBezTo>
                    <a:pt x="47353" y="13362"/>
                    <a:pt x="47387" y="14015"/>
                    <a:pt x="48040" y="14290"/>
                  </a:cubicBezTo>
                  <a:lnTo>
                    <a:pt x="45496" y="14290"/>
                  </a:lnTo>
                  <a:cubicBezTo>
                    <a:pt x="46115" y="14032"/>
                    <a:pt x="46167" y="13396"/>
                    <a:pt x="46167" y="12795"/>
                  </a:cubicBezTo>
                  <a:lnTo>
                    <a:pt x="46167" y="5388"/>
                  </a:lnTo>
                  <a:cubicBezTo>
                    <a:pt x="46167" y="4769"/>
                    <a:pt x="46149" y="4099"/>
                    <a:pt x="45479" y="3841"/>
                  </a:cubicBezTo>
                  <a:lnTo>
                    <a:pt x="49088" y="3841"/>
                  </a:lnTo>
                  <a:cubicBezTo>
                    <a:pt x="50824" y="3841"/>
                    <a:pt x="53041" y="4322"/>
                    <a:pt x="53041" y="6488"/>
                  </a:cubicBezTo>
                  <a:cubicBezTo>
                    <a:pt x="53041" y="8397"/>
                    <a:pt x="51374" y="8809"/>
                    <a:pt x="49827" y="9102"/>
                  </a:cubicBezTo>
                  <a:lnTo>
                    <a:pt x="53505" y="13620"/>
                  </a:lnTo>
                  <a:cubicBezTo>
                    <a:pt x="53728" y="13894"/>
                    <a:pt x="54003" y="14135"/>
                    <a:pt x="54330" y="14290"/>
                  </a:cubicBezTo>
                  <a:moveTo>
                    <a:pt x="51735" y="6454"/>
                  </a:moveTo>
                  <a:cubicBezTo>
                    <a:pt x="51735" y="4563"/>
                    <a:pt x="50291" y="3944"/>
                    <a:pt x="48641" y="3944"/>
                  </a:cubicBezTo>
                  <a:cubicBezTo>
                    <a:pt x="47988" y="3944"/>
                    <a:pt x="47353" y="3961"/>
                    <a:pt x="47353" y="4786"/>
                  </a:cubicBezTo>
                  <a:lnTo>
                    <a:pt x="47353" y="9119"/>
                  </a:lnTo>
                  <a:cubicBezTo>
                    <a:pt x="49277" y="9102"/>
                    <a:pt x="51735" y="8964"/>
                    <a:pt x="51735" y="6454"/>
                  </a:cubicBezTo>
                  <a:moveTo>
                    <a:pt x="51236" y="6454"/>
                  </a:moveTo>
                  <a:cubicBezTo>
                    <a:pt x="51236" y="8380"/>
                    <a:pt x="49363" y="8586"/>
                    <a:pt x="47868" y="8620"/>
                  </a:cubicBezTo>
                  <a:lnTo>
                    <a:pt x="47868" y="4786"/>
                  </a:lnTo>
                  <a:cubicBezTo>
                    <a:pt x="47868" y="4477"/>
                    <a:pt x="48092" y="4442"/>
                    <a:pt x="48332" y="4442"/>
                  </a:cubicBezTo>
                  <a:cubicBezTo>
                    <a:pt x="49759" y="4442"/>
                    <a:pt x="51236" y="4683"/>
                    <a:pt x="51236" y="645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70" name="Paper math native glyph 5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56246" y="1778"/>
                  </a:moveTo>
                  <a:cubicBezTo>
                    <a:pt x="56246" y="2041"/>
                    <a:pt x="56485" y="2266"/>
                    <a:pt x="56748" y="2266"/>
                  </a:cubicBezTo>
                  <a:cubicBezTo>
                    <a:pt x="56962" y="2266"/>
                    <a:pt x="57338" y="2041"/>
                    <a:pt x="57338" y="1766"/>
                  </a:cubicBezTo>
                  <a:cubicBezTo>
                    <a:pt x="57338" y="1666"/>
                    <a:pt x="57313" y="1591"/>
                    <a:pt x="57288" y="1503"/>
                  </a:cubicBezTo>
                  <a:cubicBezTo>
                    <a:pt x="57263" y="1415"/>
                    <a:pt x="57187" y="1303"/>
                    <a:pt x="57187" y="1203"/>
                  </a:cubicBezTo>
                  <a:cubicBezTo>
                    <a:pt x="57187" y="890"/>
                    <a:pt x="57514" y="439"/>
                    <a:pt x="58429" y="439"/>
                  </a:cubicBezTo>
                  <a:cubicBezTo>
                    <a:pt x="58881" y="439"/>
                    <a:pt x="59521" y="752"/>
                    <a:pt x="59521" y="1954"/>
                  </a:cubicBezTo>
                  <a:cubicBezTo>
                    <a:pt x="59521" y="2757"/>
                    <a:pt x="59232" y="3410"/>
                    <a:pt x="58492" y="4165"/>
                  </a:cubicBezTo>
                  <a:lnTo>
                    <a:pt x="57564" y="5082"/>
                  </a:lnTo>
                  <a:cubicBezTo>
                    <a:pt x="56334" y="6339"/>
                    <a:pt x="56134" y="6942"/>
                    <a:pt x="56134" y="7682"/>
                  </a:cubicBezTo>
                  <a:cubicBezTo>
                    <a:pt x="56134" y="7682"/>
                    <a:pt x="56773" y="7657"/>
                    <a:pt x="57175" y="7657"/>
                  </a:cubicBezTo>
                  <a:lnTo>
                    <a:pt x="59370" y="7657"/>
                  </a:lnTo>
                  <a:cubicBezTo>
                    <a:pt x="59772" y="7657"/>
                    <a:pt x="60349" y="7682"/>
                    <a:pt x="60349" y="7682"/>
                  </a:cubicBezTo>
                  <a:cubicBezTo>
                    <a:pt x="60512" y="7017"/>
                    <a:pt x="60637" y="6075"/>
                    <a:pt x="60650" y="5698"/>
                  </a:cubicBezTo>
                  <a:cubicBezTo>
                    <a:pt x="60575" y="5635"/>
                    <a:pt x="60412" y="5610"/>
                    <a:pt x="60286" y="5635"/>
                  </a:cubicBezTo>
                  <a:cubicBezTo>
                    <a:pt x="60073" y="6527"/>
                    <a:pt x="59860" y="6842"/>
                    <a:pt x="59408" y="6842"/>
                  </a:cubicBezTo>
                  <a:lnTo>
                    <a:pt x="57175" y="6842"/>
                  </a:lnTo>
                  <a:cubicBezTo>
                    <a:pt x="57175" y="6238"/>
                    <a:pt x="58041" y="5384"/>
                    <a:pt x="58103" y="5321"/>
                  </a:cubicBezTo>
                  <a:lnTo>
                    <a:pt x="59370" y="4102"/>
                  </a:lnTo>
                  <a:cubicBezTo>
                    <a:pt x="60085" y="3410"/>
                    <a:pt x="60625" y="2857"/>
                    <a:pt x="60625" y="1904"/>
                  </a:cubicBezTo>
                  <a:cubicBezTo>
                    <a:pt x="60625" y="552"/>
                    <a:pt x="59521" y="0"/>
                    <a:pt x="58505" y="0"/>
                  </a:cubicBezTo>
                  <a:cubicBezTo>
                    <a:pt x="57112" y="0"/>
                    <a:pt x="56246" y="1027"/>
                    <a:pt x="56246" y="177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71" name="Paper math native glyph 6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65530" y="3989"/>
                  </a:moveTo>
                  <a:cubicBezTo>
                    <a:pt x="65116" y="4265"/>
                    <a:pt x="64702" y="4278"/>
                    <a:pt x="64489" y="4278"/>
                  </a:cubicBezTo>
                  <a:cubicBezTo>
                    <a:pt x="63259" y="4278"/>
                    <a:pt x="62983" y="3074"/>
                    <a:pt x="62983" y="2446"/>
                  </a:cubicBezTo>
                  <a:cubicBezTo>
                    <a:pt x="62983" y="1066"/>
                    <a:pt x="63510" y="439"/>
                    <a:pt x="64125" y="439"/>
                  </a:cubicBezTo>
                  <a:cubicBezTo>
                    <a:pt x="64915" y="439"/>
                    <a:pt x="65630" y="866"/>
                    <a:pt x="65630" y="3011"/>
                  </a:cubicBezTo>
                  <a:cubicBezTo>
                    <a:pt x="65630" y="3287"/>
                    <a:pt x="65605" y="3625"/>
                    <a:pt x="65530" y="3989"/>
                  </a:cubicBezTo>
                  <a:moveTo>
                    <a:pt x="65417" y="4441"/>
                  </a:moveTo>
                  <a:cubicBezTo>
                    <a:pt x="65078" y="5583"/>
                    <a:pt x="64276" y="6850"/>
                    <a:pt x="62607" y="7478"/>
                  </a:cubicBezTo>
                  <a:cubicBezTo>
                    <a:pt x="62607" y="7629"/>
                    <a:pt x="62657" y="7742"/>
                    <a:pt x="62758" y="7804"/>
                  </a:cubicBezTo>
                  <a:cubicBezTo>
                    <a:pt x="64025" y="7428"/>
                    <a:pt x="64803" y="6901"/>
                    <a:pt x="65505" y="6085"/>
                  </a:cubicBezTo>
                  <a:cubicBezTo>
                    <a:pt x="66283" y="5181"/>
                    <a:pt x="66672" y="4039"/>
                    <a:pt x="66672" y="3048"/>
                  </a:cubicBezTo>
                  <a:cubicBezTo>
                    <a:pt x="66672" y="502"/>
                    <a:pt x="65229" y="0"/>
                    <a:pt x="64263" y="0"/>
                  </a:cubicBezTo>
                  <a:cubicBezTo>
                    <a:pt x="62619" y="0"/>
                    <a:pt x="61942" y="1593"/>
                    <a:pt x="61942" y="2672"/>
                  </a:cubicBezTo>
                  <a:cubicBezTo>
                    <a:pt x="61942" y="3751"/>
                    <a:pt x="62519" y="4717"/>
                    <a:pt x="64225" y="4717"/>
                  </a:cubicBezTo>
                  <a:cubicBezTo>
                    <a:pt x="64552" y="4717"/>
                    <a:pt x="65041" y="4616"/>
                    <a:pt x="65417" y="4441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72" name="Paper math native glyph 7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74425" y="7218"/>
                  </a:moveTo>
                  <a:lnTo>
                    <a:pt x="71627" y="4433"/>
                  </a:lnTo>
                  <a:lnTo>
                    <a:pt x="74425" y="1635"/>
                  </a:lnTo>
                  <a:lnTo>
                    <a:pt x="73923" y="1134"/>
                  </a:lnTo>
                  <a:lnTo>
                    <a:pt x="71138" y="3931"/>
                  </a:lnTo>
                  <a:lnTo>
                    <a:pt x="68353" y="1134"/>
                  </a:lnTo>
                  <a:lnTo>
                    <a:pt x="67851" y="1635"/>
                  </a:lnTo>
                  <a:lnTo>
                    <a:pt x="70636" y="4433"/>
                  </a:lnTo>
                  <a:lnTo>
                    <a:pt x="67851" y="7218"/>
                  </a:lnTo>
                  <a:lnTo>
                    <a:pt x="68353" y="7720"/>
                  </a:lnTo>
                  <a:lnTo>
                    <a:pt x="71138" y="4922"/>
                  </a:lnTo>
                  <a:lnTo>
                    <a:pt x="73923" y="7720"/>
                  </a:lnTo>
                  <a:lnTo>
                    <a:pt x="74425" y="7218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73" name="Paper math native glyph 8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78740" y="6125"/>
                  </a:moveTo>
                  <a:lnTo>
                    <a:pt x="78740" y="1769"/>
                  </a:lnTo>
                  <a:cubicBezTo>
                    <a:pt x="78740" y="1016"/>
                    <a:pt x="78753" y="251"/>
                    <a:pt x="78778" y="87"/>
                  </a:cubicBezTo>
                  <a:cubicBezTo>
                    <a:pt x="78778" y="25"/>
                    <a:pt x="78753" y="25"/>
                    <a:pt x="78703" y="25"/>
                  </a:cubicBezTo>
                  <a:cubicBezTo>
                    <a:pt x="78013" y="451"/>
                    <a:pt x="77348" y="765"/>
                    <a:pt x="76244" y="1280"/>
                  </a:cubicBezTo>
                  <a:cubicBezTo>
                    <a:pt x="76269" y="1418"/>
                    <a:pt x="76319" y="1543"/>
                    <a:pt x="76432" y="1619"/>
                  </a:cubicBezTo>
                  <a:cubicBezTo>
                    <a:pt x="77009" y="1380"/>
                    <a:pt x="77285" y="1305"/>
                    <a:pt x="77523" y="1305"/>
                  </a:cubicBezTo>
                  <a:cubicBezTo>
                    <a:pt x="77737" y="1305"/>
                    <a:pt x="77774" y="1606"/>
                    <a:pt x="77774" y="2033"/>
                  </a:cubicBezTo>
                  <a:lnTo>
                    <a:pt x="77774" y="6125"/>
                  </a:lnTo>
                  <a:cubicBezTo>
                    <a:pt x="77774" y="7167"/>
                    <a:pt x="77436" y="7230"/>
                    <a:pt x="76558" y="7268"/>
                  </a:cubicBezTo>
                  <a:cubicBezTo>
                    <a:pt x="76482" y="7343"/>
                    <a:pt x="76482" y="7606"/>
                    <a:pt x="76558" y="7682"/>
                  </a:cubicBezTo>
                  <a:cubicBezTo>
                    <a:pt x="77172" y="7669"/>
                    <a:pt x="77624" y="7657"/>
                    <a:pt x="78301" y="7657"/>
                  </a:cubicBezTo>
                  <a:cubicBezTo>
                    <a:pt x="78903" y="7657"/>
                    <a:pt x="79205" y="7669"/>
                    <a:pt x="79832" y="7682"/>
                  </a:cubicBezTo>
                  <a:cubicBezTo>
                    <a:pt x="79907" y="7606"/>
                    <a:pt x="79907" y="7343"/>
                    <a:pt x="79832" y="7268"/>
                  </a:cubicBezTo>
                  <a:cubicBezTo>
                    <a:pt x="78954" y="7230"/>
                    <a:pt x="78740" y="7167"/>
                    <a:pt x="78740" y="6125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74" name="Paper math native glyph 9"/>
            <p:cNvSpPr/>
            <p:nvPr/>
          </p:nvSpPr>
          <p:spPr>
            <a:xfrm>
              <a:off x="0" y="0"/>
              <a:ext cx="1093845" cy="221679"/>
            </a:xfrm>
            <a:custGeom>
              <a:avLst/>
              <a:gdLst/>
              <a:ahLst/>
              <a:cxnLst/>
              <a:rect l="0" t="0" r="r" b="b"/>
              <a:pathLst>
                <a:path w="86130" h="17455" stroke="0" extrusionOk="0">
                  <a:moveTo>
                    <a:pt x="81726" y="1778"/>
                  </a:moveTo>
                  <a:cubicBezTo>
                    <a:pt x="81726" y="2041"/>
                    <a:pt x="81964" y="2266"/>
                    <a:pt x="82228" y="2266"/>
                  </a:cubicBezTo>
                  <a:cubicBezTo>
                    <a:pt x="82441" y="2266"/>
                    <a:pt x="82818" y="2041"/>
                    <a:pt x="82818" y="1766"/>
                  </a:cubicBezTo>
                  <a:cubicBezTo>
                    <a:pt x="82818" y="1666"/>
                    <a:pt x="82793" y="1591"/>
                    <a:pt x="82767" y="1503"/>
                  </a:cubicBezTo>
                  <a:cubicBezTo>
                    <a:pt x="82742" y="1415"/>
                    <a:pt x="82667" y="1303"/>
                    <a:pt x="82667" y="1203"/>
                  </a:cubicBezTo>
                  <a:cubicBezTo>
                    <a:pt x="82667" y="890"/>
                    <a:pt x="82993" y="439"/>
                    <a:pt x="83909" y="439"/>
                  </a:cubicBezTo>
                  <a:cubicBezTo>
                    <a:pt x="84361" y="439"/>
                    <a:pt x="85000" y="752"/>
                    <a:pt x="85000" y="1954"/>
                  </a:cubicBezTo>
                  <a:cubicBezTo>
                    <a:pt x="85000" y="2757"/>
                    <a:pt x="84712" y="3410"/>
                    <a:pt x="83972" y="4165"/>
                  </a:cubicBezTo>
                  <a:lnTo>
                    <a:pt x="83043" y="5082"/>
                  </a:lnTo>
                  <a:cubicBezTo>
                    <a:pt x="81814" y="6339"/>
                    <a:pt x="81613" y="6942"/>
                    <a:pt x="81613" y="7682"/>
                  </a:cubicBezTo>
                  <a:cubicBezTo>
                    <a:pt x="81613" y="7682"/>
                    <a:pt x="82253" y="7657"/>
                    <a:pt x="82655" y="7657"/>
                  </a:cubicBezTo>
                  <a:lnTo>
                    <a:pt x="84850" y="7657"/>
                  </a:lnTo>
                  <a:cubicBezTo>
                    <a:pt x="85251" y="7657"/>
                    <a:pt x="85829" y="7682"/>
                    <a:pt x="85829" y="7682"/>
                  </a:cubicBezTo>
                  <a:cubicBezTo>
                    <a:pt x="85991" y="7017"/>
                    <a:pt x="86117" y="6075"/>
                    <a:pt x="86130" y="5698"/>
                  </a:cubicBezTo>
                  <a:cubicBezTo>
                    <a:pt x="86054" y="5635"/>
                    <a:pt x="85891" y="5610"/>
                    <a:pt x="85766" y="5635"/>
                  </a:cubicBezTo>
                  <a:cubicBezTo>
                    <a:pt x="85553" y="6527"/>
                    <a:pt x="85339" y="6842"/>
                    <a:pt x="84888" y="6842"/>
                  </a:cubicBezTo>
                  <a:lnTo>
                    <a:pt x="82655" y="6842"/>
                  </a:lnTo>
                  <a:cubicBezTo>
                    <a:pt x="82655" y="6238"/>
                    <a:pt x="83520" y="5384"/>
                    <a:pt x="83583" y="5321"/>
                  </a:cubicBezTo>
                  <a:lnTo>
                    <a:pt x="84850" y="4102"/>
                  </a:lnTo>
                  <a:cubicBezTo>
                    <a:pt x="85565" y="3410"/>
                    <a:pt x="86104" y="2857"/>
                    <a:pt x="86104" y="1904"/>
                  </a:cubicBezTo>
                  <a:cubicBezTo>
                    <a:pt x="86104" y="552"/>
                    <a:pt x="85000" y="0"/>
                    <a:pt x="83984" y="0"/>
                  </a:cubicBezTo>
                  <a:cubicBezTo>
                    <a:pt x="82592" y="0"/>
                    <a:pt x="81726" y="1027"/>
                    <a:pt x="81726" y="177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675" name="Formula · \widehat{\mathbf{y}}_{t,n}=\widehat{\mathbf{y}}^{\mathrm{base}}_{t,n}+s\,\boldsymbol{\Theta}_n^{\top}\mathbf{z}_{t,n}" descr="Editable LaTeX source: $\widehat{\mathbf{y}}_{t,n}=\widehat{\mathbf{y}}^{\mathrm{base}}_{t,n}+s\,\boldsymbol{\Theta}_n^{\top}\mathbf{z}_{t,n}$; native vector glyphs."/>
          <p:cNvGrpSpPr/>
          <p:nvPr/>
        </p:nvGrpSpPr>
        <p:grpSpPr>
          <a:xfrm>
            <a:off x="13249275" y="3133725"/>
            <a:ext cx="2230858" cy="336557"/>
            <a:chOff x="0" y="0"/>
            <a:chExt cx="2230858" cy="336557"/>
          </a:xfrm>
        </p:grpSpPr>
        <p:sp>
          <p:nvSpPr>
            <p:cNvPr id="1676" name="Paper math native glyph 1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1716" y="6836"/>
                  </a:moveTo>
                  <a:lnTo>
                    <a:pt x="11716" y="5916"/>
                  </a:lnTo>
                  <a:lnTo>
                    <a:pt x="5837" y="3573"/>
                  </a:lnTo>
                  <a:lnTo>
                    <a:pt x="0" y="5916"/>
                  </a:lnTo>
                  <a:lnTo>
                    <a:pt x="0" y="6836"/>
                  </a:lnTo>
                  <a:lnTo>
                    <a:pt x="5858" y="4995"/>
                  </a:lnTo>
                  <a:lnTo>
                    <a:pt x="11716" y="683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77" name="Paper math native glyph 2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9321" y="12180"/>
                  </a:moveTo>
                  <a:cubicBezTo>
                    <a:pt x="9676" y="11301"/>
                    <a:pt x="10283" y="10904"/>
                    <a:pt x="10890" y="10904"/>
                  </a:cubicBezTo>
                  <a:cubicBezTo>
                    <a:pt x="11015" y="10904"/>
                    <a:pt x="11120" y="10820"/>
                    <a:pt x="11120" y="10716"/>
                  </a:cubicBezTo>
                  <a:lnTo>
                    <a:pt x="11120" y="10234"/>
                  </a:lnTo>
                  <a:lnTo>
                    <a:pt x="11078" y="10192"/>
                  </a:lnTo>
                  <a:cubicBezTo>
                    <a:pt x="11078" y="10192"/>
                    <a:pt x="10262" y="10234"/>
                    <a:pt x="9739" y="10234"/>
                  </a:cubicBezTo>
                  <a:cubicBezTo>
                    <a:pt x="8818" y="10234"/>
                    <a:pt x="7396" y="10192"/>
                    <a:pt x="7396" y="10192"/>
                  </a:cubicBezTo>
                  <a:lnTo>
                    <a:pt x="7312" y="10255"/>
                  </a:lnTo>
                  <a:lnTo>
                    <a:pt x="7312" y="10757"/>
                  </a:lnTo>
                  <a:cubicBezTo>
                    <a:pt x="7312" y="10820"/>
                    <a:pt x="7375" y="10904"/>
                    <a:pt x="7479" y="10904"/>
                  </a:cubicBezTo>
                  <a:cubicBezTo>
                    <a:pt x="8128" y="10904"/>
                    <a:pt x="8567" y="11134"/>
                    <a:pt x="8316" y="11887"/>
                  </a:cubicBezTo>
                  <a:cubicBezTo>
                    <a:pt x="7940" y="13101"/>
                    <a:pt x="7103" y="15381"/>
                    <a:pt x="6391" y="17117"/>
                  </a:cubicBezTo>
                  <a:lnTo>
                    <a:pt x="4446" y="11845"/>
                  </a:lnTo>
                  <a:cubicBezTo>
                    <a:pt x="4216" y="11197"/>
                    <a:pt x="4383" y="10904"/>
                    <a:pt x="5220" y="10904"/>
                  </a:cubicBezTo>
                  <a:cubicBezTo>
                    <a:pt x="5262" y="10904"/>
                    <a:pt x="5387" y="10883"/>
                    <a:pt x="5387" y="10736"/>
                  </a:cubicBezTo>
                  <a:lnTo>
                    <a:pt x="5387" y="10234"/>
                  </a:lnTo>
                  <a:lnTo>
                    <a:pt x="5304" y="10192"/>
                  </a:lnTo>
                  <a:cubicBezTo>
                    <a:pt x="5304" y="10192"/>
                    <a:pt x="3755" y="10234"/>
                    <a:pt x="2772" y="10234"/>
                  </a:cubicBezTo>
                  <a:cubicBezTo>
                    <a:pt x="1914" y="10234"/>
                    <a:pt x="554" y="10192"/>
                    <a:pt x="554" y="10192"/>
                  </a:cubicBezTo>
                  <a:lnTo>
                    <a:pt x="492" y="10234"/>
                  </a:lnTo>
                  <a:lnTo>
                    <a:pt x="492" y="10757"/>
                  </a:lnTo>
                  <a:cubicBezTo>
                    <a:pt x="492" y="10862"/>
                    <a:pt x="575" y="10904"/>
                    <a:pt x="701" y="10904"/>
                  </a:cubicBezTo>
                  <a:cubicBezTo>
                    <a:pt x="1538" y="10904"/>
                    <a:pt x="1789" y="11238"/>
                    <a:pt x="2207" y="12285"/>
                  </a:cubicBezTo>
                  <a:lnTo>
                    <a:pt x="5157" y="19565"/>
                  </a:lnTo>
                  <a:lnTo>
                    <a:pt x="4781" y="20590"/>
                  </a:lnTo>
                  <a:cubicBezTo>
                    <a:pt x="4174" y="22201"/>
                    <a:pt x="3630" y="22808"/>
                    <a:pt x="3484" y="22808"/>
                  </a:cubicBezTo>
                  <a:cubicBezTo>
                    <a:pt x="3337" y="22808"/>
                    <a:pt x="3212" y="22640"/>
                    <a:pt x="3086" y="22452"/>
                  </a:cubicBezTo>
                  <a:cubicBezTo>
                    <a:pt x="2940" y="22243"/>
                    <a:pt x="2542" y="21950"/>
                    <a:pt x="2207" y="21950"/>
                  </a:cubicBezTo>
                  <a:cubicBezTo>
                    <a:pt x="1600" y="21950"/>
                    <a:pt x="973" y="22326"/>
                    <a:pt x="973" y="23038"/>
                  </a:cubicBezTo>
                  <a:cubicBezTo>
                    <a:pt x="973" y="23896"/>
                    <a:pt x="2124" y="24167"/>
                    <a:pt x="2563" y="24167"/>
                  </a:cubicBezTo>
                  <a:cubicBezTo>
                    <a:pt x="4237" y="24167"/>
                    <a:pt x="5136" y="22556"/>
                    <a:pt x="5848" y="20799"/>
                  </a:cubicBezTo>
                  <a:lnTo>
                    <a:pt x="9321" y="1218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78" name="Paper math native glyph 3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3740" y="15882"/>
                  </a:moveTo>
                  <a:lnTo>
                    <a:pt x="12930" y="15927"/>
                  </a:lnTo>
                  <a:cubicBezTo>
                    <a:pt x="12640" y="15943"/>
                    <a:pt x="12533" y="16065"/>
                    <a:pt x="12503" y="16187"/>
                  </a:cubicBezTo>
                  <a:cubicBezTo>
                    <a:pt x="12487" y="16233"/>
                    <a:pt x="12442" y="16416"/>
                    <a:pt x="12442" y="16446"/>
                  </a:cubicBezTo>
                  <a:cubicBezTo>
                    <a:pt x="12442" y="16477"/>
                    <a:pt x="12487" y="16477"/>
                    <a:pt x="12533" y="16477"/>
                  </a:cubicBezTo>
                  <a:lnTo>
                    <a:pt x="13602" y="16477"/>
                  </a:lnTo>
                  <a:lnTo>
                    <a:pt x="12671" y="20636"/>
                  </a:lnTo>
                  <a:cubicBezTo>
                    <a:pt x="12564" y="21125"/>
                    <a:pt x="12457" y="21599"/>
                    <a:pt x="12457" y="21890"/>
                  </a:cubicBezTo>
                  <a:cubicBezTo>
                    <a:pt x="12457" y="22439"/>
                    <a:pt x="12732" y="22592"/>
                    <a:pt x="13205" y="22592"/>
                  </a:cubicBezTo>
                  <a:cubicBezTo>
                    <a:pt x="13893" y="22592"/>
                    <a:pt x="14901" y="21966"/>
                    <a:pt x="15420" y="21018"/>
                  </a:cubicBezTo>
                  <a:cubicBezTo>
                    <a:pt x="15374" y="20819"/>
                    <a:pt x="15267" y="20728"/>
                    <a:pt x="15084" y="20728"/>
                  </a:cubicBezTo>
                  <a:cubicBezTo>
                    <a:pt x="14381" y="21523"/>
                    <a:pt x="14106" y="21676"/>
                    <a:pt x="13862" y="21676"/>
                  </a:cubicBezTo>
                  <a:cubicBezTo>
                    <a:pt x="13816" y="21676"/>
                    <a:pt x="13664" y="21645"/>
                    <a:pt x="13664" y="21462"/>
                  </a:cubicBezTo>
                  <a:cubicBezTo>
                    <a:pt x="13664" y="21324"/>
                    <a:pt x="13709" y="21018"/>
                    <a:pt x="13831" y="20498"/>
                  </a:cubicBezTo>
                  <a:lnTo>
                    <a:pt x="14733" y="16477"/>
                  </a:lnTo>
                  <a:lnTo>
                    <a:pt x="16229" y="16477"/>
                  </a:lnTo>
                  <a:cubicBezTo>
                    <a:pt x="16413" y="16401"/>
                    <a:pt x="16550" y="16004"/>
                    <a:pt x="16382" y="15882"/>
                  </a:cubicBezTo>
                  <a:lnTo>
                    <a:pt x="14870" y="15882"/>
                  </a:lnTo>
                  <a:lnTo>
                    <a:pt x="15023" y="15194"/>
                  </a:lnTo>
                  <a:cubicBezTo>
                    <a:pt x="15084" y="14904"/>
                    <a:pt x="15221" y="14461"/>
                    <a:pt x="15221" y="14278"/>
                  </a:cubicBezTo>
                  <a:cubicBezTo>
                    <a:pt x="15221" y="14018"/>
                    <a:pt x="15099" y="13865"/>
                    <a:pt x="14610" y="13865"/>
                  </a:cubicBezTo>
                  <a:cubicBezTo>
                    <a:pt x="14060" y="13865"/>
                    <a:pt x="14091" y="14553"/>
                    <a:pt x="13938" y="15118"/>
                  </a:cubicBezTo>
                  <a:lnTo>
                    <a:pt x="13740" y="1588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79" name="Paper math native glyph 4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8169" y="20993"/>
                  </a:moveTo>
                  <a:cubicBezTo>
                    <a:pt x="17696" y="20993"/>
                    <a:pt x="17359" y="21313"/>
                    <a:pt x="17359" y="21741"/>
                  </a:cubicBezTo>
                  <a:cubicBezTo>
                    <a:pt x="17359" y="22230"/>
                    <a:pt x="17757" y="22367"/>
                    <a:pt x="18031" y="22413"/>
                  </a:cubicBezTo>
                  <a:cubicBezTo>
                    <a:pt x="18322" y="22444"/>
                    <a:pt x="18581" y="22535"/>
                    <a:pt x="18581" y="22886"/>
                  </a:cubicBezTo>
                  <a:cubicBezTo>
                    <a:pt x="18581" y="23206"/>
                    <a:pt x="18031" y="23907"/>
                    <a:pt x="17237" y="24105"/>
                  </a:cubicBezTo>
                  <a:cubicBezTo>
                    <a:pt x="17237" y="24258"/>
                    <a:pt x="17268" y="24364"/>
                    <a:pt x="17375" y="24471"/>
                  </a:cubicBezTo>
                  <a:cubicBezTo>
                    <a:pt x="18291" y="24303"/>
                    <a:pt x="19177" y="23571"/>
                    <a:pt x="19177" y="22505"/>
                  </a:cubicBezTo>
                  <a:cubicBezTo>
                    <a:pt x="19177" y="21588"/>
                    <a:pt x="18780" y="20993"/>
                    <a:pt x="18169" y="2099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0" name="Paper math native glyph 5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26095" y="20545"/>
                  </a:moveTo>
                  <a:lnTo>
                    <a:pt x="26676" y="18115"/>
                  </a:lnTo>
                  <a:cubicBezTo>
                    <a:pt x="26798" y="17580"/>
                    <a:pt x="26874" y="17228"/>
                    <a:pt x="26874" y="16953"/>
                  </a:cubicBezTo>
                  <a:cubicBezTo>
                    <a:pt x="26874" y="16037"/>
                    <a:pt x="26462" y="15731"/>
                    <a:pt x="25866" y="15731"/>
                  </a:cubicBezTo>
                  <a:cubicBezTo>
                    <a:pt x="25072" y="15731"/>
                    <a:pt x="24415" y="16052"/>
                    <a:pt x="23010" y="17702"/>
                  </a:cubicBezTo>
                  <a:lnTo>
                    <a:pt x="22995" y="17687"/>
                  </a:lnTo>
                  <a:lnTo>
                    <a:pt x="23026" y="17549"/>
                  </a:lnTo>
                  <a:cubicBezTo>
                    <a:pt x="23178" y="16953"/>
                    <a:pt x="23362" y="16357"/>
                    <a:pt x="23362" y="16098"/>
                  </a:cubicBezTo>
                  <a:cubicBezTo>
                    <a:pt x="23362" y="15884"/>
                    <a:pt x="23255" y="15777"/>
                    <a:pt x="23056" y="15777"/>
                  </a:cubicBezTo>
                  <a:cubicBezTo>
                    <a:pt x="22567" y="15776"/>
                    <a:pt x="21850" y="15883"/>
                    <a:pt x="21132" y="15975"/>
                  </a:cubicBezTo>
                  <a:cubicBezTo>
                    <a:pt x="21025" y="16097"/>
                    <a:pt x="21055" y="16265"/>
                    <a:pt x="21147" y="16402"/>
                  </a:cubicBezTo>
                  <a:lnTo>
                    <a:pt x="21758" y="16448"/>
                  </a:lnTo>
                  <a:cubicBezTo>
                    <a:pt x="21941" y="16464"/>
                    <a:pt x="22033" y="16601"/>
                    <a:pt x="22033" y="16754"/>
                  </a:cubicBezTo>
                  <a:cubicBezTo>
                    <a:pt x="22033" y="16892"/>
                    <a:pt x="21987" y="17106"/>
                    <a:pt x="21895" y="17534"/>
                  </a:cubicBezTo>
                  <a:lnTo>
                    <a:pt x="21040" y="21339"/>
                  </a:lnTo>
                  <a:cubicBezTo>
                    <a:pt x="20964" y="21645"/>
                    <a:pt x="20842" y="22027"/>
                    <a:pt x="20842" y="22180"/>
                  </a:cubicBezTo>
                  <a:cubicBezTo>
                    <a:pt x="20842" y="22439"/>
                    <a:pt x="21010" y="22592"/>
                    <a:pt x="21498" y="22592"/>
                  </a:cubicBezTo>
                  <a:cubicBezTo>
                    <a:pt x="22079" y="22592"/>
                    <a:pt x="22063" y="21920"/>
                    <a:pt x="22201" y="21339"/>
                  </a:cubicBezTo>
                  <a:lnTo>
                    <a:pt x="22781" y="18802"/>
                  </a:lnTo>
                  <a:cubicBezTo>
                    <a:pt x="23743" y="17549"/>
                    <a:pt x="24583" y="16648"/>
                    <a:pt x="25133" y="16648"/>
                  </a:cubicBezTo>
                  <a:cubicBezTo>
                    <a:pt x="25454" y="16648"/>
                    <a:pt x="25668" y="16724"/>
                    <a:pt x="25668" y="17198"/>
                  </a:cubicBezTo>
                  <a:cubicBezTo>
                    <a:pt x="25668" y="17412"/>
                    <a:pt x="25591" y="17717"/>
                    <a:pt x="25469" y="18237"/>
                  </a:cubicBezTo>
                  <a:lnTo>
                    <a:pt x="24889" y="20682"/>
                  </a:lnTo>
                  <a:cubicBezTo>
                    <a:pt x="24767" y="21171"/>
                    <a:pt x="24629" y="21798"/>
                    <a:pt x="24629" y="22088"/>
                  </a:cubicBezTo>
                  <a:cubicBezTo>
                    <a:pt x="24629" y="22378"/>
                    <a:pt x="24797" y="22592"/>
                    <a:pt x="25255" y="22592"/>
                  </a:cubicBezTo>
                  <a:cubicBezTo>
                    <a:pt x="25989" y="22592"/>
                    <a:pt x="26722" y="22073"/>
                    <a:pt x="27424" y="21171"/>
                  </a:cubicBezTo>
                  <a:cubicBezTo>
                    <a:pt x="27378" y="21034"/>
                    <a:pt x="27287" y="20911"/>
                    <a:pt x="27073" y="20911"/>
                  </a:cubicBezTo>
                  <a:cubicBezTo>
                    <a:pt x="26676" y="21370"/>
                    <a:pt x="26233" y="21676"/>
                    <a:pt x="26080" y="21676"/>
                  </a:cubicBezTo>
                  <a:cubicBezTo>
                    <a:pt x="25973" y="21676"/>
                    <a:pt x="25927" y="21599"/>
                    <a:pt x="25927" y="21416"/>
                  </a:cubicBezTo>
                  <a:cubicBezTo>
                    <a:pt x="25927" y="21278"/>
                    <a:pt x="26004" y="20942"/>
                    <a:pt x="26095" y="20545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1" name="Paper math native glyph 6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45786" y="12399"/>
                  </a:moveTo>
                  <a:lnTo>
                    <a:pt x="45786" y="11227"/>
                  </a:lnTo>
                  <a:lnTo>
                    <a:pt x="35075" y="11227"/>
                  </a:lnTo>
                  <a:lnTo>
                    <a:pt x="35075" y="12399"/>
                  </a:lnTo>
                  <a:lnTo>
                    <a:pt x="45786" y="12399"/>
                  </a:lnTo>
                  <a:moveTo>
                    <a:pt x="45786" y="16649"/>
                  </a:moveTo>
                  <a:lnTo>
                    <a:pt x="45786" y="15477"/>
                  </a:lnTo>
                  <a:lnTo>
                    <a:pt x="35075" y="15477"/>
                  </a:lnTo>
                  <a:lnTo>
                    <a:pt x="35075" y="16649"/>
                  </a:lnTo>
                  <a:lnTo>
                    <a:pt x="45786" y="16649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2" name="Paper math native glyph 7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63868" y="6836"/>
                  </a:moveTo>
                  <a:lnTo>
                    <a:pt x="63868" y="5916"/>
                  </a:lnTo>
                  <a:lnTo>
                    <a:pt x="57989" y="3573"/>
                  </a:lnTo>
                  <a:lnTo>
                    <a:pt x="52152" y="5916"/>
                  </a:lnTo>
                  <a:lnTo>
                    <a:pt x="52152" y="6836"/>
                  </a:lnTo>
                  <a:lnTo>
                    <a:pt x="58010" y="4995"/>
                  </a:lnTo>
                  <a:lnTo>
                    <a:pt x="63868" y="683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3" name="Paper math native glyph 8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61473" y="12180"/>
                  </a:moveTo>
                  <a:cubicBezTo>
                    <a:pt x="61828" y="11301"/>
                    <a:pt x="62435" y="10904"/>
                    <a:pt x="63042" y="10904"/>
                  </a:cubicBezTo>
                  <a:cubicBezTo>
                    <a:pt x="63168" y="10904"/>
                    <a:pt x="63272" y="10820"/>
                    <a:pt x="63272" y="10716"/>
                  </a:cubicBezTo>
                  <a:lnTo>
                    <a:pt x="63272" y="10234"/>
                  </a:lnTo>
                  <a:lnTo>
                    <a:pt x="63230" y="10192"/>
                  </a:lnTo>
                  <a:cubicBezTo>
                    <a:pt x="63230" y="10192"/>
                    <a:pt x="62414" y="10234"/>
                    <a:pt x="61891" y="10234"/>
                  </a:cubicBezTo>
                  <a:cubicBezTo>
                    <a:pt x="60971" y="10234"/>
                    <a:pt x="59548" y="10192"/>
                    <a:pt x="59548" y="10192"/>
                  </a:cubicBezTo>
                  <a:lnTo>
                    <a:pt x="59464" y="10255"/>
                  </a:lnTo>
                  <a:lnTo>
                    <a:pt x="59464" y="10757"/>
                  </a:lnTo>
                  <a:cubicBezTo>
                    <a:pt x="59464" y="10820"/>
                    <a:pt x="59527" y="10904"/>
                    <a:pt x="59632" y="10904"/>
                  </a:cubicBezTo>
                  <a:cubicBezTo>
                    <a:pt x="60280" y="10904"/>
                    <a:pt x="60720" y="11134"/>
                    <a:pt x="60468" y="11887"/>
                  </a:cubicBezTo>
                  <a:cubicBezTo>
                    <a:pt x="60092" y="13101"/>
                    <a:pt x="59255" y="15381"/>
                    <a:pt x="58544" y="17117"/>
                  </a:cubicBezTo>
                  <a:lnTo>
                    <a:pt x="56598" y="11845"/>
                  </a:lnTo>
                  <a:cubicBezTo>
                    <a:pt x="56368" y="11197"/>
                    <a:pt x="56535" y="10904"/>
                    <a:pt x="57372" y="10904"/>
                  </a:cubicBezTo>
                  <a:cubicBezTo>
                    <a:pt x="57414" y="10904"/>
                    <a:pt x="57539" y="10883"/>
                    <a:pt x="57539" y="10736"/>
                  </a:cubicBezTo>
                  <a:lnTo>
                    <a:pt x="57539" y="10234"/>
                  </a:lnTo>
                  <a:lnTo>
                    <a:pt x="57456" y="10192"/>
                  </a:lnTo>
                  <a:cubicBezTo>
                    <a:pt x="57456" y="10192"/>
                    <a:pt x="55908" y="10234"/>
                    <a:pt x="54924" y="10234"/>
                  </a:cubicBezTo>
                  <a:cubicBezTo>
                    <a:pt x="54066" y="10234"/>
                    <a:pt x="52707" y="10192"/>
                    <a:pt x="52707" y="10192"/>
                  </a:cubicBezTo>
                  <a:lnTo>
                    <a:pt x="52644" y="10234"/>
                  </a:lnTo>
                  <a:lnTo>
                    <a:pt x="52644" y="10757"/>
                  </a:lnTo>
                  <a:cubicBezTo>
                    <a:pt x="52644" y="10862"/>
                    <a:pt x="52728" y="10904"/>
                    <a:pt x="52853" y="10904"/>
                  </a:cubicBezTo>
                  <a:cubicBezTo>
                    <a:pt x="53690" y="10904"/>
                    <a:pt x="53941" y="11238"/>
                    <a:pt x="54360" y="12285"/>
                  </a:cubicBezTo>
                  <a:lnTo>
                    <a:pt x="57309" y="19565"/>
                  </a:lnTo>
                  <a:lnTo>
                    <a:pt x="56933" y="20590"/>
                  </a:lnTo>
                  <a:cubicBezTo>
                    <a:pt x="56326" y="22201"/>
                    <a:pt x="55782" y="22808"/>
                    <a:pt x="55636" y="22808"/>
                  </a:cubicBezTo>
                  <a:cubicBezTo>
                    <a:pt x="55489" y="22808"/>
                    <a:pt x="55364" y="22640"/>
                    <a:pt x="55238" y="22452"/>
                  </a:cubicBezTo>
                  <a:cubicBezTo>
                    <a:pt x="55092" y="22243"/>
                    <a:pt x="54694" y="21950"/>
                    <a:pt x="54360" y="21950"/>
                  </a:cubicBezTo>
                  <a:cubicBezTo>
                    <a:pt x="53753" y="21950"/>
                    <a:pt x="53125" y="22326"/>
                    <a:pt x="53125" y="23038"/>
                  </a:cubicBezTo>
                  <a:cubicBezTo>
                    <a:pt x="53125" y="23896"/>
                    <a:pt x="54276" y="24167"/>
                    <a:pt x="54715" y="24167"/>
                  </a:cubicBezTo>
                  <a:cubicBezTo>
                    <a:pt x="56389" y="24167"/>
                    <a:pt x="57289" y="22556"/>
                    <a:pt x="58000" y="20799"/>
                  </a:cubicBezTo>
                  <a:lnTo>
                    <a:pt x="61473" y="1218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4" name="Paper math native glyph 9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66243" y="5114"/>
                  </a:moveTo>
                  <a:cubicBezTo>
                    <a:pt x="66641" y="4762"/>
                    <a:pt x="67099" y="4624"/>
                    <a:pt x="67541" y="4624"/>
                  </a:cubicBezTo>
                  <a:cubicBezTo>
                    <a:pt x="68473" y="4624"/>
                    <a:pt x="69237" y="5755"/>
                    <a:pt x="69237" y="7238"/>
                  </a:cubicBezTo>
                  <a:cubicBezTo>
                    <a:pt x="69237" y="8980"/>
                    <a:pt x="68534" y="10294"/>
                    <a:pt x="67083" y="10294"/>
                  </a:cubicBezTo>
                  <a:cubicBezTo>
                    <a:pt x="66610" y="10294"/>
                    <a:pt x="66289" y="9958"/>
                    <a:pt x="65984" y="9576"/>
                  </a:cubicBezTo>
                  <a:lnTo>
                    <a:pt x="65984" y="5755"/>
                  </a:lnTo>
                  <a:cubicBezTo>
                    <a:pt x="65984" y="5435"/>
                    <a:pt x="66045" y="5282"/>
                    <a:pt x="66243" y="5114"/>
                  </a:cubicBezTo>
                  <a:moveTo>
                    <a:pt x="66136" y="4640"/>
                  </a:moveTo>
                  <a:cubicBezTo>
                    <a:pt x="66045" y="4731"/>
                    <a:pt x="65984" y="4701"/>
                    <a:pt x="65984" y="4563"/>
                  </a:cubicBezTo>
                  <a:lnTo>
                    <a:pt x="65984" y="1752"/>
                  </a:lnTo>
                  <a:cubicBezTo>
                    <a:pt x="65984" y="758"/>
                    <a:pt x="66045" y="151"/>
                    <a:pt x="66045" y="151"/>
                  </a:cubicBezTo>
                  <a:cubicBezTo>
                    <a:pt x="66045" y="45"/>
                    <a:pt x="65984" y="0"/>
                    <a:pt x="65846" y="0"/>
                  </a:cubicBezTo>
                  <a:cubicBezTo>
                    <a:pt x="65464" y="151"/>
                    <a:pt x="64319" y="362"/>
                    <a:pt x="63708" y="407"/>
                  </a:cubicBezTo>
                  <a:cubicBezTo>
                    <a:pt x="63678" y="529"/>
                    <a:pt x="63708" y="773"/>
                    <a:pt x="63800" y="865"/>
                  </a:cubicBezTo>
                  <a:cubicBezTo>
                    <a:pt x="64594" y="911"/>
                    <a:pt x="64777" y="835"/>
                    <a:pt x="64777" y="2118"/>
                  </a:cubicBezTo>
                  <a:lnTo>
                    <a:pt x="64777" y="9576"/>
                  </a:lnTo>
                  <a:cubicBezTo>
                    <a:pt x="64777" y="10172"/>
                    <a:pt x="64762" y="10447"/>
                    <a:pt x="64716" y="10661"/>
                  </a:cubicBezTo>
                  <a:cubicBezTo>
                    <a:pt x="64792" y="10783"/>
                    <a:pt x="64869" y="10844"/>
                    <a:pt x="65052" y="10844"/>
                  </a:cubicBezTo>
                  <a:cubicBezTo>
                    <a:pt x="65144" y="10752"/>
                    <a:pt x="65297" y="10615"/>
                    <a:pt x="65419" y="10477"/>
                  </a:cubicBezTo>
                  <a:cubicBezTo>
                    <a:pt x="65571" y="10294"/>
                    <a:pt x="65663" y="10294"/>
                    <a:pt x="65831" y="10431"/>
                  </a:cubicBezTo>
                  <a:cubicBezTo>
                    <a:pt x="66182" y="10722"/>
                    <a:pt x="66641" y="10813"/>
                    <a:pt x="67175" y="10813"/>
                  </a:cubicBezTo>
                  <a:cubicBezTo>
                    <a:pt x="68733" y="10813"/>
                    <a:pt x="70550" y="9392"/>
                    <a:pt x="70550" y="6963"/>
                  </a:cubicBezTo>
                  <a:cubicBezTo>
                    <a:pt x="70550" y="5098"/>
                    <a:pt x="69176" y="3952"/>
                    <a:pt x="67847" y="3952"/>
                  </a:cubicBezTo>
                  <a:cubicBezTo>
                    <a:pt x="67190" y="3952"/>
                    <a:pt x="66610" y="4212"/>
                    <a:pt x="66136" y="464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5" name="Paper math native glyph 10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75590" y="7100"/>
                  </a:moveTo>
                  <a:lnTo>
                    <a:pt x="75590" y="9117"/>
                  </a:lnTo>
                  <a:cubicBezTo>
                    <a:pt x="75590" y="9316"/>
                    <a:pt x="75498" y="9423"/>
                    <a:pt x="75376" y="9515"/>
                  </a:cubicBezTo>
                  <a:cubicBezTo>
                    <a:pt x="74979" y="9836"/>
                    <a:pt x="74460" y="10187"/>
                    <a:pt x="74032" y="10187"/>
                  </a:cubicBezTo>
                  <a:cubicBezTo>
                    <a:pt x="73269" y="10187"/>
                    <a:pt x="72933" y="9576"/>
                    <a:pt x="72933" y="9102"/>
                  </a:cubicBezTo>
                  <a:cubicBezTo>
                    <a:pt x="72933" y="8414"/>
                    <a:pt x="73254" y="7711"/>
                    <a:pt x="74384" y="7421"/>
                  </a:cubicBezTo>
                  <a:lnTo>
                    <a:pt x="75590" y="7100"/>
                  </a:lnTo>
                  <a:moveTo>
                    <a:pt x="75590" y="9927"/>
                  </a:moveTo>
                  <a:cubicBezTo>
                    <a:pt x="75682" y="10401"/>
                    <a:pt x="75850" y="10813"/>
                    <a:pt x="76614" y="10813"/>
                  </a:cubicBezTo>
                  <a:cubicBezTo>
                    <a:pt x="77194" y="10813"/>
                    <a:pt x="77744" y="10554"/>
                    <a:pt x="78064" y="10248"/>
                  </a:cubicBezTo>
                  <a:cubicBezTo>
                    <a:pt x="78034" y="10065"/>
                    <a:pt x="77973" y="9927"/>
                    <a:pt x="77805" y="9836"/>
                  </a:cubicBezTo>
                  <a:cubicBezTo>
                    <a:pt x="77698" y="9927"/>
                    <a:pt x="77438" y="10080"/>
                    <a:pt x="77240" y="10080"/>
                  </a:cubicBezTo>
                  <a:cubicBezTo>
                    <a:pt x="76797" y="10080"/>
                    <a:pt x="76781" y="9484"/>
                    <a:pt x="76781" y="8781"/>
                  </a:cubicBezTo>
                  <a:lnTo>
                    <a:pt x="76781" y="6535"/>
                  </a:lnTo>
                  <a:cubicBezTo>
                    <a:pt x="76781" y="4365"/>
                    <a:pt x="75590" y="3952"/>
                    <a:pt x="74475" y="3952"/>
                  </a:cubicBezTo>
                  <a:cubicBezTo>
                    <a:pt x="73223" y="3952"/>
                    <a:pt x="71955" y="4777"/>
                    <a:pt x="71955" y="5648"/>
                  </a:cubicBezTo>
                  <a:cubicBezTo>
                    <a:pt x="71955" y="6015"/>
                    <a:pt x="72138" y="6199"/>
                    <a:pt x="72490" y="6199"/>
                  </a:cubicBezTo>
                  <a:cubicBezTo>
                    <a:pt x="72933" y="6199"/>
                    <a:pt x="73208" y="5878"/>
                    <a:pt x="73208" y="5679"/>
                  </a:cubicBezTo>
                  <a:cubicBezTo>
                    <a:pt x="73208" y="5572"/>
                    <a:pt x="73192" y="5465"/>
                    <a:pt x="73162" y="5404"/>
                  </a:cubicBezTo>
                  <a:cubicBezTo>
                    <a:pt x="73147" y="5358"/>
                    <a:pt x="73131" y="5267"/>
                    <a:pt x="73131" y="5098"/>
                  </a:cubicBezTo>
                  <a:cubicBezTo>
                    <a:pt x="73131" y="4624"/>
                    <a:pt x="73773" y="4456"/>
                    <a:pt x="74353" y="4456"/>
                  </a:cubicBezTo>
                  <a:cubicBezTo>
                    <a:pt x="74872" y="4456"/>
                    <a:pt x="75590" y="4716"/>
                    <a:pt x="75590" y="6443"/>
                  </a:cubicBezTo>
                  <a:cubicBezTo>
                    <a:pt x="75590" y="6550"/>
                    <a:pt x="75544" y="6611"/>
                    <a:pt x="75498" y="6627"/>
                  </a:cubicBezTo>
                  <a:lnTo>
                    <a:pt x="74185" y="6947"/>
                  </a:lnTo>
                  <a:cubicBezTo>
                    <a:pt x="72719" y="7314"/>
                    <a:pt x="71665" y="8124"/>
                    <a:pt x="71665" y="9163"/>
                  </a:cubicBezTo>
                  <a:cubicBezTo>
                    <a:pt x="71665" y="10416"/>
                    <a:pt x="72520" y="10813"/>
                    <a:pt x="73589" y="10813"/>
                  </a:cubicBezTo>
                  <a:cubicBezTo>
                    <a:pt x="74124" y="10813"/>
                    <a:pt x="74582" y="10691"/>
                    <a:pt x="75254" y="10172"/>
                  </a:cubicBezTo>
                  <a:lnTo>
                    <a:pt x="75560" y="9927"/>
                  </a:lnTo>
                  <a:lnTo>
                    <a:pt x="75590" y="9927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6" name="Paper math native glyph 11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78828" y="8552"/>
                  </a:moveTo>
                  <a:cubicBezTo>
                    <a:pt x="78889" y="9301"/>
                    <a:pt x="78935" y="10019"/>
                    <a:pt x="78935" y="10661"/>
                  </a:cubicBezTo>
                  <a:cubicBezTo>
                    <a:pt x="79088" y="10630"/>
                    <a:pt x="79240" y="10615"/>
                    <a:pt x="79317" y="10615"/>
                  </a:cubicBezTo>
                  <a:cubicBezTo>
                    <a:pt x="79424" y="10615"/>
                    <a:pt x="79515" y="10615"/>
                    <a:pt x="79622" y="10645"/>
                  </a:cubicBezTo>
                  <a:cubicBezTo>
                    <a:pt x="80035" y="10752"/>
                    <a:pt x="80447" y="10813"/>
                    <a:pt x="81012" y="10813"/>
                  </a:cubicBezTo>
                  <a:cubicBezTo>
                    <a:pt x="81867" y="10813"/>
                    <a:pt x="83440" y="10401"/>
                    <a:pt x="83440" y="8888"/>
                  </a:cubicBezTo>
                  <a:cubicBezTo>
                    <a:pt x="83440" y="7849"/>
                    <a:pt x="82692" y="7238"/>
                    <a:pt x="81653" y="6856"/>
                  </a:cubicBezTo>
                  <a:cubicBezTo>
                    <a:pt x="80737" y="6504"/>
                    <a:pt x="80126" y="6275"/>
                    <a:pt x="80126" y="5435"/>
                  </a:cubicBezTo>
                  <a:cubicBezTo>
                    <a:pt x="80126" y="4808"/>
                    <a:pt x="80676" y="4456"/>
                    <a:pt x="81195" y="4456"/>
                  </a:cubicBezTo>
                  <a:cubicBezTo>
                    <a:pt x="81531" y="4456"/>
                    <a:pt x="82417" y="4579"/>
                    <a:pt x="82616" y="5878"/>
                  </a:cubicBezTo>
                  <a:cubicBezTo>
                    <a:pt x="82707" y="5969"/>
                    <a:pt x="83013" y="5954"/>
                    <a:pt x="83104" y="5862"/>
                  </a:cubicBezTo>
                  <a:cubicBezTo>
                    <a:pt x="83150" y="5312"/>
                    <a:pt x="83181" y="4747"/>
                    <a:pt x="83196" y="4243"/>
                  </a:cubicBezTo>
                  <a:cubicBezTo>
                    <a:pt x="82723" y="4166"/>
                    <a:pt x="81989" y="3952"/>
                    <a:pt x="81195" y="3952"/>
                  </a:cubicBezTo>
                  <a:cubicBezTo>
                    <a:pt x="80065" y="3952"/>
                    <a:pt x="79042" y="4686"/>
                    <a:pt x="79042" y="5664"/>
                  </a:cubicBezTo>
                  <a:cubicBezTo>
                    <a:pt x="79042" y="6779"/>
                    <a:pt x="79546" y="7253"/>
                    <a:pt x="80722" y="7742"/>
                  </a:cubicBezTo>
                  <a:cubicBezTo>
                    <a:pt x="81989" y="8262"/>
                    <a:pt x="82280" y="8582"/>
                    <a:pt x="82280" y="9240"/>
                  </a:cubicBezTo>
                  <a:cubicBezTo>
                    <a:pt x="82280" y="9988"/>
                    <a:pt x="81547" y="10309"/>
                    <a:pt x="80981" y="10309"/>
                  </a:cubicBezTo>
                  <a:cubicBezTo>
                    <a:pt x="80386" y="10309"/>
                    <a:pt x="80050" y="10111"/>
                    <a:pt x="79897" y="9943"/>
                  </a:cubicBezTo>
                  <a:cubicBezTo>
                    <a:pt x="79561" y="9591"/>
                    <a:pt x="79393" y="8919"/>
                    <a:pt x="79301" y="8537"/>
                  </a:cubicBezTo>
                  <a:cubicBezTo>
                    <a:pt x="79210" y="8445"/>
                    <a:pt x="78920" y="8460"/>
                    <a:pt x="78828" y="855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7" name="Paper math native glyph 12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85945" y="6356"/>
                  </a:moveTo>
                  <a:cubicBezTo>
                    <a:pt x="86235" y="4638"/>
                    <a:pt x="87304" y="4501"/>
                    <a:pt x="87671" y="4501"/>
                  </a:cubicBezTo>
                  <a:cubicBezTo>
                    <a:pt x="88251" y="4501"/>
                    <a:pt x="88938" y="4821"/>
                    <a:pt x="88938" y="6098"/>
                  </a:cubicBezTo>
                  <a:cubicBezTo>
                    <a:pt x="88938" y="6235"/>
                    <a:pt x="88877" y="6311"/>
                    <a:pt x="88709" y="6311"/>
                  </a:cubicBezTo>
                  <a:lnTo>
                    <a:pt x="85945" y="6356"/>
                  </a:lnTo>
                  <a:moveTo>
                    <a:pt x="89946" y="9241"/>
                  </a:moveTo>
                  <a:cubicBezTo>
                    <a:pt x="89381" y="9821"/>
                    <a:pt x="88938" y="10065"/>
                    <a:pt x="88053" y="10065"/>
                  </a:cubicBezTo>
                  <a:cubicBezTo>
                    <a:pt x="87503" y="10065"/>
                    <a:pt x="86861" y="9744"/>
                    <a:pt x="86388" y="8966"/>
                  </a:cubicBezTo>
                  <a:cubicBezTo>
                    <a:pt x="86083" y="8463"/>
                    <a:pt x="85899" y="7761"/>
                    <a:pt x="85899" y="6876"/>
                  </a:cubicBezTo>
                  <a:lnTo>
                    <a:pt x="89962" y="6906"/>
                  </a:lnTo>
                  <a:cubicBezTo>
                    <a:pt x="90145" y="6906"/>
                    <a:pt x="90252" y="6815"/>
                    <a:pt x="90252" y="6647"/>
                  </a:cubicBezTo>
                  <a:cubicBezTo>
                    <a:pt x="90252" y="5368"/>
                    <a:pt x="89794" y="3997"/>
                    <a:pt x="87671" y="3997"/>
                  </a:cubicBezTo>
                  <a:cubicBezTo>
                    <a:pt x="86342" y="3997"/>
                    <a:pt x="84616" y="5262"/>
                    <a:pt x="84616" y="7578"/>
                  </a:cubicBezTo>
                  <a:cubicBezTo>
                    <a:pt x="84616" y="8432"/>
                    <a:pt x="84830" y="9256"/>
                    <a:pt x="85334" y="9836"/>
                  </a:cubicBezTo>
                  <a:cubicBezTo>
                    <a:pt x="85853" y="10447"/>
                    <a:pt x="86571" y="10813"/>
                    <a:pt x="87671" y="10813"/>
                  </a:cubicBezTo>
                  <a:cubicBezTo>
                    <a:pt x="88832" y="10813"/>
                    <a:pt x="89656" y="10279"/>
                    <a:pt x="90267" y="9485"/>
                  </a:cubicBezTo>
                  <a:cubicBezTo>
                    <a:pt x="90221" y="9332"/>
                    <a:pt x="90130" y="9256"/>
                    <a:pt x="89946" y="9241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8" name="Paper math native glyph 13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65892" y="17911"/>
                  </a:moveTo>
                  <a:lnTo>
                    <a:pt x="65083" y="17957"/>
                  </a:lnTo>
                  <a:cubicBezTo>
                    <a:pt x="64793" y="17972"/>
                    <a:pt x="64686" y="18094"/>
                    <a:pt x="64655" y="18216"/>
                  </a:cubicBezTo>
                  <a:cubicBezTo>
                    <a:pt x="64640" y="18262"/>
                    <a:pt x="64594" y="18445"/>
                    <a:pt x="64594" y="18476"/>
                  </a:cubicBezTo>
                  <a:cubicBezTo>
                    <a:pt x="64594" y="18506"/>
                    <a:pt x="64640" y="18506"/>
                    <a:pt x="64686" y="18506"/>
                  </a:cubicBezTo>
                  <a:lnTo>
                    <a:pt x="65755" y="18506"/>
                  </a:lnTo>
                  <a:lnTo>
                    <a:pt x="64823" y="22665"/>
                  </a:lnTo>
                  <a:cubicBezTo>
                    <a:pt x="64716" y="23155"/>
                    <a:pt x="64609" y="23629"/>
                    <a:pt x="64609" y="23919"/>
                  </a:cubicBezTo>
                  <a:cubicBezTo>
                    <a:pt x="64609" y="24469"/>
                    <a:pt x="64884" y="24621"/>
                    <a:pt x="65357" y="24621"/>
                  </a:cubicBezTo>
                  <a:cubicBezTo>
                    <a:pt x="66045" y="24621"/>
                    <a:pt x="67053" y="23995"/>
                    <a:pt x="67572" y="23048"/>
                  </a:cubicBezTo>
                  <a:cubicBezTo>
                    <a:pt x="67526" y="22849"/>
                    <a:pt x="67419" y="22757"/>
                    <a:pt x="67236" y="22757"/>
                  </a:cubicBezTo>
                  <a:cubicBezTo>
                    <a:pt x="66534" y="23552"/>
                    <a:pt x="66259" y="23705"/>
                    <a:pt x="66014" y="23705"/>
                  </a:cubicBezTo>
                  <a:cubicBezTo>
                    <a:pt x="65968" y="23705"/>
                    <a:pt x="65816" y="23674"/>
                    <a:pt x="65816" y="23491"/>
                  </a:cubicBezTo>
                  <a:cubicBezTo>
                    <a:pt x="65816" y="23353"/>
                    <a:pt x="65861" y="23048"/>
                    <a:pt x="65984" y="22528"/>
                  </a:cubicBezTo>
                  <a:lnTo>
                    <a:pt x="66885" y="18506"/>
                  </a:lnTo>
                  <a:lnTo>
                    <a:pt x="68382" y="18506"/>
                  </a:lnTo>
                  <a:cubicBezTo>
                    <a:pt x="68565" y="18430"/>
                    <a:pt x="68702" y="18033"/>
                    <a:pt x="68534" y="17911"/>
                  </a:cubicBezTo>
                  <a:lnTo>
                    <a:pt x="67022" y="17911"/>
                  </a:lnTo>
                  <a:lnTo>
                    <a:pt x="67175" y="17223"/>
                  </a:lnTo>
                  <a:cubicBezTo>
                    <a:pt x="67236" y="16933"/>
                    <a:pt x="67373" y="16491"/>
                    <a:pt x="67373" y="16307"/>
                  </a:cubicBezTo>
                  <a:cubicBezTo>
                    <a:pt x="67373" y="16047"/>
                    <a:pt x="67251" y="15895"/>
                    <a:pt x="66763" y="15895"/>
                  </a:cubicBezTo>
                  <a:cubicBezTo>
                    <a:pt x="66213" y="15895"/>
                    <a:pt x="66243" y="16582"/>
                    <a:pt x="66091" y="17147"/>
                  </a:cubicBezTo>
                  <a:lnTo>
                    <a:pt x="65892" y="1791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89" name="Paper math native glyph 14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70321" y="23022"/>
                  </a:moveTo>
                  <a:cubicBezTo>
                    <a:pt x="69848" y="23022"/>
                    <a:pt x="69512" y="23343"/>
                    <a:pt x="69512" y="23771"/>
                  </a:cubicBezTo>
                  <a:cubicBezTo>
                    <a:pt x="69512" y="24259"/>
                    <a:pt x="69909" y="24397"/>
                    <a:pt x="70184" y="24442"/>
                  </a:cubicBezTo>
                  <a:cubicBezTo>
                    <a:pt x="70474" y="24473"/>
                    <a:pt x="70734" y="24564"/>
                    <a:pt x="70734" y="24915"/>
                  </a:cubicBezTo>
                  <a:cubicBezTo>
                    <a:pt x="70734" y="25235"/>
                    <a:pt x="70184" y="25936"/>
                    <a:pt x="69390" y="26134"/>
                  </a:cubicBezTo>
                  <a:cubicBezTo>
                    <a:pt x="69390" y="26287"/>
                    <a:pt x="69420" y="26394"/>
                    <a:pt x="69527" y="26501"/>
                  </a:cubicBezTo>
                  <a:cubicBezTo>
                    <a:pt x="70443" y="26333"/>
                    <a:pt x="71329" y="25601"/>
                    <a:pt x="71329" y="24534"/>
                  </a:cubicBezTo>
                  <a:cubicBezTo>
                    <a:pt x="71329" y="23618"/>
                    <a:pt x="70932" y="23022"/>
                    <a:pt x="70321" y="2302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0" name="Paper math native glyph 15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78248" y="22574"/>
                  </a:moveTo>
                  <a:lnTo>
                    <a:pt x="78828" y="20144"/>
                  </a:lnTo>
                  <a:cubicBezTo>
                    <a:pt x="78950" y="19609"/>
                    <a:pt x="79027" y="19258"/>
                    <a:pt x="79027" y="18983"/>
                  </a:cubicBezTo>
                  <a:cubicBezTo>
                    <a:pt x="79027" y="18066"/>
                    <a:pt x="78614" y="17761"/>
                    <a:pt x="78019" y="17761"/>
                  </a:cubicBezTo>
                  <a:cubicBezTo>
                    <a:pt x="77224" y="17761"/>
                    <a:pt x="76568" y="18081"/>
                    <a:pt x="75162" y="19732"/>
                  </a:cubicBezTo>
                  <a:lnTo>
                    <a:pt x="75147" y="19716"/>
                  </a:lnTo>
                  <a:lnTo>
                    <a:pt x="75178" y="19579"/>
                  </a:lnTo>
                  <a:cubicBezTo>
                    <a:pt x="75331" y="18983"/>
                    <a:pt x="75514" y="18387"/>
                    <a:pt x="75514" y="18127"/>
                  </a:cubicBezTo>
                  <a:cubicBezTo>
                    <a:pt x="75514" y="17913"/>
                    <a:pt x="75407" y="17806"/>
                    <a:pt x="75208" y="17806"/>
                  </a:cubicBezTo>
                  <a:cubicBezTo>
                    <a:pt x="74720" y="17806"/>
                    <a:pt x="74002" y="17913"/>
                    <a:pt x="73284" y="18004"/>
                  </a:cubicBezTo>
                  <a:cubicBezTo>
                    <a:pt x="73177" y="18126"/>
                    <a:pt x="73208" y="18294"/>
                    <a:pt x="73299" y="18432"/>
                  </a:cubicBezTo>
                  <a:lnTo>
                    <a:pt x="73910" y="18478"/>
                  </a:lnTo>
                  <a:cubicBezTo>
                    <a:pt x="74094" y="18493"/>
                    <a:pt x="74185" y="18631"/>
                    <a:pt x="74185" y="18783"/>
                  </a:cubicBezTo>
                  <a:cubicBezTo>
                    <a:pt x="74185" y="18921"/>
                    <a:pt x="74139" y="19135"/>
                    <a:pt x="74048" y="19563"/>
                  </a:cubicBezTo>
                  <a:lnTo>
                    <a:pt x="73192" y="23369"/>
                  </a:lnTo>
                  <a:cubicBezTo>
                    <a:pt x="73116" y="23674"/>
                    <a:pt x="72994" y="24056"/>
                    <a:pt x="72994" y="24209"/>
                  </a:cubicBezTo>
                  <a:cubicBezTo>
                    <a:pt x="72994" y="24469"/>
                    <a:pt x="73162" y="24621"/>
                    <a:pt x="73651" y="24621"/>
                  </a:cubicBezTo>
                  <a:cubicBezTo>
                    <a:pt x="74231" y="24621"/>
                    <a:pt x="74216" y="23949"/>
                    <a:pt x="74353" y="23369"/>
                  </a:cubicBezTo>
                  <a:lnTo>
                    <a:pt x="74933" y="20832"/>
                  </a:lnTo>
                  <a:cubicBezTo>
                    <a:pt x="75896" y="19579"/>
                    <a:pt x="76736" y="18677"/>
                    <a:pt x="77286" y="18677"/>
                  </a:cubicBezTo>
                  <a:cubicBezTo>
                    <a:pt x="77606" y="18677"/>
                    <a:pt x="77820" y="18754"/>
                    <a:pt x="77820" y="19227"/>
                  </a:cubicBezTo>
                  <a:cubicBezTo>
                    <a:pt x="77820" y="19441"/>
                    <a:pt x="77744" y="19747"/>
                    <a:pt x="77622" y="20266"/>
                  </a:cubicBezTo>
                  <a:lnTo>
                    <a:pt x="77041" y="22712"/>
                  </a:lnTo>
                  <a:cubicBezTo>
                    <a:pt x="76919" y="23201"/>
                    <a:pt x="76781" y="23827"/>
                    <a:pt x="76781" y="24118"/>
                  </a:cubicBezTo>
                  <a:cubicBezTo>
                    <a:pt x="76781" y="24408"/>
                    <a:pt x="76949" y="24621"/>
                    <a:pt x="77408" y="24621"/>
                  </a:cubicBezTo>
                  <a:cubicBezTo>
                    <a:pt x="78141" y="24621"/>
                    <a:pt x="78874" y="24102"/>
                    <a:pt x="79576" y="23201"/>
                  </a:cubicBezTo>
                  <a:cubicBezTo>
                    <a:pt x="79531" y="23063"/>
                    <a:pt x="79439" y="22941"/>
                    <a:pt x="79225" y="22941"/>
                  </a:cubicBezTo>
                  <a:cubicBezTo>
                    <a:pt x="78828" y="23399"/>
                    <a:pt x="78385" y="23705"/>
                    <a:pt x="78232" y="23705"/>
                  </a:cubicBezTo>
                  <a:cubicBezTo>
                    <a:pt x="78125" y="23705"/>
                    <a:pt x="78080" y="23629"/>
                    <a:pt x="78080" y="23445"/>
                  </a:cubicBezTo>
                  <a:cubicBezTo>
                    <a:pt x="78080" y="23308"/>
                    <a:pt x="78156" y="22972"/>
                    <a:pt x="78248" y="2257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1" name="Paper math native glyph 16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01235" y="13318"/>
                  </a:moveTo>
                  <a:lnTo>
                    <a:pt x="96653" y="13318"/>
                  </a:lnTo>
                  <a:lnTo>
                    <a:pt x="96653" y="14699"/>
                  </a:lnTo>
                  <a:lnTo>
                    <a:pt x="101235" y="14699"/>
                  </a:lnTo>
                  <a:lnTo>
                    <a:pt x="101235" y="19305"/>
                  </a:lnTo>
                  <a:lnTo>
                    <a:pt x="102616" y="19305"/>
                  </a:lnTo>
                  <a:lnTo>
                    <a:pt x="102616" y="14699"/>
                  </a:lnTo>
                  <a:lnTo>
                    <a:pt x="107198" y="14699"/>
                  </a:lnTo>
                  <a:lnTo>
                    <a:pt x="107198" y="13318"/>
                  </a:lnTo>
                  <a:lnTo>
                    <a:pt x="102616" y="13318"/>
                  </a:lnTo>
                  <a:lnTo>
                    <a:pt x="102616" y="8716"/>
                  </a:lnTo>
                  <a:lnTo>
                    <a:pt x="101235" y="8716"/>
                  </a:lnTo>
                  <a:lnTo>
                    <a:pt x="101235" y="13318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2" name="Paper math native glyph 17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15278" y="19509"/>
                  </a:moveTo>
                  <a:lnTo>
                    <a:pt x="115592" y="19509"/>
                  </a:lnTo>
                  <a:cubicBezTo>
                    <a:pt x="117642" y="19509"/>
                    <a:pt x="118876" y="18379"/>
                    <a:pt x="118876" y="16831"/>
                  </a:cubicBezTo>
                  <a:cubicBezTo>
                    <a:pt x="118876" y="15848"/>
                    <a:pt x="118312" y="14885"/>
                    <a:pt x="116387" y="13609"/>
                  </a:cubicBezTo>
                  <a:cubicBezTo>
                    <a:pt x="115759" y="13191"/>
                    <a:pt x="115550" y="12814"/>
                    <a:pt x="115550" y="12291"/>
                  </a:cubicBezTo>
                  <a:cubicBezTo>
                    <a:pt x="115550" y="11559"/>
                    <a:pt x="115968" y="10805"/>
                    <a:pt x="116868" y="10805"/>
                  </a:cubicBezTo>
                  <a:cubicBezTo>
                    <a:pt x="117391" y="10805"/>
                    <a:pt x="117747" y="10973"/>
                    <a:pt x="117809" y="11412"/>
                  </a:cubicBezTo>
                  <a:cubicBezTo>
                    <a:pt x="117872" y="11914"/>
                    <a:pt x="118228" y="12500"/>
                    <a:pt x="118772" y="12500"/>
                  </a:cubicBezTo>
                  <a:cubicBezTo>
                    <a:pt x="119357" y="12500"/>
                    <a:pt x="119525" y="12123"/>
                    <a:pt x="119525" y="11789"/>
                  </a:cubicBezTo>
                  <a:cubicBezTo>
                    <a:pt x="119525" y="11035"/>
                    <a:pt x="118437" y="10115"/>
                    <a:pt x="117140" y="10115"/>
                  </a:cubicBezTo>
                  <a:cubicBezTo>
                    <a:pt x="115320" y="10115"/>
                    <a:pt x="114211" y="11454"/>
                    <a:pt x="114211" y="12730"/>
                  </a:cubicBezTo>
                  <a:cubicBezTo>
                    <a:pt x="114211" y="13567"/>
                    <a:pt x="114671" y="14467"/>
                    <a:pt x="116031" y="15387"/>
                  </a:cubicBezTo>
                  <a:cubicBezTo>
                    <a:pt x="117140" y="16141"/>
                    <a:pt x="117307" y="16831"/>
                    <a:pt x="117307" y="17270"/>
                  </a:cubicBezTo>
                  <a:cubicBezTo>
                    <a:pt x="117307" y="18421"/>
                    <a:pt x="116470" y="18819"/>
                    <a:pt x="115529" y="18819"/>
                  </a:cubicBezTo>
                  <a:cubicBezTo>
                    <a:pt x="114985" y="18819"/>
                    <a:pt x="114692" y="18714"/>
                    <a:pt x="114629" y="18254"/>
                  </a:cubicBezTo>
                  <a:cubicBezTo>
                    <a:pt x="114567" y="17773"/>
                    <a:pt x="114274" y="17145"/>
                    <a:pt x="113646" y="17145"/>
                  </a:cubicBezTo>
                  <a:cubicBezTo>
                    <a:pt x="113039" y="17145"/>
                    <a:pt x="112872" y="17647"/>
                    <a:pt x="112872" y="17877"/>
                  </a:cubicBezTo>
                  <a:cubicBezTo>
                    <a:pt x="112872" y="18651"/>
                    <a:pt x="113834" y="19425"/>
                    <a:pt x="115278" y="1950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3" name="Paper math native glyph 18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33148" y="11815"/>
                  </a:moveTo>
                  <a:lnTo>
                    <a:pt x="130135" y="11815"/>
                  </a:lnTo>
                  <a:cubicBezTo>
                    <a:pt x="129424" y="11815"/>
                    <a:pt x="129194" y="11773"/>
                    <a:pt x="129194" y="11040"/>
                  </a:cubicBezTo>
                  <a:lnTo>
                    <a:pt x="129194" y="10894"/>
                  </a:lnTo>
                  <a:cubicBezTo>
                    <a:pt x="129194" y="10831"/>
                    <a:pt x="129173" y="10747"/>
                    <a:pt x="129027" y="10726"/>
                  </a:cubicBezTo>
                  <a:lnTo>
                    <a:pt x="128462" y="10726"/>
                  </a:lnTo>
                  <a:cubicBezTo>
                    <a:pt x="128462" y="10726"/>
                    <a:pt x="128525" y="11731"/>
                    <a:pt x="128525" y="12359"/>
                  </a:cubicBezTo>
                  <a:cubicBezTo>
                    <a:pt x="128525" y="13112"/>
                    <a:pt x="128462" y="14262"/>
                    <a:pt x="128462" y="14262"/>
                  </a:cubicBezTo>
                  <a:lnTo>
                    <a:pt x="129027" y="14262"/>
                  </a:lnTo>
                  <a:cubicBezTo>
                    <a:pt x="129089" y="14262"/>
                    <a:pt x="129173" y="14220"/>
                    <a:pt x="129194" y="14095"/>
                  </a:cubicBezTo>
                  <a:lnTo>
                    <a:pt x="129194" y="13948"/>
                  </a:lnTo>
                  <a:cubicBezTo>
                    <a:pt x="129194" y="13259"/>
                    <a:pt x="129445" y="13196"/>
                    <a:pt x="130135" y="13196"/>
                  </a:cubicBezTo>
                  <a:lnTo>
                    <a:pt x="133148" y="13196"/>
                  </a:lnTo>
                  <a:cubicBezTo>
                    <a:pt x="133755" y="13196"/>
                    <a:pt x="134090" y="13259"/>
                    <a:pt x="134090" y="13948"/>
                  </a:cubicBezTo>
                  <a:lnTo>
                    <a:pt x="134090" y="14095"/>
                  </a:lnTo>
                  <a:cubicBezTo>
                    <a:pt x="134111" y="14241"/>
                    <a:pt x="134215" y="14262"/>
                    <a:pt x="134257" y="14262"/>
                  </a:cubicBezTo>
                  <a:lnTo>
                    <a:pt x="134822" y="14262"/>
                  </a:lnTo>
                  <a:cubicBezTo>
                    <a:pt x="134822" y="14262"/>
                    <a:pt x="134759" y="13112"/>
                    <a:pt x="134759" y="12359"/>
                  </a:cubicBezTo>
                  <a:cubicBezTo>
                    <a:pt x="134759" y="11731"/>
                    <a:pt x="134822" y="10747"/>
                    <a:pt x="134822" y="10747"/>
                  </a:cubicBezTo>
                  <a:lnTo>
                    <a:pt x="134236" y="10747"/>
                  </a:lnTo>
                  <a:cubicBezTo>
                    <a:pt x="134152" y="10747"/>
                    <a:pt x="134111" y="10789"/>
                    <a:pt x="134090" y="10915"/>
                  </a:cubicBezTo>
                  <a:lnTo>
                    <a:pt x="134090" y="11040"/>
                  </a:lnTo>
                  <a:cubicBezTo>
                    <a:pt x="134090" y="11752"/>
                    <a:pt x="133818" y="11815"/>
                    <a:pt x="133148" y="11815"/>
                  </a:cubicBezTo>
                  <a:moveTo>
                    <a:pt x="131328" y="6392"/>
                  </a:moveTo>
                  <a:cubicBezTo>
                    <a:pt x="133692" y="6392"/>
                    <a:pt x="135743" y="8570"/>
                    <a:pt x="135743" y="12819"/>
                  </a:cubicBezTo>
                  <a:cubicBezTo>
                    <a:pt x="135743" y="16457"/>
                    <a:pt x="134132" y="18651"/>
                    <a:pt x="132018" y="18651"/>
                  </a:cubicBezTo>
                  <a:cubicBezTo>
                    <a:pt x="129550" y="18651"/>
                    <a:pt x="127500" y="16373"/>
                    <a:pt x="127500" y="12443"/>
                  </a:cubicBezTo>
                  <a:cubicBezTo>
                    <a:pt x="127500" y="8172"/>
                    <a:pt x="129550" y="6392"/>
                    <a:pt x="131328" y="6392"/>
                  </a:cubicBezTo>
                  <a:moveTo>
                    <a:pt x="138504" y="12422"/>
                  </a:moveTo>
                  <a:cubicBezTo>
                    <a:pt x="138504" y="8256"/>
                    <a:pt x="135282" y="5535"/>
                    <a:pt x="131579" y="5535"/>
                  </a:cubicBezTo>
                  <a:cubicBezTo>
                    <a:pt x="127604" y="5535"/>
                    <a:pt x="124759" y="8695"/>
                    <a:pt x="124759" y="12798"/>
                  </a:cubicBezTo>
                  <a:cubicBezTo>
                    <a:pt x="124759" y="16937"/>
                    <a:pt x="127792" y="19509"/>
                    <a:pt x="131600" y="19509"/>
                  </a:cubicBezTo>
                  <a:cubicBezTo>
                    <a:pt x="135826" y="19509"/>
                    <a:pt x="138504" y="16603"/>
                    <a:pt x="138504" y="1242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4" name="Paper math native glyph 19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49185" y="3071"/>
                  </a:moveTo>
                  <a:lnTo>
                    <a:pt x="149185" y="2215"/>
                  </a:lnTo>
                  <a:lnTo>
                    <a:pt x="140204" y="2215"/>
                  </a:lnTo>
                  <a:lnTo>
                    <a:pt x="140204" y="3071"/>
                  </a:lnTo>
                  <a:lnTo>
                    <a:pt x="144267" y="3071"/>
                  </a:lnTo>
                  <a:lnTo>
                    <a:pt x="144267" y="10615"/>
                  </a:lnTo>
                  <a:lnTo>
                    <a:pt x="145122" y="10615"/>
                  </a:lnTo>
                  <a:lnTo>
                    <a:pt x="145122" y="3071"/>
                  </a:lnTo>
                  <a:lnTo>
                    <a:pt x="149185" y="307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5" name="Paper math native glyph 20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45260" y="22574"/>
                  </a:moveTo>
                  <a:lnTo>
                    <a:pt x="145840" y="20144"/>
                  </a:lnTo>
                  <a:cubicBezTo>
                    <a:pt x="145962" y="19609"/>
                    <a:pt x="146038" y="19258"/>
                    <a:pt x="146038" y="18983"/>
                  </a:cubicBezTo>
                  <a:cubicBezTo>
                    <a:pt x="146038" y="18066"/>
                    <a:pt x="145626" y="17761"/>
                    <a:pt x="145031" y="17761"/>
                  </a:cubicBezTo>
                  <a:cubicBezTo>
                    <a:pt x="144236" y="17761"/>
                    <a:pt x="143580" y="18081"/>
                    <a:pt x="142174" y="19732"/>
                  </a:cubicBezTo>
                  <a:lnTo>
                    <a:pt x="142159" y="19716"/>
                  </a:lnTo>
                  <a:lnTo>
                    <a:pt x="142190" y="19579"/>
                  </a:lnTo>
                  <a:cubicBezTo>
                    <a:pt x="142342" y="18983"/>
                    <a:pt x="142526" y="18387"/>
                    <a:pt x="142526" y="18127"/>
                  </a:cubicBezTo>
                  <a:cubicBezTo>
                    <a:pt x="142526" y="17913"/>
                    <a:pt x="142419" y="17807"/>
                    <a:pt x="142220" y="17807"/>
                  </a:cubicBezTo>
                  <a:cubicBezTo>
                    <a:pt x="141732" y="17806"/>
                    <a:pt x="141014" y="17913"/>
                    <a:pt x="140296" y="18004"/>
                  </a:cubicBezTo>
                  <a:cubicBezTo>
                    <a:pt x="140189" y="18126"/>
                    <a:pt x="140220" y="18294"/>
                    <a:pt x="140311" y="18432"/>
                  </a:cubicBezTo>
                  <a:lnTo>
                    <a:pt x="140922" y="18478"/>
                  </a:lnTo>
                  <a:cubicBezTo>
                    <a:pt x="141105" y="18493"/>
                    <a:pt x="141197" y="18631"/>
                    <a:pt x="141197" y="18783"/>
                  </a:cubicBezTo>
                  <a:cubicBezTo>
                    <a:pt x="141197" y="18921"/>
                    <a:pt x="141151" y="19135"/>
                    <a:pt x="141059" y="19563"/>
                  </a:cubicBezTo>
                  <a:lnTo>
                    <a:pt x="140204" y="23369"/>
                  </a:lnTo>
                  <a:cubicBezTo>
                    <a:pt x="140128" y="23674"/>
                    <a:pt x="140006" y="24056"/>
                    <a:pt x="140006" y="24209"/>
                  </a:cubicBezTo>
                  <a:cubicBezTo>
                    <a:pt x="140006" y="24469"/>
                    <a:pt x="140174" y="24621"/>
                    <a:pt x="140662" y="24621"/>
                  </a:cubicBezTo>
                  <a:cubicBezTo>
                    <a:pt x="141243" y="24621"/>
                    <a:pt x="141228" y="23949"/>
                    <a:pt x="141365" y="23369"/>
                  </a:cubicBezTo>
                  <a:lnTo>
                    <a:pt x="141945" y="20832"/>
                  </a:lnTo>
                  <a:cubicBezTo>
                    <a:pt x="142908" y="19579"/>
                    <a:pt x="143748" y="18677"/>
                    <a:pt x="144297" y="18677"/>
                  </a:cubicBezTo>
                  <a:cubicBezTo>
                    <a:pt x="144618" y="18677"/>
                    <a:pt x="144832" y="18754"/>
                    <a:pt x="144832" y="19227"/>
                  </a:cubicBezTo>
                  <a:cubicBezTo>
                    <a:pt x="144832" y="19441"/>
                    <a:pt x="144756" y="19747"/>
                    <a:pt x="144633" y="20266"/>
                  </a:cubicBezTo>
                  <a:lnTo>
                    <a:pt x="144053" y="22712"/>
                  </a:lnTo>
                  <a:cubicBezTo>
                    <a:pt x="143931" y="23201"/>
                    <a:pt x="143793" y="23827"/>
                    <a:pt x="143793" y="24118"/>
                  </a:cubicBezTo>
                  <a:cubicBezTo>
                    <a:pt x="143793" y="24408"/>
                    <a:pt x="143961" y="24621"/>
                    <a:pt x="144419" y="24621"/>
                  </a:cubicBezTo>
                  <a:cubicBezTo>
                    <a:pt x="145153" y="24621"/>
                    <a:pt x="145886" y="24102"/>
                    <a:pt x="146588" y="23201"/>
                  </a:cubicBezTo>
                  <a:cubicBezTo>
                    <a:pt x="146542" y="23063"/>
                    <a:pt x="146451" y="22941"/>
                    <a:pt x="146237" y="22941"/>
                  </a:cubicBezTo>
                  <a:cubicBezTo>
                    <a:pt x="145840" y="23400"/>
                    <a:pt x="145397" y="23705"/>
                    <a:pt x="145244" y="23705"/>
                  </a:cubicBezTo>
                  <a:cubicBezTo>
                    <a:pt x="145137" y="23705"/>
                    <a:pt x="145092" y="23629"/>
                    <a:pt x="145092" y="23445"/>
                  </a:cubicBezTo>
                  <a:cubicBezTo>
                    <a:pt x="145092" y="23308"/>
                    <a:pt x="145168" y="22972"/>
                    <a:pt x="145260" y="2257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6" name="Paper math native glyph 21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52680" y="9968"/>
                  </a:moveTo>
                  <a:lnTo>
                    <a:pt x="151989" y="9968"/>
                  </a:lnTo>
                  <a:cubicBezTo>
                    <a:pt x="151948" y="10868"/>
                    <a:pt x="151864" y="11601"/>
                    <a:pt x="151529" y="12982"/>
                  </a:cubicBezTo>
                  <a:lnTo>
                    <a:pt x="152429" y="13108"/>
                  </a:lnTo>
                  <a:cubicBezTo>
                    <a:pt x="152785" y="11572"/>
                    <a:pt x="153287" y="11112"/>
                    <a:pt x="153914" y="11112"/>
                  </a:cubicBezTo>
                  <a:lnTo>
                    <a:pt x="156341" y="11112"/>
                  </a:lnTo>
                  <a:cubicBezTo>
                    <a:pt x="154709" y="13578"/>
                    <a:pt x="153161" y="16065"/>
                    <a:pt x="151529" y="18510"/>
                  </a:cubicBezTo>
                  <a:cubicBezTo>
                    <a:pt x="151362" y="18782"/>
                    <a:pt x="151299" y="18928"/>
                    <a:pt x="151299" y="18970"/>
                  </a:cubicBezTo>
                  <a:cubicBezTo>
                    <a:pt x="151299" y="19179"/>
                    <a:pt x="151550" y="19305"/>
                    <a:pt x="152450" y="19305"/>
                  </a:cubicBezTo>
                  <a:lnTo>
                    <a:pt x="158684" y="19305"/>
                  </a:lnTo>
                  <a:cubicBezTo>
                    <a:pt x="158768" y="18447"/>
                    <a:pt x="158915" y="17527"/>
                    <a:pt x="159228" y="16399"/>
                  </a:cubicBezTo>
                  <a:lnTo>
                    <a:pt x="158350" y="16211"/>
                  </a:lnTo>
                  <a:cubicBezTo>
                    <a:pt x="157994" y="17569"/>
                    <a:pt x="157387" y="18426"/>
                    <a:pt x="156467" y="18426"/>
                  </a:cubicBezTo>
                  <a:lnTo>
                    <a:pt x="154040" y="18426"/>
                  </a:lnTo>
                  <a:lnTo>
                    <a:pt x="158705" y="11258"/>
                  </a:lnTo>
                  <a:cubicBezTo>
                    <a:pt x="158935" y="10903"/>
                    <a:pt x="159124" y="10568"/>
                    <a:pt x="159124" y="10505"/>
                  </a:cubicBezTo>
                  <a:cubicBezTo>
                    <a:pt x="159124" y="10296"/>
                    <a:pt x="158789" y="10171"/>
                    <a:pt x="158371" y="10171"/>
                  </a:cubicBezTo>
                  <a:cubicBezTo>
                    <a:pt x="158308" y="10171"/>
                    <a:pt x="157806" y="10233"/>
                    <a:pt x="157304" y="10233"/>
                  </a:cubicBezTo>
                  <a:lnTo>
                    <a:pt x="153035" y="10233"/>
                  </a:lnTo>
                  <a:cubicBezTo>
                    <a:pt x="152910" y="10219"/>
                    <a:pt x="152763" y="10198"/>
                    <a:pt x="152680" y="996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7" name="Paper math native glyph 22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61974" y="15882"/>
                  </a:moveTo>
                  <a:lnTo>
                    <a:pt x="161164" y="15927"/>
                  </a:lnTo>
                  <a:cubicBezTo>
                    <a:pt x="160874" y="15943"/>
                    <a:pt x="160767" y="16065"/>
                    <a:pt x="160737" y="16187"/>
                  </a:cubicBezTo>
                  <a:cubicBezTo>
                    <a:pt x="160721" y="16233"/>
                    <a:pt x="160676" y="16416"/>
                    <a:pt x="160676" y="16446"/>
                  </a:cubicBezTo>
                  <a:cubicBezTo>
                    <a:pt x="160676" y="16477"/>
                    <a:pt x="160721" y="16477"/>
                    <a:pt x="160767" y="16477"/>
                  </a:cubicBezTo>
                  <a:lnTo>
                    <a:pt x="161836" y="16477"/>
                  </a:lnTo>
                  <a:lnTo>
                    <a:pt x="160905" y="20636"/>
                  </a:lnTo>
                  <a:cubicBezTo>
                    <a:pt x="160798" y="21125"/>
                    <a:pt x="160691" y="21599"/>
                    <a:pt x="160691" y="21890"/>
                  </a:cubicBezTo>
                  <a:cubicBezTo>
                    <a:pt x="160691" y="22439"/>
                    <a:pt x="160966" y="22592"/>
                    <a:pt x="161439" y="22592"/>
                  </a:cubicBezTo>
                  <a:cubicBezTo>
                    <a:pt x="162127" y="22592"/>
                    <a:pt x="163135" y="21966"/>
                    <a:pt x="163654" y="21018"/>
                  </a:cubicBezTo>
                  <a:cubicBezTo>
                    <a:pt x="163608" y="20819"/>
                    <a:pt x="163501" y="20728"/>
                    <a:pt x="163318" y="20728"/>
                  </a:cubicBezTo>
                  <a:cubicBezTo>
                    <a:pt x="162615" y="21523"/>
                    <a:pt x="162340" y="21676"/>
                    <a:pt x="162096" y="21676"/>
                  </a:cubicBezTo>
                  <a:cubicBezTo>
                    <a:pt x="162050" y="21676"/>
                    <a:pt x="161898" y="21645"/>
                    <a:pt x="161898" y="21462"/>
                  </a:cubicBezTo>
                  <a:cubicBezTo>
                    <a:pt x="161898" y="21324"/>
                    <a:pt x="161943" y="21018"/>
                    <a:pt x="162065" y="20498"/>
                  </a:cubicBezTo>
                  <a:lnTo>
                    <a:pt x="162967" y="16477"/>
                  </a:lnTo>
                  <a:lnTo>
                    <a:pt x="164463" y="16477"/>
                  </a:lnTo>
                  <a:cubicBezTo>
                    <a:pt x="164647" y="16401"/>
                    <a:pt x="164784" y="16004"/>
                    <a:pt x="164616" y="15882"/>
                  </a:cubicBezTo>
                  <a:lnTo>
                    <a:pt x="163104" y="15882"/>
                  </a:lnTo>
                  <a:lnTo>
                    <a:pt x="163257" y="15194"/>
                  </a:lnTo>
                  <a:cubicBezTo>
                    <a:pt x="163318" y="14904"/>
                    <a:pt x="163455" y="14461"/>
                    <a:pt x="163455" y="14278"/>
                  </a:cubicBezTo>
                  <a:cubicBezTo>
                    <a:pt x="163455" y="14018"/>
                    <a:pt x="163333" y="13865"/>
                    <a:pt x="162844" y="13865"/>
                  </a:cubicBezTo>
                  <a:cubicBezTo>
                    <a:pt x="162294" y="13865"/>
                    <a:pt x="162325" y="14553"/>
                    <a:pt x="162172" y="15118"/>
                  </a:cubicBezTo>
                  <a:lnTo>
                    <a:pt x="161974" y="1588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8" name="Paper math native glyph 23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66403" y="20993"/>
                  </a:moveTo>
                  <a:cubicBezTo>
                    <a:pt x="165930" y="20993"/>
                    <a:pt x="165594" y="21313"/>
                    <a:pt x="165594" y="21741"/>
                  </a:cubicBezTo>
                  <a:cubicBezTo>
                    <a:pt x="165594" y="22230"/>
                    <a:pt x="165991" y="22367"/>
                    <a:pt x="166265" y="22413"/>
                  </a:cubicBezTo>
                  <a:cubicBezTo>
                    <a:pt x="166556" y="22444"/>
                    <a:pt x="166815" y="22535"/>
                    <a:pt x="166815" y="22886"/>
                  </a:cubicBezTo>
                  <a:cubicBezTo>
                    <a:pt x="166815" y="23206"/>
                    <a:pt x="166265" y="23907"/>
                    <a:pt x="165471" y="24105"/>
                  </a:cubicBezTo>
                  <a:cubicBezTo>
                    <a:pt x="165471" y="24258"/>
                    <a:pt x="165502" y="24364"/>
                    <a:pt x="165609" y="24471"/>
                  </a:cubicBezTo>
                  <a:cubicBezTo>
                    <a:pt x="166525" y="24303"/>
                    <a:pt x="167411" y="23571"/>
                    <a:pt x="167411" y="22505"/>
                  </a:cubicBezTo>
                  <a:cubicBezTo>
                    <a:pt x="167411" y="21588"/>
                    <a:pt x="167014" y="20993"/>
                    <a:pt x="166403" y="2099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699" name="Paper math native glyph 24"/>
            <p:cNvSpPr/>
            <p:nvPr/>
          </p:nvSpPr>
          <p:spPr>
            <a:xfrm>
              <a:off x="0" y="0"/>
              <a:ext cx="2230858" cy="336557"/>
            </a:xfrm>
            <a:custGeom>
              <a:avLst/>
              <a:gdLst/>
              <a:ahLst/>
              <a:cxnLst/>
              <a:rect l="0" t="0" r="r" b="b"/>
              <a:pathLst>
                <a:path w="175658" h="26501" stroke="0" extrusionOk="0">
                  <a:moveTo>
                    <a:pt x="174330" y="20545"/>
                  </a:moveTo>
                  <a:lnTo>
                    <a:pt x="174910" y="18115"/>
                  </a:lnTo>
                  <a:cubicBezTo>
                    <a:pt x="175032" y="17580"/>
                    <a:pt x="175108" y="17228"/>
                    <a:pt x="175108" y="16953"/>
                  </a:cubicBezTo>
                  <a:cubicBezTo>
                    <a:pt x="175108" y="16037"/>
                    <a:pt x="174696" y="15731"/>
                    <a:pt x="174100" y="15731"/>
                  </a:cubicBezTo>
                  <a:cubicBezTo>
                    <a:pt x="173306" y="15731"/>
                    <a:pt x="172650" y="16052"/>
                    <a:pt x="171244" y="17702"/>
                  </a:cubicBezTo>
                  <a:lnTo>
                    <a:pt x="171229" y="17687"/>
                  </a:lnTo>
                  <a:lnTo>
                    <a:pt x="171260" y="17549"/>
                  </a:lnTo>
                  <a:cubicBezTo>
                    <a:pt x="171412" y="16953"/>
                    <a:pt x="171596" y="16357"/>
                    <a:pt x="171596" y="16098"/>
                  </a:cubicBezTo>
                  <a:cubicBezTo>
                    <a:pt x="171596" y="15884"/>
                    <a:pt x="171489" y="15777"/>
                    <a:pt x="171290" y="15777"/>
                  </a:cubicBezTo>
                  <a:cubicBezTo>
                    <a:pt x="170802" y="15776"/>
                    <a:pt x="170084" y="15883"/>
                    <a:pt x="169366" y="15975"/>
                  </a:cubicBezTo>
                  <a:cubicBezTo>
                    <a:pt x="169259" y="16097"/>
                    <a:pt x="169290" y="16265"/>
                    <a:pt x="169381" y="16402"/>
                  </a:cubicBezTo>
                  <a:lnTo>
                    <a:pt x="169992" y="16448"/>
                  </a:lnTo>
                  <a:cubicBezTo>
                    <a:pt x="170175" y="16464"/>
                    <a:pt x="170267" y="16601"/>
                    <a:pt x="170267" y="16754"/>
                  </a:cubicBezTo>
                  <a:cubicBezTo>
                    <a:pt x="170267" y="16892"/>
                    <a:pt x="170221" y="17106"/>
                    <a:pt x="170129" y="17534"/>
                  </a:cubicBezTo>
                  <a:lnTo>
                    <a:pt x="169274" y="21339"/>
                  </a:lnTo>
                  <a:cubicBezTo>
                    <a:pt x="169198" y="21645"/>
                    <a:pt x="169076" y="22027"/>
                    <a:pt x="169076" y="22180"/>
                  </a:cubicBezTo>
                  <a:cubicBezTo>
                    <a:pt x="169076" y="22439"/>
                    <a:pt x="169244" y="22592"/>
                    <a:pt x="169732" y="22592"/>
                  </a:cubicBezTo>
                  <a:cubicBezTo>
                    <a:pt x="170313" y="22592"/>
                    <a:pt x="170297" y="21920"/>
                    <a:pt x="170435" y="21339"/>
                  </a:cubicBezTo>
                  <a:lnTo>
                    <a:pt x="171015" y="18802"/>
                  </a:lnTo>
                  <a:cubicBezTo>
                    <a:pt x="171977" y="17549"/>
                    <a:pt x="172818" y="16648"/>
                    <a:pt x="173367" y="16648"/>
                  </a:cubicBezTo>
                  <a:cubicBezTo>
                    <a:pt x="173688" y="16648"/>
                    <a:pt x="173902" y="16724"/>
                    <a:pt x="173902" y="17198"/>
                  </a:cubicBezTo>
                  <a:cubicBezTo>
                    <a:pt x="173902" y="17412"/>
                    <a:pt x="173825" y="17717"/>
                    <a:pt x="173703" y="18237"/>
                  </a:cubicBezTo>
                  <a:lnTo>
                    <a:pt x="173123" y="20682"/>
                  </a:lnTo>
                  <a:cubicBezTo>
                    <a:pt x="173001" y="21171"/>
                    <a:pt x="172863" y="21798"/>
                    <a:pt x="172863" y="22088"/>
                  </a:cubicBezTo>
                  <a:cubicBezTo>
                    <a:pt x="172863" y="22378"/>
                    <a:pt x="173031" y="22592"/>
                    <a:pt x="173489" y="22592"/>
                  </a:cubicBezTo>
                  <a:cubicBezTo>
                    <a:pt x="174223" y="22592"/>
                    <a:pt x="174956" y="22073"/>
                    <a:pt x="175658" y="21171"/>
                  </a:cubicBezTo>
                  <a:cubicBezTo>
                    <a:pt x="175612" y="21034"/>
                    <a:pt x="175521" y="20911"/>
                    <a:pt x="175307" y="20911"/>
                  </a:cubicBezTo>
                  <a:cubicBezTo>
                    <a:pt x="174910" y="21370"/>
                    <a:pt x="174467" y="21676"/>
                    <a:pt x="174314" y="21676"/>
                  </a:cubicBezTo>
                  <a:cubicBezTo>
                    <a:pt x="174207" y="21676"/>
                    <a:pt x="174162" y="21599"/>
                    <a:pt x="174162" y="21416"/>
                  </a:cubicBezTo>
                  <a:cubicBezTo>
                    <a:pt x="174162" y="21278"/>
                    <a:pt x="174238" y="20942"/>
                    <a:pt x="174330" y="20545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700" name="Calibrator initialization and event restart"/>
          <p:cNvSpPr/>
          <p:nvPr/>
        </p:nvSpPr>
        <p:spPr>
          <a:xfrm>
            <a:off x="13249275" y="3695700"/>
            <a:ext cx="4371975" cy="800100"/>
          </a:xfrm>
          <a:prstGeom prst="roundRect">
            <a:avLst>
              <a:gd name="adj" fmla="val 8000"/>
            </a:avLst>
          </a:prstGeom>
          <a:solidFill>
            <a:srgbClr val="F8CDAC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Label · Exact ridge initialization / refit"/>
          <p:cNvSpPr txBox="1"/>
          <p:nvPr/>
        </p:nvSpPr>
        <p:spPr>
          <a:xfrm>
            <a:off x="13354050" y="3762375"/>
            <a:ext cx="4105275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272C"/>
                </a:solidFill>
                <a:latin typeface="Times New Roman"/>
              </a:rPr>
              <a:t>Exact ridge initialization / refit</a:t>
            </a:r>
          </a:p>
        </p:txBody>
      </p:sp>
      <p:sp>
        <p:nvSpPr>
          <p:cNvPr id="1702" name="G41_CALIBRATION_FIT_INPUT — current: in-sample base forecasts"/>
          <p:cNvSpPr/>
          <p:nvPr/>
        </p:nvSpPr>
        <p:spPr>
          <a:xfrm>
            <a:off x="13354050" y="4038600"/>
            <a:ext cx="2876550" cy="304800"/>
          </a:xfrm>
          <a:prstGeom prst="rect">
            <a:avLst/>
          </a:prstGeom>
          <a:solidFill>
            <a:srgbClr val="FFF9F2"/>
          </a:solidFill>
          <a:ln w="13335">
            <a:solidFill>
              <a:srgbClr val="6B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G41_CALIBRATION_FIT_TEXT — independently replaceable"/>
          <p:cNvSpPr txBox="1"/>
          <p:nvPr/>
        </p:nvSpPr>
        <p:spPr>
          <a:xfrm>
            <a:off x="13430250" y="4086225"/>
            <a:ext cx="2714625" cy="2428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6272C"/>
                </a:solidFill>
                <a:latin typeface="Times New Roman"/>
              </a:rPr>
              <a:t>Base forecasts on fit windows</a:t>
            </a:r>
          </a:p>
        </p:txBody>
      </p:sp>
      <p:cxnSp>
        <p:nvCxnSpPr>
          <p:cNvPr id="1704" name="G41_CALIBRATION_BRIDGE — direct current fit, not cross-fitting"/>
          <p:cNvCxnSpPr/>
          <p:nvPr/>
        </p:nvCxnSpPr>
        <p:spPr>
          <a:xfrm>
            <a:off x="16230600" y="4191000"/>
            <a:ext cx="409575" cy="0"/>
          </a:xfrm>
          <a:prstGeom prst="line">
            <a:avLst/>
          </a:prstGeom>
          <a:ln w="25146">
            <a:solidFill>
              <a:srgbClr val="4C59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5" name="Formula · \boldsymbol{\Theta}_n,\mathbf{P}_n" descr="Editable LaTeX source: $\boldsymbol{\Theta}_n,\mathbf{P}_n$; native vector glyphs."/>
          <p:cNvGrpSpPr/>
          <p:nvPr/>
        </p:nvGrpSpPr>
        <p:grpSpPr>
          <a:xfrm>
            <a:off x="16706850" y="4048125"/>
            <a:ext cx="493704" cy="170208"/>
            <a:chOff x="0" y="0"/>
            <a:chExt cx="493704" cy="170208"/>
          </a:xfrm>
        </p:grpSpPr>
        <p:sp>
          <p:nvSpPr>
            <p:cNvPr id="1706" name="Paper math native glyph 1"/>
            <p:cNvSpPr/>
            <p:nvPr/>
          </p:nvSpPr>
          <p:spPr>
            <a:xfrm>
              <a:off x="0" y="0"/>
              <a:ext cx="493704" cy="170208"/>
            </a:xfrm>
            <a:custGeom>
              <a:avLst/>
              <a:gdLst/>
              <a:ahLst/>
              <a:cxnLst/>
              <a:rect l="0" t="0" r="r" b="b"/>
              <a:pathLst>
                <a:path w="38874" h="13402" stroke="0" extrusionOk="0">
                  <a:moveTo>
                    <a:pt x="6592" y="4935"/>
                  </a:moveTo>
                  <a:lnTo>
                    <a:pt x="4225" y="4935"/>
                  </a:lnTo>
                  <a:cubicBezTo>
                    <a:pt x="3666" y="4935"/>
                    <a:pt x="3485" y="4902"/>
                    <a:pt x="3485" y="4326"/>
                  </a:cubicBezTo>
                  <a:lnTo>
                    <a:pt x="3485" y="4211"/>
                  </a:lnTo>
                  <a:cubicBezTo>
                    <a:pt x="3485" y="4162"/>
                    <a:pt x="3468" y="4096"/>
                    <a:pt x="3354" y="4079"/>
                  </a:cubicBezTo>
                  <a:lnTo>
                    <a:pt x="2910" y="4079"/>
                  </a:lnTo>
                  <a:cubicBezTo>
                    <a:pt x="2910" y="4079"/>
                    <a:pt x="2959" y="4869"/>
                    <a:pt x="2959" y="5362"/>
                  </a:cubicBezTo>
                  <a:cubicBezTo>
                    <a:pt x="2959" y="5954"/>
                    <a:pt x="2910" y="6857"/>
                    <a:pt x="2910" y="6857"/>
                  </a:cubicBezTo>
                  <a:lnTo>
                    <a:pt x="3354" y="6857"/>
                  </a:lnTo>
                  <a:cubicBezTo>
                    <a:pt x="3403" y="6857"/>
                    <a:pt x="3468" y="6824"/>
                    <a:pt x="3485" y="6726"/>
                  </a:cubicBezTo>
                  <a:lnTo>
                    <a:pt x="3485" y="6611"/>
                  </a:lnTo>
                  <a:cubicBezTo>
                    <a:pt x="3485" y="6069"/>
                    <a:pt x="3682" y="6019"/>
                    <a:pt x="4225" y="6019"/>
                  </a:cubicBezTo>
                  <a:lnTo>
                    <a:pt x="6592" y="6019"/>
                  </a:lnTo>
                  <a:cubicBezTo>
                    <a:pt x="7069" y="6019"/>
                    <a:pt x="7331" y="6069"/>
                    <a:pt x="7331" y="6611"/>
                  </a:cubicBezTo>
                  <a:lnTo>
                    <a:pt x="7331" y="6726"/>
                  </a:lnTo>
                  <a:cubicBezTo>
                    <a:pt x="7348" y="6841"/>
                    <a:pt x="7430" y="6857"/>
                    <a:pt x="7463" y="6857"/>
                  </a:cubicBezTo>
                  <a:lnTo>
                    <a:pt x="7907" y="6857"/>
                  </a:lnTo>
                  <a:cubicBezTo>
                    <a:pt x="7907" y="6857"/>
                    <a:pt x="7858" y="5954"/>
                    <a:pt x="7858" y="5362"/>
                  </a:cubicBezTo>
                  <a:cubicBezTo>
                    <a:pt x="7858" y="4869"/>
                    <a:pt x="7907" y="4096"/>
                    <a:pt x="7907" y="4096"/>
                  </a:cubicBezTo>
                  <a:lnTo>
                    <a:pt x="7447" y="4096"/>
                  </a:lnTo>
                  <a:cubicBezTo>
                    <a:pt x="7381" y="4096"/>
                    <a:pt x="7348" y="4128"/>
                    <a:pt x="7331" y="4227"/>
                  </a:cubicBezTo>
                  <a:lnTo>
                    <a:pt x="7331" y="4326"/>
                  </a:lnTo>
                  <a:cubicBezTo>
                    <a:pt x="7331" y="4885"/>
                    <a:pt x="7118" y="4935"/>
                    <a:pt x="6592" y="4935"/>
                  </a:cubicBezTo>
                  <a:moveTo>
                    <a:pt x="5162" y="674"/>
                  </a:moveTo>
                  <a:cubicBezTo>
                    <a:pt x="7019" y="674"/>
                    <a:pt x="8630" y="2385"/>
                    <a:pt x="8630" y="5724"/>
                  </a:cubicBezTo>
                  <a:cubicBezTo>
                    <a:pt x="8630" y="8582"/>
                    <a:pt x="7365" y="10306"/>
                    <a:pt x="5704" y="10306"/>
                  </a:cubicBezTo>
                  <a:cubicBezTo>
                    <a:pt x="3764" y="10306"/>
                    <a:pt x="2154" y="8516"/>
                    <a:pt x="2154" y="5428"/>
                  </a:cubicBezTo>
                  <a:cubicBezTo>
                    <a:pt x="2154" y="2072"/>
                    <a:pt x="3764" y="674"/>
                    <a:pt x="5162" y="674"/>
                  </a:cubicBezTo>
                  <a:moveTo>
                    <a:pt x="10800" y="5411"/>
                  </a:moveTo>
                  <a:cubicBezTo>
                    <a:pt x="10800" y="2138"/>
                    <a:pt x="8269" y="0"/>
                    <a:pt x="5359" y="0"/>
                  </a:cubicBezTo>
                  <a:cubicBezTo>
                    <a:pt x="2236" y="0"/>
                    <a:pt x="0" y="2483"/>
                    <a:pt x="0" y="5707"/>
                  </a:cubicBezTo>
                  <a:cubicBezTo>
                    <a:pt x="0" y="8959"/>
                    <a:pt x="2384" y="10980"/>
                    <a:pt x="5376" y="10980"/>
                  </a:cubicBezTo>
                  <a:cubicBezTo>
                    <a:pt x="8696" y="10980"/>
                    <a:pt x="10800" y="8697"/>
                    <a:pt x="10800" y="5411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07" name="Paper math native glyph 2"/>
            <p:cNvSpPr/>
            <p:nvPr/>
          </p:nvSpPr>
          <p:spPr>
            <a:xfrm>
              <a:off x="0" y="0"/>
              <a:ext cx="493704" cy="170208"/>
            </a:xfrm>
            <a:custGeom>
              <a:avLst/>
              <a:gdLst/>
              <a:ahLst/>
              <a:cxnLst/>
              <a:rect l="0" t="0" r="r" b="b"/>
              <a:pathLst>
                <a:path w="38874" h="13402" stroke="0" extrusionOk="0">
                  <a:moveTo>
                    <a:pt x="16108" y="11794"/>
                  </a:moveTo>
                  <a:lnTo>
                    <a:pt x="16564" y="9884"/>
                  </a:lnTo>
                  <a:cubicBezTo>
                    <a:pt x="16660" y="9464"/>
                    <a:pt x="16720" y="9188"/>
                    <a:pt x="16720" y="8972"/>
                  </a:cubicBezTo>
                  <a:cubicBezTo>
                    <a:pt x="16720" y="8252"/>
                    <a:pt x="16396" y="8012"/>
                    <a:pt x="15928" y="8012"/>
                  </a:cubicBezTo>
                  <a:cubicBezTo>
                    <a:pt x="15304" y="8012"/>
                    <a:pt x="14788" y="8264"/>
                    <a:pt x="13684" y="9560"/>
                  </a:cubicBezTo>
                  <a:lnTo>
                    <a:pt x="13672" y="9548"/>
                  </a:lnTo>
                  <a:lnTo>
                    <a:pt x="13696" y="9440"/>
                  </a:lnTo>
                  <a:cubicBezTo>
                    <a:pt x="13816" y="8972"/>
                    <a:pt x="13960" y="8504"/>
                    <a:pt x="13960" y="8300"/>
                  </a:cubicBezTo>
                  <a:cubicBezTo>
                    <a:pt x="13960" y="8132"/>
                    <a:pt x="13876" y="8048"/>
                    <a:pt x="13720" y="8048"/>
                  </a:cubicBezTo>
                  <a:cubicBezTo>
                    <a:pt x="13336" y="8047"/>
                    <a:pt x="12772" y="8131"/>
                    <a:pt x="12208" y="8203"/>
                  </a:cubicBezTo>
                  <a:cubicBezTo>
                    <a:pt x="12124" y="8299"/>
                    <a:pt x="12148" y="8431"/>
                    <a:pt x="12220" y="8539"/>
                  </a:cubicBezTo>
                  <a:lnTo>
                    <a:pt x="12700" y="8575"/>
                  </a:lnTo>
                  <a:cubicBezTo>
                    <a:pt x="12844" y="8587"/>
                    <a:pt x="12916" y="8695"/>
                    <a:pt x="12916" y="8815"/>
                  </a:cubicBezTo>
                  <a:cubicBezTo>
                    <a:pt x="12916" y="8923"/>
                    <a:pt x="12880" y="9092"/>
                    <a:pt x="12808" y="9428"/>
                  </a:cubicBezTo>
                  <a:lnTo>
                    <a:pt x="12136" y="12418"/>
                  </a:lnTo>
                  <a:cubicBezTo>
                    <a:pt x="12076" y="12658"/>
                    <a:pt x="11980" y="12958"/>
                    <a:pt x="11980" y="13078"/>
                  </a:cubicBezTo>
                  <a:cubicBezTo>
                    <a:pt x="11980" y="13282"/>
                    <a:pt x="12112" y="13402"/>
                    <a:pt x="12496" y="13402"/>
                  </a:cubicBezTo>
                  <a:cubicBezTo>
                    <a:pt x="12952" y="13402"/>
                    <a:pt x="12940" y="12874"/>
                    <a:pt x="13048" y="12418"/>
                  </a:cubicBezTo>
                  <a:lnTo>
                    <a:pt x="13504" y="10425"/>
                  </a:lnTo>
                  <a:cubicBezTo>
                    <a:pt x="14260" y="9440"/>
                    <a:pt x="14920" y="8732"/>
                    <a:pt x="15352" y="8732"/>
                  </a:cubicBezTo>
                  <a:cubicBezTo>
                    <a:pt x="15604" y="8732"/>
                    <a:pt x="15772" y="8792"/>
                    <a:pt x="15772" y="9164"/>
                  </a:cubicBezTo>
                  <a:cubicBezTo>
                    <a:pt x="15772" y="9332"/>
                    <a:pt x="15712" y="9572"/>
                    <a:pt x="15616" y="9981"/>
                  </a:cubicBezTo>
                  <a:lnTo>
                    <a:pt x="15160" y="11902"/>
                  </a:lnTo>
                  <a:cubicBezTo>
                    <a:pt x="15064" y="12286"/>
                    <a:pt x="14956" y="12778"/>
                    <a:pt x="14956" y="13006"/>
                  </a:cubicBezTo>
                  <a:cubicBezTo>
                    <a:pt x="14956" y="13234"/>
                    <a:pt x="15088" y="13402"/>
                    <a:pt x="15448" y="13402"/>
                  </a:cubicBezTo>
                  <a:cubicBezTo>
                    <a:pt x="16024" y="13402"/>
                    <a:pt x="16600" y="12994"/>
                    <a:pt x="17152" y="12286"/>
                  </a:cubicBezTo>
                  <a:cubicBezTo>
                    <a:pt x="17116" y="12178"/>
                    <a:pt x="17044" y="12082"/>
                    <a:pt x="16876" y="12082"/>
                  </a:cubicBezTo>
                  <a:cubicBezTo>
                    <a:pt x="16564" y="12442"/>
                    <a:pt x="16216" y="12682"/>
                    <a:pt x="16096" y="12682"/>
                  </a:cubicBezTo>
                  <a:cubicBezTo>
                    <a:pt x="16012" y="12682"/>
                    <a:pt x="15976" y="12622"/>
                    <a:pt x="15976" y="12478"/>
                  </a:cubicBezTo>
                  <a:cubicBezTo>
                    <a:pt x="15976" y="12370"/>
                    <a:pt x="16036" y="12106"/>
                    <a:pt x="16108" y="1179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08" name="Paper math native glyph 3"/>
            <p:cNvSpPr/>
            <p:nvPr/>
          </p:nvSpPr>
          <p:spPr>
            <a:xfrm>
              <a:off x="0" y="0"/>
              <a:ext cx="493704" cy="170208"/>
            </a:xfrm>
            <a:custGeom>
              <a:avLst/>
              <a:gdLst/>
              <a:ahLst/>
              <a:cxnLst/>
              <a:rect l="0" t="0" r="r" b="b"/>
              <a:pathLst>
                <a:path w="38874" h="13402" stroke="0" extrusionOk="0">
                  <a:moveTo>
                    <a:pt x="19262" y="9259"/>
                  </a:moveTo>
                  <a:cubicBezTo>
                    <a:pt x="18753" y="9259"/>
                    <a:pt x="18391" y="9604"/>
                    <a:pt x="18391" y="10064"/>
                  </a:cubicBezTo>
                  <a:cubicBezTo>
                    <a:pt x="18391" y="10590"/>
                    <a:pt x="18819" y="10738"/>
                    <a:pt x="19114" y="10787"/>
                  </a:cubicBezTo>
                  <a:cubicBezTo>
                    <a:pt x="19427" y="10820"/>
                    <a:pt x="19706" y="10919"/>
                    <a:pt x="19706" y="11296"/>
                  </a:cubicBezTo>
                  <a:cubicBezTo>
                    <a:pt x="19706" y="11640"/>
                    <a:pt x="19114" y="12395"/>
                    <a:pt x="18260" y="12608"/>
                  </a:cubicBezTo>
                  <a:cubicBezTo>
                    <a:pt x="18260" y="12772"/>
                    <a:pt x="18293" y="12888"/>
                    <a:pt x="18407" y="13002"/>
                  </a:cubicBezTo>
                  <a:cubicBezTo>
                    <a:pt x="19394" y="12822"/>
                    <a:pt x="20347" y="12034"/>
                    <a:pt x="20347" y="10886"/>
                  </a:cubicBezTo>
                  <a:cubicBezTo>
                    <a:pt x="20347" y="9900"/>
                    <a:pt x="19920" y="9259"/>
                    <a:pt x="19262" y="925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09" name="Paper math native glyph 4"/>
            <p:cNvSpPr/>
            <p:nvPr/>
          </p:nvSpPr>
          <p:spPr>
            <a:xfrm>
              <a:off x="0" y="0"/>
              <a:ext cx="493704" cy="170208"/>
            </a:xfrm>
            <a:custGeom>
              <a:avLst/>
              <a:gdLst/>
              <a:ahLst/>
              <a:cxnLst/>
              <a:rect l="0" t="0" r="r" b="b"/>
              <a:pathLst>
                <a:path w="38874" h="13402" stroke="0" extrusionOk="0">
                  <a:moveTo>
                    <a:pt x="27706" y="1642"/>
                  </a:moveTo>
                  <a:cubicBezTo>
                    <a:pt x="27706" y="1067"/>
                    <a:pt x="27821" y="738"/>
                    <a:pt x="28692" y="738"/>
                  </a:cubicBezTo>
                  <a:cubicBezTo>
                    <a:pt x="29646" y="738"/>
                    <a:pt x="30747" y="1132"/>
                    <a:pt x="30747" y="3138"/>
                  </a:cubicBezTo>
                  <a:cubicBezTo>
                    <a:pt x="30747" y="4847"/>
                    <a:pt x="29876" y="5571"/>
                    <a:pt x="28528" y="5571"/>
                  </a:cubicBezTo>
                  <a:cubicBezTo>
                    <a:pt x="28282" y="5571"/>
                    <a:pt x="27936" y="5554"/>
                    <a:pt x="27706" y="5521"/>
                  </a:cubicBezTo>
                  <a:lnTo>
                    <a:pt x="27706" y="1642"/>
                  </a:lnTo>
                  <a:moveTo>
                    <a:pt x="25701" y="9355"/>
                  </a:moveTo>
                  <a:cubicBezTo>
                    <a:pt x="25701" y="9980"/>
                    <a:pt x="25471" y="10161"/>
                    <a:pt x="24797" y="10260"/>
                  </a:cubicBezTo>
                  <a:lnTo>
                    <a:pt x="24567" y="10293"/>
                  </a:lnTo>
                  <a:cubicBezTo>
                    <a:pt x="24501" y="10309"/>
                    <a:pt x="24435" y="10342"/>
                    <a:pt x="24435" y="10441"/>
                  </a:cubicBezTo>
                  <a:lnTo>
                    <a:pt x="24435" y="10819"/>
                  </a:lnTo>
                  <a:lnTo>
                    <a:pt x="24468" y="10851"/>
                  </a:lnTo>
                  <a:cubicBezTo>
                    <a:pt x="25076" y="10835"/>
                    <a:pt x="26079" y="10819"/>
                    <a:pt x="26703" y="10819"/>
                  </a:cubicBezTo>
                  <a:cubicBezTo>
                    <a:pt x="27328" y="10819"/>
                    <a:pt x="28495" y="10835"/>
                    <a:pt x="29104" y="10851"/>
                  </a:cubicBezTo>
                  <a:lnTo>
                    <a:pt x="29136" y="10819"/>
                  </a:lnTo>
                  <a:lnTo>
                    <a:pt x="29136" y="10441"/>
                  </a:lnTo>
                  <a:cubicBezTo>
                    <a:pt x="29136" y="10342"/>
                    <a:pt x="29104" y="10309"/>
                    <a:pt x="29005" y="10293"/>
                  </a:cubicBezTo>
                  <a:lnTo>
                    <a:pt x="28692" y="10260"/>
                  </a:lnTo>
                  <a:cubicBezTo>
                    <a:pt x="28035" y="10194"/>
                    <a:pt x="27706" y="9980"/>
                    <a:pt x="27706" y="9355"/>
                  </a:cubicBezTo>
                  <a:lnTo>
                    <a:pt x="27706" y="6179"/>
                  </a:lnTo>
                  <a:cubicBezTo>
                    <a:pt x="27936" y="6212"/>
                    <a:pt x="28216" y="6228"/>
                    <a:pt x="28610" y="6228"/>
                  </a:cubicBezTo>
                  <a:cubicBezTo>
                    <a:pt x="31849" y="6228"/>
                    <a:pt x="32835" y="4436"/>
                    <a:pt x="32835" y="2858"/>
                  </a:cubicBezTo>
                  <a:cubicBezTo>
                    <a:pt x="32835" y="1806"/>
                    <a:pt x="32128" y="64"/>
                    <a:pt x="28824" y="64"/>
                  </a:cubicBezTo>
                  <a:cubicBezTo>
                    <a:pt x="27492" y="61"/>
                    <a:pt x="25438" y="176"/>
                    <a:pt x="24468" y="176"/>
                  </a:cubicBezTo>
                  <a:lnTo>
                    <a:pt x="24435" y="209"/>
                  </a:lnTo>
                  <a:lnTo>
                    <a:pt x="24435" y="603"/>
                  </a:lnTo>
                  <a:cubicBezTo>
                    <a:pt x="24435" y="672"/>
                    <a:pt x="24484" y="738"/>
                    <a:pt x="24616" y="738"/>
                  </a:cubicBezTo>
                  <a:lnTo>
                    <a:pt x="25142" y="771"/>
                  </a:lnTo>
                  <a:cubicBezTo>
                    <a:pt x="25503" y="787"/>
                    <a:pt x="25701" y="1034"/>
                    <a:pt x="25701" y="1609"/>
                  </a:cubicBezTo>
                  <a:lnTo>
                    <a:pt x="25701" y="9355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10" name="Paper math native glyph 5"/>
            <p:cNvSpPr/>
            <p:nvPr/>
          </p:nvSpPr>
          <p:spPr>
            <a:xfrm>
              <a:off x="0" y="0"/>
              <a:ext cx="493704" cy="170208"/>
            </a:xfrm>
            <a:custGeom>
              <a:avLst/>
              <a:gdLst/>
              <a:ahLst/>
              <a:cxnLst/>
              <a:rect l="0" t="0" r="r" b="b"/>
              <a:pathLst>
                <a:path w="38874" h="13402" stroke="0" extrusionOk="0">
                  <a:moveTo>
                    <a:pt x="37830" y="11794"/>
                  </a:moveTo>
                  <a:lnTo>
                    <a:pt x="38286" y="9884"/>
                  </a:lnTo>
                  <a:cubicBezTo>
                    <a:pt x="38382" y="9464"/>
                    <a:pt x="38442" y="9188"/>
                    <a:pt x="38442" y="8972"/>
                  </a:cubicBezTo>
                  <a:cubicBezTo>
                    <a:pt x="38442" y="8252"/>
                    <a:pt x="38118" y="8012"/>
                    <a:pt x="37650" y="8012"/>
                  </a:cubicBezTo>
                  <a:cubicBezTo>
                    <a:pt x="37026" y="8012"/>
                    <a:pt x="36510" y="8264"/>
                    <a:pt x="35406" y="9560"/>
                  </a:cubicBezTo>
                  <a:lnTo>
                    <a:pt x="35394" y="9548"/>
                  </a:lnTo>
                  <a:lnTo>
                    <a:pt x="35418" y="9440"/>
                  </a:lnTo>
                  <a:cubicBezTo>
                    <a:pt x="35538" y="8972"/>
                    <a:pt x="35682" y="8504"/>
                    <a:pt x="35682" y="8300"/>
                  </a:cubicBezTo>
                  <a:cubicBezTo>
                    <a:pt x="35682" y="8132"/>
                    <a:pt x="35598" y="8048"/>
                    <a:pt x="35442" y="8048"/>
                  </a:cubicBezTo>
                  <a:cubicBezTo>
                    <a:pt x="35058" y="8047"/>
                    <a:pt x="34494" y="8131"/>
                    <a:pt x="33930" y="8203"/>
                  </a:cubicBezTo>
                  <a:cubicBezTo>
                    <a:pt x="33846" y="8299"/>
                    <a:pt x="33870" y="8431"/>
                    <a:pt x="33942" y="8539"/>
                  </a:cubicBezTo>
                  <a:lnTo>
                    <a:pt x="34422" y="8575"/>
                  </a:lnTo>
                  <a:cubicBezTo>
                    <a:pt x="34566" y="8587"/>
                    <a:pt x="34638" y="8695"/>
                    <a:pt x="34638" y="8815"/>
                  </a:cubicBezTo>
                  <a:cubicBezTo>
                    <a:pt x="34638" y="8923"/>
                    <a:pt x="34602" y="9092"/>
                    <a:pt x="34530" y="9428"/>
                  </a:cubicBezTo>
                  <a:lnTo>
                    <a:pt x="33858" y="12418"/>
                  </a:lnTo>
                  <a:cubicBezTo>
                    <a:pt x="33799" y="12658"/>
                    <a:pt x="33702" y="12958"/>
                    <a:pt x="33702" y="13078"/>
                  </a:cubicBezTo>
                  <a:cubicBezTo>
                    <a:pt x="33702" y="13282"/>
                    <a:pt x="33834" y="13402"/>
                    <a:pt x="34218" y="13402"/>
                  </a:cubicBezTo>
                  <a:cubicBezTo>
                    <a:pt x="34674" y="13402"/>
                    <a:pt x="34662" y="12874"/>
                    <a:pt x="34770" y="12418"/>
                  </a:cubicBezTo>
                  <a:lnTo>
                    <a:pt x="35226" y="10425"/>
                  </a:lnTo>
                  <a:cubicBezTo>
                    <a:pt x="35982" y="9440"/>
                    <a:pt x="36642" y="8732"/>
                    <a:pt x="37074" y="8732"/>
                  </a:cubicBezTo>
                  <a:cubicBezTo>
                    <a:pt x="37326" y="8732"/>
                    <a:pt x="37494" y="8792"/>
                    <a:pt x="37494" y="9164"/>
                  </a:cubicBezTo>
                  <a:cubicBezTo>
                    <a:pt x="37494" y="9332"/>
                    <a:pt x="37434" y="9572"/>
                    <a:pt x="37338" y="9981"/>
                  </a:cubicBezTo>
                  <a:lnTo>
                    <a:pt x="36882" y="11902"/>
                  </a:lnTo>
                  <a:cubicBezTo>
                    <a:pt x="36786" y="12286"/>
                    <a:pt x="36678" y="12778"/>
                    <a:pt x="36678" y="13006"/>
                  </a:cubicBezTo>
                  <a:cubicBezTo>
                    <a:pt x="36678" y="13234"/>
                    <a:pt x="36810" y="13402"/>
                    <a:pt x="37170" y="13402"/>
                  </a:cubicBezTo>
                  <a:cubicBezTo>
                    <a:pt x="37746" y="13402"/>
                    <a:pt x="38322" y="12994"/>
                    <a:pt x="38874" y="12286"/>
                  </a:cubicBezTo>
                  <a:cubicBezTo>
                    <a:pt x="38838" y="12178"/>
                    <a:pt x="38766" y="12082"/>
                    <a:pt x="38598" y="12082"/>
                  </a:cubicBezTo>
                  <a:cubicBezTo>
                    <a:pt x="38286" y="12442"/>
                    <a:pt x="37938" y="12682"/>
                    <a:pt x="37818" y="12682"/>
                  </a:cubicBezTo>
                  <a:cubicBezTo>
                    <a:pt x="37734" y="12682"/>
                    <a:pt x="37698" y="12622"/>
                    <a:pt x="37698" y="12478"/>
                  </a:cubicBezTo>
                  <a:cubicBezTo>
                    <a:pt x="37698" y="12370"/>
                    <a:pt x="37758" y="12106"/>
                    <a:pt x="37830" y="1179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cxnSp>
        <p:nvCxnSpPr>
          <p:cNvPr id="1711" name="G41_CALIBRATION_FIT_PATH — forecasts on fitting windows; separate from online path"/>
          <p:cNvCxnSpPr/>
          <p:nvPr/>
        </p:nvCxnSpPr>
        <p:spPr>
          <a:xfrm>
            <a:off x="12125325" y="2381250"/>
            <a:ext cx="542925" cy="0"/>
          </a:xfrm>
          <a:prstGeom prst="line">
            <a:avLst/>
          </a:prstGeom>
          <a:ln w="19050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2" name="G41_CALIBRATION_FIT_PATH — forecasts on fitting windows; separate from online path"/>
          <p:cNvCxnSpPr/>
          <p:nvPr/>
        </p:nvCxnSpPr>
        <p:spPr>
          <a:xfrm>
            <a:off x="12668250" y="2381250"/>
            <a:ext cx="0" cy="1590675"/>
          </a:xfrm>
          <a:prstGeom prst="line">
            <a:avLst/>
          </a:prstGeom>
          <a:ln w="19050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3" name="G41_CALIBRATION_FIT_PATH — forecasts on fitting windows; separate from online path"/>
          <p:cNvCxnSpPr/>
          <p:nvPr/>
        </p:nvCxnSpPr>
        <p:spPr>
          <a:xfrm>
            <a:off x="12668250" y="3971925"/>
            <a:ext cx="581025" cy="0"/>
          </a:xfrm>
          <a:prstGeom prst="line">
            <a:avLst/>
          </a:prstGeom>
          <a:ln w="19050">
            <a:solidFill>
              <a:srgbClr val="4C596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4" name="Label · Released-label RLS · every 64 windows"/>
          <p:cNvSpPr txBox="1"/>
          <p:nvPr/>
        </p:nvSpPr>
        <p:spPr>
          <a:xfrm>
            <a:off x="13249275" y="4648200"/>
            <a:ext cx="4362450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272C"/>
                </a:solidFill>
                <a:latin typeface="Times New Roman"/>
              </a:rPr>
              <a:t>Released-label RLS · every 64 windows</a:t>
            </a:r>
          </a:p>
        </p:txBody>
      </p:sp>
      <p:grpSp>
        <p:nvGrpSpPr>
          <p:cNvPr id="1715" name="Formula · \mathbf{k}=\frac{\mathbf{P}_n\mathbf{z}}{\lambda+\mathbf{z}^{\top}\mathbf{P}_n\mathbf{z}}" descr="Editable LaTeX source: $\mathbf{k}=\frac{\mathbf{P}_n\mathbf{z}}{\lambda+\mathbf{z}^{\top}\mathbf{P}_n\mathbf{z}}$; native vector glyphs."/>
          <p:cNvGrpSpPr/>
          <p:nvPr/>
        </p:nvGrpSpPr>
        <p:grpSpPr>
          <a:xfrm>
            <a:off x="13268325" y="5010150"/>
            <a:ext cx="1225899" cy="474583"/>
            <a:chOff x="0" y="0"/>
            <a:chExt cx="1225899" cy="474583"/>
          </a:xfrm>
        </p:grpSpPr>
        <p:sp>
          <p:nvSpPr>
            <p:cNvPr id="1716" name="Paper math native glyph 1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1220" y="21556"/>
                  </a:moveTo>
                  <a:cubicBezTo>
                    <a:pt x="1220" y="22037"/>
                    <a:pt x="945" y="22208"/>
                    <a:pt x="395" y="22294"/>
                  </a:cubicBezTo>
                  <a:lnTo>
                    <a:pt x="189" y="22328"/>
                  </a:lnTo>
                  <a:cubicBezTo>
                    <a:pt x="103" y="22346"/>
                    <a:pt x="52" y="22380"/>
                    <a:pt x="52" y="22483"/>
                  </a:cubicBezTo>
                  <a:lnTo>
                    <a:pt x="52" y="22878"/>
                  </a:lnTo>
                  <a:lnTo>
                    <a:pt x="86" y="22913"/>
                  </a:lnTo>
                  <a:cubicBezTo>
                    <a:pt x="86" y="22913"/>
                    <a:pt x="1530" y="22878"/>
                    <a:pt x="2131" y="22878"/>
                  </a:cubicBezTo>
                  <a:cubicBezTo>
                    <a:pt x="2801" y="22878"/>
                    <a:pt x="4176" y="22913"/>
                    <a:pt x="4176" y="22913"/>
                  </a:cubicBezTo>
                  <a:lnTo>
                    <a:pt x="4210" y="22878"/>
                  </a:lnTo>
                  <a:lnTo>
                    <a:pt x="4210" y="22483"/>
                  </a:lnTo>
                  <a:cubicBezTo>
                    <a:pt x="4210" y="22380"/>
                    <a:pt x="4142" y="22346"/>
                    <a:pt x="4073" y="22328"/>
                  </a:cubicBezTo>
                  <a:lnTo>
                    <a:pt x="3953" y="22294"/>
                  </a:lnTo>
                  <a:cubicBezTo>
                    <a:pt x="3403" y="22140"/>
                    <a:pt x="3111" y="22037"/>
                    <a:pt x="3111" y="21556"/>
                  </a:cubicBezTo>
                  <a:lnTo>
                    <a:pt x="3111" y="19291"/>
                  </a:lnTo>
                  <a:cubicBezTo>
                    <a:pt x="3386" y="19308"/>
                    <a:pt x="3540" y="19342"/>
                    <a:pt x="3729" y="19617"/>
                  </a:cubicBezTo>
                  <a:cubicBezTo>
                    <a:pt x="4125" y="20200"/>
                    <a:pt x="4606" y="20921"/>
                    <a:pt x="4898" y="21539"/>
                  </a:cubicBezTo>
                  <a:cubicBezTo>
                    <a:pt x="5121" y="22020"/>
                    <a:pt x="5173" y="22174"/>
                    <a:pt x="5173" y="22431"/>
                  </a:cubicBezTo>
                  <a:lnTo>
                    <a:pt x="5173" y="22878"/>
                  </a:lnTo>
                  <a:lnTo>
                    <a:pt x="5207" y="22913"/>
                  </a:lnTo>
                  <a:cubicBezTo>
                    <a:pt x="5207" y="22913"/>
                    <a:pt x="6049" y="22878"/>
                    <a:pt x="6651" y="22878"/>
                  </a:cubicBezTo>
                  <a:cubicBezTo>
                    <a:pt x="7321" y="22878"/>
                    <a:pt x="8524" y="22913"/>
                    <a:pt x="8524" y="22913"/>
                  </a:cubicBezTo>
                  <a:lnTo>
                    <a:pt x="8575" y="22878"/>
                  </a:lnTo>
                  <a:lnTo>
                    <a:pt x="8575" y="22431"/>
                  </a:lnTo>
                  <a:cubicBezTo>
                    <a:pt x="8575" y="22363"/>
                    <a:pt x="8524" y="22328"/>
                    <a:pt x="8438" y="22328"/>
                  </a:cubicBezTo>
                  <a:lnTo>
                    <a:pt x="7940" y="22277"/>
                  </a:lnTo>
                  <a:cubicBezTo>
                    <a:pt x="7682" y="22260"/>
                    <a:pt x="7270" y="21985"/>
                    <a:pt x="6977" y="21539"/>
                  </a:cubicBezTo>
                  <a:lnTo>
                    <a:pt x="4984" y="18604"/>
                  </a:lnTo>
                  <a:cubicBezTo>
                    <a:pt x="4898" y="18484"/>
                    <a:pt x="4864" y="18347"/>
                    <a:pt x="4932" y="18261"/>
                  </a:cubicBezTo>
                  <a:cubicBezTo>
                    <a:pt x="4932" y="18261"/>
                    <a:pt x="5809" y="17317"/>
                    <a:pt x="6221" y="16854"/>
                  </a:cubicBezTo>
                  <a:cubicBezTo>
                    <a:pt x="6634" y="16442"/>
                    <a:pt x="7270" y="16030"/>
                    <a:pt x="7579" y="16013"/>
                  </a:cubicBezTo>
                  <a:lnTo>
                    <a:pt x="8094" y="15979"/>
                  </a:lnTo>
                  <a:cubicBezTo>
                    <a:pt x="8249" y="15961"/>
                    <a:pt x="8266" y="15944"/>
                    <a:pt x="8266" y="15806"/>
                  </a:cubicBezTo>
                  <a:lnTo>
                    <a:pt x="8266" y="15429"/>
                  </a:lnTo>
                  <a:lnTo>
                    <a:pt x="8215" y="15394"/>
                  </a:lnTo>
                  <a:cubicBezTo>
                    <a:pt x="8215" y="15394"/>
                    <a:pt x="6908" y="15429"/>
                    <a:pt x="6238" y="15429"/>
                  </a:cubicBezTo>
                  <a:cubicBezTo>
                    <a:pt x="5637" y="15429"/>
                    <a:pt x="4485" y="15394"/>
                    <a:pt x="4485" y="15394"/>
                  </a:cubicBezTo>
                  <a:lnTo>
                    <a:pt x="4399" y="15429"/>
                  </a:lnTo>
                  <a:lnTo>
                    <a:pt x="4399" y="15806"/>
                  </a:lnTo>
                  <a:cubicBezTo>
                    <a:pt x="4399" y="15910"/>
                    <a:pt x="4434" y="15961"/>
                    <a:pt x="4623" y="15979"/>
                  </a:cubicBezTo>
                  <a:lnTo>
                    <a:pt x="4984" y="16013"/>
                  </a:lnTo>
                  <a:cubicBezTo>
                    <a:pt x="5241" y="16030"/>
                    <a:pt x="5585" y="16356"/>
                    <a:pt x="5173" y="16888"/>
                  </a:cubicBezTo>
                  <a:cubicBezTo>
                    <a:pt x="4778" y="17403"/>
                    <a:pt x="4417" y="17832"/>
                    <a:pt x="4073" y="18124"/>
                  </a:cubicBezTo>
                  <a:cubicBezTo>
                    <a:pt x="3850" y="18313"/>
                    <a:pt x="3471" y="18553"/>
                    <a:pt x="3111" y="18604"/>
                  </a:cubicBezTo>
                  <a:lnTo>
                    <a:pt x="3111" y="12864"/>
                  </a:lnTo>
                  <a:cubicBezTo>
                    <a:pt x="3111" y="11745"/>
                    <a:pt x="3162" y="11054"/>
                    <a:pt x="3162" y="11054"/>
                  </a:cubicBezTo>
                  <a:cubicBezTo>
                    <a:pt x="3162" y="10932"/>
                    <a:pt x="3042" y="10879"/>
                    <a:pt x="2887" y="10879"/>
                  </a:cubicBezTo>
                  <a:cubicBezTo>
                    <a:pt x="2458" y="11054"/>
                    <a:pt x="687" y="11280"/>
                    <a:pt x="0" y="11333"/>
                  </a:cubicBezTo>
                  <a:lnTo>
                    <a:pt x="52" y="11831"/>
                  </a:lnTo>
                  <a:cubicBezTo>
                    <a:pt x="52" y="11883"/>
                    <a:pt x="103" y="11917"/>
                    <a:pt x="155" y="11917"/>
                  </a:cubicBezTo>
                  <a:lnTo>
                    <a:pt x="705" y="11951"/>
                  </a:lnTo>
                  <a:cubicBezTo>
                    <a:pt x="1048" y="11951"/>
                    <a:pt x="1220" y="12089"/>
                    <a:pt x="1220" y="13208"/>
                  </a:cubicBezTo>
                  <a:lnTo>
                    <a:pt x="1220" y="2155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17" name="Paper math native glyph 2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23042" y="17207"/>
                  </a:moveTo>
                  <a:lnTo>
                    <a:pt x="23042" y="16244"/>
                  </a:lnTo>
                  <a:lnTo>
                    <a:pt x="14243" y="16244"/>
                  </a:lnTo>
                  <a:lnTo>
                    <a:pt x="14243" y="17207"/>
                  </a:lnTo>
                  <a:lnTo>
                    <a:pt x="23042" y="17207"/>
                  </a:lnTo>
                  <a:moveTo>
                    <a:pt x="23042" y="20697"/>
                  </a:moveTo>
                  <a:lnTo>
                    <a:pt x="23042" y="19735"/>
                  </a:lnTo>
                  <a:lnTo>
                    <a:pt x="14243" y="19735"/>
                  </a:lnTo>
                  <a:lnTo>
                    <a:pt x="14243" y="20697"/>
                  </a:lnTo>
                  <a:lnTo>
                    <a:pt x="23042" y="20697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18" name="Paper math native glyph 3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55006" y="1650"/>
                  </a:moveTo>
                  <a:cubicBezTo>
                    <a:pt x="55006" y="1048"/>
                    <a:pt x="55126" y="705"/>
                    <a:pt x="56037" y="705"/>
                  </a:cubicBezTo>
                  <a:cubicBezTo>
                    <a:pt x="57034" y="705"/>
                    <a:pt x="58185" y="1117"/>
                    <a:pt x="58185" y="3214"/>
                  </a:cubicBezTo>
                  <a:cubicBezTo>
                    <a:pt x="58185" y="5001"/>
                    <a:pt x="57275" y="5757"/>
                    <a:pt x="55865" y="5757"/>
                  </a:cubicBezTo>
                  <a:cubicBezTo>
                    <a:pt x="55608" y="5757"/>
                    <a:pt x="55246" y="5740"/>
                    <a:pt x="55006" y="5706"/>
                  </a:cubicBezTo>
                  <a:lnTo>
                    <a:pt x="55006" y="1650"/>
                  </a:lnTo>
                  <a:moveTo>
                    <a:pt x="52909" y="9713"/>
                  </a:moveTo>
                  <a:cubicBezTo>
                    <a:pt x="52909" y="10367"/>
                    <a:pt x="52669" y="10556"/>
                    <a:pt x="51964" y="10659"/>
                  </a:cubicBezTo>
                  <a:lnTo>
                    <a:pt x="51724" y="10694"/>
                  </a:lnTo>
                  <a:cubicBezTo>
                    <a:pt x="51655" y="10711"/>
                    <a:pt x="51586" y="10745"/>
                    <a:pt x="51586" y="10849"/>
                  </a:cubicBezTo>
                  <a:lnTo>
                    <a:pt x="51586" y="11244"/>
                  </a:lnTo>
                  <a:lnTo>
                    <a:pt x="51620" y="11278"/>
                  </a:lnTo>
                  <a:cubicBezTo>
                    <a:pt x="52256" y="11261"/>
                    <a:pt x="53305" y="11244"/>
                    <a:pt x="53958" y="11244"/>
                  </a:cubicBezTo>
                  <a:cubicBezTo>
                    <a:pt x="54611" y="11244"/>
                    <a:pt x="55831" y="11261"/>
                    <a:pt x="56467" y="11278"/>
                  </a:cubicBezTo>
                  <a:lnTo>
                    <a:pt x="56501" y="11244"/>
                  </a:lnTo>
                  <a:lnTo>
                    <a:pt x="56501" y="10849"/>
                  </a:lnTo>
                  <a:cubicBezTo>
                    <a:pt x="56501" y="10745"/>
                    <a:pt x="56467" y="10711"/>
                    <a:pt x="56364" y="10694"/>
                  </a:cubicBezTo>
                  <a:lnTo>
                    <a:pt x="56037" y="10659"/>
                  </a:lnTo>
                  <a:cubicBezTo>
                    <a:pt x="55350" y="10591"/>
                    <a:pt x="55006" y="10367"/>
                    <a:pt x="55006" y="9713"/>
                  </a:cubicBezTo>
                  <a:lnTo>
                    <a:pt x="55006" y="6393"/>
                  </a:lnTo>
                  <a:cubicBezTo>
                    <a:pt x="55246" y="6428"/>
                    <a:pt x="55539" y="6445"/>
                    <a:pt x="55951" y="6445"/>
                  </a:cubicBezTo>
                  <a:cubicBezTo>
                    <a:pt x="59337" y="6445"/>
                    <a:pt x="60368" y="4572"/>
                    <a:pt x="60368" y="2922"/>
                  </a:cubicBezTo>
                  <a:cubicBezTo>
                    <a:pt x="60368" y="1822"/>
                    <a:pt x="59629" y="0"/>
                    <a:pt x="56174" y="0"/>
                  </a:cubicBezTo>
                  <a:cubicBezTo>
                    <a:pt x="54783" y="-3"/>
                    <a:pt x="52634" y="118"/>
                    <a:pt x="51620" y="118"/>
                  </a:cubicBezTo>
                  <a:lnTo>
                    <a:pt x="51586" y="152"/>
                  </a:lnTo>
                  <a:lnTo>
                    <a:pt x="51586" y="564"/>
                  </a:lnTo>
                  <a:cubicBezTo>
                    <a:pt x="51586" y="636"/>
                    <a:pt x="51638" y="705"/>
                    <a:pt x="51775" y="705"/>
                  </a:cubicBezTo>
                  <a:lnTo>
                    <a:pt x="52325" y="739"/>
                  </a:lnTo>
                  <a:cubicBezTo>
                    <a:pt x="52703" y="756"/>
                    <a:pt x="52909" y="1014"/>
                    <a:pt x="52909" y="1616"/>
                  </a:cubicBezTo>
                  <a:lnTo>
                    <a:pt x="52909" y="971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19" name="Paper math native glyph 4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65590" y="12263"/>
                  </a:moveTo>
                  <a:lnTo>
                    <a:pt x="66067" y="10267"/>
                  </a:lnTo>
                  <a:cubicBezTo>
                    <a:pt x="66167" y="9828"/>
                    <a:pt x="66230" y="9539"/>
                    <a:pt x="66230" y="9313"/>
                  </a:cubicBezTo>
                  <a:cubicBezTo>
                    <a:pt x="66230" y="8560"/>
                    <a:pt x="65892" y="8309"/>
                    <a:pt x="65402" y="8309"/>
                  </a:cubicBezTo>
                  <a:cubicBezTo>
                    <a:pt x="64750" y="8309"/>
                    <a:pt x="64210" y="8573"/>
                    <a:pt x="63056" y="9928"/>
                  </a:cubicBezTo>
                  <a:lnTo>
                    <a:pt x="63044" y="9916"/>
                  </a:lnTo>
                  <a:lnTo>
                    <a:pt x="63069" y="9803"/>
                  </a:lnTo>
                  <a:cubicBezTo>
                    <a:pt x="63194" y="9313"/>
                    <a:pt x="63345" y="8824"/>
                    <a:pt x="63345" y="8610"/>
                  </a:cubicBezTo>
                  <a:cubicBezTo>
                    <a:pt x="63345" y="8435"/>
                    <a:pt x="63257" y="8347"/>
                    <a:pt x="63094" y="8347"/>
                  </a:cubicBezTo>
                  <a:cubicBezTo>
                    <a:pt x="62692" y="8346"/>
                    <a:pt x="62103" y="8434"/>
                    <a:pt x="61513" y="8509"/>
                  </a:cubicBezTo>
                  <a:cubicBezTo>
                    <a:pt x="61425" y="8610"/>
                    <a:pt x="61450" y="8748"/>
                    <a:pt x="61526" y="8861"/>
                  </a:cubicBezTo>
                  <a:lnTo>
                    <a:pt x="62027" y="8898"/>
                  </a:lnTo>
                  <a:cubicBezTo>
                    <a:pt x="62178" y="8911"/>
                    <a:pt x="62253" y="9024"/>
                    <a:pt x="62253" y="9149"/>
                  </a:cubicBezTo>
                  <a:cubicBezTo>
                    <a:pt x="62253" y="9262"/>
                    <a:pt x="62216" y="9438"/>
                    <a:pt x="62140" y="9790"/>
                  </a:cubicBezTo>
                  <a:lnTo>
                    <a:pt x="61438" y="12916"/>
                  </a:lnTo>
                  <a:cubicBezTo>
                    <a:pt x="61375" y="13167"/>
                    <a:pt x="61275" y="13481"/>
                    <a:pt x="61275" y="13606"/>
                  </a:cubicBezTo>
                  <a:cubicBezTo>
                    <a:pt x="61275" y="13819"/>
                    <a:pt x="61413" y="13945"/>
                    <a:pt x="61814" y="13945"/>
                  </a:cubicBezTo>
                  <a:cubicBezTo>
                    <a:pt x="62291" y="13945"/>
                    <a:pt x="62278" y="13393"/>
                    <a:pt x="62391" y="12916"/>
                  </a:cubicBezTo>
                  <a:lnTo>
                    <a:pt x="62868" y="10832"/>
                  </a:lnTo>
                  <a:cubicBezTo>
                    <a:pt x="63658" y="9803"/>
                    <a:pt x="64348" y="9062"/>
                    <a:pt x="64800" y="9062"/>
                  </a:cubicBezTo>
                  <a:cubicBezTo>
                    <a:pt x="65063" y="9062"/>
                    <a:pt x="65239" y="9125"/>
                    <a:pt x="65239" y="9514"/>
                  </a:cubicBezTo>
                  <a:cubicBezTo>
                    <a:pt x="65239" y="9690"/>
                    <a:pt x="65176" y="9941"/>
                    <a:pt x="65076" y="10368"/>
                  </a:cubicBezTo>
                  <a:lnTo>
                    <a:pt x="64599" y="12376"/>
                  </a:lnTo>
                  <a:cubicBezTo>
                    <a:pt x="64499" y="12778"/>
                    <a:pt x="64386" y="13293"/>
                    <a:pt x="64386" y="13531"/>
                  </a:cubicBezTo>
                  <a:cubicBezTo>
                    <a:pt x="64386" y="13769"/>
                    <a:pt x="64524" y="13945"/>
                    <a:pt x="64900" y="13945"/>
                  </a:cubicBezTo>
                  <a:cubicBezTo>
                    <a:pt x="65503" y="13945"/>
                    <a:pt x="66105" y="13518"/>
                    <a:pt x="66682" y="12778"/>
                  </a:cubicBezTo>
                  <a:cubicBezTo>
                    <a:pt x="66644" y="12665"/>
                    <a:pt x="66569" y="12564"/>
                    <a:pt x="66393" y="12564"/>
                  </a:cubicBezTo>
                  <a:cubicBezTo>
                    <a:pt x="66067" y="12941"/>
                    <a:pt x="65703" y="13192"/>
                    <a:pt x="65578" y="13192"/>
                  </a:cubicBezTo>
                  <a:cubicBezTo>
                    <a:pt x="65490" y="13192"/>
                    <a:pt x="65452" y="13129"/>
                    <a:pt x="65452" y="12979"/>
                  </a:cubicBezTo>
                  <a:cubicBezTo>
                    <a:pt x="65452" y="12866"/>
                    <a:pt x="65515" y="12590"/>
                    <a:pt x="65590" y="1226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0" name="Paper math native glyph 5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69278" y="3575"/>
                  </a:moveTo>
                  <a:lnTo>
                    <a:pt x="68711" y="3575"/>
                  </a:lnTo>
                  <a:cubicBezTo>
                    <a:pt x="68677" y="4315"/>
                    <a:pt x="68608" y="4916"/>
                    <a:pt x="68333" y="6051"/>
                  </a:cubicBezTo>
                  <a:lnTo>
                    <a:pt x="69072" y="6155"/>
                  </a:lnTo>
                  <a:cubicBezTo>
                    <a:pt x="69364" y="4892"/>
                    <a:pt x="69777" y="4515"/>
                    <a:pt x="70292" y="4515"/>
                  </a:cubicBezTo>
                  <a:lnTo>
                    <a:pt x="72286" y="4515"/>
                  </a:lnTo>
                  <a:cubicBezTo>
                    <a:pt x="70945" y="6540"/>
                    <a:pt x="69673" y="8583"/>
                    <a:pt x="68333" y="10592"/>
                  </a:cubicBezTo>
                  <a:cubicBezTo>
                    <a:pt x="68195" y="10815"/>
                    <a:pt x="68144" y="10935"/>
                    <a:pt x="68144" y="10970"/>
                  </a:cubicBezTo>
                  <a:cubicBezTo>
                    <a:pt x="68144" y="11141"/>
                    <a:pt x="68350" y="11244"/>
                    <a:pt x="69089" y="11244"/>
                  </a:cubicBezTo>
                  <a:lnTo>
                    <a:pt x="74210" y="11244"/>
                  </a:lnTo>
                  <a:cubicBezTo>
                    <a:pt x="74279" y="10540"/>
                    <a:pt x="74399" y="9785"/>
                    <a:pt x="74657" y="8858"/>
                  </a:cubicBezTo>
                  <a:lnTo>
                    <a:pt x="73935" y="8703"/>
                  </a:lnTo>
                  <a:cubicBezTo>
                    <a:pt x="73643" y="9819"/>
                    <a:pt x="73145" y="10523"/>
                    <a:pt x="72389" y="10523"/>
                  </a:cubicBezTo>
                  <a:lnTo>
                    <a:pt x="70395" y="10523"/>
                  </a:lnTo>
                  <a:lnTo>
                    <a:pt x="74227" y="4635"/>
                  </a:lnTo>
                  <a:cubicBezTo>
                    <a:pt x="74416" y="4343"/>
                    <a:pt x="74571" y="4068"/>
                    <a:pt x="74571" y="4016"/>
                  </a:cubicBezTo>
                  <a:cubicBezTo>
                    <a:pt x="74571" y="3845"/>
                    <a:pt x="74296" y="3742"/>
                    <a:pt x="73953" y="3742"/>
                  </a:cubicBezTo>
                  <a:cubicBezTo>
                    <a:pt x="73901" y="3742"/>
                    <a:pt x="73488" y="3793"/>
                    <a:pt x="73076" y="3793"/>
                  </a:cubicBezTo>
                  <a:lnTo>
                    <a:pt x="69570" y="3793"/>
                  </a:lnTo>
                  <a:cubicBezTo>
                    <a:pt x="69467" y="3781"/>
                    <a:pt x="69347" y="3764"/>
                    <a:pt x="69278" y="3575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1" name="Paper math native glyph 6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29699" y="17981"/>
                  </a:moveTo>
                  <a:lnTo>
                    <a:pt x="96527" y="17981"/>
                  </a:lnTo>
                  <a:lnTo>
                    <a:pt x="96527" y="18944"/>
                  </a:lnTo>
                  <a:lnTo>
                    <a:pt x="29699" y="18944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2" name="Paper math native glyph 7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38016" y="33633"/>
                  </a:moveTo>
                  <a:lnTo>
                    <a:pt x="37724" y="33340"/>
                  </a:lnTo>
                  <a:cubicBezTo>
                    <a:pt x="37277" y="33787"/>
                    <a:pt x="37037" y="33822"/>
                    <a:pt x="36693" y="33822"/>
                  </a:cubicBezTo>
                  <a:cubicBezTo>
                    <a:pt x="36195" y="33822"/>
                    <a:pt x="36143" y="33237"/>
                    <a:pt x="36023" y="30986"/>
                  </a:cubicBezTo>
                  <a:lnTo>
                    <a:pt x="35731" y="24886"/>
                  </a:lnTo>
                  <a:cubicBezTo>
                    <a:pt x="35645" y="22858"/>
                    <a:pt x="34786" y="22669"/>
                    <a:pt x="34322" y="22669"/>
                  </a:cubicBezTo>
                  <a:cubicBezTo>
                    <a:pt x="33686" y="22669"/>
                    <a:pt x="33050" y="23202"/>
                    <a:pt x="32483" y="23855"/>
                  </a:cubicBezTo>
                  <a:lnTo>
                    <a:pt x="32689" y="24147"/>
                  </a:lnTo>
                  <a:cubicBezTo>
                    <a:pt x="33067" y="23889"/>
                    <a:pt x="33514" y="23717"/>
                    <a:pt x="33926" y="23717"/>
                  </a:cubicBezTo>
                  <a:cubicBezTo>
                    <a:pt x="34373" y="23717"/>
                    <a:pt x="34906" y="24078"/>
                    <a:pt x="35026" y="26450"/>
                  </a:cubicBezTo>
                  <a:lnTo>
                    <a:pt x="35061" y="27189"/>
                  </a:lnTo>
                  <a:lnTo>
                    <a:pt x="29802" y="34664"/>
                  </a:lnTo>
                  <a:lnTo>
                    <a:pt x="30145" y="34870"/>
                  </a:lnTo>
                  <a:cubicBezTo>
                    <a:pt x="30523" y="34732"/>
                    <a:pt x="30953" y="34681"/>
                    <a:pt x="31400" y="34664"/>
                  </a:cubicBezTo>
                  <a:lnTo>
                    <a:pt x="35112" y="28426"/>
                  </a:lnTo>
                  <a:lnTo>
                    <a:pt x="35318" y="32498"/>
                  </a:lnTo>
                  <a:cubicBezTo>
                    <a:pt x="35387" y="34096"/>
                    <a:pt x="35593" y="34870"/>
                    <a:pt x="36401" y="34870"/>
                  </a:cubicBezTo>
                  <a:cubicBezTo>
                    <a:pt x="36865" y="34870"/>
                    <a:pt x="37570" y="34303"/>
                    <a:pt x="38016" y="3363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3" name="Paper math native glyph 8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46630" y="29751"/>
                  </a:moveTo>
                  <a:lnTo>
                    <a:pt x="42867" y="29751"/>
                  </a:lnTo>
                  <a:lnTo>
                    <a:pt x="42867" y="30885"/>
                  </a:lnTo>
                  <a:lnTo>
                    <a:pt x="46630" y="30885"/>
                  </a:lnTo>
                  <a:lnTo>
                    <a:pt x="46630" y="34668"/>
                  </a:lnTo>
                  <a:lnTo>
                    <a:pt x="47764" y="34668"/>
                  </a:lnTo>
                  <a:lnTo>
                    <a:pt x="47764" y="30885"/>
                  </a:lnTo>
                  <a:lnTo>
                    <a:pt x="51528" y="30885"/>
                  </a:lnTo>
                  <a:lnTo>
                    <a:pt x="51528" y="29751"/>
                  </a:lnTo>
                  <a:lnTo>
                    <a:pt x="47764" y="29751"/>
                  </a:lnTo>
                  <a:lnTo>
                    <a:pt x="47764" y="25970"/>
                  </a:lnTo>
                  <a:lnTo>
                    <a:pt x="46630" y="25970"/>
                  </a:lnTo>
                  <a:lnTo>
                    <a:pt x="46630" y="2975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4" name="Paper math native glyph 9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57547" y="26999"/>
                  </a:moveTo>
                  <a:lnTo>
                    <a:pt x="56980" y="26999"/>
                  </a:lnTo>
                  <a:cubicBezTo>
                    <a:pt x="56945" y="27738"/>
                    <a:pt x="56877" y="28340"/>
                    <a:pt x="56602" y="29475"/>
                  </a:cubicBezTo>
                  <a:lnTo>
                    <a:pt x="57341" y="29578"/>
                  </a:lnTo>
                  <a:cubicBezTo>
                    <a:pt x="57633" y="28316"/>
                    <a:pt x="58045" y="27939"/>
                    <a:pt x="58561" y="27939"/>
                  </a:cubicBezTo>
                  <a:lnTo>
                    <a:pt x="60554" y="27939"/>
                  </a:lnTo>
                  <a:cubicBezTo>
                    <a:pt x="59214" y="29964"/>
                    <a:pt x="57942" y="32007"/>
                    <a:pt x="56602" y="34015"/>
                  </a:cubicBezTo>
                  <a:cubicBezTo>
                    <a:pt x="56464" y="34239"/>
                    <a:pt x="56413" y="34359"/>
                    <a:pt x="56413" y="34394"/>
                  </a:cubicBezTo>
                  <a:cubicBezTo>
                    <a:pt x="56413" y="34565"/>
                    <a:pt x="56619" y="34668"/>
                    <a:pt x="57358" y="34668"/>
                  </a:cubicBezTo>
                  <a:lnTo>
                    <a:pt x="62479" y="34668"/>
                  </a:lnTo>
                  <a:cubicBezTo>
                    <a:pt x="62548" y="33964"/>
                    <a:pt x="62668" y="33209"/>
                    <a:pt x="62926" y="32282"/>
                  </a:cubicBezTo>
                  <a:lnTo>
                    <a:pt x="62204" y="32127"/>
                  </a:lnTo>
                  <a:cubicBezTo>
                    <a:pt x="61912" y="33243"/>
                    <a:pt x="61414" y="33947"/>
                    <a:pt x="60657" y="33947"/>
                  </a:cubicBezTo>
                  <a:lnTo>
                    <a:pt x="58664" y="33947"/>
                  </a:lnTo>
                  <a:lnTo>
                    <a:pt x="62496" y="28059"/>
                  </a:lnTo>
                  <a:cubicBezTo>
                    <a:pt x="62685" y="27767"/>
                    <a:pt x="62840" y="27492"/>
                    <a:pt x="62840" y="27440"/>
                  </a:cubicBezTo>
                  <a:cubicBezTo>
                    <a:pt x="62840" y="27268"/>
                    <a:pt x="62565" y="27165"/>
                    <a:pt x="62221" y="27165"/>
                  </a:cubicBezTo>
                  <a:cubicBezTo>
                    <a:pt x="62170" y="27165"/>
                    <a:pt x="61757" y="27217"/>
                    <a:pt x="61345" y="27217"/>
                  </a:cubicBezTo>
                  <a:lnTo>
                    <a:pt x="57839" y="27217"/>
                  </a:lnTo>
                  <a:cubicBezTo>
                    <a:pt x="57736" y="27205"/>
                    <a:pt x="57616" y="27188"/>
                    <a:pt x="57547" y="2699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5" name="Paper math native glyph 10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71441" y="23503"/>
                  </a:moveTo>
                  <a:lnTo>
                    <a:pt x="71441" y="22800"/>
                  </a:lnTo>
                  <a:lnTo>
                    <a:pt x="64065" y="22800"/>
                  </a:lnTo>
                  <a:lnTo>
                    <a:pt x="64065" y="23503"/>
                  </a:lnTo>
                  <a:lnTo>
                    <a:pt x="67402" y="23503"/>
                  </a:lnTo>
                  <a:lnTo>
                    <a:pt x="67402" y="29700"/>
                  </a:lnTo>
                  <a:lnTo>
                    <a:pt x="68104" y="29700"/>
                  </a:lnTo>
                  <a:lnTo>
                    <a:pt x="68104" y="23503"/>
                  </a:lnTo>
                  <a:lnTo>
                    <a:pt x="71441" y="2350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6" name="Paper math native glyph 11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76515" y="25074"/>
                  </a:moveTo>
                  <a:cubicBezTo>
                    <a:pt x="76515" y="24472"/>
                    <a:pt x="76636" y="24129"/>
                    <a:pt x="77546" y="24129"/>
                  </a:cubicBezTo>
                  <a:cubicBezTo>
                    <a:pt x="78543" y="24129"/>
                    <a:pt x="79695" y="24541"/>
                    <a:pt x="79695" y="26638"/>
                  </a:cubicBezTo>
                  <a:cubicBezTo>
                    <a:pt x="79695" y="28425"/>
                    <a:pt x="78784" y="29181"/>
                    <a:pt x="77375" y="29181"/>
                  </a:cubicBezTo>
                  <a:cubicBezTo>
                    <a:pt x="77117" y="29181"/>
                    <a:pt x="76756" y="29164"/>
                    <a:pt x="76515" y="29130"/>
                  </a:cubicBezTo>
                  <a:lnTo>
                    <a:pt x="76515" y="25074"/>
                  </a:lnTo>
                  <a:moveTo>
                    <a:pt x="74419" y="33137"/>
                  </a:moveTo>
                  <a:cubicBezTo>
                    <a:pt x="74419" y="33791"/>
                    <a:pt x="74178" y="33980"/>
                    <a:pt x="73473" y="34083"/>
                  </a:cubicBezTo>
                  <a:lnTo>
                    <a:pt x="73233" y="34118"/>
                  </a:lnTo>
                  <a:cubicBezTo>
                    <a:pt x="73164" y="34135"/>
                    <a:pt x="73095" y="34169"/>
                    <a:pt x="73095" y="34272"/>
                  </a:cubicBezTo>
                  <a:lnTo>
                    <a:pt x="73095" y="34668"/>
                  </a:lnTo>
                  <a:lnTo>
                    <a:pt x="73130" y="34702"/>
                  </a:lnTo>
                  <a:cubicBezTo>
                    <a:pt x="73766" y="34685"/>
                    <a:pt x="74814" y="34668"/>
                    <a:pt x="75467" y="34668"/>
                  </a:cubicBezTo>
                  <a:cubicBezTo>
                    <a:pt x="76120" y="34668"/>
                    <a:pt x="77340" y="34685"/>
                    <a:pt x="77976" y="34702"/>
                  </a:cubicBezTo>
                  <a:lnTo>
                    <a:pt x="78011" y="34668"/>
                  </a:lnTo>
                  <a:lnTo>
                    <a:pt x="78011" y="34272"/>
                  </a:lnTo>
                  <a:cubicBezTo>
                    <a:pt x="78011" y="34169"/>
                    <a:pt x="77976" y="34135"/>
                    <a:pt x="77873" y="34118"/>
                  </a:cubicBezTo>
                  <a:lnTo>
                    <a:pt x="77546" y="34083"/>
                  </a:lnTo>
                  <a:cubicBezTo>
                    <a:pt x="76859" y="34015"/>
                    <a:pt x="76515" y="33791"/>
                    <a:pt x="76515" y="33137"/>
                  </a:cubicBezTo>
                  <a:lnTo>
                    <a:pt x="76515" y="29817"/>
                  </a:lnTo>
                  <a:cubicBezTo>
                    <a:pt x="76756" y="29851"/>
                    <a:pt x="77048" y="29869"/>
                    <a:pt x="77460" y="29869"/>
                  </a:cubicBezTo>
                  <a:cubicBezTo>
                    <a:pt x="80846" y="29869"/>
                    <a:pt x="81877" y="27995"/>
                    <a:pt x="81877" y="26346"/>
                  </a:cubicBezTo>
                  <a:cubicBezTo>
                    <a:pt x="81877" y="25246"/>
                    <a:pt x="81138" y="23424"/>
                    <a:pt x="77684" y="23424"/>
                  </a:cubicBezTo>
                  <a:cubicBezTo>
                    <a:pt x="76292" y="23421"/>
                    <a:pt x="74144" y="23541"/>
                    <a:pt x="73130" y="23541"/>
                  </a:cubicBezTo>
                  <a:lnTo>
                    <a:pt x="73095" y="23576"/>
                  </a:lnTo>
                  <a:lnTo>
                    <a:pt x="73095" y="23988"/>
                  </a:lnTo>
                  <a:cubicBezTo>
                    <a:pt x="73095" y="24060"/>
                    <a:pt x="73147" y="24129"/>
                    <a:pt x="73284" y="24129"/>
                  </a:cubicBezTo>
                  <a:lnTo>
                    <a:pt x="73834" y="24163"/>
                  </a:lnTo>
                  <a:cubicBezTo>
                    <a:pt x="74212" y="24180"/>
                    <a:pt x="74419" y="24438"/>
                    <a:pt x="74419" y="25040"/>
                  </a:cubicBezTo>
                  <a:lnTo>
                    <a:pt x="74419" y="33137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7" name="Paper math native glyph 12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87100" y="35687"/>
                  </a:moveTo>
                  <a:lnTo>
                    <a:pt x="87576" y="33691"/>
                  </a:lnTo>
                  <a:cubicBezTo>
                    <a:pt x="87677" y="33252"/>
                    <a:pt x="87740" y="32963"/>
                    <a:pt x="87740" y="32737"/>
                  </a:cubicBezTo>
                  <a:cubicBezTo>
                    <a:pt x="87740" y="31984"/>
                    <a:pt x="87401" y="31733"/>
                    <a:pt x="86912" y="31733"/>
                  </a:cubicBezTo>
                  <a:cubicBezTo>
                    <a:pt x="86259" y="31733"/>
                    <a:pt x="85720" y="31997"/>
                    <a:pt x="84565" y="33352"/>
                  </a:cubicBezTo>
                  <a:lnTo>
                    <a:pt x="84553" y="33340"/>
                  </a:lnTo>
                  <a:lnTo>
                    <a:pt x="84578" y="33227"/>
                  </a:lnTo>
                  <a:cubicBezTo>
                    <a:pt x="84703" y="32737"/>
                    <a:pt x="84854" y="32247"/>
                    <a:pt x="84854" y="32034"/>
                  </a:cubicBezTo>
                  <a:cubicBezTo>
                    <a:pt x="84854" y="31859"/>
                    <a:pt x="84766" y="31771"/>
                    <a:pt x="84603" y="31771"/>
                  </a:cubicBezTo>
                  <a:cubicBezTo>
                    <a:pt x="84202" y="31770"/>
                    <a:pt x="83612" y="31858"/>
                    <a:pt x="83022" y="31933"/>
                  </a:cubicBezTo>
                  <a:cubicBezTo>
                    <a:pt x="82935" y="32034"/>
                    <a:pt x="82960" y="32172"/>
                    <a:pt x="83035" y="32284"/>
                  </a:cubicBezTo>
                  <a:lnTo>
                    <a:pt x="83537" y="32322"/>
                  </a:lnTo>
                  <a:cubicBezTo>
                    <a:pt x="83687" y="32335"/>
                    <a:pt x="83763" y="32448"/>
                    <a:pt x="83763" y="32573"/>
                  </a:cubicBezTo>
                  <a:cubicBezTo>
                    <a:pt x="83763" y="32686"/>
                    <a:pt x="83725" y="32862"/>
                    <a:pt x="83650" y="33214"/>
                  </a:cubicBezTo>
                  <a:lnTo>
                    <a:pt x="82947" y="36340"/>
                  </a:lnTo>
                  <a:cubicBezTo>
                    <a:pt x="82885" y="36591"/>
                    <a:pt x="82784" y="36905"/>
                    <a:pt x="82784" y="37030"/>
                  </a:cubicBezTo>
                  <a:cubicBezTo>
                    <a:pt x="82784" y="37243"/>
                    <a:pt x="82922" y="37369"/>
                    <a:pt x="83323" y="37369"/>
                  </a:cubicBezTo>
                  <a:cubicBezTo>
                    <a:pt x="83800" y="37369"/>
                    <a:pt x="83788" y="36817"/>
                    <a:pt x="83901" y="36340"/>
                  </a:cubicBezTo>
                  <a:lnTo>
                    <a:pt x="84377" y="34256"/>
                  </a:lnTo>
                  <a:cubicBezTo>
                    <a:pt x="85168" y="33227"/>
                    <a:pt x="85858" y="32486"/>
                    <a:pt x="86309" y="32486"/>
                  </a:cubicBezTo>
                  <a:cubicBezTo>
                    <a:pt x="86573" y="32486"/>
                    <a:pt x="86748" y="32549"/>
                    <a:pt x="86748" y="32938"/>
                  </a:cubicBezTo>
                  <a:cubicBezTo>
                    <a:pt x="86748" y="33114"/>
                    <a:pt x="86686" y="33365"/>
                    <a:pt x="86585" y="33792"/>
                  </a:cubicBezTo>
                  <a:lnTo>
                    <a:pt x="86109" y="35800"/>
                  </a:lnTo>
                  <a:cubicBezTo>
                    <a:pt x="86008" y="36202"/>
                    <a:pt x="85895" y="36717"/>
                    <a:pt x="85895" y="36955"/>
                  </a:cubicBezTo>
                  <a:cubicBezTo>
                    <a:pt x="85895" y="37193"/>
                    <a:pt x="86033" y="37369"/>
                    <a:pt x="86410" y="37369"/>
                  </a:cubicBezTo>
                  <a:cubicBezTo>
                    <a:pt x="87012" y="37369"/>
                    <a:pt x="87614" y="36942"/>
                    <a:pt x="88191" y="36202"/>
                  </a:cubicBezTo>
                  <a:cubicBezTo>
                    <a:pt x="88154" y="36089"/>
                    <a:pt x="88078" y="35988"/>
                    <a:pt x="87903" y="35988"/>
                  </a:cubicBezTo>
                  <a:cubicBezTo>
                    <a:pt x="87576" y="36365"/>
                    <a:pt x="87213" y="36616"/>
                    <a:pt x="87087" y="36616"/>
                  </a:cubicBezTo>
                  <a:cubicBezTo>
                    <a:pt x="86999" y="36616"/>
                    <a:pt x="86962" y="36553"/>
                    <a:pt x="86962" y="36403"/>
                  </a:cubicBezTo>
                  <a:cubicBezTo>
                    <a:pt x="86962" y="36290"/>
                    <a:pt x="87024" y="36014"/>
                    <a:pt x="87100" y="35687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28" name="Paper math native glyph 13"/>
            <p:cNvSpPr/>
            <p:nvPr/>
          </p:nvSpPr>
          <p:spPr>
            <a:xfrm>
              <a:off x="0" y="0"/>
              <a:ext cx="1225899" cy="474583"/>
            </a:xfrm>
            <a:custGeom>
              <a:avLst/>
              <a:gdLst/>
              <a:ahLst/>
              <a:cxnLst/>
              <a:rect l="0" t="0" r="r" b="b"/>
              <a:pathLst>
                <a:path w="96527" h="37369" stroke="0" extrusionOk="0">
                  <a:moveTo>
                    <a:pt x="90787" y="26999"/>
                  </a:moveTo>
                  <a:lnTo>
                    <a:pt x="90220" y="26999"/>
                  </a:lnTo>
                  <a:cubicBezTo>
                    <a:pt x="90186" y="27738"/>
                    <a:pt x="90117" y="28340"/>
                    <a:pt x="89842" y="29475"/>
                  </a:cubicBezTo>
                  <a:lnTo>
                    <a:pt x="90581" y="29578"/>
                  </a:lnTo>
                  <a:cubicBezTo>
                    <a:pt x="90873" y="28316"/>
                    <a:pt x="91286" y="27939"/>
                    <a:pt x="91801" y="27939"/>
                  </a:cubicBezTo>
                  <a:lnTo>
                    <a:pt x="93795" y="27939"/>
                  </a:lnTo>
                  <a:cubicBezTo>
                    <a:pt x="92454" y="29964"/>
                    <a:pt x="91183" y="32007"/>
                    <a:pt x="89842" y="34015"/>
                  </a:cubicBezTo>
                  <a:cubicBezTo>
                    <a:pt x="89705" y="34239"/>
                    <a:pt x="89653" y="34359"/>
                    <a:pt x="89653" y="34394"/>
                  </a:cubicBezTo>
                  <a:cubicBezTo>
                    <a:pt x="89653" y="34565"/>
                    <a:pt x="89859" y="34668"/>
                    <a:pt x="90598" y="34668"/>
                  </a:cubicBezTo>
                  <a:lnTo>
                    <a:pt x="95720" y="34668"/>
                  </a:lnTo>
                  <a:cubicBezTo>
                    <a:pt x="95788" y="33964"/>
                    <a:pt x="95909" y="33209"/>
                    <a:pt x="96167" y="32282"/>
                  </a:cubicBezTo>
                  <a:lnTo>
                    <a:pt x="95445" y="32127"/>
                  </a:lnTo>
                  <a:cubicBezTo>
                    <a:pt x="95152" y="33243"/>
                    <a:pt x="94654" y="33947"/>
                    <a:pt x="93898" y="33947"/>
                  </a:cubicBezTo>
                  <a:lnTo>
                    <a:pt x="91904" y="33947"/>
                  </a:lnTo>
                  <a:lnTo>
                    <a:pt x="95737" y="28059"/>
                  </a:lnTo>
                  <a:cubicBezTo>
                    <a:pt x="95926" y="27767"/>
                    <a:pt x="96081" y="27492"/>
                    <a:pt x="96081" y="27440"/>
                  </a:cubicBezTo>
                  <a:cubicBezTo>
                    <a:pt x="96081" y="27268"/>
                    <a:pt x="95806" y="27165"/>
                    <a:pt x="95462" y="27165"/>
                  </a:cubicBezTo>
                  <a:cubicBezTo>
                    <a:pt x="95410" y="27165"/>
                    <a:pt x="94998" y="27217"/>
                    <a:pt x="94586" y="27217"/>
                  </a:cubicBezTo>
                  <a:lnTo>
                    <a:pt x="91080" y="27217"/>
                  </a:lnTo>
                  <a:cubicBezTo>
                    <a:pt x="90976" y="27205"/>
                    <a:pt x="90856" y="27188"/>
                    <a:pt x="90787" y="2699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729" name="Formula · \boldsymbol{\Theta}_n\leftarrow\boldsymbol{\Theta}_n+\mathbf{k}\boldsymbol{\varepsilon}^{\top}" descr="Editable LaTeX source: $\boldsymbol{\Theta}_n\leftarrow\boldsymbol{\Theta}_n+\mathbf{k}\boldsymbol{\varepsilon}^{\top}$; native vector glyphs."/>
          <p:cNvGrpSpPr/>
          <p:nvPr/>
        </p:nvGrpSpPr>
        <p:grpSpPr>
          <a:xfrm>
            <a:off x="15582900" y="5057775"/>
            <a:ext cx="1367692" cy="212086"/>
            <a:chOff x="0" y="0"/>
            <a:chExt cx="1367692" cy="212086"/>
          </a:xfrm>
        </p:grpSpPr>
        <p:sp>
          <p:nvSpPr>
            <p:cNvPr id="1730" name="Paper math native glyph 1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6891" y="7847"/>
                  </a:moveTo>
                  <a:lnTo>
                    <a:pt x="4417" y="7847"/>
                  </a:lnTo>
                  <a:cubicBezTo>
                    <a:pt x="3833" y="7847"/>
                    <a:pt x="3643" y="7813"/>
                    <a:pt x="3643" y="7211"/>
                  </a:cubicBezTo>
                  <a:lnTo>
                    <a:pt x="3643" y="7090"/>
                  </a:lnTo>
                  <a:cubicBezTo>
                    <a:pt x="3643" y="7039"/>
                    <a:pt x="3626" y="6970"/>
                    <a:pt x="3506" y="6953"/>
                  </a:cubicBezTo>
                  <a:lnTo>
                    <a:pt x="3042" y="6953"/>
                  </a:lnTo>
                  <a:cubicBezTo>
                    <a:pt x="3042" y="6953"/>
                    <a:pt x="3094" y="7778"/>
                    <a:pt x="3094" y="8294"/>
                  </a:cubicBezTo>
                  <a:cubicBezTo>
                    <a:pt x="3094" y="8913"/>
                    <a:pt x="3042" y="9857"/>
                    <a:pt x="3042" y="9857"/>
                  </a:cubicBezTo>
                  <a:lnTo>
                    <a:pt x="3506" y="9857"/>
                  </a:lnTo>
                  <a:cubicBezTo>
                    <a:pt x="3557" y="9857"/>
                    <a:pt x="3626" y="9823"/>
                    <a:pt x="3643" y="9720"/>
                  </a:cubicBezTo>
                  <a:lnTo>
                    <a:pt x="3643" y="9600"/>
                  </a:lnTo>
                  <a:cubicBezTo>
                    <a:pt x="3643" y="9033"/>
                    <a:pt x="3850" y="8981"/>
                    <a:pt x="4417" y="8981"/>
                  </a:cubicBezTo>
                  <a:lnTo>
                    <a:pt x="6891" y="8981"/>
                  </a:lnTo>
                  <a:cubicBezTo>
                    <a:pt x="7390" y="8981"/>
                    <a:pt x="7665" y="9033"/>
                    <a:pt x="7665" y="9600"/>
                  </a:cubicBezTo>
                  <a:lnTo>
                    <a:pt x="7665" y="9720"/>
                  </a:lnTo>
                  <a:cubicBezTo>
                    <a:pt x="7682" y="9840"/>
                    <a:pt x="7768" y="9857"/>
                    <a:pt x="7802" y="9857"/>
                  </a:cubicBezTo>
                  <a:lnTo>
                    <a:pt x="8266" y="9857"/>
                  </a:lnTo>
                  <a:cubicBezTo>
                    <a:pt x="8266" y="9857"/>
                    <a:pt x="8215" y="8913"/>
                    <a:pt x="8215" y="8294"/>
                  </a:cubicBezTo>
                  <a:cubicBezTo>
                    <a:pt x="8215" y="7778"/>
                    <a:pt x="8266" y="6970"/>
                    <a:pt x="8266" y="6970"/>
                  </a:cubicBezTo>
                  <a:lnTo>
                    <a:pt x="7785" y="6970"/>
                  </a:lnTo>
                  <a:cubicBezTo>
                    <a:pt x="7716" y="6970"/>
                    <a:pt x="7682" y="7004"/>
                    <a:pt x="7665" y="7108"/>
                  </a:cubicBezTo>
                  <a:lnTo>
                    <a:pt x="7665" y="7211"/>
                  </a:lnTo>
                  <a:cubicBezTo>
                    <a:pt x="7665" y="7795"/>
                    <a:pt x="7441" y="7847"/>
                    <a:pt x="6891" y="7847"/>
                  </a:cubicBezTo>
                  <a:moveTo>
                    <a:pt x="5396" y="3393"/>
                  </a:moveTo>
                  <a:cubicBezTo>
                    <a:pt x="7338" y="3393"/>
                    <a:pt x="9023" y="5181"/>
                    <a:pt x="9023" y="8672"/>
                  </a:cubicBezTo>
                  <a:cubicBezTo>
                    <a:pt x="9023" y="11660"/>
                    <a:pt x="7699" y="13463"/>
                    <a:pt x="5963" y="13463"/>
                  </a:cubicBezTo>
                  <a:cubicBezTo>
                    <a:pt x="3936" y="13463"/>
                    <a:pt x="2252" y="11591"/>
                    <a:pt x="2252" y="8363"/>
                  </a:cubicBezTo>
                  <a:cubicBezTo>
                    <a:pt x="2252" y="4855"/>
                    <a:pt x="3936" y="3393"/>
                    <a:pt x="5396" y="3393"/>
                  </a:cubicBezTo>
                  <a:moveTo>
                    <a:pt x="11291" y="8346"/>
                  </a:moveTo>
                  <a:cubicBezTo>
                    <a:pt x="11291" y="4924"/>
                    <a:pt x="8644" y="2688"/>
                    <a:pt x="5603" y="2688"/>
                  </a:cubicBezTo>
                  <a:cubicBezTo>
                    <a:pt x="2337" y="2688"/>
                    <a:pt x="0" y="5285"/>
                    <a:pt x="0" y="8655"/>
                  </a:cubicBezTo>
                  <a:cubicBezTo>
                    <a:pt x="0" y="12055"/>
                    <a:pt x="2492" y="14167"/>
                    <a:pt x="5620" y="14167"/>
                  </a:cubicBezTo>
                  <a:cubicBezTo>
                    <a:pt x="9091" y="14167"/>
                    <a:pt x="11291" y="11780"/>
                    <a:pt x="11291" y="8346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31" name="Paper math native glyph 2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16840" y="15018"/>
                  </a:moveTo>
                  <a:lnTo>
                    <a:pt x="17317" y="13022"/>
                  </a:lnTo>
                  <a:cubicBezTo>
                    <a:pt x="17417" y="12583"/>
                    <a:pt x="17480" y="12294"/>
                    <a:pt x="17480" y="12068"/>
                  </a:cubicBezTo>
                  <a:cubicBezTo>
                    <a:pt x="17480" y="11315"/>
                    <a:pt x="17141" y="11064"/>
                    <a:pt x="16652" y="11064"/>
                  </a:cubicBezTo>
                  <a:cubicBezTo>
                    <a:pt x="16000" y="11064"/>
                    <a:pt x="15460" y="11328"/>
                    <a:pt x="14306" y="12683"/>
                  </a:cubicBezTo>
                  <a:lnTo>
                    <a:pt x="14293" y="12671"/>
                  </a:lnTo>
                  <a:lnTo>
                    <a:pt x="14318" y="12558"/>
                  </a:lnTo>
                  <a:cubicBezTo>
                    <a:pt x="14444" y="12068"/>
                    <a:pt x="14594" y="11578"/>
                    <a:pt x="14594" y="11365"/>
                  </a:cubicBezTo>
                  <a:cubicBezTo>
                    <a:pt x="14594" y="11190"/>
                    <a:pt x="14507" y="11102"/>
                    <a:pt x="14344" y="11102"/>
                  </a:cubicBezTo>
                  <a:cubicBezTo>
                    <a:pt x="13942" y="11101"/>
                    <a:pt x="13352" y="11189"/>
                    <a:pt x="12763" y="11264"/>
                  </a:cubicBezTo>
                  <a:cubicBezTo>
                    <a:pt x="12675" y="11365"/>
                    <a:pt x="12700" y="11503"/>
                    <a:pt x="12775" y="11615"/>
                  </a:cubicBezTo>
                  <a:lnTo>
                    <a:pt x="13277" y="11653"/>
                  </a:lnTo>
                  <a:cubicBezTo>
                    <a:pt x="13428" y="11666"/>
                    <a:pt x="13503" y="11779"/>
                    <a:pt x="13503" y="11904"/>
                  </a:cubicBezTo>
                  <a:cubicBezTo>
                    <a:pt x="13503" y="12017"/>
                    <a:pt x="13465" y="12193"/>
                    <a:pt x="13390" y="12545"/>
                  </a:cubicBezTo>
                  <a:lnTo>
                    <a:pt x="12687" y="15671"/>
                  </a:lnTo>
                  <a:cubicBezTo>
                    <a:pt x="12625" y="15922"/>
                    <a:pt x="12524" y="16236"/>
                    <a:pt x="12524" y="16361"/>
                  </a:cubicBezTo>
                  <a:cubicBezTo>
                    <a:pt x="12524" y="16574"/>
                    <a:pt x="12662" y="16700"/>
                    <a:pt x="13064" y="16700"/>
                  </a:cubicBezTo>
                  <a:cubicBezTo>
                    <a:pt x="13541" y="16700"/>
                    <a:pt x="13528" y="16148"/>
                    <a:pt x="13641" y="15671"/>
                  </a:cubicBezTo>
                  <a:lnTo>
                    <a:pt x="14118" y="13587"/>
                  </a:lnTo>
                  <a:cubicBezTo>
                    <a:pt x="14908" y="12558"/>
                    <a:pt x="15598" y="11817"/>
                    <a:pt x="16050" y="11817"/>
                  </a:cubicBezTo>
                  <a:cubicBezTo>
                    <a:pt x="16313" y="11817"/>
                    <a:pt x="16489" y="11880"/>
                    <a:pt x="16489" y="12269"/>
                  </a:cubicBezTo>
                  <a:cubicBezTo>
                    <a:pt x="16489" y="12445"/>
                    <a:pt x="16426" y="12696"/>
                    <a:pt x="16326" y="13122"/>
                  </a:cubicBezTo>
                  <a:lnTo>
                    <a:pt x="15849" y="15131"/>
                  </a:lnTo>
                  <a:cubicBezTo>
                    <a:pt x="15749" y="15533"/>
                    <a:pt x="15636" y="16047"/>
                    <a:pt x="15636" y="16286"/>
                  </a:cubicBezTo>
                  <a:cubicBezTo>
                    <a:pt x="15636" y="16524"/>
                    <a:pt x="15774" y="16700"/>
                    <a:pt x="16150" y="16700"/>
                  </a:cubicBezTo>
                  <a:cubicBezTo>
                    <a:pt x="16752" y="16700"/>
                    <a:pt x="17354" y="16273"/>
                    <a:pt x="17931" y="15533"/>
                  </a:cubicBezTo>
                  <a:cubicBezTo>
                    <a:pt x="17894" y="15420"/>
                    <a:pt x="17818" y="15319"/>
                    <a:pt x="17643" y="15319"/>
                  </a:cubicBezTo>
                  <a:cubicBezTo>
                    <a:pt x="17317" y="15696"/>
                    <a:pt x="16953" y="15947"/>
                    <a:pt x="16827" y="15947"/>
                  </a:cubicBezTo>
                  <a:cubicBezTo>
                    <a:pt x="16740" y="15947"/>
                    <a:pt x="16702" y="15884"/>
                    <a:pt x="16702" y="15734"/>
                  </a:cubicBezTo>
                  <a:cubicBezTo>
                    <a:pt x="16702" y="15621"/>
                    <a:pt x="16765" y="15345"/>
                    <a:pt x="16840" y="1501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32" name="Paper math native glyph 3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40150" y="10061"/>
                  </a:moveTo>
                  <a:lnTo>
                    <a:pt x="40150" y="9099"/>
                  </a:lnTo>
                  <a:lnTo>
                    <a:pt x="26539" y="9099"/>
                  </a:lnTo>
                  <a:lnTo>
                    <a:pt x="28584" y="6624"/>
                  </a:lnTo>
                  <a:lnTo>
                    <a:pt x="28051" y="6057"/>
                  </a:lnTo>
                  <a:lnTo>
                    <a:pt x="24683" y="9597"/>
                  </a:lnTo>
                  <a:lnTo>
                    <a:pt x="28051" y="13103"/>
                  </a:lnTo>
                  <a:lnTo>
                    <a:pt x="28584" y="12536"/>
                  </a:lnTo>
                  <a:lnTo>
                    <a:pt x="26539" y="10061"/>
                  </a:lnTo>
                  <a:lnTo>
                    <a:pt x="40150" y="1006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33" name="Paper math native glyph 4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53516" y="7847"/>
                  </a:moveTo>
                  <a:lnTo>
                    <a:pt x="51042" y="7847"/>
                  </a:lnTo>
                  <a:cubicBezTo>
                    <a:pt x="50457" y="7847"/>
                    <a:pt x="50268" y="7813"/>
                    <a:pt x="50268" y="7211"/>
                  </a:cubicBezTo>
                  <a:lnTo>
                    <a:pt x="50268" y="7090"/>
                  </a:lnTo>
                  <a:cubicBezTo>
                    <a:pt x="50268" y="7039"/>
                    <a:pt x="50251" y="6970"/>
                    <a:pt x="50131" y="6953"/>
                  </a:cubicBezTo>
                  <a:lnTo>
                    <a:pt x="49667" y="6953"/>
                  </a:lnTo>
                  <a:cubicBezTo>
                    <a:pt x="49667" y="6953"/>
                    <a:pt x="49718" y="7778"/>
                    <a:pt x="49718" y="8294"/>
                  </a:cubicBezTo>
                  <a:cubicBezTo>
                    <a:pt x="49718" y="8913"/>
                    <a:pt x="49667" y="9857"/>
                    <a:pt x="49667" y="9857"/>
                  </a:cubicBezTo>
                  <a:lnTo>
                    <a:pt x="50131" y="9857"/>
                  </a:lnTo>
                  <a:cubicBezTo>
                    <a:pt x="50182" y="9857"/>
                    <a:pt x="50251" y="9823"/>
                    <a:pt x="50268" y="9720"/>
                  </a:cubicBezTo>
                  <a:lnTo>
                    <a:pt x="50268" y="9600"/>
                  </a:lnTo>
                  <a:cubicBezTo>
                    <a:pt x="50268" y="9033"/>
                    <a:pt x="50474" y="8981"/>
                    <a:pt x="51042" y="8981"/>
                  </a:cubicBezTo>
                  <a:lnTo>
                    <a:pt x="53516" y="8981"/>
                  </a:lnTo>
                  <a:cubicBezTo>
                    <a:pt x="54015" y="8981"/>
                    <a:pt x="54290" y="9033"/>
                    <a:pt x="54290" y="9600"/>
                  </a:cubicBezTo>
                  <a:lnTo>
                    <a:pt x="54290" y="9720"/>
                  </a:lnTo>
                  <a:cubicBezTo>
                    <a:pt x="54307" y="9840"/>
                    <a:pt x="54393" y="9857"/>
                    <a:pt x="54427" y="9857"/>
                  </a:cubicBezTo>
                  <a:lnTo>
                    <a:pt x="54891" y="9857"/>
                  </a:lnTo>
                  <a:cubicBezTo>
                    <a:pt x="54891" y="9857"/>
                    <a:pt x="54840" y="8913"/>
                    <a:pt x="54840" y="8294"/>
                  </a:cubicBezTo>
                  <a:cubicBezTo>
                    <a:pt x="54840" y="7778"/>
                    <a:pt x="54891" y="6970"/>
                    <a:pt x="54891" y="6970"/>
                  </a:cubicBezTo>
                  <a:lnTo>
                    <a:pt x="54410" y="6970"/>
                  </a:lnTo>
                  <a:cubicBezTo>
                    <a:pt x="54341" y="6970"/>
                    <a:pt x="54307" y="7004"/>
                    <a:pt x="54290" y="7108"/>
                  </a:cubicBezTo>
                  <a:lnTo>
                    <a:pt x="54290" y="7211"/>
                  </a:lnTo>
                  <a:cubicBezTo>
                    <a:pt x="54290" y="7795"/>
                    <a:pt x="54066" y="7847"/>
                    <a:pt x="53516" y="7847"/>
                  </a:cubicBezTo>
                  <a:moveTo>
                    <a:pt x="52021" y="3393"/>
                  </a:moveTo>
                  <a:cubicBezTo>
                    <a:pt x="53963" y="3393"/>
                    <a:pt x="55647" y="5181"/>
                    <a:pt x="55647" y="8672"/>
                  </a:cubicBezTo>
                  <a:cubicBezTo>
                    <a:pt x="55647" y="11660"/>
                    <a:pt x="54324" y="13463"/>
                    <a:pt x="52588" y="13463"/>
                  </a:cubicBezTo>
                  <a:cubicBezTo>
                    <a:pt x="50560" y="13463"/>
                    <a:pt x="48876" y="11591"/>
                    <a:pt x="48876" y="8363"/>
                  </a:cubicBezTo>
                  <a:cubicBezTo>
                    <a:pt x="48876" y="4855"/>
                    <a:pt x="50560" y="3393"/>
                    <a:pt x="52021" y="3393"/>
                  </a:cubicBezTo>
                  <a:moveTo>
                    <a:pt x="57916" y="8346"/>
                  </a:moveTo>
                  <a:cubicBezTo>
                    <a:pt x="57916" y="4924"/>
                    <a:pt x="55269" y="2688"/>
                    <a:pt x="52227" y="2688"/>
                  </a:cubicBezTo>
                  <a:cubicBezTo>
                    <a:pt x="48962" y="2688"/>
                    <a:pt x="46625" y="5285"/>
                    <a:pt x="46625" y="8655"/>
                  </a:cubicBezTo>
                  <a:cubicBezTo>
                    <a:pt x="46625" y="12055"/>
                    <a:pt x="49117" y="14167"/>
                    <a:pt x="52245" y="14167"/>
                  </a:cubicBezTo>
                  <a:cubicBezTo>
                    <a:pt x="55716" y="14167"/>
                    <a:pt x="57916" y="11780"/>
                    <a:pt x="57916" y="8346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34" name="Paper math native glyph 5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63465" y="15018"/>
                  </a:moveTo>
                  <a:lnTo>
                    <a:pt x="63942" y="13022"/>
                  </a:lnTo>
                  <a:cubicBezTo>
                    <a:pt x="64042" y="12583"/>
                    <a:pt x="64105" y="12294"/>
                    <a:pt x="64105" y="12068"/>
                  </a:cubicBezTo>
                  <a:cubicBezTo>
                    <a:pt x="64105" y="11315"/>
                    <a:pt x="63766" y="11064"/>
                    <a:pt x="63277" y="11064"/>
                  </a:cubicBezTo>
                  <a:cubicBezTo>
                    <a:pt x="62624" y="11064"/>
                    <a:pt x="62085" y="11328"/>
                    <a:pt x="60931" y="12683"/>
                  </a:cubicBezTo>
                  <a:lnTo>
                    <a:pt x="60918" y="12671"/>
                  </a:lnTo>
                  <a:lnTo>
                    <a:pt x="60943" y="12558"/>
                  </a:lnTo>
                  <a:cubicBezTo>
                    <a:pt x="61069" y="12068"/>
                    <a:pt x="61219" y="11578"/>
                    <a:pt x="61219" y="11365"/>
                  </a:cubicBezTo>
                  <a:cubicBezTo>
                    <a:pt x="61219" y="11190"/>
                    <a:pt x="61131" y="11102"/>
                    <a:pt x="60968" y="11102"/>
                  </a:cubicBezTo>
                  <a:cubicBezTo>
                    <a:pt x="60567" y="11101"/>
                    <a:pt x="59977" y="11189"/>
                    <a:pt x="59388" y="11264"/>
                  </a:cubicBezTo>
                  <a:cubicBezTo>
                    <a:pt x="59300" y="11365"/>
                    <a:pt x="59325" y="11503"/>
                    <a:pt x="59400" y="11615"/>
                  </a:cubicBezTo>
                  <a:lnTo>
                    <a:pt x="59902" y="11653"/>
                  </a:lnTo>
                  <a:cubicBezTo>
                    <a:pt x="60053" y="11666"/>
                    <a:pt x="60128" y="11779"/>
                    <a:pt x="60128" y="11904"/>
                  </a:cubicBezTo>
                  <a:cubicBezTo>
                    <a:pt x="60128" y="12017"/>
                    <a:pt x="60090" y="12193"/>
                    <a:pt x="60015" y="12545"/>
                  </a:cubicBezTo>
                  <a:lnTo>
                    <a:pt x="59312" y="15671"/>
                  </a:lnTo>
                  <a:cubicBezTo>
                    <a:pt x="59250" y="15922"/>
                    <a:pt x="59149" y="16236"/>
                    <a:pt x="59149" y="16361"/>
                  </a:cubicBezTo>
                  <a:cubicBezTo>
                    <a:pt x="59149" y="16574"/>
                    <a:pt x="59287" y="16700"/>
                    <a:pt x="59689" y="16700"/>
                  </a:cubicBezTo>
                  <a:cubicBezTo>
                    <a:pt x="60166" y="16700"/>
                    <a:pt x="60153" y="16148"/>
                    <a:pt x="60266" y="15671"/>
                  </a:cubicBezTo>
                  <a:lnTo>
                    <a:pt x="60742" y="13587"/>
                  </a:lnTo>
                  <a:cubicBezTo>
                    <a:pt x="61533" y="12558"/>
                    <a:pt x="62223" y="11817"/>
                    <a:pt x="62675" y="11817"/>
                  </a:cubicBezTo>
                  <a:cubicBezTo>
                    <a:pt x="62938" y="11817"/>
                    <a:pt x="63114" y="11880"/>
                    <a:pt x="63114" y="12269"/>
                  </a:cubicBezTo>
                  <a:cubicBezTo>
                    <a:pt x="63114" y="12445"/>
                    <a:pt x="63051" y="12696"/>
                    <a:pt x="62951" y="13122"/>
                  </a:cubicBezTo>
                  <a:lnTo>
                    <a:pt x="62474" y="15131"/>
                  </a:lnTo>
                  <a:cubicBezTo>
                    <a:pt x="62373" y="15533"/>
                    <a:pt x="62260" y="16047"/>
                    <a:pt x="62260" y="16286"/>
                  </a:cubicBezTo>
                  <a:cubicBezTo>
                    <a:pt x="62260" y="16524"/>
                    <a:pt x="62399" y="16700"/>
                    <a:pt x="62775" y="16700"/>
                  </a:cubicBezTo>
                  <a:cubicBezTo>
                    <a:pt x="63377" y="16700"/>
                    <a:pt x="63979" y="16273"/>
                    <a:pt x="64556" y="15533"/>
                  </a:cubicBezTo>
                  <a:cubicBezTo>
                    <a:pt x="64519" y="15420"/>
                    <a:pt x="64443" y="15319"/>
                    <a:pt x="64268" y="15319"/>
                  </a:cubicBezTo>
                  <a:cubicBezTo>
                    <a:pt x="63942" y="15696"/>
                    <a:pt x="63578" y="15947"/>
                    <a:pt x="63452" y="15947"/>
                  </a:cubicBezTo>
                  <a:cubicBezTo>
                    <a:pt x="63364" y="15947"/>
                    <a:pt x="63327" y="15884"/>
                    <a:pt x="63327" y="15734"/>
                  </a:cubicBezTo>
                  <a:cubicBezTo>
                    <a:pt x="63327" y="15621"/>
                    <a:pt x="63390" y="15345"/>
                    <a:pt x="63465" y="1501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35" name="Paper math native glyph 6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73567" y="9082"/>
                  </a:moveTo>
                  <a:lnTo>
                    <a:pt x="69803" y="9082"/>
                  </a:lnTo>
                  <a:lnTo>
                    <a:pt x="69803" y="10216"/>
                  </a:lnTo>
                  <a:lnTo>
                    <a:pt x="73567" y="10216"/>
                  </a:lnTo>
                  <a:lnTo>
                    <a:pt x="73567" y="13999"/>
                  </a:lnTo>
                  <a:lnTo>
                    <a:pt x="74701" y="13999"/>
                  </a:lnTo>
                  <a:lnTo>
                    <a:pt x="74701" y="10216"/>
                  </a:lnTo>
                  <a:lnTo>
                    <a:pt x="78465" y="10216"/>
                  </a:lnTo>
                  <a:lnTo>
                    <a:pt x="78465" y="9082"/>
                  </a:lnTo>
                  <a:lnTo>
                    <a:pt x="74701" y="9082"/>
                  </a:lnTo>
                  <a:lnTo>
                    <a:pt x="74701" y="5301"/>
                  </a:lnTo>
                  <a:lnTo>
                    <a:pt x="73567" y="5301"/>
                  </a:lnTo>
                  <a:lnTo>
                    <a:pt x="73567" y="9082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36" name="Paper math native glyph 7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84225" y="12676"/>
                  </a:moveTo>
                  <a:cubicBezTo>
                    <a:pt x="84225" y="13157"/>
                    <a:pt x="83950" y="13329"/>
                    <a:pt x="83400" y="13414"/>
                  </a:cubicBezTo>
                  <a:lnTo>
                    <a:pt x="83194" y="13449"/>
                  </a:lnTo>
                  <a:cubicBezTo>
                    <a:pt x="83108" y="13466"/>
                    <a:pt x="83057" y="13500"/>
                    <a:pt x="83057" y="13603"/>
                  </a:cubicBezTo>
                  <a:lnTo>
                    <a:pt x="83057" y="13999"/>
                  </a:lnTo>
                  <a:lnTo>
                    <a:pt x="83091" y="14033"/>
                  </a:lnTo>
                  <a:cubicBezTo>
                    <a:pt x="83091" y="14033"/>
                    <a:pt x="84535" y="13999"/>
                    <a:pt x="85136" y="13999"/>
                  </a:cubicBezTo>
                  <a:cubicBezTo>
                    <a:pt x="85806" y="13999"/>
                    <a:pt x="87181" y="14033"/>
                    <a:pt x="87181" y="14033"/>
                  </a:cubicBezTo>
                  <a:lnTo>
                    <a:pt x="87216" y="13999"/>
                  </a:lnTo>
                  <a:lnTo>
                    <a:pt x="87216" y="13603"/>
                  </a:lnTo>
                  <a:cubicBezTo>
                    <a:pt x="87216" y="13500"/>
                    <a:pt x="87147" y="13466"/>
                    <a:pt x="87078" y="13449"/>
                  </a:cubicBezTo>
                  <a:lnTo>
                    <a:pt x="86958" y="13414"/>
                  </a:lnTo>
                  <a:cubicBezTo>
                    <a:pt x="86408" y="13260"/>
                    <a:pt x="86116" y="13157"/>
                    <a:pt x="86116" y="12676"/>
                  </a:cubicBezTo>
                  <a:lnTo>
                    <a:pt x="86116" y="10411"/>
                  </a:lnTo>
                  <a:cubicBezTo>
                    <a:pt x="86391" y="10428"/>
                    <a:pt x="86545" y="10462"/>
                    <a:pt x="86734" y="10737"/>
                  </a:cubicBezTo>
                  <a:cubicBezTo>
                    <a:pt x="87130" y="11321"/>
                    <a:pt x="87611" y="12042"/>
                    <a:pt x="87903" y="12659"/>
                  </a:cubicBezTo>
                  <a:cubicBezTo>
                    <a:pt x="88127" y="13140"/>
                    <a:pt x="88178" y="13294"/>
                    <a:pt x="88178" y="13552"/>
                  </a:cubicBezTo>
                  <a:lnTo>
                    <a:pt x="88178" y="13999"/>
                  </a:lnTo>
                  <a:lnTo>
                    <a:pt x="88212" y="14033"/>
                  </a:lnTo>
                  <a:cubicBezTo>
                    <a:pt x="88212" y="14033"/>
                    <a:pt x="89055" y="13999"/>
                    <a:pt x="89656" y="13999"/>
                  </a:cubicBezTo>
                  <a:cubicBezTo>
                    <a:pt x="90326" y="13999"/>
                    <a:pt x="91529" y="14033"/>
                    <a:pt x="91529" y="14033"/>
                  </a:cubicBezTo>
                  <a:lnTo>
                    <a:pt x="91581" y="13999"/>
                  </a:lnTo>
                  <a:lnTo>
                    <a:pt x="91581" y="13552"/>
                  </a:lnTo>
                  <a:cubicBezTo>
                    <a:pt x="91581" y="13483"/>
                    <a:pt x="91529" y="13449"/>
                    <a:pt x="91443" y="13449"/>
                  </a:cubicBezTo>
                  <a:lnTo>
                    <a:pt x="90945" y="13397"/>
                  </a:lnTo>
                  <a:cubicBezTo>
                    <a:pt x="90687" y="13380"/>
                    <a:pt x="90275" y="13105"/>
                    <a:pt x="89983" y="12659"/>
                  </a:cubicBezTo>
                  <a:lnTo>
                    <a:pt x="87989" y="9724"/>
                  </a:lnTo>
                  <a:cubicBezTo>
                    <a:pt x="87903" y="9604"/>
                    <a:pt x="87869" y="9467"/>
                    <a:pt x="87938" y="9381"/>
                  </a:cubicBezTo>
                  <a:cubicBezTo>
                    <a:pt x="87938" y="9381"/>
                    <a:pt x="88814" y="8437"/>
                    <a:pt x="89226" y="7974"/>
                  </a:cubicBezTo>
                  <a:cubicBezTo>
                    <a:pt x="89639" y="7562"/>
                    <a:pt x="90275" y="7150"/>
                    <a:pt x="90584" y="7133"/>
                  </a:cubicBezTo>
                  <a:lnTo>
                    <a:pt x="91100" y="7099"/>
                  </a:lnTo>
                  <a:cubicBezTo>
                    <a:pt x="91254" y="7081"/>
                    <a:pt x="91272" y="7064"/>
                    <a:pt x="91272" y="6927"/>
                  </a:cubicBezTo>
                  <a:lnTo>
                    <a:pt x="91272" y="6549"/>
                  </a:lnTo>
                  <a:lnTo>
                    <a:pt x="91220" y="6514"/>
                  </a:lnTo>
                  <a:cubicBezTo>
                    <a:pt x="91220" y="6514"/>
                    <a:pt x="89914" y="6549"/>
                    <a:pt x="89244" y="6549"/>
                  </a:cubicBezTo>
                  <a:cubicBezTo>
                    <a:pt x="88642" y="6549"/>
                    <a:pt x="87491" y="6514"/>
                    <a:pt x="87491" y="6514"/>
                  </a:cubicBezTo>
                  <a:lnTo>
                    <a:pt x="87405" y="6549"/>
                  </a:lnTo>
                  <a:lnTo>
                    <a:pt x="87405" y="6927"/>
                  </a:lnTo>
                  <a:cubicBezTo>
                    <a:pt x="87405" y="7030"/>
                    <a:pt x="87439" y="7081"/>
                    <a:pt x="87628" y="7099"/>
                  </a:cubicBezTo>
                  <a:lnTo>
                    <a:pt x="87989" y="7133"/>
                  </a:lnTo>
                  <a:cubicBezTo>
                    <a:pt x="88247" y="7150"/>
                    <a:pt x="88591" y="7476"/>
                    <a:pt x="88178" y="8008"/>
                  </a:cubicBezTo>
                  <a:cubicBezTo>
                    <a:pt x="87783" y="8523"/>
                    <a:pt x="87422" y="8952"/>
                    <a:pt x="87078" y="9244"/>
                  </a:cubicBezTo>
                  <a:cubicBezTo>
                    <a:pt x="86855" y="9433"/>
                    <a:pt x="86477" y="9673"/>
                    <a:pt x="86116" y="9724"/>
                  </a:cubicBezTo>
                  <a:lnTo>
                    <a:pt x="86116" y="3984"/>
                  </a:lnTo>
                  <a:cubicBezTo>
                    <a:pt x="86116" y="2865"/>
                    <a:pt x="86168" y="2174"/>
                    <a:pt x="86168" y="2174"/>
                  </a:cubicBezTo>
                  <a:cubicBezTo>
                    <a:pt x="86168" y="2052"/>
                    <a:pt x="86047" y="2000"/>
                    <a:pt x="85892" y="2000"/>
                  </a:cubicBezTo>
                  <a:cubicBezTo>
                    <a:pt x="85463" y="2174"/>
                    <a:pt x="83693" y="2401"/>
                    <a:pt x="83005" y="2453"/>
                  </a:cubicBezTo>
                  <a:lnTo>
                    <a:pt x="83057" y="2951"/>
                  </a:lnTo>
                  <a:cubicBezTo>
                    <a:pt x="83057" y="3003"/>
                    <a:pt x="83108" y="3037"/>
                    <a:pt x="83160" y="3037"/>
                  </a:cubicBezTo>
                  <a:lnTo>
                    <a:pt x="83710" y="3072"/>
                  </a:lnTo>
                  <a:cubicBezTo>
                    <a:pt x="84054" y="3072"/>
                    <a:pt x="84225" y="3209"/>
                    <a:pt x="84225" y="4328"/>
                  </a:cubicBezTo>
                  <a:lnTo>
                    <a:pt x="84225" y="1267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37" name="Paper math native glyph 8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94279" y="11916"/>
                  </a:moveTo>
                  <a:cubicBezTo>
                    <a:pt x="94502" y="10989"/>
                    <a:pt x="95070" y="10422"/>
                    <a:pt x="95774" y="10422"/>
                  </a:cubicBezTo>
                  <a:cubicBezTo>
                    <a:pt x="95809" y="10422"/>
                    <a:pt x="95998" y="10440"/>
                    <a:pt x="96169" y="10474"/>
                  </a:cubicBezTo>
                  <a:cubicBezTo>
                    <a:pt x="96324" y="10491"/>
                    <a:pt x="96530" y="10525"/>
                    <a:pt x="96633" y="10525"/>
                  </a:cubicBezTo>
                  <a:cubicBezTo>
                    <a:pt x="97304" y="10525"/>
                    <a:pt x="97544" y="10354"/>
                    <a:pt x="97596" y="10096"/>
                  </a:cubicBezTo>
                  <a:cubicBezTo>
                    <a:pt x="97613" y="10079"/>
                    <a:pt x="97613" y="10061"/>
                    <a:pt x="97613" y="10044"/>
                  </a:cubicBezTo>
                  <a:cubicBezTo>
                    <a:pt x="97613" y="9838"/>
                    <a:pt x="97338" y="9735"/>
                    <a:pt x="96823" y="9735"/>
                  </a:cubicBezTo>
                  <a:cubicBezTo>
                    <a:pt x="96719" y="9735"/>
                    <a:pt x="96307" y="9769"/>
                    <a:pt x="96066" y="9804"/>
                  </a:cubicBezTo>
                  <a:cubicBezTo>
                    <a:pt x="95980" y="9804"/>
                    <a:pt x="95929" y="9821"/>
                    <a:pt x="95929" y="9821"/>
                  </a:cubicBezTo>
                  <a:cubicBezTo>
                    <a:pt x="95516" y="9821"/>
                    <a:pt x="95207" y="9649"/>
                    <a:pt x="95207" y="9047"/>
                  </a:cubicBezTo>
                  <a:cubicBezTo>
                    <a:pt x="95207" y="8892"/>
                    <a:pt x="95241" y="8668"/>
                    <a:pt x="95293" y="8410"/>
                  </a:cubicBezTo>
                  <a:cubicBezTo>
                    <a:pt x="95551" y="7361"/>
                    <a:pt x="96169" y="6982"/>
                    <a:pt x="96547" y="6982"/>
                  </a:cubicBezTo>
                  <a:cubicBezTo>
                    <a:pt x="96891" y="6982"/>
                    <a:pt x="97029" y="7395"/>
                    <a:pt x="97132" y="7739"/>
                  </a:cubicBezTo>
                  <a:cubicBezTo>
                    <a:pt x="97218" y="8049"/>
                    <a:pt x="97372" y="8324"/>
                    <a:pt x="98025" y="8324"/>
                  </a:cubicBezTo>
                  <a:cubicBezTo>
                    <a:pt x="98386" y="8324"/>
                    <a:pt x="99039" y="8187"/>
                    <a:pt x="99160" y="7636"/>
                  </a:cubicBezTo>
                  <a:cubicBezTo>
                    <a:pt x="99177" y="7584"/>
                    <a:pt x="99177" y="7550"/>
                    <a:pt x="99177" y="7516"/>
                  </a:cubicBezTo>
                  <a:cubicBezTo>
                    <a:pt x="99177" y="6897"/>
                    <a:pt x="98214" y="6346"/>
                    <a:pt x="96788" y="6346"/>
                  </a:cubicBezTo>
                  <a:cubicBezTo>
                    <a:pt x="94485" y="6346"/>
                    <a:pt x="93506" y="7756"/>
                    <a:pt x="93334" y="8462"/>
                  </a:cubicBezTo>
                  <a:cubicBezTo>
                    <a:pt x="93317" y="8599"/>
                    <a:pt x="93299" y="8720"/>
                    <a:pt x="93299" y="8840"/>
                  </a:cubicBezTo>
                  <a:cubicBezTo>
                    <a:pt x="93299" y="9408"/>
                    <a:pt x="93643" y="9752"/>
                    <a:pt x="94296" y="10061"/>
                  </a:cubicBezTo>
                  <a:cubicBezTo>
                    <a:pt x="92526" y="10663"/>
                    <a:pt x="92285" y="11573"/>
                    <a:pt x="92199" y="11968"/>
                  </a:cubicBezTo>
                  <a:cubicBezTo>
                    <a:pt x="92165" y="12123"/>
                    <a:pt x="92131" y="12277"/>
                    <a:pt x="92131" y="12466"/>
                  </a:cubicBezTo>
                  <a:cubicBezTo>
                    <a:pt x="92131" y="13273"/>
                    <a:pt x="92664" y="14201"/>
                    <a:pt x="94863" y="14201"/>
                  </a:cubicBezTo>
                  <a:cubicBezTo>
                    <a:pt x="96118" y="14201"/>
                    <a:pt x="97252" y="13668"/>
                    <a:pt x="97991" y="13101"/>
                  </a:cubicBezTo>
                  <a:lnTo>
                    <a:pt x="97665" y="12500"/>
                  </a:lnTo>
                  <a:cubicBezTo>
                    <a:pt x="96668" y="13084"/>
                    <a:pt x="95826" y="13496"/>
                    <a:pt x="95207" y="13496"/>
                  </a:cubicBezTo>
                  <a:cubicBezTo>
                    <a:pt x="94571" y="13496"/>
                    <a:pt x="94228" y="13032"/>
                    <a:pt x="94228" y="12397"/>
                  </a:cubicBezTo>
                  <a:cubicBezTo>
                    <a:pt x="94228" y="12243"/>
                    <a:pt x="94245" y="12088"/>
                    <a:pt x="94279" y="11916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38" name="Paper math native glyph 9"/>
            <p:cNvSpPr/>
            <p:nvPr/>
          </p:nvSpPr>
          <p:spPr>
            <a:xfrm>
              <a:off x="0" y="0"/>
              <a:ext cx="1367692" cy="212086"/>
            </a:xfrm>
            <a:custGeom>
              <a:avLst/>
              <a:gdLst/>
              <a:ahLst/>
              <a:cxnLst/>
              <a:rect l="0" t="0" r="r" b="b"/>
              <a:pathLst>
                <a:path w="107692" h="16700" stroke="0" extrusionOk="0">
                  <a:moveTo>
                    <a:pt x="107692" y="703"/>
                  </a:moveTo>
                  <a:lnTo>
                    <a:pt x="107692" y="0"/>
                  </a:lnTo>
                  <a:lnTo>
                    <a:pt x="100316" y="0"/>
                  </a:lnTo>
                  <a:lnTo>
                    <a:pt x="100316" y="703"/>
                  </a:lnTo>
                  <a:lnTo>
                    <a:pt x="103653" y="703"/>
                  </a:lnTo>
                  <a:lnTo>
                    <a:pt x="103653" y="6900"/>
                  </a:lnTo>
                  <a:lnTo>
                    <a:pt x="104355" y="6900"/>
                  </a:lnTo>
                  <a:lnTo>
                    <a:pt x="104355" y="703"/>
                  </a:lnTo>
                  <a:lnTo>
                    <a:pt x="107692" y="70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739" name="Formula · \mathbf{P}_n\leftarrow(\mathbf{P}_n-\mathbf{k}\mathbf{z}^{\top}\mathbf{P}_n)/\lambda" descr="Editable LaTeX source: $\mathbf{P}_n\leftarrow(\mathbf{P}_n-\mathbf{k}\mathbf{z}^{\top}\mathbf{P}_n)/\lambda$; native vector glyphs."/>
          <p:cNvGrpSpPr/>
          <p:nvPr/>
        </p:nvGrpSpPr>
        <p:grpSpPr>
          <a:xfrm>
            <a:off x="13411200" y="5619750"/>
            <a:ext cx="1910215" cy="221882"/>
            <a:chOff x="0" y="0"/>
            <a:chExt cx="1910215" cy="221882"/>
          </a:xfrm>
        </p:grpSpPr>
        <p:sp>
          <p:nvSpPr>
            <p:cNvPr id="1740" name="Paper math native glyph 1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3420" y="4405"/>
                  </a:moveTo>
                  <a:cubicBezTo>
                    <a:pt x="3420" y="3803"/>
                    <a:pt x="3540" y="3459"/>
                    <a:pt x="4451" y="3459"/>
                  </a:cubicBezTo>
                  <a:cubicBezTo>
                    <a:pt x="5448" y="3459"/>
                    <a:pt x="6599" y="3872"/>
                    <a:pt x="6599" y="5969"/>
                  </a:cubicBezTo>
                  <a:cubicBezTo>
                    <a:pt x="6599" y="7756"/>
                    <a:pt x="5689" y="8512"/>
                    <a:pt x="4279" y="8512"/>
                  </a:cubicBezTo>
                  <a:cubicBezTo>
                    <a:pt x="4022" y="8512"/>
                    <a:pt x="3660" y="8495"/>
                    <a:pt x="3420" y="8461"/>
                  </a:cubicBezTo>
                  <a:lnTo>
                    <a:pt x="3420" y="4405"/>
                  </a:lnTo>
                  <a:moveTo>
                    <a:pt x="1323" y="12468"/>
                  </a:moveTo>
                  <a:cubicBezTo>
                    <a:pt x="1323" y="13122"/>
                    <a:pt x="1083" y="13311"/>
                    <a:pt x="378" y="13414"/>
                  </a:cubicBezTo>
                  <a:lnTo>
                    <a:pt x="138" y="13449"/>
                  </a:lnTo>
                  <a:cubicBezTo>
                    <a:pt x="69" y="13466"/>
                    <a:pt x="0" y="13500"/>
                    <a:pt x="0" y="13603"/>
                  </a:cubicBezTo>
                  <a:lnTo>
                    <a:pt x="0" y="13999"/>
                  </a:lnTo>
                  <a:lnTo>
                    <a:pt x="34" y="14033"/>
                  </a:lnTo>
                  <a:cubicBezTo>
                    <a:pt x="670" y="14016"/>
                    <a:pt x="1719" y="13999"/>
                    <a:pt x="2372" y="13999"/>
                  </a:cubicBezTo>
                  <a:cubicBezTo>
                    <a:pt x="3025" y="13999"/>
                    <a:pt x="4245" y="14016"/>
                    <a:pt x="4881" y="14033"/>
                  </a:cubicBezTo>
                  <a:lnTo>
                    <a:pt x="4915" y="13999"/>
                  </a:lnTo>
                  <a:lnTo>
                    <a:pt x="4915" y="13603"/>
                  </a:lnTo>
                  <a:cubicBezTo>
                    <a:pt x="4915" y="13500"/>
                    <a:pt x="4881" y="13466"/>
                    <a:pt x="4778" y="13449"/>
                  </a:cubicBezTo>
                  <a:lnTo>
                    <a:pt x="4451" y="13414"/>
                  </a:lnTo>
                  <a:cubicBezTo>
                    <a:pt x="3764" y="13346"/>
                    <a:pt x="3420" y="13122"/>
                    <a:pt x="3420" y="12468"/>
                  </a:cubicBezTo>
                  <a:lnTo>
                    <a:pt x="3420" y="9148"/>
                  </a:lnTo>
                  <a:cubicBezTo>
                    <a:pt x="3660" y="9182"/>
                    <a:pt x="3953" y="9199"/>
                    <a:pt x="4365" y="9199"/>
                  </a:cubicBezTo>
                  <a:cubicBezTo>
                    <a:pt x="7751" y="9199"/>
                    <a:pt x="8782" y="7326"/>
                    <a:pt x="8782" y="5677"/>
                  </a:cubicBezTo>
                  <a:cubicBezTo>
                    <a:pt x="8782" y="4577"/>
                    <a:pt x="8043" y="2755"/>
                    <a:pt x="4589" y="2755"/>
                  </a:cubicBezTo>
                  <a:cubicBezTo>
                    <a:pt x="3197" y="2752"/>
                    <a:pt x="1048" y="2872"/>
                    <a:pt x="34" y="2872"/>
                  </a:cubicBezTo>
                  <a:lnTo>
                    <a:pt x="0" y="2907"/>
                  </a:lnTo>
                  <a:lnTo>
                    <a:pt x="0" y="3319"/>
                  </a:lnTo>
                  <a:cubicBezTo>
                    <a:pt x="0" y="3391"/>
                    <a:pt x="52" y="3459"/>
                    <a:pt x="189" y="3459"/>
                  </a:cubicBezTo>
                  <a:lnTo>
                    <a:pt x="739" y="3494"/>
                  </a:lnTo>
                  <a:cubicBezTo>
                    <a:pt x="1117" y="3511"/>
                    <a:pt x="1323" y="3769"/>
                    <a:pt x="1323" y="4370"/>
                  </a:cubicBezTo>
                  <a:lnTo>
                    <a:pt x="1323" y="12468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1" name="Paper math native glyph 2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14005" y="15018"/>
                  </a:moveTo>
                  <a:lnTo>
                    <a:pt x="14481" y="13022"/>
                  </a:lnTo>
                  <a:cubicBezTo>
                    <a:pt x="14581" y="12583"/>
                    <a:pt x="14644" y="12294"/>
                    <a:pt x="14644" y="12068"/>
                  </a:cubicBezTo>
                  <a:cubicBezTo>
                    <a:pt x="14644" y="11315"/>
                    <a:pt x="14306" y="11064"/>
                    <a:pt x="13816" y="11064"/>
                  </a:cubicBezTo>
                  <a:cubicBezTo>
                    <a:pt x="13164" y="11064"/>
                    <a:pt x="12625" y="11328"/>
                    <a:pt x="11470" y="12683"/>
                  </a:cubicBezTo>
                  <a:lnTo>
                    <a:pt x="11458" y="12671"/>
                  </a:lnTo>
                  <a:lnTo>
                    <a:pt x="11483" y="12558"/>
                  </a:lnTo>
                  <a:cubicBezTo>
                    <a:pt x="11608" y="12068"/>
                    <a:pt x="11759" y="11578"/>
                    <a:pt x="11759" y="11365"/>
                  </a:cubicBezTo>
                  <a:cubicBezTo>
                    <a:pt x="11759" y="11190"/>
                    <a:pt x="11671" y="11102"/>
                    <a:pt x="11508" y="11102"/>
                  </a:cubicBezTo>
                  <a:cubicBezTo>
                    <a:pt x="11106" y="11101"/>
                    <a:pt x="10517" y="11189"/>
                    <a:pt x="9927" y="11264"/>
                  </a:cubicBezTo>
                  <a:cubicBezTo>
                    <a:pt x="9839" y="11365"/>
                    <a:pt x="9865" y="11503"/>
                    <a:pt x="9940" y="11615"/>
                  </a:cubicBezTo>
                  <a:lnTo>
                    <a:pt x="10441" y="11653"/>
                  </a:lnTo>
                  <a:cubicBezTo>
                    <a:pt x="10592" y="11666"/>
                    <a:pt x="10667" y="11779"/>
                    <a:pt x="10667" y="11904"/>
                  </a:cubicBezTo>
                  <a:cubicBezTo>
                    <a:pt x="10667" y="12017"/>
                    <a:pt x="10630" y="12193"/>
                    <a:pt x="10554" y="12545"/>
                  </a:cubicBezTo>
                  <a:lnTo>
                    <a:pt x="9852" y="15671"/>
                  </a:lnTo>
                  <a:cubicBezTo>
                    <a:pt x="9789" y="15922"/>
                    <a:pt x="9689" y="16236"/>
                    <a:pt x="9689" y="16361"/>
                  </a:cubicBezTo>
                  <a:cubicBezTo>
                    <a:pt x="9689" y="16574"/>
                    <a:pt x="9827" y="16700"/>
                    <a:pt x="10228" y="16700"/>
                  </a:cubicBezTo>
                  <a:cubicBezTo>
                    <a:pt x="10705" y="16700"/>
                    <a:pt x="10692" y="16148"/>
                    <a:pt x="10805" y="15671"/>
                  </a:cubicBezTo>
                  <a:lnTo>
                    <a:pt x="11282" y="13587"/>
                  </a:lnTo>
                  <a:cubicBezTo>
                    <a:pt x="12072" y="12558"/>
                    <a:pt x="12763" y="11817"/>
                    <a:pt x="13214" y="11817"/>
                  </a:cubicBezTo>
                  <a:cubicBezTo>
                    <a:pt x="13478" y="11817"/>
                    <a:pt x="13653" y="11880"/>
                    <a:pt x="13653" y="12269"/>
                  </a:cubicBezTo>
                  <a:cubicBezTo>
                    <a:pt x="13653" y="12445"/>
                    <a:pt x="13590" y="12696"/>
                    <a:pt x="13490" y="13122"/>
                  </a:cubicBezTo>
                  <a:lnTo>
                    <a:pt x="13013" y="15131"/>
                  </a:lnTo>
                  <a:cubicBezTo>
                    <a:pt x="12913" y="15533"/>
                    <a:pt x="12800" y="16047"/>
                    <a:pt x="12800" y="16286"/>
                  </a:cubicBezTo>
                  <a:cubicBezTo>
                    <a:pt x="12800" y="16524"/>
                    <a:pt x="12938" y="16700"/>
                    <a:pt x="13314" y="16700"/>
                  </a:cubicBezTo>
                  <a:cubicBezTo>
                    <a:pt x="13917" y="16700"/>
                    <a:pt x="14519" y="16273"/>
                    <a:pt x="15096" y="15533"/>
                  </a:cubicBezTo>
                  <a:cubicBezTo>
                    <a:pt x="15058" y="15420"/>
                    <a:pt x="14983" y="15319"/>
                    <a:pt x="14807" y="15319"/>
                  </a:cubicBezTo>
                  <a:cubicBezTo>
                    <a:pt x="14481" y="15696"/>
                    <a:pt x="14117" y="15947"/>
                    <a:pt x="13992" y="15947"/>
                  </a:cubicBezTo>
                  <a:cubicBezTo>
                    <a:pt x="13904" y="15947"/>
                    <a:pt x="13866" y="15884"/>
                    <a:pt x="13866" y="15734"/>
                  </a:cubicBezTo>
                  <a:cubicBezTo>
                    <a:pt x="13866" y="15621"/>
                    <a:pt x="13929" y="15345"/>
                    <a:pt x="14005" y="1501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2" name="Paper math native glyph 3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37314" y="10061"/>
                  </a:moveTo>
                  <a:lnTo>
                    <a:pt x="37314" y="9099"/>
                  </a:lnTo>
                  <a:lnTo>
                    <a:pt x="23703" y="9099"/>
                  </a:lnTo>
                  <a:lnTo>
                    <a:pt x="25748" y="6624"/>
                  </a:lnTo>
                  <a:lnTo>
                    <a:pt x="25216" y="6057"/>
                  </a:lnTo>
                  <a:lnTo>
                    <a:pt x="21847" y="9597"/>
                  </a:lnTo>
                  <a:lnTo>
                    <a:pt x="25216" y="13103"/>
                  </a:lnTo>
                  <a:lnTo>
                    <a:pt x="25748" y="12536"/>
                  </a:lnTo>
                  <a:lnTo>
                    <a:pt x="23703" y="10061"/>
                  </a:lnTo>
                  <a:lnTo>
                    <a:pt x="37314" y="1006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3" name="Paper math native glyph 4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49069" y="1677"/>
                  </a:moveTo>
                  <a:cubicBezTo>
                    <a:pt x="46577" y="3293"/>
                    <a:pt x="44824" y="6077"/>
                    <a:pt x="44824" y="9583"/>
                  </a:cubicBezTo>
                  <a:cubicBezTo>
                    <a:pt x="44824" y="12779"/>
                    <a:pt x="46646" y="16010"/>
                    <a:pt x="49018" y="17471"/>
                  </a:cubicBezTo>
                  <a:lnTo>
                    <a:pt x="49224" y="17196"/>
                  </a:lnTo>
                  <a:cubicBezTo>
                    <a:pt x="46955" y="15409"/>
                    <a:pt x="46302" y="13329"/>
                    <a:pt x="46302" y="9531"/>
                  </a:cubicBezTo>
                  <a:cubicBezTo>
                    <a:pt x="46302" y="5716"/>
                    <a:pt x="47007" y="3740"/>
                    <a:pt x="49224" y="1952"/>
                  </a:cubicBezTo>
                  <a:lnTo>
                    <a:pt x="49069" y="1677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4" name="Paper math native glyph 5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54221" y="4405"/>
                  </a:moveTo>
                  <a:cubicBezTo>
                    <a:pt x="54221" y="3803"/>
                    <a:pt x="54341" y="3459"/>
                    <a:pt x="55252" y="3459"/>
                  </a:cubicBezTo>
                  <a:cubicBezTo>
                    <a:pt x="56249" y="3459"/>
                    <a:pt x="57400" y="3872"/>
                    <a:pt x="57400" y="5969"/>
                  </a:cubicBezTo>
                  <a:cubicBezTo>
                    <a:pt x="57400" y="7756"/>
                    <a:pt x="56490" y="8512"/>
                    <a:pt x="55080" y="8512"/>
                  </a:cubicBezTo>
                  <a:cubicBezTo>
                    <a:pt x="54823" y="8512"/>
                    <a:pt x="54461" y="8495"/>
                    <a:pt x="54221" y="8461"/>
                  </a:cubicBezTo>
                  <a:lnTo>
                    <a:pt x="54221" y="4405"/>
                  </a:lnTo>
                  <a:moveTo>
                    <a:pt x="52124" y="12468"/>
                  </a:moveTo>
                  <a:cubicBezTo>
                    <a:pt x="52124" y="13122"/>
                    <a:pt x="51884" y="13311"/>
                    <a:pt x="51179" y="13414"/>
                  </a:cubicBezTo>
                  <a:lnTo>
                    <a:pt x="50939" y="13449"/>
                  </a:lnTo>
                  <a:cubicBezTo>
                    <a:pt x="50870" y="13466"/>
                    <a:pt x="50801" y="13500"/>
                    <a:pt x="50801" y="13603"/>
                  </a:cubicBezTo>
                  <a:lnTo>
                    <a:pt x="50801" y="13999"/>
                  </a:lnTo>
                  <a:lnTo>
                    <a:pt x="50835" y="14033"/>
                  </a:lnTo>
                  <a:cubicBezTo>
                    <a:pt x="51471" y="14016"/>
                    <a:pt x="52520" y="13999"/>
                    <a:pt x="53173" y="13999"/>
                  </a:cubicBezTo>
                  <a:cubicBezTo>
                    <a:pt x="53826" y="13999"/>
                    <a:pt x="55046" y="14016"/>
                    <a:pt x="55682" y="14033"/>
                  </a:cubicBezTo>
                  <a:lnTo>
                    <a:pt x="55716" y="13999"/>
                  </a:lnTo>
                  <a:lnTo>
                    <a:pt x="55716" y="13603"/>
                  </a:lnTo>
                  <a:cubicBezTo>
                    <a:pt x="55716" y="13500"/>
                    <a:pt x="55682" y="13466"/>
                    <a:pt x="55579" y="13449"/>
                  </a:cubicBezTo>
                  <a:lnTo>
                    <a:pt x="55252" y="13414"/>
                  </a:lnTo>
                  <a:cubicBezTo>
                    <a:pt x="54565" y="13346"/>
                    <a:pt x="54221" y="13122"/>
                    <a:pt x="54221" y="12468"/>
                  </a:cubicBezTo>
                  <a:lnTo>
                    <a:pt x="54221" y="9148"/>
                  </a:lnTo>
                  <a:cubicBezTo>
                    <a:pt x="54461" y="9182"/>
                    <a:pt x="54754" y="9199"/>
                    <a:pt x="55166" y="9199"/>
                  </a:cubicBezTo>
                  <a:cubicBezTo>
                    <a:pt x="58552" y="9199"/>
                    <a:pt x="59583" y="7326"/>
                    <a:pt x="59583" y="5677"/>
                  </a:cubicBezTo>
                  <a:cubicBezTo>
                    <a:pt x="59583" y="4577"/>
                    <a:pt x="58844" y="2755"/>
                    <a:pt x="55389" y="2755"/>
                  </a:cubicBezTo>
                  <a:cubicBezTo>
                    <a:pt x="53998" y="2752"/>
                    <a:pt x="51849" y="2872"/>
                    <a:pt x="50835" y="2872"/>
                  </a:cubicBezTo>
                  <a:lnTo>
                    <a:pt x="50801" y="2907"/>
                  </a:lnTo>
                  <a:lnTo>
                    <a:pt x="50801" y="3319"/>
                  </a:lnTo>
                  <a:cubicBezTo>
                    <a:pt x="50801" y="3391"/>
                    <a:pt x="50853" y="3459"/>
                    <a:pt x="50990" y="3459"/>
                  </a:cubicBezTo>
                  <a:lnTo>
                    <a:pt x="51540" y="3494"/>
                  </a:lnTo>
                  <a:cubicBezTo>
                    <a:pt x="51918" y="3511"/>
                    <a:pt x="52124" y="3769"/>
                    <a:pt x="52124" y="4370"/>
                  </a:cubicBezTo>
                  <a:lnTo>
                    <a:pt x="52124" y="12468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5" name="Paper math native glyph 6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64805" y="15018"/>
                  </a:moveTo>
                  <a:lnTo>
                    <a:pt x="65282" y="13022"/>
                  </a:lnTo>
                  <a:cubicBezTo>
                    <a:pt x="65382" y="12583"/>
                    <a:pt x="65445" y="12294"/>
                    <a:pt x="65445" y="12068"/>
                  </a:cubicBezTo>
                  <a:cubicBezTo>
                    <a:pt x="65445" y="11315"/>
                    <a:pt x="65107" y="11064"/>
                    <a:pt x="64617" y="11064"/>
                  </a:cubicBezTo>
                  <a:cubicBezTo>
                    <a:pt x="63965" y="11064"/>
                    <a:pt x="63425" y="11328"/>
                    <a:pt x="62271" y="12683"/>
                  </a:cubicBezTo>
                  <a:lnTo>
                    <a:pt x="62259" y="12671"/>
                  </a:lnTo>
                  <a:lnTo>
                    <a:pt x="62284" y="12558"/>
                  </a:lnTo>
                  <a:cubicBezTo>
                    <a:pt x="62409" y="12068"/>
                    <a:pt x="62560" y="11578"/>
                    <a:pt x="62560" y="11365"/>
                  </a:cubicBezTo>
                  <a:cubicBezTo>
                    <a:pt x="62560" y="11190"/>
                    <a:pt x="62472" y="11102"/>
                    <a:pt x="62309" y="11102"/>
                  </a:cubicBezTo>
                  <a:cubicBezTo>
                    <a:pt x="61907" y="11101"/>
                    <a:pt x="61318" y="11189"/>
                    <a:pt x="60728" y="11264"/>
                  </a:cubicBezTo>
                  <a:cubicBezTo>
                    <a:pt x="60640" y="11365"/>
                    <a:pt x="60665" y="11503"/>
                    <a:pt x="60741" y="11615"/>
                  </a:cubicBezTo>
                  <a:lnTo>
                    <a:pt x="61242" y="11653"/>
                  </a:lnTo>
                  <a:cubicBezTo>
                    <a:pt x="61393" y="11666"/>
                    <a:pt x="61468" y="11779"/>
                    <a:pt x="61468" y="11904"/>
                  </a:cubicBezTo>
                  <a:cubicBezTo>
                    <a:pt x="61468" y="12017"/>
                    <a:pt x="61431" y="12193"/>
                    <a:pt x="61355" y="12545"/>
                  </a:cubicBezTo>
                  <a:lnTo>
                    <a:pt x="60653" y="15671"/>
                  </a:lnTo>
                  <a:cubicBezTo>
                    <a:pt x="60590" y="15922"/>
                    <a:pt x="60490" y="16236"/>
                    <a:pt x="60490" y="16361"/>
                  </a:cubicBezTo>
                  <a:cubicBezTo>
                    <a:pt x="60490" y="16574"/>
                    <a:pt x="60628" y="16700"/>
                    <a:pt x="61029" y="16700"/>
                  </a:cubicBezTo>
                  <a:cubicBezTo>
                    <a:pt x="61506" y="16700"/>
                    <a:pt x="61493" y="16148"/>
                    <a:pt x="61606" y="15671"/>
                  </a:cubicBezTo>
                  <a:lnTo>
                    <a:pt x="62083" y="13587"/>
                  </a:lnTo>
                  <a:cubicBezTo>
                    <a:pt x="62873" y="12558"/>
                    <a:pt x="63563" y="11817"/>
                    <a:pt x="64015" y="11817"/>
                  </a:cubicBezTo>
                  <a:cubicBezTo>
                    <a:pt x="64278" y="11817"/>
                    <a:pt x="64454" y="11880"/>
                    <a:pt x="64454" y="12269"/>
                  </a:cubicBezTo>
                  <a:cubicBezTo>
                    <a:pt x="64454" y="12445"/>
                    <a:pt x="64391" y="12696"/>
                    <a:pt x="64291" y="13122"/>
                  </a:cubicBezTo>
                  <a:lnTo>
                    <a:pt x="63814" y="15131"/>
                  </a:lnTo>
                  <a:cubicBezTo>
                    <a:pt x="63714" y="15533"/>
                    <a:pt x="63601" y="16047"/>
                    <a:pt x="63601" y="16286"/>
                  </a:cubicBezTo>
                  <a:cubicBezTo>
                    <a:pt x="63601" y="16524"/>
                    <a:pt x="63739" y="16700"/>
                    <a:pt x="64115" y="16700"/>
                  </a:cubicBezTo>
                  <a:cubicBezTo>
                    <a:pt x="64718" y="16700"/>
                    <a:pt x="65320" y="16273"/>
                    <a:pt x="65897" y="15533"/>
                  </a:cubicBezTo>
                  <a:cubicBezTo>
                    <a:pt x="65859" y="15420"/>
                    <a:pt x="65784" y="15319"/>
                    <a:pt x="65608" y="15319"/>
                  </a:cubicBezTo>
                  <a:cubicBezTo>
                    <a:pt x="65282" y="15696"/>
                    <a:pt x="64918" y="15947"/>
                    <a:pt x="64793" y="15947"/>
                  </a:cubicBezTo>
                  <a:cubicBezTo>
                    <a:pt x="64705" y="15947"/>
                    <a:pt x="64667" y="15884"/>
                    <a:pt x="64667" y="15734"/>
                  </a:cubicBezTo>
                  <a:cubicBezTo>
                    <a:pt x="64667" y="15621"/>
                    <a:pt x="64730" y="15345"/>
                    <a:pt x="64805" y="1501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6" name="Paper math native glyph 7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80492" y="10061"/>
                  </a:moveTo>
                  <a:lnTo>
                    <a:pt x="80492" y="9099"/>
                  </a:lnTo>
                  <a:lnTo>
                    <a:pt x="71693" y="9099"/>
                  </a:lnTo>
                  <a:lnTo>
                    <a:pt x="71693" y="10061"/>
                  </a:lnTo>
                  <a:lnTo>
                    <a:pt x="80492" y="1006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7" name="Paper math native glyph 8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86803" y="12676"/>
                  </a:moveTo>
                  <a:cubicBezTo>
                    <a:pt x="86803" y="13157"/>
                    <a:pt x="86528" y="13329"/>
                    <a:pt x="85978" y="13414"/>
                  </a:cubicBezTo>
                  <a:lnTo>
                    <a:pt x="85772" y="13449"/>
                  </a:lnTo>
                  <a:cubicBezTo>
                    <a:pt x="85686" y="13466"/>
                    <a:pt x="85635" y="13500"/>
                    <a:pt x="85635" y="13603"/>
                  </a:cubicBezTo>
                  <a:lnTo>
                    <a:pt x="85635" y="13999"/>
                  </a:lnTo>
                  <a:lnTo>
                    <a:pt x="85669" y="14033"/>
                  </a:lnTo>
                  <a:cubicBezTo>
                    <a:pt x="85669" y="14033"/>
                    <a:pt x="87113" y="13999"/>
                    <a:pt x="87714" y="13999"/>
                  </a:cubicBezTo>
                  <a:cubicBezTo>
                    <a:pt x="88384" y="13999"/>
                    <a:pt x="89759" y="14033"/>
                    <a:pt x="89759" y="14033"/>
                  </a:cubicBezTo>
                  <a:lnTo>
                    <a:pt x="89793" y="13999"/>
                  </a:lnTo>
                  <a:lnTo>
                    <a:pt x="89793" y="13603"/>
                  </a:lnTo>
                  <a:cubicBezTo>
                    <a:pt x="89793" y="13500"/>
                    <a:pt x="89725" y="13466"/>
                    <a:pt x="89656" y="13449"/>
                  </a:cubicBezTo>
                  <a:lnTo>
                    <a:pt x="89536" y="13414"/>
                  </a:lnTo>
                  <a:cubicBezTo>
                    <a:pt x="88986" y="13260"/>
                    <a:pt x="88694" y="13157"/>
                    <a:pt x="88694" y="12676"/>
                  </a:cubicBezTo>
                  <a:lnTo>
                    <a:pt x="88694" y="10411"/>
                  </a:lnTo>
                  <a:cubicBezTo>
                    <a:pt x="88969" y="10428"/>
                    <a:pt x="89123" y="10462"/>
                    <a:pt x="89312" y="10737"/>
                  </a:cubicBezTo>
                  <a:cubicBezTo>
                    <a:pt x="89708" y="11321"/>
                    <a:pt x="90189" y="12042"/>
                    <a:pt x="90481" y="12659"/>
                  </a:cubicBezTo>
                  <a:cubicBezTo>
                    <a:pt x="90704" y="13140"/>
                    <a:pt x="90756" y="13294"/>
                    <a:pt x="90756" y="13552"/>
                  </a:cubicBezTo>
                  <a:lnTo>
                    <a:pt x="90756" y="13999"/>
                  </a:lnTo>
                  <a:lnTo>
                    <a:pt x="90790" y="14033"/>
                  </a:lnTo>
                  <a:cubicBezTo>
                    <a:pt x="90790" y="14033"/>
                    <a:pt x="91633" y="13999"/>
                    <a:pt x="92234" y="13999"/>
                  </a:cubicBezTo>
                  <a:cubicBezTo>
                    <a:pt x="92904" y="13999"/>
                    <a:pt x="94107" y="14033"/>
                    <a:pt x="94107" y="14033"/>
                  </a:cubicBezTo>
                  <a:lnTo>
                    <a:pt x="94159" y="13999"/>
                  </a:lnTo>
                  <a:lnTo>
                    <a:pt x="94159" y="13552"/>
                  </a:lnTo>
                  <a:cubicBezTo>
                    <a:pt x="94159" y="13483"/>
                    <a:pt x="94107" y="13449"/>
                    <a:pt x="94021" y="13449"/>
                  </a:cubicBezTo>
                  <a:lnTo>
                    <a:pt x="93523" y="13397"/>
                  </a:lnTo>
                  <a:cubicBezTo>
                    <a:pt x="93265" y="13380"/>
                    <a:pt x="92853" y="13105"/>
                    <a:pt x="92561" y="12659"/>
                  </a:cubicBezTo>
                  <a:lnTo>
                    <a:pt x="90567" y="9724"/>
                  </a:lnTo>
                  <a:cubicBezTo>
                    <a:pt x="90481" y="9604"/>
                    <a:pt x="90447" y="9467"/>
                    <a:pt x="90515" y="9381"/>
                  </a:cubicBezTo>
                  <a:cubicBezTo>
                    <a:pt x="90515" y="9381"/>
                    <a:pt x="91392" y="8437"/>
                    <a:pt x="91804" y="7974"/>
                  </a:cubicBezTo>
                  <a:cubicBezTo>
                    <a:pt x="92217" y="7562"/>
                    <a:pt x="92853" y="7150"/>
                    <a:pt x="93162" y="7133"/>
                  </a:cubicBezTo>
                  <a:lnTo>
                    <a:pt x="93677" y="7099"/>
                  </a:lnTo>
                  <a:cubicBezTo>
                    <a:pt x="93832" y="7081"/>
                    <a:pt x="93849" y="7064"/>
                    <a:pt x="93849" y="6927"/>
                  </a:cubicBezTo>
                  <a:lnTo>
                    <a:pt x="93849" y="6549"/>
                  </a:lnTo>
                  <a:lnTo>
                    <a:pt x="93798" y="6514"/>
                  </a:lnTo>
                  <a:cubicBezTo>
                    <a:pt x="93798" y="6514"/>
                    <a:pt x="92492" y="6549"/>
                    <a:pt x="91822" y="6549"/>
                  </a:cubicBezTo>
                  <a:cubicBezTo>
                    <a:pt x="91220" y="6549"/>
                    <a:pt x="90069" y="6514"/>
                    <a:pt x="90069" y="6514"/>
                  </a:cubicBezTo>
                  <a:lnTo>
                    <a:pt x="89983" y="6549"/>
                  </a:lnTo>
                  <a:lnTo>
                    <a:pt x="89983" y="6927"/>
                  </a:lnTo>
                  <a:cubicBezTo>
                    <a:pt x="89983" y="7030"/>
                    <a:pt x="90017" y="7081"/>
                    <a:pt x="90206" y="7099"/>
                  </a:cubicBezTo>
                  <a:lnTo>
                    <a:pt x="90567" y="7133"/>
                  </a:lnTo>
                  <a:cubicBezTo>
                    <a:pt x="90825" y="7150"/>
                    <a:pt x="91168" y="7476"/>
                    <a:pt x="90756" y="8008"/>
                  </a:cubicBezTo>
                  <a:cubicBezTo>
                    <a:pt x="90361" y="8523"/>
                    <a:pt x="90000" y="8952"/>
                    <a:pt x="89656" y="9244"/>
                  </a:cubicBezTo>
                  <a:cubicBezTo>
                    <a:pt x="89433" y="9433"/>
                    <a:pt x="89055" y="9673"/>
                    <a:pt x="88694" y="9724"/>
                  </a:cubicBezTo>
                  <a:lnTo>
                    <a:pt x="88694" y="3984"/>
                  </a:lnTo>
                  <a:cubicBezTo>
                    <a:pt x="88694" y="2865"/>
                    <a:pt x="88745" y="2174"/>
                    <a:pt x="88745" y="2174"/>
                  </a:cubicBezTo>
                  <a:cubicBezTo>
                    <a:pt x="88745" y="2052"/>
                    <a:pt x="88625" y="2000"/>
                    <a:pt x="88470" y="2000"/>
                  </a:cubicBezTo>
                  <a:cubicBezTo>
                    <a:pt x="88041" y="2174"/>
                    <a:pt x="86270" y="2401"/>
                    <a:pt x="85583" y="2453"/>
                  </a:cubicBezTo>
                  <a:lnTo>
                    <a:pt x="85635" y="2951"/>
                  </a:lnTo>
                  <a:cubicBezTo>
                    <a:pt x="85635" y="3003"/>
                    <a:pt x="85686" y="3037"/>
                    <a:pt x="85738" y="3037"/>
                  </a:cubicBezTo>
                  <a:lnTo>
                    <a:pt x="86288" y="3072"/>
                  </a:lnTo>
                  <a:cubicBezTo>
                    <a:pt x="86632" y="3072"/>
                    <a:pt x="86803" y="3209"/>
                    <a:pt x="86803" y="4328"/>
                  </a:cubicBezTo>
                  <a:lnTo>
                    <a:pt x="86803" y="1267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8" name="Paper math native glyph 9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96049" y="6330"/>
                  </a:moveTo>
                  <a:lnTo>
                    <a:pt x="95482" y="6330"/>
                  </a:lnTo>
                  <a:cubicBezTo>
                    <a:pt x="95448" y="7069"/>
                    <a:pt x="95379" y="7671"/>
                    <a:pt x="95104" y="8806"/>
                  </a:cubicBezTo>
                  <a:lnTo>
                    <a:pt x="95843" y="8909"/>
                  </a:lnTo>
                  <a:cubicBezTo>
                    <a:pt x="96135" y="7647"/>
                    <a:pt x="96548" y="7270"/>
                    <a:pt x="97063" y="7270"/>
                  </a:cubicBezTo>
                  <a:lnTo>
                    <a:pt x="99057" y="7270"/>
                  </a:lnTo>
                  <a:cubicBezTo>
                    <a:pt x="97716" y="9295"/>
                    <a:pt x="96444" y="11338"/>
                    <a:pt x="95104" y="13346"/>
                  </a:cubicBezTo>
                  <a:cubicBezTo>
                    <a:pt x="94966" y="13570"/>
                    <a:pt x="94915" y="13690"/>
                    <a:pt x="94915" y="13725"/>
                  </a:cubicBezTo>
                  <a:cubicBezTo>
                    <a:pt x="94915" y="13896"/>
                    <a:pt x="95121" y="13999"/>
                    <a:pt x="95860" y="13999"/>
                  </a:cubicBezTo>
                  <a:lnTo>
                    <a:pt x="100981" y="13999"/>
                  </a:lnTo>
                  <a:cubicBezTo>
                    <a:pt x="101050" y="13295"/>
                    <a:pt x="101170" y="12540"/>
                    <a:pt x="101428" y="11613"/>
                  </a:cubicBezTo>
                  <a:lnTo>
                    <a:pt x="100706" y="11458"/>
                  </a:lnTo>
                  <a:cubicBezTo>
                    <a:pt x="100414" y="12574"/>
                    <a:pt x="99916" y="13278"/>
                    <a:pt x="99160" y="13278"/>
                  </a:cubicBezTo>
                  <a:lnTo>
                    <a:pt x="97166" y="13278"/>
                  </a:lnTo>
                  <a:lnTo>
                    <a:pt x="100998" y="7390"/>
                  </a:lnTo>
                  <a:cubicBezTo>
                    <a:pt x="101188" y="7098"/>
                    <a:pt x="101342" y="6823"/>
                    <a:pt x="101342" y="6771"/>
                  </a:cubicBezTo>
                  <a:cubicBezTo>
                    <a:pt x="101342" y="6599"/>
                    <a:pt x="101067" y="6496"/>
                    <a:pt x="100724" y="6496"/>
                  </a:cubicBezTo>
                  <a:cubicBezTo>
                    <a:pt x="100672" y="6496"/>
                    <a:pt x="100259" y="6548"/>
                    <a:pt x="99847" y="6548"/>
                  </a:cubicBezTo>
                  <a:lnTo>
                    <a:pt x="96341" y="6548"/>
                  </a:lnTo>
                  <a:cubicBezTo>
                    <a:pt x="96238" y="6536"/>
                    <a:pt x="96118" y="6519"/>
                    <a:pt x="96049" y="633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49" name="Paper math native glyph 10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109944" y="703"/>
                  </a:moveTo>
                  <a:lnTo>
                    <a:pt x="109944" y="0"/>
                  </a:lnTo>
                  <a:lnTo>
                    <a:pt x="102567" y="0"/>
                  </a:lnTo>
                  <a:lnTo>
                    <a:pt x="102567" y="703"/>
                  </a:lnTo>
                  <a:lnTo>
                    <a:pt x="105904" y="703"/>
                  </a:lnTo>
                  <a:lnTo>
                    <a:pt x="105904" y="6900"/>
                  </a:lnTo>
                  <a:lnTo>
                    <a:pt x="106606" y="6900"/>
                  </a:lnTo>
                  <a:lnTo>
                    <a:pt x="106606" y="703"/>
                  </a:lnTo>
                  <a:lnTo>
                    <a:pt x="109944" y="70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50" name="Paper math native glyph 11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115018" y="4405"/>
                  </a:moveTo>
                  <a:cubicBezTo>
                    <a:pt x="115018" y="3803"/>
                    <a:pt x="115138" y="3459"/>
                    <a:pt x="116049" y="3459"/>
                  </a:cubicBezTo>
                  <a:cubicBezTo>
                    <a:pt x="117045" y="3459"/>
                    <a:pt x="118197" y="3872"/>
                    <a:pt x="118197" y="5969"/>
                  </a:cubicBezTo>
                  <a:cubicBezTo>
                    <a:pt x="118197" y="7756"/>
                    <a:pt x="117286" y="8512"/>
                    <a:pt x="115877" y="8512"/>
                  </a:cubicBezTo>
                  <a:cubicBezTo>
                    <a:pt x="115619" y="8512"/>
                    <a:pt x="115258" y="8495"/>
                    <a:pt x="115018" y="8460"/>
                  </a:cubicBezTo>
                  <a:lnTo>
                    <a:pt x="115018" y="4405"/>
                  </a:lnTo>
                  <a:moveTo>
                    <a:pt x="112921" y="12468"/>
                  </a:moveTo>
                  <a:cubicBezTo>
                    <a:pt x="112921" y="13122"/>
                    <a:pt x="112680" y="13311"/>
                    <a:pt x="111976" y="13414"/>
                  </a:cubicBezTo>
                  <a:lnTo>
                    <a:pt x="111735" y="13449"/>
                  </a:lnTo>
                  <a:cubicBezTo>
                    <a:pt x="111666" y="13466"/>
                    <a:pt x="111598" y="13500"/>
                    <a:pt x="111598" y="13603"/>
                  </a:cubicBezTo>
                  <a:lnTo>
                    <a:pt x="111598" y="13999"/>
                  </a:lnTo>
                  <a:lnTo>
                    <a:pt x="111632" y="14033"/>
                  </a:lnTo>
                  <a:cubicBezTo>
                    <a:pt x="112268" y="14016"/>
                    <a:pt x="113316" y="13999"/>
                    <a:pt x="113969" y="13999"/>
                  </a:cubicBezTo>
                  <a:cubicBezTo>
                    <a:pt x="114622" y="13999"/>
                    <a:pt x="115842" y="14016"/>
                    <a:pt x="116478" y="14033"/>
                  </a:cubicBezTo>
                  <a:lnTo>
                    <a:pt x="116513" y="13999"/>
                  </a:lnTo>
                  <a:lnTo>
                    <a:pt x="116513" y="13603"/>
                  </a:lnTo>
                  <a:cubicBezTo>
                    <a:pt x="116513" y="13500"/>
                    <a:pt x="116478" y="13466"/>
                    <a:pt x="116375" y="13449"/>
                  </a:cubicBezTo>
                  <a:lnTo>
                    <a:pt x="116049" y="13414"/>
                  </a:lnTo>
                  <a:cubicBezTo>
                    <a:pt x="115361" y="13346"/>
                    <a:pt x="115018" y="13122"/>
                    <a:pt x="115018" y="12468"/>
                  </a:cubicBezTo>
                  <a:lnTo>
                    <a:pt x="115018" y="9148"/>
                  </a:lnTo>
                  <a:cubicBezTo>
                    <a:pt x="115258" y="9182"/>
                    <a:pt x="115550" y="9199"/>
                    <a:pt x="115963" y="9199"/>
                  </a:cubicBezTo>
                  <a:cubicBezTo>
                    <a:pt x="119348" y="9199"/>
                    <a:pt x="120379" y="7326"/>
                    <a:pt x="120379" y="5677"/>
                  </a:cubicBezTo>
                  <a:cubicBezTo>
                    <a:pt x="120379" y="4577"/>
                    <a:pt x="119640" y="2755"/>
                    <a:pt x="116186" y="2755"/>
                  </a:cubicBezTo>
                  <a:cubicBezTo>
                    <a:pt x="114794" y="2752"/>
                    <a:pt x="112646" y="2872"/>
                    <a:pt x="111632" y="2872"/>
                  </a:cubicBezTo>
                  <a:lnTo>
                    <a:pt x="111598" y="2907"/>
                  </a:lnTo>
                  <a:lnTo>
                    <a:pt x="111598" y="3319"/>
                  </a:lnTo>
                  <a:cubicBezTo>
                    <a:pt x="111598" y="3391"/>
                    <a:pt x="111649" y="3459"/>
                    <a:pt x="111787" y="3459"/>
                  </a:cubicBezTo>
                  <a:lnTo>
                    <a:pt x="112336" y="3494"/>
                  </a:lnTo>
                  <a:cubicBezTo>
                    <a:pt x="112715" y="3511"/>
                    <a:pt x="112921" y="3769"/>
                    <a:pt x="112921" y="4370"/>
                  </a:cubicBezTo>
                  <a:lnTo>
                    <a:pt x="112921" y="12468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51" name="Paper math native glyph 12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125602" y="15018"/>
                  </a:moveTo>
                  <a:lnTo>
                    <a:pt x="126079" y="13022"/>
                  </a:lnTo>
                  <a:cubicBezTo>
                    <a:pt x="126179" y="12583"/>
                    <a:pt x="126242" y="12294"/>
                    <a:pt x="126242" y="12068"/>
                  </a:cubicBezTo>
                  <a:cubicBezTo>
                    <a:pt x="126242" y="11315"/>
                    <a:pt x="125903" y="11064"/>
                    <a:pt x="125414" y="11064"/>
                  </a:cubicBezTo>
                  <a:cubicBezTo>
                    <a:pt x="124761" y="11064"/>
                    <a:pt x="124222" y="11328"/>
                    <a:pt x="123068" y="12683"/>
                  </a:cubicBezTo>
                  <a:lnTo>
                    <a:pt x="123055" y="12670"/>
                  </a:lnTo>
                  <a:lnTo>
                    <a:pt x="123080" y="12558"/>
                  </a:lnTo>
                  <a:cubicBezTo>
                    <a:pt x="123206" y="12068"/>
                    <a:pt x="123356" y="11578"/>
                    <a:pt x="123356" y="11365"/>
                  </a:cubicBezTo>
                  <a:cubicBezTo>
                    <a:pt x="123356" y="11190"/>
                    <a:pt x="123268" y="11102"/>
                    <a:pt x="123105" y="11102"/>
                  </a:cubicBezTo>
                  <a:cubicBezTo>
                    <a:pt x="122704" y="11101"/>
                    <a:pt x="122114" y="11189"/>
                    <a:pt x="121525" y="11264"/>
                  </a:cubicBezTo>
                  <a:cubicBezTo>
                    <a:pt x="121437" y="11365"/>
                    <a:pt x="121462" y="11503"/>
                    <a:pt x="121537" y="11615"/>
                  </a:cubicBezTo>
                  <a:lnTo>
                    <a:pt x="122039" y="11653"/>
                  </a:lnTo>
                  <a:cubicBezTo>
                    <a:pt x="122190" y="11666"/>
                    <a:pt x="122265" y="11779"/>
                    <a:pt x="122265" y="11904"/>
                  </a:cubicBezTo>
                  <a:cubicBezTo>
                    <a:pt x="122265" y="12017"/>
                    <a:pt x="122227" y="12193"/>
                    <a:pt x="122152" y="12545"/>
                  </a:cubicBezTo>
                  <a:lnTo>
                    <a:pt x="121449" y="15671"/>
                  </a:lnTo>
                  <a:cubicBezTo>
                    <a:pt x="121387" y="15922"/>
                    <a:pt x="121286" y="16236"/>
                    <a:pt x="121286" y="16361"/>
                  </a:cubicBezTo>
                  <a:cubicBezTo>
                    <a:pt x="121286" y="16574"/>
                    <a:pt x="121424" y="16700"/>
                    <a:pt x="121826" y="16700"/>
                  </a:cubicBezTo>
                  <a:cubicBezTo>
                    <a:pt x="122303" y="16700"/>
                    <a:pt x="122290" y="16148"/>
                    <a:pt x="122403" y="15671"/>
                  </a:cubicBezTo>
                  <a:lnTo>
                    <a:pt x="122880" y="13587"/>
                  </a:lnTo>
                  <a:cubicBezTo>
                    <a:pt x="123670" y="12558"/>
                    <a:pt x="124360" y="11817"/>
                    <a:pt x="124812" y="11817"/>
                  </a:cubicBezTo>
                  <a:cubicBezTo>
                    <a:pt x="125075" y="11817"/>
                    <a:pt x="125251" y="11880"/>
                    <a:pt x="125251" y="12269"/>
                  </a:cubicBezTo>
                  <a:cubicBezTo>
                    <a:pt x="125251" y="12445"/>
                    <a:pt x="125188" y="12696"/>
                    <a:pt x="125088" y="13122"/>
                  </a:cubicBezTo>
                  <a:lnTo>
                    <a:pt x="124611" y="15131"/>
                  </a:lnTo>
                  <a:cubicBezTo>
                    <a:pt x="124510" y="15533"/>
                    <a:pt x="124398" y="16047"/>
                    <a:pt x="124398" y="16286"/>
                  </a:cubicBezTo>
                  <a:cubicBezTo>
                    <a:pt x="124398" y="16524"/>
                    <a:pt x="124536" y="16700"/>
                    <a:pt x="124912" y="16700"/>
                  </a:cubicBezTo>
                  <a:cubicBezTo>
                    <a:pt x="125514" y="16700"/>
                    <a:pt x="126116" y="16273"/>
                    <a:pt x="126693" y="15533"/>
                  </a:cubicBezTo>
                  <a:cubicBezTo>
                    <a:pt x="126656" y="15420"/>
                    <a:pt x="126580" y="15319"/>
                    <a:pt x="126405" y="15319"/>
                  </a:cubicBezTo>
                  <a:cubicBezTo>
                    <a:pt x="126079" y="15696"/>
                    <a:pt x="125715" y="15947"/>
                    <a:pt x="125589" y="15947"/>
                  </a:cubicBezTo>
                  <a:cubicBezTo>
                    <a:pt x="125501" y="15947"/>
                    <a:pt x="125464" y="15884"/>
                    <a:pt x="125464" y="15734"/>
                  </a:cubicBezTo>
                  <a:cubicBezTo>
                    <a:pt x="125464" y="15621"/>
                    <a:pt x="125527" y="15345"/>
                    <a:pt x="125602" y="1501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52" name="Paper math native glyph 13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128259" y="1677"/>
                  </a:moveTo>
                  <a:lnTo>
                    <a:pt x="128104" y="1952"/>
                  </a:lnTo>
                  <a:cubicBezTo>
                    <a:pt x="130321" y="3740"/>
                    <a:pt x="131025" y="5716"/>
                    <a:pt x="131025" y="9531"/>
                  </a:cubicBezTo>
                  <a:cubicBezTo>
                    <a:pt x="131025" y="13329"/>
                    <a:pt x="130372" y="15409"/>
                    <a:pt x="128104" y="17196"/>
                  </a:cubicBezTo>
                  <a:lnTo>
                    <a:pt x="128310" y="17471"/>
                  </a:lnTo>
                  <a:cubicBezTo>
                    <a:pt x="130682" y="16010"/>
                    <a:pt x="132503" y="12779"/>
                    <a:pt x="132503" y="9583"/>
                  </a:cubicBezTo>
                  <a:cubicBezTo>
                    <a:pt x="132503" y="6077"/>
                    <a:pt x="130751" y="3293"/>
                    <a:pt x="128259" y="1677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53" name="Paper math native glyph 14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135236" y="17316"/>
                  </a:moveTo>
                  <a:lnTo>
                    <a:pt x="136130" y="17316"/>
                  </a:lnTo>
                  <a:lnTo>
                    <a:pt x="141010" y="1849"/>
                  </a:lnTo>
                  <a:lnTo>
                    <a:pt x="140117" y="1849"/>
                  </a:lnTo>
                  <a:lnTo>
                    <a:pt x="135236" y="17316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54" name="Paper math native glyph 15"/>
            <p:cNvSpPr/>
            <p:nvPr/>
          </p:nvSpPr>
          <p:spPr>
            <a:xfrm>
              <a:off x="0" y="0"/>
              <a:ext cx="1910215" cy="221882"/>
            </a:xfrm>
            <a:custGeom>
              <a:avLst/>
              <a:gdLst/>
              <a:ahLst/>
              <a:cxnLst/>
              <a:rect l="0" t="0" r="r" b="b"/>
              <a:pathLst>
                <a:path w="150411" h="17471" stroke="0" extrusionOk="0">
                  <a:moveTo>
                    <a:pt x="150411" y="12964"/>
                  </a:moveTo>
                  <a:lnTo>
                    <a:pt x="150119" y="12671"/>
                  </a:lnTo>
                  <a:cubicBezTo>
                    <a:pt x="149672" y="13118"/>
                    <a:pt x="149431" y="13153"/>
                    <a:pt x="149087" y="13153"/>
                  </a:cubicBezTo>
                  <a:cubicBezTo>
                    <a:pt x="148589" y="13153"/>
                    <a:pt x="148538" y="12568"/>
                    <a:pt x="148417" y="10317"/>
                  </a:cubicBezTo>
                  <a:lnTo>
                    <a:pt x="148125" y="4217"/>
                  </a:lnTo>
                  <a:cubicBezTo>
                    <a:pt x="148039" y="2189"/>
                    <a:pt x="147180" y="2000"/>
                    <a:pt x="146716" y="2000"/>
                  </a:cubicBezTo>
                  <a:cubicBezTo>
                    <a:pt x="146080" y="2000"/>
                    <a:pt x="145444" y="2533"/>
                    <a:pt x="144877" y="3186"/>
                  </a:cubicBezTo>
                  <a:lnTo>
                    <a:pt x="145083" y="3478"/>
                  </a:lnTo>
                  <a:cubicBezTo>
                    <a:pt x="145461" y="3220"/>
                    <a:pt x="145908" y="3048"/>
                    <a:pt x="146320" y="3048"/>
                  </a:cubicBezTo>
                  <a:cubicBezTo>
                    <a:pt x="146767" y="3048"/>
                    <a:pt x="147300" y="3409"/>
                    <a:pt x="147420" y="5781"/>
                  </a:cubicBezTo>
                  <a:lnTo>
                    <a:pt x="147455" y="6519"/>
                  </a:lnTo>
                  <a:lnTo>
                    <a:pt x="142196" y="13995"/>
                  </a:lnTo>
                  <a:lnTo>
                    <a:pt x="142540" y="14201"/>
                  </a:lnTo>
                  <a:cubicBezTo>
                    <a:pt x="142918" y="14063"/>
                    <a:pt x="143347" y="14012"/>
                    <a:pt x="143794" y="13995"/>
                  </a:cubicBezTo>
                  <a:lnTo>
                    <a:pt x="147506" y="7757"/>
                  </a:lnTo>
                  <a:lnTo>
                    <a:pt x="147713" y="11829"/>
                  </a:lnTo>
                  <a:cubicBezTo>
                    <a:pt x="147781" y="13427"/>
                    <a:pt x="147987" y="14201"/>
                    <a:pt x="148795" y="14201"/>
                  </a:cubicBezTo>
                  <a:cubicBezTo>
                    <a:pt x="149259" y="14201"/>
                    <a:pt x="149964" y="13634"/>
                    <a:pt x="150411" y="12964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cxnSp>
        <p:nvCxnSpPr>
          <p:cNvPr id="1755" name="Calibrated forecast issued"/>
          <p:cNvCxnSpPr/>
          <p:nvPr/>
        </p:nvCxnSpPr>
        <p:spPr>
          <a:xfrm>
            <a:off x="15430500" y="6115050"/>
            <a:ext cx="0" cy="276225"/>
          </a:xfrm>
          <a:prstGeom prst="line">
            <a:avLst/>
          </a:prstGeom>
          <a:ln w="25146">
            <a:solidFill>
              <a:srgbClr val="B15E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6" name="Final calibrated forecast"/>
          <p:cNvSpPr/>
          <p:nvPr/>
        </p:nvSpPr>
        <p:spPr>
          <a:xfrm>
            <a:off x="13420725" y="6391275"/>
            <a:ext cx="4029075" cy="695325"/>
          </a:xfrm>
          <a:prstGeom prst="roundRect">
            <a:avLst>
              <a:gd name="adj" fmla="val 8000"/>
            </a:avLst>
          </a:prstGeom>
          <a:solidFill>
            <a:srgbClr val="F8CD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Label · Final Calibrated Forecast"/>
          <p:cNvSpPr txBox="1"/>
          <p:nvPr/>
        </p:nvSpPr>
        <p:spPr>
          <a:xfrm>
            <a:off x="13601700" y="6524625"/>
            <a:ext cx="3686175" cy="3429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6272C"/>
                </a:solidFill>
                <a:latin typeface="Times New Roman"/>
              </a:rPr>
              <a:t>Final Calibrated Forecast</a:t>
            </a:r>
          </a:p>
        </p:txBody>
      </p:sp>
      <p:grpSp>
        <p:nvGrpSpPr>
          <p:cNvPr id="1758" name="Formula · \widehat{\mathbf{y}}_{t,n}" descr="Editable LaTeX source: $\widehat{\mathbf{y}}_{t,n}$; native vector glyphs."/>
          <p:cNvGrpSpPr/>
          <p:nvPr/>
        </p:nvGrpSpPr>
        <p:grpSpPr>
          <a:xfrm>
            <a:off x="15097125" y="6819900"/>
            <a:ext cx="286091" cy="218017"/>
            <a:chOff x="0" y="0"/>
            <a:chExt cx="286091" cy="218017"/>
          </a:xfrm>
        </p:grpSpPr>
        <p:sp>
          <p:nvSpPr>
            <p:cNvPr id="1759" name="Paper math native glyph 1"/>
            <p:cNvSpPr/>
            <p:nvPr/>
          </p:nvSpPr>
          <p:spPr>
            <a:xfrm>
              <a:off x="0" y="0"/>
              <a:ext cx="286091" cy="218017"/>
            </a:xfrm>
            <a:custGeom>
              <a:avLst/>
              <a:gdLst/>
              <a:ahLst/>
              <a:cxnLst/>
              <a:rect l="0" t="0" r="r" b="b"/>
              <a:pathLst>
                <a:path w="22527" h="17167" stroke="0" extrusionOk="0">
                  <a:moveTo>
                    <a:pt x="9624" y="2681"/>
                  </a:moveTo>
                  <a:lnTo>
                    <a:pt x="9624" y="1925"/>
                  </a:lnTo>
                  <a:lnTo>
                    <a:pt x="4795" y="0"/>
                  </a:lnTo>
                  <a:lnTo>
                    <a:pt x="0" y="1925"/>
                  </a:lnTo>
                  <a:lnTo>
                    <a:pt x="0" y="2681"/>
                  </a:lnTo>
                  <a:lnTo>
                    <a:pt x="4812" y="1169"/>
                  </a:lnTo>
                  <a:lnTo>
                    <a:pt x="9624" y="268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60" name="Paper math native glyph 2"/>
            <p:cNvSpPr/>
            <p:nvPr/>
          </p:nvSpPr>
          <p:spPr>
            <a:xfrm>
              <a:off x="0" y="0"/>
              <a:ext cx="286091" cy="218017"/>
            </a:xfrm>
            <a:custGeom>
              <a:avLst/>
              <a:gdLst/>
              <a:ahLst/>
              <a:cxnLst/>
              <a:rect l="0" t="0" r="r" b="b"/>
              <a:pathLst>
                <a:path w="22527" h="17167" stroke="0" extrusionOk="0">
                  <a:moveTo>
                    <a:pt x="7656" y="7070"/>
                  </a:moveTo>
                  <a:cubicBezTo>
                    <a:pt x="7948" y="6349"/>
                    <a:pt x="8447" y="6022"/>
                    <a:pt x="8945" y="6022"/>
                  </a:cubicBezTo>
                  <a:cubicBezTo>
                    <a:pt x="9048" y="6022"/>
                    <a:pt x="9134" y="5953"/>
                    <a:pt x="9134" y="5867"/>
                  </a:cubicBezTo>
                  <a:lnTo>
                    <a:pt x="9134" y="5472"/>
                  </a:lnTo>
                  <a:lnTo>
                    <a:pt x="9100" y="5438"/>
                  </a:lnTo>
                  <a:cubicBezTo>
                    <a:pt x="9100" y="5438"/>
                    <a:pt x="8429" y="5472"/>
                    <a:pt x="8000" y="5472"/>
                  </a:cubicBezTo>
                  <a:cubicBezTo>
                    <a:pt x="7244" y="5472"/>
                    <a:pt x="6075" y="5438"/>
                    <a:pt x="6075" y="5438"/>
                  </a:cubicBezTo>
                  <a:lnTo>
                    <a:pt x="6006" y="5489"/>
                  </a:lnTo>
                  <a:lnTo>
                    <a:pt x="6006" y="5902"/>
                  </a:lnTo>
                  <a:cubicBezTo>
                    <a:pt x="6006" y="5953"/>
                    <a:pt x="6058" y="6022"/>
                    <a:pt x="6144" y="6022"/>
                  </a:cubicBezTo>
                  <a:cubicBezTo>
                    <a:pt x="6677" y="6022"/>
                    <a:pt x="7038" y="6211"/>
                    <a:pt x="6831" y="6830"/>
                  </a:cubicBezTo>
                  <a:cubicBezTo>
                    <a:pt x="6522" y="7827"/>
                    <a:pt x="5834" y="9700"/>
                    <a:pt x="5250" y="11126"/>
                  </a:cubicBezTo>
                  <a:lnTo>
                    <a:pt x="3652" y="6795"/>
                  </a:lnTo>
                  <a:cubicBezTo>
                    <a:pt x="3463" y="6263"/>
                    <a:pt x="3600" y="6022"/>
                    <a:pt x="4288" y="6022"/>
                  </a:cubicBezTo>
                  <a:cubicBezTo>
                    <a:pt x="4322" y="6022"/>
                    <a:pt x="4425" y="6005"/>
                    <a:pt x="4425" y="5884"/>
                  </a:cubicBezTo>
                  <a:lnTo>
                    <a:pt x="4425" y="5472"/>
                  </a:lnTo>
                  <a:lnTo>
                    <a:pt x="4356" y="5438"/>
                  </a:lnTo>
                  <a:cubicBezTo>
                    <a:pt x="4356" y="5438"/>
                    <a:pt x="3085" y="5472"/>
                    <a:pt x="2277" y="5472"/>
                  </a:cubicBezTo>
                  <a:cubicBezTo>
                    <a:pt x="1572" y="5472"/>
                    <a:pt x="455" y="5438"/>
                    <a:pt x="455" y="5438"/>
                  </a:cubicBezTo>
                  <a:lnTo>
                    <a:pt x="404" y="5472"/>
                  </a:lnTo>
                  <a:lnTo>
                    <a:pt x="404" y="5902"/>
                  </a:lnTo>
                  <a:cubicBezTo>
                    <a:pt x="404" y="5988"/>
                    <a:pt x="473" y="6022"/>
                    <a:pt x="576" y="6022"/>
                  </a:cubicBezTo>
                  <a:cubicBezTo>
                    <a:pt x="1263" y="6022"/>
                    <a:pt x="1469" y="6297"/>
                    <a:pt x="1813" y="7156"/>
                  </a:cubicBezTo>
                  <a:lnTo>
                    <a:pt x="4236" y="13136"/>
                  </a:lnTo>
                  <a:lnTo>
                    <a:pt x="3927" y="13978"/>
                  </a:lnTo>
                  <a:cubicBezTo>
                    <a:pt x="3428" y="15302"/>
                    <a:pt x="2982" y="15800"/>
                    <a:pt x="2862" y="15800"/>
                  </a:cubicBezTo>
                  <a:cubicBezTo>
                    <a:pt x="2741" y="15800"/>
                    <a:pt x="2638" y="15663"/>
                    <a:pt x="2535" y="15508"/>
                  </a:cubicBezTo>
                  <a:cubicBezTo>
                    <a:pt x="2415" y="15336"/>
                    <a:pt x="2088" y="15096"/>
                    <a:pt x="1813" y="15096"/>
                  </a:cubicBezTo>
                  <a:cubicBezTo>
                    <a:pt x="1315" y="15096"/>
                    <a:pt x="799" y="15405"/>
                    <a:pt x="799" y="15989"/>
                  </a:cubicBezTo>
                  <a:cubicBezTo>
                    <a:pt x="799" y="16694"/>
                    <a:pt x="1744" y="16917"/>
                    <a:pt x="2105" y="16917"/>
                  </a:cubicBezTo>
                  <a:cubicBezTo>
                    <a:pt x="3480" y="16917"/>
                    <a:pt x="4219" y="15594"/>
                    <a:pt x="4803" y="14150"/>
                  </a:cubicBezTo>
                  <a:lnTo>
                    <a:pt x="7656" y="707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61" name="Paper math native glyph 3"/>
            <p:cNvSpPr/>
            <p:nvPr/>
          </p:nvSpPr>
          <p:spPr>
            <a:xfrm>
              <a:off x="0" y="0"/>
              <a:ext cx="286091" cy="218017"/>
            </a:xfrm>
            <a:custGeom>
              <a:avLst/>
              <a:gdLst/>
              <a:ahLst/>
              <a:cxnLst/>
              <a:rect l="0" t="0" r="r" b="b"/>
              <a:pathLst>
                <a:path w="22527" h="17167" stroke="0" extrusionOk="0">
                  <a:moveTo>
                    <a:pt x="11286" y="10111"/>
                  </a:moveTo>
                  <a:lnTo>
                    <a:pt x="10621" y="10148"/>
                  </a:lnTo>
                  <a:cubicBezTo>
                    <a:pt x="10383" y="10161"/>
                    <a:pt x="10295" y="10261"/>
                    <a:pt x="10270" y="10362"/>
                  </a:cubicBezTo>
                  <a:cubicBezTo>
                    <a:pt x="10258" y="10399"/>
                    <a:pt x="10220" y="10550"/>
                    <a:pt x="10220" y="10575"/>
                  </a:cubicBezTo>
                  <a:cubicBezTo>
                    <a:pt x="10220" y="10600"/>
                    <a:pt x="10258" y="10600"/>
                    <a:pt x="10295" y="10600"/>
                  </a:cubicBezTo>
                  <a:lnTo>
                    <a:pt x="11173" y="10600"/>
                  </a:lnTo>
                  <a:lnTo>
                    <a:pt x="10408" y="14016"/>
                  </a:lnTo>
                  <a:cubicBezTo>
                    <a:pt x="10320" y="14418"/>
                    <a:pt x="10232" y="14808"/>
                    <a:pt x="10232" y="15046"/>
                  </a:cubicBezTo>
                  <a:cubicBezTo>
                    <a:pt x="10232" y="15498"/>
                    <a:pt x="10458" y="15623"/>
                    <a:pt x="10847" y="15623"/>
                  </a:cubicBezTo>
                  <a:cubicBezTo>
                    <a:pt x="11412" y="15623"/>
                    <a:pt x="12240" y="15109"/>
                    <a:pt x="12666" y="14330"/>
                  </a:cubicBezTo>
                  <a:cubicBezTo>
                    <a:pt x="12629" y="14167"/>
                    <a:pt x="12541" y="14092"/>
                    <a:pt x="12390" y="14092"/>
                  </a:cubicBezTo>
                  <a:cubicBezTo>
                    <a:pt x="11813" y="14745"/>
                    <a:pt x="11587" y="14870"/>
                    <a:pt x="11387" y="14870"/>
                  </a:cubicBezTo>
                  <a:cubicBezTo>
                    <a:pt x="11349" y="14870"/>
                    <a:pt x="11224" y="14845"/>
                    <a:pt x="11224" y="14695"/>
                  </a:cubicBezTo>
                  <a:cubicBezTo>
                    <a:pt x="11224" y="14581"/>
                    <a:pt x="11261" y="14330"/>
                    <a:pt x="11361" y="13903"/>
                  </a:cubicBezTo>
                  <a:lnTo>
                    <a:pt x="12102" y="10600"/>
                  </a:lnTo>
                  <a:lnTo>
                    <a:pt x="13331" y="10600"/>
                  </a:lnTo>
                  <a:cubicBezTo>
                    <a:pt x="13482" y="10537"/>
                    <a:pt x="13595" y="10211"/>
                    <a:pt x="13457" y="10111"/>
                  </a:cubicBezTo>
                  <a:lnTo>
                    <a:pt x="12215" y="10111"/>
                  </a:lnTo>
                  <a:lnTo>
                    <a:pt x="12340" y="9546"/>
                  </a:lnTo>
                  <a:cubicBezTo>
                    <a:pt x="12390" y="9308"/>
                    <a:pt x="12503" y="8944"/>
                    <a:pt x="12503" y="8794"/>
                  </a:cubicBezTo>
                  <a:cubicBezTo>
                    <a:pt x="12503" y="8580"/>
                    <a:pt x="12403" y="8455"/>
                    <a:pt x="12001" y="8455"/>
                  </a:cubicBezTo>
                  <a:cubicBezTo>
                    <a:pt x="11550" y="8455"/>
                    <a:pt x="11575" y="9019"/>
                    <a:pt x="11449" y="9484"/>
                  </a:cubicBezTo>
                  <a:lnTo>
                    <a:pt x="11286" y="10111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62" name="Paper math native glyph 4"/>
            <p:cNvSpPr/>
            <p:nvPr/>
          </p:nvSpPr>
          <p:spPr>
            <a:xfrm>
              <a:off x="0" y="0"/>
              <a:ext cx="286091" cy="218017"/>
            </a:xfrm>
            <a:custGeom>
              <a:avLst/>
              <a:gdLst/>
              <a:ahLst/>
              <a:cxnLst/>
              <a:rect l="0" t="0" r="r" b="b"/>
              <a:pathLst>
                <a:path w="22527" h="17167" stroke="0" extrusionOk="0">
                  <a:moveTo>
                    <a:pt x="14924" y="14309"/>
                  </a:moveTo>
                  <a:cubicBezTo>
                    <a:pt x="14536" y="14309"/>
                    <a:pt x="14260" y="14573"/>
                    <a:pt x="14260" y="14924"/>
                  </a:cubicBezTo>
                  <a:cubicBezTo>
                    <a:pt x="14260" y="15326"/>
                    <a:pt x="14586" y="15439"/>
                    <a:pt x="14811" y="15476"/>
                  </a:cubicBezTo>
                  <a:cubicBezTo>
                    <a:pt x="15050" y="15501"/>
                    <a:pt x="15263" y="15576"/>
                    <a:pt x="15263" y="15864"/>
                  </a:cubicBezTo>
                  <a:cubicBezTo>
                    <a:pt x="15263" y="16127"/>
                    <a:pt x="14811" y="16703"/>
                    <a:pt x="14159" y="16866"/>
                  </a:cubicBezTo>
                  <a:cubicBezTo>
                    <a:pt x="14159" y="16991"/>
                    <a:pt x="14184" y="17079"/>
                    <a:pt x="14272" y="17167"/>
                  </a:cubicBezTo>
                  <a:cubicBezTo>
                    <a:pt x="15025" y="17029"/>
                    <a:pt x="15752" y="16428"/>
                    <a:pt x="15752" y="15551"/>
                  </a:cubicBezTo>
                  <a:cubicBezTo>
                    <a:pt x="15752" y="14799"/>
                    <a:pt x="15426" y="14309"/>
                    <a:pt x="14924" y="1430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63" name="Paper math native glyph 5"/>
            <p:cNvSpPr/>
            <p:nvPr/>
          </p:nvSpPr>
          <p:spPr>
            <a:xfrm>
              <a:off x="0" y="0"/>
              <a:ext cx="286091" cy="218017"/>
            </a:xfrm>
            <a:custGeom>
              <a:avLst/>
              <a:gdLst/>
              <a:ahLst/>
              <a:cxnLst/>
              <a:rect l="0" t="0" r="r" b="b"/>
              <a:pathLst>
                <a:path w="22527" h="17167" stroke="0" extrusionOk="0">
                  <a:moveTo>
                    <a:pt x="21436" y="13941"/>
                  </a:moveTo>
                  <a:lnTo>
                    <a:pt x="21912" y="11945"/>
                  </a:lnTo>
                  <a:cubicBezTo>
                    <a:pt x="22013" y="11506"/>
                    <a:pt x="22075" y="11217"/>
                    <a:pt x="22075" y="10991"/>
                  </a:cubicBezTo>
                  <a:cubicBezTo>
                    <a:pt x="22075" y="10238"/>
                    <a:pt x="21737" y="9987"/>
                    <a:pt x="21247" y="9987"/>
                  </a:cubicBezTo>
                  <a:cubicBezTo>
                    <a:pt x="20595" y="9987"/>
                    <a:pt x="20056" y="10251"/>
                    <a:pt x="18901" y="11607"/>
                  </a:cubicBezTo>
                  <a:lnTo>
                    <a:pt x="18889" y="11594"/>
                  </a:lnTo>
                  <a:lnTo>
                    <a:pt x="18914" y="11481"/>
                  </a:lnTo>
                  <a:cubicBezTo>
                    <a:pt x="19039" y="10991"/>
                    <a:pt x="19190" y="10502"/>
                    <a:pt x="19190" y="10289"/>
                  </a:cubicBezTo>
                  <a:cubicBezTo>
                    <a:pt x="19190" y="10113"/>
                    <a:pt x="19102" y="10025"/>
                    <a:pt x="18939" y="10025"/>
                  </a:cubicBezTo>
                  <a:cubicBezTo>
                    <a:pt x="18538" y="10025"/>
                    <a:pt x="17948" y="10112"/>
                    <a:pt x="17358" y="10187"/>
                  </a:cubicBezTo>
                  <a:cubicBezTo>
                    <a:pt x="17270" y="10288"/>
                    <a:pt x="17296" y="10426"/>
                    <a:pt x="17371" y="10539"/>
                  </a:cubicBezTo>
                  <a:lnTo>
                    <a:pt x="17873" y="10576"/>
                  </a:lnTo>
                  <a:cubicBezTo>
                    <a:pt x="18023" y="10589"/>
                    <a:pt x="18098" y="10702"/>
                    <a:pt x="18098" y="10828"/>
                  </a:cubicBezTo>
                  <a:cubicBezTo>
                    <a:pt x="18098" y="10941"/>
                    <a:pt x="18061" y="11116"/>
                    <a:pt x="17985" y="11468"/>
                  </a:cubicBezTo>
                  <a:lnTo>
                    <a:pt x="17283" y="14594"/>
                  </a:lnTo>
                  <a:cubicBezTo>
                    <a:pt x="17220" y="14845"/>
                    <a:pt x="17120" y="15159"/>
                    <a:pt x="17120" y="15284"/>
                  </a:cubicBezTo>
                  <a:cubicBezTo>
                    <a:pt x="17120" y="15498"/>
                    <a:pt x="17258" y="15623"/>
                    <a:pt x="17659" y="15623"/>
                  </a:cubicBezTo>
                  <a:cubicBezTo>
                    <a:pt x="18136" y="15623"/>
                    <a:pt x="18123" y="15071"/>
                    <a:pt x="18236" y="14594"/>
                  </a:cubicBezTo>
                  <a:lnTo>
                    <a:pt x="18713" y="12510"/>
                  </a:lnTo>
                  <a:cubicBezTo>
                    <a:pt x="19503" y="11481"/>
                    <a:pt x="20194" y="10740"/>
                    <a:pt x="20645" y="10740"/>
                  </a:cubicBezTo>
                  <a:cubicBezTo>
                    <a:pt x="20909" y="10740"/>
                    <a:pt x="21084" y="10803"/>
                    <a:pt x="21084" y="11192"/>
                  </a:cubicBezTo>
                  <a:cubicBezTo>
                    <a:pt x="21084" y="11368"/>
                    <a:pt x="21021" y="11619"/>
                    <a:pt x="20921" y="12046"/>
                  </a:cubicBezTo>
                  <a:lnTo>
                    <a:pt x="20444" y="14054"/>
                  </a:lnTo>
                  <a:cubicBezTo>
                    <a:pt x="20344" y="14456"/>
                    <a:pt x="20231" y="14971"/>
                    <a:pt x="20231" y="15209"/>
                  </a:cubicBezTo>
                  <a:cubicBezTo>
                    <a:pt x="20231" y="15448"/>
                    <a:pt x="20369" y="15623"/>
                    <a:pt x="20745" y="15623"/>
                  </a:cubicBezTo>
                  <a:cubicBezTo>
                    <a:pt x="21348" y="15623"/>
                    <a:pt x="21950" y="15197"/>
                    <a:pt x="22527" y="14456"/>
                  </a:cubicBezTo>
                  <a:cubicBezTo>
                    <a:pt x="22489" y="14343"/>
                    <a:pt x="22414" y="14243"/>
                    <a:pt x="22238" y="14243"/>
                  </a:cubicBezTo>
                  <a:cubicBezTo>
                    <a:pt x="21912" y="14619"/>
                    <a:pt x="21548" y="14870"/>
                    <a:pt x="21423" y="14870"/>
                  </a:cubicBezTo>
                  <a:cubicBezTo>
                    <a:pt x="21335" y="14870"/>
                    <a:pt x="21298" y="14808"/>
                    <a:pt x="21298" y="14657"/>
                  </a:cubicBezTo>
                  <a:cubicBezTo>
                    <a:pt x="21298" y="14544"/>
                    <a:pt x="21360" y="14268"/>
                    <a:pt x="21436" y="13941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764" name="Matured feedback and causal release"/>
          <p:cNvSpPr/>
          <p:nvPr/>
        </p:nvSpPr>
        <p:spPr>
          <a:xfrm>
            <a:off x="13420725" y="7486650"/>
            <a:ext cx="4029075" cy="1095375"/>
          </a:xfrm>
          <a:prstGeom prst="roundRect">
            <a:avLst>
              <a:gd name="adj" fmla="val 8000"/>
            </a:avLst>
          </a:prstGeom>
          <a:solidFill>
            <a:srgbClr val="F1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Label · Matured Feedback"/>
          <p:cNvSpPr txBox="1"/>
          <p:nvPr/>
        </p:nvSpPr>
        <p:spPr>
          <a:xfrm>
            <a:off x="13592175" y="7600950"/>
            <a:ext cx="3676650" cy="3429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6272C"/>
                </a:solidFill>
                <a:latin typeface="Times New Roman"/>
              </a:rPr>
              <a:t>Matured Feedback</a:t>
            </a:r>
          </a:p>
        </p:txBody>
      </p:sp>
      <p:grpSp>
        <p:nvGrpSpPr>
          <p:cNvPr id="1766" name="Editable vector · Original clock for matured labels"/>
          <p:cNvGrpSpPr/>
          <p:nvPr/>
        </p:nvGrpSpPr>
        <p:grpSpPr>
          <a:xfrm>
            <a:off x="13649325" y="8001000"/>
            <a:ext cx="285750" cy="285750"/>
            <a:chOff x="0" y="0"/>
            <a:chExt cx="285750" cy="285750"/>
          </a:xfrm>
        </p:grpSpPr>
        <p:sp>
          <p:nvSpPr>
            <p:cNvPr id="1767" name="Original clock for matured labels · vector path 1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910180" y="3840"/>
                  </a:moveTo>
                  <a:cubicBezTo>
                    <a:pt x="1458850" y="-44160"/>
                    <a:pt x="1942650" y="362920"/>
                    <a:pt x="1990790" y="913080"/>
                  </a:cubicBezTo>
                  <a:cubicBezTo>
                    <a:pt x="2038920" y="1463240"/>
                    <a:pt x="1633160" y="1948150"/>
                    <a:pt x="1084490" y="1996150"/>
                  </a:cubicBezTo>
                  <a:cubicBezTo>
                    <a:pt x="535820" y="2044150"/>
                    <a:pt x="52020" y="1637070"/>
                    <a:pt x="3880" y="1086910"/>
                  </a:cubicBezTo>
                  <a:cubicBezTo>
                    <a:pt x="-44260" y="536750"/>
                    <a:pt x="361510" y="51850"/>
                    <a:pt x="910180" y="3840"/>
                  </a:cubicBezTo>
                  <a:close/>
                  <a:moveTo>
                    <a:pt x="810650" y="165020"/>
                  </a:moveTo>
                  <a:cubicBezTo>
                    <a:pt x="350850" y="267800"/>
                    <a:pt x="61700" y="725030"/>
                    <a:pt x="164800" y="1186290"/>
                  </a:cubicBezTo>
                  <a:cubicBezTo>
                    <a:pt x="267900" y="1647540"/>
                    <a:pt x="724220" y="1938140"/>
                    <a:pt x="1184010" y="1835370"/>
                  </a:cubicBezTo>
                  <a:cubicBezTo>
                    <a:pt x="1643800" y="1732600"/>
                    <a:pt x="1932960" y="1275360"/>
                    <a:pt x="1829860" y="814110"/>
                  </a:cubicBezTo>
                  <a:cubicBezTo>
                    <a:pt x="1829860" y="814110"/>
                    <a:pt x="1829860" y="814110"/>
                    <a:pt x="1829860" y="814110"/>
                  </a:cubicBezTo>
                  <a:cubicBezTo>
                    <a:pt x="1726760" y="352850"/>
                    <a:pt x="1270440" y="62250"/>
                    <a:pt x="810650" y="165020"/>
                  </a:cubicBezTo>
                  <a:lnTo>
                    <a:pt x="810650" y="16502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68" name="Original clock for matured labels · vector path 2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989100" y="199340"/>
                  </a:moveTo>
                  <a:lnTo>
                    <a:pt x="995680" y="199420"/>
                  </a:lnTo>
                  <a:cubicBezTo>
                    <a:pt x="1009680" y="199590"/>
                    <a:pt x="1020890" y="211080"/>
                    <a:pt x="1020720" y="225080"/>
                  </a:cubicBezTo>
                  <a:lnTo>
                    <a:pt x="1019600" y="316810"/>
                  </a:lnTo>
                  <a:cubicBezTo>
                    <a:pt x="1019430" y="330810"/>
                    <a:pt x="1007940" y="342020"/>
                    <a:pt x="993940" y="341850"/>
                  </a:cubicBezTo>
                  <a:lnTo>
                    <a:pt x="987360" y="341770"/>
                  </a:lnTo>
                  <a:cubicBezTo>
                    <a:pt x="973360" y="341600"/>
                    <a:pt x="962150" y="330110"/>
                    <a:pt x="962320" y="316110"/>
                  </a:cubicBezTo>
                  <a:lnTo>
                    <a:pt x="963440" y="224380"/>
                  </a:lnTo>
                  <a:cubicBezTo>
                    <a:pt x="963620" y="210380"/>
                    <a:pt x="975100" y="199170"/>
                    <a:pt x="989100" y="19934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69" name="Original clock for matured labels · vector path 3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589580" y="324480"/>
                  </a:moveTo>
                  <a:lnTo>
                    <a:pt x="601710" y="316870"/>
                  </a:lnTo>
                  <a:cubicBezTo>
                    <a:pt x="611850" y="310510"/>
                    <a:pt x="625230" y="313570"/>
                    <a:pt x="631590" y="323710"/>
                  </a:cubicBezTo>
                  <a:lnTo>
                    <a:pt x="671490" y="387320"/>
                  </a:lnTo>
                  <a:cubicBezTo>
                    <a:pt x="677850" y="397460"/>
                    <a:pt x="674790" y="410840"/>
                    <a:pt x="664650" y="417200"/>
                  </a:cubicBezTo>
                  <a:lnTo>
                    <a:pt x="652520" y="424810"/>
                  </a:lnTo>
                  <a:cubicBezTo>
                    <a:pt x="642380" y="431170"/>
                    <a:pt x="629000" y="428110"/>
                    <a:pt x="622640" y="417970"/>
                  </a:cubicBezTo>
                  <a:lnTo>
                    <a:pt x="582740" y="354360"/>
                  </a:lnTo>
                  <a:cubicBezTo>
                    <a:pt x="576370" y="344220"/>
                    <a:pt x="579440" y="330840"/>
                    <a:pt x="589580" y="32448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0" name="Original clock for matured labels · vector path 4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391220" y="317980"/>
                  </a:moveTo>
                  <a:lnTo>
                    <a:pt x="1396110" y="321120"/>
                  </a:lnTo>
                  <a:cubicBezTo>
                    <a:pt x="1408340" y="328970"/>
                    <a:pt x="1411890" y="345260"/>
                    <a:pt x="1404040" y="357490"/>
                  </a:cubicBezTo>
                  <a:lnTo>
                    <a:pt x="1367870" y="413840"/>
                  </a:lnTo>
                  <a:cubicBezTo>
                    <a:pt x="1360020" y="426070"/>
                    <a:pt x="1343730" y="429620"/>
                    <a:pt x="1331500" y="421770"/>
                  </a:cubicBezTo>
                  <a:lnTo>
                    <a:pt x="1326610" y="418630"/>
                  </a:lnTo>
                  <a:cubicBezTo>
                    <a:pt x="1314380" y="410780"/>
                    <a:pt x="1310830" y="394490"/>
                    <a:pt x="1318680" y="382260"/>
                  </a:cubicBezTo>
                  <a:lnTo>
                    <a:pt x="1354850" y="325910"/>
                  </a:lnTo>
                  <a:cubicBezTo>
                    <a:pt x="1362710" y="313680"/>
                    <a:pt x="1378990" y="310130"/>
                    <a:pt x="1391220" y="31798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1" name="Original clock for matured labels · vector path 5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968690" y="443220"/>
                  </a:moveTo>
                  <a:cubicBezTo>
                    <a:pt x="968700" y="430820"/>
                    <a:pt x="978670" y="420760"/>
                    <a:pt x="990960" y="420750"/>
                  </a:cubicBezTo>
                  <a:cubicBezTo>
                    <a:pt x="992380" y="420750"/>
                    <a:pt x="993800" y="420890"/>
                    <a:pt x="995200" y="421160"/>
                  </a:cubicBezTo>
                  <a:lnTo>
                    <a:pt x="1008360" y="423680"/>
                  </a:lnTo>
                  <a:cubicBezTo>
                    <a:pt x="1020370" y="425920"/>
                    <a:pt x="1029070" y="436330"/>
                    <a:pt x="1029070" y="448450"/>
                  </a:cubicBezTo>
                  <a:lnTo>
                    <a:pt x="1031970" y="913690"/>
                  </a:lnTo>
                  <a:cubicBezTo>
                    <a:pt x="1031970" y="918900"/>
                    <a:pt x="1033230" y="924010"/>
                    <a:pt x="1035650" y="928590"/>
                  </a:cubicBezTo>
                  <a:cubicBezTo>
                    <a:pt x="1046750" y="949750"/>
                    <a:pt x="1059070" y="965880"/>
                    <a:pt x="1072610" y="976970"/>
                  </a:cubicBezTo>
                  <a:cubicBezTo>
                    <a:pt x="1078070" y="981410"/>
                    <a:pt x="1084600" y="984410"/>
                    <a:pt x="1091580" y="985680"/>
                  </a:cubicBezTo>
                  <a:lnTo>
                    <a:pt x="1428320" y="1048960"/>
                  </a:lnTo>
                  <a:cubicBezTo>
                    <a:pt x="1445380" y="1052110"/>
                    <a:pt x="1456920" y="1068170"/>
                    <a:pt x="1454450" y="1085340"/>
                  </a:cubicBezTo>
                  <a:lnTo>
                    <a:pt x="1454450" y="1085920"/>
                  </a:lnTo>
                  <a:cubicBezTo>
                    <a:pt x="1450970" y="1101310"/>
                    <a:pt x="1435850" y="1111100"/>
                    <a:pt x="1420390" y="1107980"/>
                  </a:cubicBezTo>
                  <a:lnTo>
                    <a:pt x="1090230" y="1041410"/>
                  </a:lnTo>
                  <a:cubicBezTo>
                    <a:pt x="1083380" y="1039920"/>
                    <a:pt x="1076190" y="1041090"/>
                    <a:pt x="1070100" y="1044700"/>
                  </a:cubicBezTo>
                  <a:cubicBezTo>
                    <a:pt x="1069070" y="1045220"/>
                    <a:pt x="1061070" y="1050510"/>
                    <a:pt x="1046100" y="1060570"/>
                  </a:cubicBezTo>
                  <a:cubicBezTo>
                    <a:pt x="967910" y="1113210"/>
                    <a:pt x="888370" y="1024570"/>
                    <a:pt x="950690" y="952390"/>
                  </a:cubicBezTo>
                  <a:cubicBezTo>
                    <a:pt x="962300" y="938900"/>
                    <a:pt x="968680" y="921670"/>
                    <a:pt x="968690" y="903810"/>
                  </a:cubicBezTo>
                  <a:lnTo>
                    <a:pt x="968690" y="44322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2" name="Original clock for matured labels · vector path 6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689360" y="599596"/>
                  </a:moveTo>
                  <a:cubicBezTo>
                    <a:pt x="1698228" y="615334"/>
                    <a:pt x="1680205" y="642300"/>
                    <a:pt x="1649103" y="659824"/>
                  </a:cubicBezTo>
                  <a:cubicBezTo>
                    <a:pt x="1618002" y="677349"/>
                    <a:pt x="1585600" y="678798"/>
                    <a:pt x="1576731" y="663059"/>
                  </a:cubicBezTo>
                  <a:cubicBezTo>
                    <a:pt x="1567863" y="647321"/>
                    <a:pt x="1585887" y="620356"/>
                    <a:pt x="1616988" y="602831"/>
                  </a:cubicBezTo>
                  <a:cubicBezTo>
                    <a:pt x="1648090" y="585306"/>
                    <a:pt x="1680492" y="583857"/>
                    <a:pt x="1689360" y="599596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3" name="Original clock for matured labels · vector path 7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347920" y="595810"/>
                  </a:moveTo>
                  <a:lnTo>
                    <a:pt x="402220" y="628690"/>
                  </a:lnTo>
                  <a:cubicBezTo>
                    <a:pt x="414930" y="636390"/>
                    <a:pt x="418990" y="652930"/>
                    <a:pt x="411290" y="665630"/>
                  </a:cubicBezTo>
                  <a:lnTo>
                    <a:pt x="409490" y="668610"/>
                  </a:lnTo>
                  <a:cubicBezTo>
                    <a:pt x="401790" y="681320"/>
                    <a:pt x="385250" y="685380"/>
                    <a:pt x="372550" y="677680"/>
                  </a:cubicBezTo>
                  <a:lnTo>
                    <a:pt x="318250" y="644800"/>
                  </a:lnTo>
                  <a:cubicBezTo>
                    <a:pt x="305540" y="637100"/>
                    <a:pt x="301480" y="620560"/>
                    <a:pt x="309180" y="607860"/>
                  </a:cubicBezTo>
                  <a:lnTo>
                    <a:pt x="310980" y="604880"/>
                  </a:lnTo>
                  <a:cubicBezTo>
                    <a:pt x="318680" y="592170"/>
                    <a:pt x="335220" y="588110"/>
                    <a:pt x="347920" y="59581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4" name="Original clock for matured labels · vector path 8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682190" y="965420"/>
                  </a:moveTo>
                  <a:lnTo>
                    <a:pt x="1772350" y="963370"/>
                  </a:lnTo>
                  <a:cubicBezTo>
                    <a:pt x="1783140" y="963130"/>
                    <a:pt x="1792090" y="971680"/>
                    <a:pt x="1792330" y="982470"/>
                  </a:cubicBezTo>
                  <a:lnTo>
                    <a:pt x="1792700" y="998720"/>
                  </a:lnTo>
                  <a:cubicBezTo>
                    <a:pt x="1792940" y="1009510"/>
                    <a:pt x="1784390" y="1018460"/>
                    <a:pt x="1773600" y="1018700"/>
                  </a:cubicBezTo>
                  <a:lnTo>
                    <a:pt x="1683440" y="1020750"/>
                  </a:lnTo>
                  <a:cubicBezTo>
                    <a:pt x="1672650" y="1020990"/>
                    <a:pt x="1663700" y="1012440"/>
                    <a:pt x="1663460" y="1001650"/>
                  </a:cubicBezTo>
                  <a:lnTo>
                    <a:pt x="1663090" y="985400"/>
                  </a:lnTo>
                  <a:cubicBezTo>
                    <a:pt x="1662850" y="974610"/>
                    <a:pt x="1671400" y="965670"/>
                    <a:pt x="1682190" y="96542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5" name="Original clock for matured labels · vector path 9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221350" y="970470"/>
                  </a:moveTo>
                  <a:lnTo>
                    <a:pt x="309970" y="971860"/>
                  </a:lnTo>
                  <a:cubicBezTo>
                    <a:pt x="321940" y="972050"/>
                    <a:pt x="331490" y="981900"/>
                    <a:pt x="331300" y="993870"/>
                  </a:cubicBezTo>
                  <a:lnTo>
                    <a:pt x="331090" y="1007420"/>
                  </a:lnTo>
                  <a:cubicBezTo>
                    <a:pt x="330900" y="1019390"/>
                    <a:pt x="321050" y="1028940"/>
                    <a:pt x="309080" y="1028750"/>
                  </a:cubicBezTo>
                  <a:lnTo>
                    <a:pt x="220460" y="1027360"/>
                  </a:lnTo>
                  <a:cubicBezTo>
                    <a:pt x="208490" y="1027170"/>
                    <a:pt x="198940" y="1017320"/>
                    <a:pt x="199130" y="1005350"/>
                  </a:cubicBezTo>
                  <a:lnTo>
                    <a:pt x="199340" y="991800"/>
                  </a:lnTo>
                  <a:cubicBezTo>
                    <a:pt x="199520" y="979830"/>
                    <a:pt x="209380" y="970280"/>
                    <a:pt x="221350" y="97047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6" name="Original clock for matured labels · vector path 10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624280" y="1315310"/>
                  </a:moveTo>
                  <a:lnTo>
                    <a:pt x="1676830" y="1345040"/>
                  </a:lnTo>
                  <a:cubicBezTo>
                    <a:pt x="1690600" y="1352830"/>
                    <a:pt x="1695440" y="1370310"/>
                    <a:pt x="1687650" y="1384070"/>
                  </a:cubicBezTo>
                  <a:lnTo>
                    <a:pt x="1686320" y="1386430"/>
                  </a:lnTo>
                  <a:cubicBezTo>
                    <a:pt x="1678530" y="1400200"/>
                    <a:pt x="1661050" y="1405040"/>
                    <a:pt x="1647290" y="1397250"/>
                  </a:cubicBezTo>
                  <a:lnTo>
                    <a:pt x="1594740" y="1367520"/>
                  </a:lnTo>
                  <a:cubicBezTo>
                    <a:pt x="1580970" y="1359730"/>
                    <a:pt x="1576130" y="1342250"/>
                    <a:pt x="1583920" y="1328490"/>
                  </a:cubicBezTo>
                  <a:lnTo>
                    <a:pt x="1585250" y="1326130"/>
                  </a:lnTo>
                  <a:cubicBezTo>
                    <a:pt x="1593030" y="1312370"/>
                    <a:pt x="1610510" y="1307520"/>
                    <a:pt x="1624280" y="131531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7" name="Original clock for matured labels · vector path 11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314940" y="1349910"/>
                  </a:moveTo>
                  <a:lnTo>
                    <a:pt x="370410" y="1317490"/>
                  </a:lnTo>
                  <a:cubicBezTo>
                    <a:pt x="382780" y="1310260"/>
                    <a:pt x="398660" y="1314430"/>
                    <a:pt x="405880" y="1326800"/>
                  </a:cubicBezTo>
                  <a:lnTo>
                    <a:pt x="410180" y="1334150"/>
                  </a:lnTo>
                  <a:cubicBezTo>
                    <a:pt x="417410" y="1346520"/>
                    <a:pt x="413240" y="1362400"/>
                    <a:pt x="400870" y="1369620"/>
                  </a:cubicBezTo>
                  <a:lnTo>
                    <a:pt x="345400" y="1402040"/>
                  </a:lnTo>
                  <a:cubicBezTo>
                    <a:pt x="333030" y="1409270"/>
                    <a:pt x="317150" y="1405100"/>
                    <a:pt x="309930" y="1392730"/>
                  </a:cubicBezTo>
                  <a:lnTo>
                    <a:pt x="305630" y="1385380"/>
                  </a:lnTo>
                  <a:cubicBezTo>
                    <a:pt x="298410" y="1373020"/>
                    <a:pt x="302580" y="1357140"/>
                    <a:pt x="314940" y="134991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8" name="Original clock for matured labels · vector path 12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657750" y="1579300"/>
                  </a:moveTo>
                  <a:lnTo>
                    <a:pt x="661670" y="1581790"/>
                  </a:lnTo>
                  <a:cubicBezTo>
                    <a:pt x="673580" y="1589350"/>
                    <a:pt x="677110" y="1605130"/>
                    <a:pt x="669550" y="1617050"/>
                  </a:cubicBezTo>
                  <a:lnTo>
                    <a:pt x="630560" y="1678490"/>
                  </a:lnTo>
                  <a:cubicBezTo>
                    <a:pt x="623000" y="1690400"/>
                    <a:pt x="607220" y="1693930"/>
                    <a:pt x="595300" y="1686370"/>
                  </a:cubicBezTo>
                  <a:lnTo>
                    <a:pt x="591380" y="1683880"/>
                  </a:lnTo>
                  <a:cubicBezTo>
                    <a:pt x="579470" y="1676320"/>
                    <a:pt x="575940" y="1660540"/>
                    <a:pt x="583500" y="1648620"/>
                  </a:cubicBezTo>
                  <a:lnTo>
                    <a:pt x="622490" y="1587180"/>
                  </a:lnTo>
                  <a:cubicBezTo>
                    <a:pt x="630060" y="1575270"/>
                    <a:pt x="645840" y="1571740"/>
                    <a:pt x="657750" y="157930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79" name="Original clock for matured labels · vector path 13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1332140" y="1588340"/>
                  </a:moveTo>
                  <a:lnTo>
                    <a:pt x="1341640" y="1582360"/>
                  </a:lnTo>
                  <a:cubicBezTo>
                    <a:pt x="1352040" y="1575810"/>
                    <a:pt x="1365780" y="1578930"/>
                    <a:pt x="1372330" y="1589330"/>
                  </a:cubicBezTo>
                  <a:lnTo>
                    <a:pt x="1411110" y="1650900"/>
                  </a:lnTo>
                  <a:cubicBezTo>
                    <a:pt x="1417660" y="1661300"/>
                    <a:pt x="1414540" y="1675040"/>
                    <a:pt x="1404140" y="1681590"/>
                  </a:cubicBezTo>
                  <a:lnTo>
                    <a:pt x="1394640" y="1687570"/>
                  </a:lnTo>
                  <a:cubicBezTo>
                    <a:pt x="1384240" y="1694120"/>
                    <a:pt x="1370500" y="1691000"/>
                    <a:pt x="1363950" y="1680600"/>
                  </a:cubicBezTo>
                  <a:lnTo>
                    <a:pt x="1325170" y="1619030"/>
                  </a:lnTo>
                  <a:cubicBezTo>
                    <a:pt x="1318610" y="1608630"/>
                    <a:pt x="1321730" y="1594890"/>
                    <a:pt x="1332140" y="158834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80" name="Original clock for matured labels · vector path 14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0" t="0" r="r" b="b"/>
              <a:pathLst>
                <a:path w="1994700" h="2000000" stroke="0" extrusionOk="0">
                  <a:moveTo>
                    <a:pt x="983940" y="1667320"/>
                  </a:moveTo>
                  <a:lnTo>
                    <a:pt x="1005620" y="1667240"/>
                  </a:lnTo>
                  <a:cubicBezTo>
                    <a:pt x="1015030" y="1667210"/>
                    <a:pt x="1022680" y="1674810"/>
                    <a:pt x="1022710" y="1684210"/>
                  </a:cubicBezTo>
                  <a:lnTo>
                    <a:pt x="1023050" y="1782520"/>
                  </a:lnTo>
                  <a:cubicBezTo>
                    <a:pt x="1023080" y="1791930"/>
                    <a:pt x="1015480" y="1799580"/>
                    <a:pt x="1006080" y="1799610"/>
                  </a:cubicBezTo>
                  <a:lnTo>
                    <a:pt x="984410" y="1799690"/>
                  </a:lnTo>
                  <a:cubicBezTo>
                    <a:pt x="975000" y="1799720"/>
                    <a:pt x="967350" y="1792120"/>
                    <a:pt x="967320" y="1782720"/>
                  </a:cubicBezTo>
                  <a:lnTo>
                    <a:pt x="966980" y="1684410"/>
                  </a:lnTo>
                  <a:cubicBezTo>
                    <a:pt x="966940" y="1675010"/>
                    <a:pt x="974530" y="1667360"/>
                    <a:pt x="983940" y="1667320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781" name="Label · Targets complete after"/>
          <p:cNvSpPr txBox="1"/>
          <p:nvPr/>
        </p:nvSpPr>
        <p:spPr>
          <a:xfrm>
            <a:off x="14068425" y="7943850"/>
            <a:ext cx="2495550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272C"/>
                </a:solidFill>
                <a:latin typeface="Times New Roman"/>
              </a:rPr>
              <a:t>Targets complete after</a:t>
            </a:r>
          </a:p>
        </p:txBody>
      </p:sp>
      <p:grpSp>
        <p:nvGrpSpPr>
          <p:cNvPr id="1782" name="Formula · H=12" descr="Editable LaTeX source: $H=12$; native vector glyphs."/>
          <p:cNvGrpSpPr/>
          <p:nvPr/>
        </p:nvGrpSpPr>
        <p:grpSpPr>
          <a:xfrm>
            <a:off x="16478250" y="7905750"/>
            <a:ext cx="555731" cy="129365"/>
            <a:chOff x="0" y="0"/>
            <a:chExt cx="555731" cy="129365"/>
          </a:xfrm>
        </p:grpSpPr>
        <p:sp>
          <p:nvSpPr>
            <p:cNvPr id="1783" name="Paper math native glyph 1"/>
            <p:cNvSpPr/>
            <p:nvPr/>
          </p:nvSpPr>
          <p:spPr>
            <a:xfrm>
              <a:off x="0" y="0"/>
              <a:ext cx="555731" cy="129365"/>
            </a:xfrm>
            <a:custGeom>
              <a:avLst/>
              <a:gdLst/>
              <a:ahLst/>
              <a:cxnLst/>
              <a:rect l="0" t="0" r="r" b="b"/>
              <a:pathLst>
                <a:path w="43758" h="10186" stroke="0" extrusionOk="0">
                  <a:moveTo>
                    <a:pt x="9166" y="1223"/>
                  </a:moveTo>
                  <a:lnTo>
                    <a:pt x="8523" y="4454"/>
                  </a:lnTo>
                  <a:lnTo>
                    <a:pt x="3628" y="4454"/>
                  </a:lnTo>
                  <a:lnTo>
                    <a:pt x="4255" y="1223"/>
                  </a:lnTo>
                  <a:cubicBezTo>
                    <a:pt x="4349" y="784"/>
                    <a:pt x="4585" y="565"/>
                    <a:pt x="5228" y="502"/>
                  </a:cubicBezTo>
                  <a:lnTo>
                    <a:pt x="5714" y="455"/>
                  </a:lnTo>
                  <a:cubicBezTo>
                    <a:pt x="5777" y="392"/>
                    <a:pt x="5808" y="141"/>
                    <a:pt x="5746" y="0"/>
                  </a:cubicBezTo>
                  <a:cubicBezTo>
                    <a:pt x="5040" y="16"/>
                    <a:pt x="4475" y="31"/>
                    <a:pt x="3863" y="31"/>
                  </a:cubicBezTo>
                  <a:cubicBezTo>
                    <a:pt x="3266" y="31"/>
                    <a:pt x="2560" y="16"/>
                    <a:pt x="1870" y="0"/>
                  </a:cubicBezTo>
                  <a:cubicBezTo>
                    <a:pt x="1823" y="63"/>
                    <a:pt x="1776" y="377"/>
                    <a:pt x="1823" y="455"/>
                  </a:cubicBezTo>
                  <a:lnTo>
                    <a:pt x="2356" y="502"/>
                  </a:lnTo>
                  <a:cubicBezTo>
                    <a:pt x="2968" y="549"/>
                    <a:pt x="3141" y="753"/>
                    <a:pt x="3047" y="1223"/>
                  </a:cubicBezTo>
                  <a:lnTo>
                    <a:pt x="1525" y="8961"/>
                  </a:lnTo>
                  <a:cubicBezTo>
                    <a:pt x="1431" y="9401"/>
                    <a:pt x="1195" y="9620"/>
                    <a:pt x="552" y="9683"/>
                  </a:cubicBezTo>
                  <a:lnTo>
                    <a:pt x="66" y="9730"/>
                  </a:lnTo>
                  <a:cubicBezTo>
                    <a:pt x="3" y="9793"/>
                    <a:pt x="-29" y="10044"/>
                    <a:pt x="34" y="10185"/>
                  </a:cubicBezTo>
                  <a:cubicBezTo>
                    <a:pt x="740" y="10170"/>
                    <a:pt x="1305" y="10154"/>
                    <a:pt x="1917" y="10154"/>
                  </a:cubicBezTo>
                  <a:cubicBezTo>
                    <a:pt x="2513" y="10154"/>
                    <a:pt x="3220" y="10170"/>
                    <a:pt x="3910" y="10185"/>
                  </a:cubicBezTo>
                  <a:cubicBezTo>
                    <a:pt x="3957" y="10123"/>
                    <a:pt x="4004" y="9809"/>
                    <a:pt x="3957" y="9730"/>
                  </a:cubicBezTo>
                  <a:lnTo>
                    <a:pt x="3424" y="9683"/>
                  </a:lnTo>
                  <a:cubicBezTo>
                    <a:pt x="2812" y="9636"/>
                    <a:pt x="2639" y="9432"/>
                    <a:pt x="2733" y="8961"/>
                  </a:cubicBezTo>
                  <a:lnTo>
                    <a:pt x="3486" y="5113"/>
                  </a:lnTo>
                  <a:lnTo>
                    <a:pt x="8398" y="5113"/>
                  </a:lnTo>
                  <a:lnTo>
                    <a:pt x="7644" y="8961"/>
                  </a:lnTo>
                  <a:cubicBezTo>
                    <a:pt x="7550" y="9401"/>
                    <a:pt x="7315" y="9620"/>
                    <a:pt x="6672" y="9683"/>
                  </a:cubicBezTo>
                  <a:lnTo>
                    <a:pt x="6185" y="9730"/>
                  </a:lnTo>
                  <a:cubicBezTo>
                    <a:pt x="6122" y="9793"/>
                    <a:pt x="6091" y="10044"/>
                    <a:pt x="6154" y="10185"/>
                  </a:cubicBezTo>
                  <a:cubicBezTo>
                    <a:pt x="6860" y="10170"/>
                    <a:pt x="7425" y="10154"/>
                    <a:pt x="8037" y="10154"/>
                  </a:cubicBezTo>
                  <a:cubicBezTo>
                    <a:pt x="8633" y="10154"/>
                    <a:pt x="9339" y="10170"/>
                    <a:pt x="10029" y="10185"/>
                  </a:cubicBezTo>
                  <a:cubicBezTo>
                    <a:pt x="10077" y="10123"/>
                    <a:pt x="10123" y="9809"/>
                    <a:pt x="10077" y="9730"/>
                  </a:cubicBezTo>
                  <a:lnTo>
                    <a:pt x="9543" y="9683"/>
                  </a:lnTo>
                  <a:cubicBezTo>
                    <a:pt x="8931" y="9636"/>
                    <a:pt x="8758" y="9432"/>
                    <a:pt x="8853" y="8961"/>
                  </a:cubicBezTo>
                  <a:lnTo>
                    <a:pt x="10375" y="1223"/>
                  </a:lnTo>
                  <a:cubicBezTo>
                    <a:pt x="10469" y="784"/>
                    <a:pt x="10704" y="565"/>
                    <a:pt x="11347" y="502"/>
                  </a:cubicBezTo>
                  <a:lnTo>
                    <a:pt x="11834" y="455"/>
                  </a:lnTo>
                  <a:cubicBezTo>
                    <a:pt x="11897" y="392"/>
                    <a:pt x="11928" y="141"/>
                    <a:pt x="11865" y="0"/>
                  </a:cubicBezTo>
                  <a:cubicBezTo>
                    <a:pt x="11159" y="16"/>
                    <a:pt x="10594" y="31"/>
                    <a:pt x="9982" y="31"/>
                  </a:cubicBezTo>
                  <a:cubicBezTo>
                    <a:pt x="9386" y="31"/>
                    <a:pt x="8680" y="16"/>
                    <a:pt x="7990" y="0"/>
                  </a:cubicBezTo>
                  <a:cubicBezTo>
                    <a:pt x="7943" y="63"/>
                    <a:pt x="7895" y="377"/>
                    <a:pt x="7943" y="455"/>
                  </a:cubicBezTo>
                  <a:lnTo>
                    <a:pt x="8476" y="502"/>
                  </a:lnTo>
                  <a:cubicBezTo>
                    <a:pt x="9088" y="549"/>
                    <a:pt x="9261" y="753"/>
                    <a:pt x="9166" y="122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84" name="Paper math native glyph 2"/>
            <p:cNvSpPr/>
            <p:nvPr/>
          </p:nvSpPr>
          <p:spPr>
            <a:xfrm>
              <a:off x="0" y="0"/>
              <a:ext cx="555731" cy="129365"/>
            </a:xfrm>
            <a:custGeom>
              <a:avLst/>
              <a:gdLst/>
              <a:ahLst/>
              <a:cxnLst/>
              <a:rect l="0" t="0" r="r" b="b"/>
              <a:pathLst>
                <a:path w="43758" h="10186" stroke="0" extrusionOk="0">
                  <a:moveTo>
                    <a:pt x="25011" y="4975"/>
                  </a:moveTo>
                  <a:lnTo>
                    <a:pt x="25011" y="4097"/>
                  </a:lnTo>
                  <a:lnTo>
                    <a:pt x="16977" y="4097"/>
                  </a:lnTo>
                  <a:lnTo>
                    <a:pt x="16977" y="4975"/>
                  </a:lnTo>
                  <a:lnTo>
                    <a:pt x="25011" y="4975"/>
                  </a:lnTo>
                  <a:moveTo>
                    <a:pt x="25011" y="8163"/>
                  </a:moveTo>
                  <a:lnTo>
                    <a:pt x="25011" y="7284"/>
                  </a:lnTo>
                  <a:lnTo>
                    <a:pt x="16977" y="7284"/>
                  </a:lnTo>
                  <a:lnTo>
                    <a:pt x="16977" y="8163"/>
                  </a:lnTo>
                  <a:lnTo>
                    <a:pt x="25011" y="816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85" name="Paper math native glyph 3"/>
            <p:cNvSpPr/>
            <p:nvPr/>
          </p:nvSpPr>
          <p:spPr>
            <a:xfrm>
              <a:off x="0" y="0"/>
              <a:ext cx="555731" cy="129365"/>
            </a:xfrm>
            <a:custGeom>
              <a:avLst/>
              <a:gdLst/>
              <a:ahLst/>
              <a:cxnLst/>
              <a:rect l="0" t="0" r="r" b="b"/>
              <a:pathLst>
                <a:path w="43758" h="10186" stroke="0" extrusionOk="0">
                  <a:moveTo>
                    <a:pt x="34516" y="8239"/>
                  </a:moveTo>
                  <a:lnTo>
                    <a:pt x="34516" y="2791"/>
                  </a:lnTo>
                  <a:cubicBezTo>
                    <a:pt x="34516" y="1849"/>
                    <a:pt x="34532" y="891"/>
                    <a:pt x="34564" y="687"/>
                  </a:cubicBezTo>
                  <a:cubicBezTo>
                    <a:pt x="34564" y="608"/>
                    <a:pt x="34532" y="608"/>
                    <a:pt x="34469" y="608"/>
                  </a:cubicBezTo>
                  <a:cubicBezTo>
                    <a:pt x="33606" y="1142"/>
                    <a:pt x="32775" y="1534"/>
                    <a:pt x="31394" y="2178"/>
                  </a:cubicBezTo>
                  <a:cubicBezTo>
                    <a:pt x="31425" y="2351"/>
                    <a:pt x="31488" y="2508"/>
                    <a:pt x="31629" y="2602"/>
                  </a:cubicBezTo>
                  <a:cubicBezTo>
                    <a:pt x="32351" y="2304"/>
                    <a:pt x="32696" y="2210"/>
                    <a:pt x="32994" y="2210"/>
                  </a:cubicBezTo>
                  <a:cubicBezTo>
                    <a:pt x="33261" y="2210"/>
                    <a:pt x="33308" y="2587"/>
                    <a:pt x="33308" y="3120"/>
                  </a:cubicBezTo>
                  <a:lnTo>
                    <a:pt x="33308" y="8239"/>
                  </a:lnTo>
                  <a:cubicBezTo>
                    <a:pt x="33308" y="9542"/>
                    <a:pt x="32884" y="9620"/>
                    <a:pt x="31786" y="9668"/>
                  </a:cubicBezTo>
                  <a:cubicBezTo>
                    <a:pt x="31692" y="9762"/>
                    <a:pt x="31692" y="10091"/>
                    <a:pt x="31786" y="10185"/>
                  </a:cubicBezTo>
                  <a:cubicBezTo>
                    <a:pt x="32555" y="10170"/>
                    <a:pt x="33120" y="10154"/>
                    <a:pt x="33967" y="10154"/>
                  </a:cubicBezTo>
                  <a:cubicBezTo>
                    <a:pt x="34720" y="10154"/>
                    <a:pt x="35097" y="10170"/>
                    <a:pt x="35882" y="10185"/>
                  </a:cubicBezTo>
                  <a:cubicBezTo>
                    <a:pt x="35976" y="10091"/>
                    <a:pt x="35976" y="9762"/>
                    <a:pt x="35882" y="9668"/>
                  </a:cubicBezTo>
                  <a:cubicBezTo>
                    <a:pt x="34783" y="9620"/>
                    <a:pt x="34516" y="9542"/>
                    <a:pt x="34516" y="823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786" name="Paper math native glyph 4"/>
            <p:cNvSpPr/>
            <p:nvPr/>
          </p:nvSpPr>
          <p:spPr>
            <a:xfrm>
              <a:off x="0" y="0"/>
              <a:ext cx="555731" cy="129365"/>
            </a:xfrm>
            <a:custGeom>
              <a:avLst/>
              <a:gdLst/>
              <a:ahLst/>
              <a:cxnLst/>
              <a:rect l="0" t="0" r="r" b="b"/>
              <a:pathLst>
                <a:path w="43758" h="10186" stroke="0" extrusionOk="0">
                  <a:moveTo>
                    <a:pt x="38251" y="2802"/>
                  </a:moveTo>
                  <a:cubicBezTo>
                    <a:pt x="38251" y="3131"/>
                    <a:pt x="38549" y="3412"/>
                    <a:pt x="38879" y="3412"/>
                  </a:cubicBezTo>
                  <a:cubicBezTo>
                    <a:pt x="39145" y="3412"/>
                    <a:pt x="39616" y="3131"/>
                    <a:pt x="39616" y="2786"/>
                  </a:cubicBezTo>
                  <a:cubicBezTo>
                    <a:pt x="39616" y="2661"/>
                    <a:pt x="39585" y="2567"/>
                    <a:pt x="39553" y="2457"/>
                  </a:cubicBezTo>
                  <a:cubicBezTo>
                    <a:pt x="39522" y="2348"/>
                    <a:pt x="39428" y="2207"/>
                    <a:pt x="39428" y="2082"/>
                  </a:cubicBezTo>
                  <a:cubicBezTo>
                    <a:pt x="39428" y="1690"/>
                    <a:pt x="39836" y="1127"/>
                    <a:pt x="40981" y="1127"/>
                  </a:cubicBezTo>
                  <a:cubicBezTo>
                    <a:pt x="41546" y="1127"/>
                    <a:pt x="42346" y="1518"/>
                    <a:pt x="42346" y="3021"/>
                  </a:cubicBezTo>
                  <a:cubicBezTo>
                    <a:pt x="42346" y="4026"/>
                    <a:pt x="41985" y="4843"/>
                    <a:pt x="41060" y="5786"/>
                  </a:cubicBezTo>
                  <a:lnTo>
                    <a:pt x="39898" y="6934"/>
                  </a:lnTo>
                  <a:cubicBezTo>
                    <a:pt x="38361" y="8506"/>
                    <a:pt x="38110" y="9260"/>
                    <a:pt x="38110" y="10186"/>
                  </a:cubicBezTo>
                  <a:cubicBezTo>
                    <a:pt x="38110" y="10186"/>
                    <a:pt x="38910" y="10155"/>
                    <a:pt x="39412" y="10155"/>
                  </a:cubicBezTo>
                  <a:lnTo>
                    <a:pt x="42158" y="10155"/>
                  </a:lnTo>
                  <a:cubicBezTo>
                    <a:pt x="42660" y="10155"/>
                    <a:pt x="43382" y="10186"/>
                    <a:pt x="43382" y="10186"/>
                  </a:cubicBezTo>
                  <a:cubicBezTo>
                    <a:pt x="43586" y="9354"/>
                    <a:pt x="43743" y="8176"/>
                    <a:pt x="43758" y="7704"/>
                  </a:cubicBezTo>
                  <a:cubicBezTo>
                    <a:pt x="43664" y="7626"/>
                    <a:pt x="43460" y="7594"/>
                    <a:pt x="43303" y="7626"/>
                  </a:cubicBezTo>
                  <a:cubicBezTo>
                    <a:pt x="43037" y="8742"/>
                    <a:pt x="42770" y="9135"/>
                    <a:pt x="42205" y="9135"/>
                  </a:cubicBezTo>
                  <a:lnTo>
                    <a:pt x="39412" y="9135"/>
                  </a:lnTo>
                  <a:cubicBezTo>
                    <a:pt x="39412" y="8380"/>
                    <a:pt x="40495" y="7311"/>
                    <a:pt x="40573" y="7233"/>
                  </a:cubicBezTo>
                  <a:lnTo>
                    <a:pt x="42158" y="5708"/>
                  </a:lnTo>
                  <a:cubicBezTo>
                    <a:pt x="43052" y="4843"/>
                    <a:pt x="43727" y="4151"/>
                    <a:pt x="43727" y="2958"/>
                  </a:cubicBezTo>
                  <a:cubicBezTo>
                    <a:pt x="43727" y="1268"/>
                    <a:pt x="42346" y="578"/>
                    <a:pt x="41075" y="578"/>
                  </a:cubicBezTo>
                  <a:cubicBezTo>
                    <a:pt x="39333" y="578"/>
                    <a:pt x="38251" y="1863"/>
                    <a:pt x="38251" y="280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sp>
        <p:nvSpPr>
          <p:cNvPr id="1787" name="Label · Predict first; then release labels"/>
          <p:cNvSpPr txBox="1"/>
          <p:nvPr/>
        </p:nvSpPr>
        <p:spPr>
          <a:xfrm>
            <a:off x="14068425" y="8239125"/>
            <a:ext cx="3114675" cy="2571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45B66"/>
                </a:solidFill>
                <a:latin typeface="Times New Roman"/>
              </a:rPr>
              <a:t>Predict first; then release labels</a:t>
            </a:r>
          </a:p>
        </p:txBody>
      </p:sp>
      <p:cxnSp>
        <p:nvCxnSpPr>
          <p:cNvPr id="1788" name="Forecast waits for mature target"/>
          <p:cNvCxnSpPr/>
          <p:nvPr/>
        </p:nvCxnSpPr>
        <p:spPr>
          <a:xfrm>
            <a:off x="15430500" y="7086600"/>
            <a:ext cx="0" cy="400050"/>
          </a:xfrm>
          <a:prstGeom prst="line">
            <a:avLst/>
          </a:prstGeom>
          <a:ln w="25146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9" name="Released windows to identity refresh"/>
          <p:cNvCxnSpPr/>
          <p:nvPr/>
        </p:nvCxnSpPr>
        <p:spPr>
          <a:xfrm>
            <a:off x="3762375" y="6581775"/>
            <a:ext cx="304800" cy="0"/>
          </a:xfrm>
          <a:prstGeom prst="line">
            <a:avLst/>
          </a:prstGeom>
          <a:ln w="20955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0" name="Released windows to identity refresh"/>
          <p:cNvCxnSpPr/>
          <p:nvPr/>
        </p:nvCxnSpPr>
        <p:spPr>
          <a:xfrm flipV="1">
            <a:off x="4067175" y="5372100"/>
            <a:ext cx="0" cy="1209675"/>
          </a:xfrm>
          <a:prstGeom prst="line">
            <a:avLst/>
          </a:prstGeom>
          <a:ln w="20955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1" name="Released windows to identity refresh"/>
          <p:cNvCxnSpPr/>
          <p:nvPr/>
        </p:nvCxnSpPr>
        <p:spPr>
          <a:xfrm>
            <a:off x="4067175" y="5372100"/>
            <a:ext cx="409575" cy="0"/>
          </a:xfrm>
          <a:prstGeom prst="line">
            <a:avLst/>
          </a:prstGeom>
          <a:ln w="20955">
            <a:solidFill>
              <a:srgbClr val="4C596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Released labels to recursive calibration"/>
          <p:cNvCxnSpPr/>
          <p:nvPr/>
        </p:nvCxnSpPr>
        <p:spPr>
          <a:xfrm>
            <a:off x="3762375" y="8020050"/>
            <a:ext cx="314325" cy="0"/>
          </a:xfrm>
          <a:prstGeom prst="line">
            <a:avLst/>
          </a:prstGeom>
          <a:ln w="20955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Released labels to recursive calibration"/>
          <p:cNvCxnSpPr/>
          <p:nvPr/>
        </p:nvCxnSpPr>
        <p:spPr>
          <a:xfrm>
            <a:off x="4076700" y="8020050"/>
            <a:ext cx="0" cy="933450"/>
          </a:xfrm>
          <a:prstGeom prst="line">
            <a:avLst/>
          </a:prstGeom>
          <a:ln w="20955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Released labels to recursive calibration"/>
          <p:cNvCxnSpPr/>
          <p:nvPr/>
        </p:nvCxnSpPr>
        <p:spPr>
          <a:xfrm>
            <a:off x="4076700" y="8953500"/>
            <a:ext cx="8705850" cy="0"/>
          </a:xfrm>
          <a:prstGeom prst="line">
            <a:avLst/>
          </a:prstGeom>
          <a:ln w="20955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5" name="Released labels to recursive calibration"/>
          <p:cNvCxnSpPr/>
          <p:nvPr/>
        </p:nvCxnSpPr>
        <p:spPr>
          <a:xfrm flipV="1">
            <a:off x="12782550" y="5191125"/>
            <a:ext cx="0" cy="3762375"/>
          </a:xfrm>
          <a:prstGeom prst="line">
            <a:avLst/>
          </a:prstGeom>
          <a:ln w="20955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6" name="Released labels to recursive calibration"/>
          <p:cNvCxnSpPr/>
          <p:nvPr/>
        </p:nvCxnSpPr>
        <p:spPr>
          <a:xfrm>
            <a:off x="12782550" y="5191125"/>
            <a:ext cx="266700" cy="0"/>
          </a:xfrm>
          <a:prstGeom prst="line">
            <a:avLst/>
          </a:prstGeom>
          <a:ln w="20955">
            <a:solidFill>
              <a:srgbClr val="4C596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7" name="Released-stream label background"/>
          <p:cNvSpPr/>
          <p:nvPr/>
        </p:nvSpPr>
        <p:spPr>
          <a:xfrm>
            <a:off x="6896100" y="8820150"/>
            <a:ext cx="3209925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Label · Released labels and stored forecasts"/>
          <p:cNvSpPr txBox="1"/>
          <p:nvPr/>
        </p:nvSpPr>
        <p:spPr>
          <a:xfrm>
            <a:off x="7019925" y="8829675"/>
            <a:ext cx="2981325" cy="2571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C596E"/>
                </a:solidFill>
                <a:latin typeface="Times New Roman"/>
              </a:rPr>
              <a:t>Released labels and stored forecasts</a:t>
            </a:r>
          </a:p>
        </p:txBody>
      </p:sp>
      <p:cxnSp>
        <p:nvCxnSpPr>
          <p:cNvPr id="1799" name="Joint identity refit restarts all calibrators"/>
          <p:cNvCxnSpPr/>
          <p:nvPr/>
        </p:nvCxnSpPr>
        <p:spPr>
          <a:xfrm>
            <a:off x="12115800" y="8115300"/>
            <a:ext cx="419100" cy="0"/>
          </a:xfrm>
          <a:prstGeom prst="line">
            <a:avLst/>
          </a:prstGeom>
          <a:ln w="20955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0" name="Joint identity refit restarts all calibrators"/>
          <p:cNvCxnSpPr/>
          <p:nvPr/>
        </p:nvCxnSpPr>
        <p:spPr>
          <a:xfrm flipV="1">
            <a:off x="12534900" y="4191000"/>
            <a:ext cx="0" cy="3924300"/>
          </a:xfrm>
          <a:prstGeom prst="line">
            <a:avLst/>
          </a:prstGeom>
          <a:ln w="20955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1" name="Joint identity refit restarts all calibrators"/>
          <p:cNvCxnSpPr/>
          <p:nvPr/>
        </p:nvCxnSpPr>
        <p:spPr>
          <a:xfrm>
            <a:off x="12534900" y="4191000"/>
            <a:ext cx="714375" cy="0"/>
          </a:xfrm>
          <a:prstGeom prst="line">
            <a:avLst/>
          </a:prstGeom>
          <a:ln w="20955">
            <a:solidFill>
              <a:srgbClr val="B15E7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2" name="Store issued forecast in pending queue"/>
          <p:cNvCxnSpPr/>
          <p:nvPr/>
        </p:nvCxnSpPr>
        <p:spPr>
          <a:xfrm>
            <a:off x="17449800" y="6724650"/>
            <a:ext cx="666750" cy="0"/>
          </a:xfrm>
          <a:prstGeom prst="line">
            <a:avLst/>
          </a:prstGeom>
          <a:ln w="22860">
            <a:solidFill>
              <a:srgbClr val="2627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3" name="Store issued forecast in pending queue"/>
          <p:cNvCxnSpPr/>
          <p:nvPr/>
        </p:nvCxnSpPr>
        <p:spPr>
          <a:xfrm>
            <a:off x="18116550" y="6724650"/>
            <a:ext cx="0" cy="2571750"/>
          </a:xfrm>
          <a:prstGeom prst="line">
            <a:avLst/>
          </a:prstGeom>
          <a:ln w="22860">
            <a:solidFill>
              <a:srgbClr val="2627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4" name="Store issued forecast in pending queue"/>
          <p:cNvCxnSpPr/>
          <p:nvPr/>
        </p:nvCxnSpPr>
        <p:spPr>
          <a:xfrm flipH="1">
            <a:off x="514350" y="9296400"/>
            <a:ext cx="17602200" cy="0"/>
          </a:xfrm>
          <a:prstGeom prst="line">
            <a:avLst/>
          </a:prstGeom>
          <a:ln w="22860">
            <a:solidFill>
              <a:srgbClr val="2627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5" name="Store issued forecast in pending queue"/>
          <p:cNvCxnSpPr/>
          <p:nvPr/>
        </p:nvCxnSpPr>
        <p:spPr>
          <a:xfrm flipV="1">
            <a:off x="514350" y="4181475"/>
            <a:ext cx="0" cy="5114925"/>
          </a:xfrm>
          <a:prstGeom prst="line">
            <a:avLst/>
          </a:prstGeom>
          <a:ln w="22860">
            <a:solidFill>
              <a:srgbClr val="2627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6" name="Store issued forecast in pending queue"/>
          <p:cNvCxnSpPr/>
          <p:nvPr/>
        </p:nvCxnSpPr>
        <p:spPr>
          <a:xfrm>
            <a:off x="514350" y="4181475"/>
            <a:ext cx="266700" cy="0"/>
          </a:xfrm>
          <a:prstGeom prst="line">
            <a:avLst/>
          </a:prstGeom>
          <a:ln w="22860">
            <a:solidFill>
              <a:srgbClr val="2627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7" name="Stored-prediction label background"/>
          <p:cNvSpPr/>
          <p:nvPr/>
        </p:nvSpPr>
        <p:spPr>
          <a:xfrm>
            <a:off x="14325600" y="9163050"/>
            <a:ext cx="2409825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Label · Store issued prediction"/>
          <p:cNvSpPr txBox="1"/>
          <p:nvPr/>
        </p:nvSpPr>
        <p:spPr>
          <a:xfrm>
            <a:off x="14449425" y="9172575"/>
            <a:ext cx="2143125" cy="2571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6272C"/>
                </a:solidFill>
                <a:latin typeface="Times New Roman"/>
              </a:rPr>
              <a:t>Store issued prediction</a:t>
            </a:r>
          </a:p>
        </p:txBody>
      </p:sp>
      <p:cxnSp>
        <p:nvCxnSpPr>
          <p:cNvPr id="1809" name="Matured labels enter released pool"/>
          <p:cNvCxnSpPr/>
          <p:nvPr/>
        </p:nvCxnSpPr>
        <p:spPr>
          <a:xfrm flipH="1">
            <a:off x="13134975" y="8162925"/>
            <a:ext cx="285750" cy="0"/>
          </a:xfrm>
          <a:prstGeom prst="line">
            <a:avLst/>
          </a:prstGeom>
          <a:ln w="19050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0" name="Matured labels enter released pool"/>
          <p:cNvCxnSpPr/>
          <p:nvPr/>
        </p:nvCxnSpPr>
        <p:spPr>
          <a:xfrm>
            <a:off x="13134975" y="8162925"/>
            <a:ext cx="0" cy="952500"/>
          </a:xfrm>
          <a:prstGeom prst="line">
            <a:avLst/>
          </a:prstGeom>
          <a:ln w="19050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1" name="Matured labels enter released pool"/>
          <p:cNvCxnSpPr/>
          <p:nvPr/>
        </p:nvCxnSpPr>
        <p:spPr>
          <a:xfrm flipH="1">
            <a:off x="3914775" y="9115425"/>
            <a:ext cx="9220200" cy="0"/>
          </a:xfrm>
          <a:prstGeom prst="line">
            <a:avLst/>
          </a:prstGeom>
          <a:ln w="19050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2" name="Matured labels enter released pool"/>
          <p:cNvCxnSpPr/>
          <p:nvPr/>
        </p:nvCxnSpPr>
        <p:spPr>
          <a:xfrm flipV="1">
            <a:off x="3914775" y="7496175"/>
            <a:ext cx="0" cy="1619250"/>
          </a:xfrm>
          <a:prstGeom prst="line">
            <a:avLst/>
          </a:prstGeom>
          <a:ln w="19050">
            <a:solidFill>
              <a:srgbClr val="4C59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3" name="Matured labels enter released pool"/>
          <p:cNvCxnSpPr/>
          <p:nvPr/>
        </p:nvCxnSpPr>
        <p:spPr>
          <a:xfrm flipH="1">
            <a:off x="3762375" y="7496175"/>
            <a:ext cx="152400" cy="0"/>
          </a:xfrm>
          <a:prstGeom prst="line">
            <a:avLst/>
          </a:prstGeom>
          <a:ln w="19050">
            <a:solidFill>
              <a:srgbClr val="4C596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4" name="Formula · \mathbf{E}_{\mathcal{K}\cup\mathcal{U}}" descr="Editable LaTeX source: $\mathbf{E}_{\mathcal{K}\cup\mathcal{U}}$; native vector glyphs."/>
          <p:cNvGrpSpPr/>
          <p:nvPr/>
        </p:nvGrpSpPr>
        <p:grpSpPr>
          <a:xfrm>
            <a:off x="9116203" y="8025129"/>
            <a:ext cx="531845" cy="189868"/>
            <a:chOff x="0" y="0"/>
            <a:chExt cx="531845" cy="189868"/>
          </a:xfrm>
        </p:grpSpPr>
        <p:sp>
          <p:nvSpPr>
            <p:cNvPr id="1815" name="Paper math native glyph 1"/>
            <p:cNvSpPr/>
            <p:nvPr/>
          </p:nvSpPr>
          <p:spPr>
            <a:xfrm>
              <a:off x="0" y="0"/>
              <a:ext cx="531845" cy="189868"/>
            </a:xfrm>
            <a:custGeom>
              <a:avLst/>
              <a:gdLst/>
              <a:ahLst/>
              <a:cxnLst/>
              <a:rect l="0" t="0" r="r" b="b"/>
              <a:pathLst>
                <a:path w="41878" h="14950" stroke="0" extrusionOk="0">
                  <a:moveTo>
                    <a:pt x="54" y="11593"/>
                  </a:moveTo>
                  <a:lnTo>
                    <a:pt x="8805" y="11593"/>
                  </a:lnTo>
                  <a:cubicBezTo>
                    <a:pt x="8931" y="10625"/>
                    <a:pt x="9110" y="9512"/>
                    <a:pt x="9289" y="8561"/>
                  </a:cubicBezTo>
                  <a:lnTo>
                    <a:pt x="8518" y="8381"/>
                  </a:lnTo>
                  <a:cubicBezTo>
                    <a:pt x="8213" y="9710"/>
                    <a:pt x="7568" y="10769"/>
                    <a:pt x="6581" y="10769"/>
                  </a:cubicBezTo>
                  <a:lnTo>
                    <a:pt x="3838" y="10769"/>
                  </a:lnTo>
                  <a:cubicBezTo>
                    <a:pt x="3676" y="10769"/>
                    <a:pt x="3587" y="10661"/>
                    <a:pt x="3587" y="10248"/>
                  </a:cubicBezTo>
                  <a:lnTo>
                    <a:pt x="3587" y="5797"/>
                  </a:lnTo>
                  <a:lnTo>
                    <a:pt x="5613" y="5797"/>
                  </a:lnTo>
                  <a:cubicBezTo>
                    <a:pt x="6061" y="5797"/>
                    <a:pt x="6133" y="6335"/>
                    <a:pt x="6241" y="7071"/>
                  </a:cubicBezTo>
                  <a:cubicBezTo>
                    <a:pt x="6241" y="7143"/>
                    <a:pt x="6348" y="7251"/>
                    <a:pt x="6528" y="7251"/>
                  </a:cubicBezTo>
                  <a:lnTo>
                    <a:pt x="6904" y="7251"/>
                  </a:lnTo>
                  <a:lnTo>
                    <a:pt x="7012" y="7089"/>
                  </a:lnTo>
                  <a:cubicBezTo>
                    <a:pt x="6976" y="6784"/>
                    <a:pt x="6886" y="6066"/>
                    <a:pt x="6886" y="5420"/>
                  </a:cubicBezTo>
                  <a:cubicBezTo>
                    <a:pt x="6886" y="4757"/>
                    <a:pt x="6976" y="4039"/>
                    <a:pt x="7012" y="3752"/>
                  </a:cubicBezTo>
                  <a:lnTo>
                    <a:pt x="6904" y="3573"/>
                  </a:lnTo>
                  <a:lnTo>
                    <a:pt x="6528" y="3573"/>
                  </a:lnTo>
                  <a:cubicBezTo>
                    <a:pt x="6348" y="3573"/>
                    <a:pt x="6241" y="3698"/>
                    <a:pt x="6241" y="3770"/>
                  </a:cubicBezTo>
                  <a:cubicBezTo>
                    <a:pt x="6133" y="4488"/>
                    <a:pt x="6061" y="5044"/>
                    <a:pt x="5613" y="5044"/>
                  </a:cubicBezTo>
                  <a:lnTo>
                    <a:pt x="3587" y="5044"/>
                  </a:lnTo>
                  <a:lnTo>
                    <a:pt x="3587" y="1346"/>
                  </a:lnTo>
                  <a:cubicBezTo>
                    <a:pt x="3587" y="969"/>
                    <a:pt x="3676" y="825"/>
                    <a:pt x="3838" y="825"/>
                  </a:cubicBezTo>
                  <a:lnTo>
                    <a:pt x="6169" y="825"/>
                  </a:lnTo>
                  <a:cubicBezTo>
                    <a:pt x="7371" y="825"/>
                    <a:pt x="7819" y="2154"/>
                    <a:pt x="8070" y="3070"/>
                  </a:cubicBezTo>
                  <a:lnTo>
                    <a:pt x="8787" y="2908"/>
                  </a:lnTo>
                  <a:cubicBezTo>
                    <a:pt x="8608" y="1993"/>
                    <a:pt x="8482" y="1041"/>
                    <a:pt x="8411" y="0"/>
                  </a:cubicBezTo>
                  <a:lnTo>
                    <a:pt x="54" y="0"/>
                  </a:lnTo>
                  <a:lnTo>
                    <a:pt x="0" y="36"/>
                  </a:lnTo>
                  <a:lnTo>
                    <a:pt x="0" y="448"/>
                  </a:lnTo>
                  <a:cubicBezTo>
                    <a:pt x="0" y="538"/>
                    <a:pt x="72" y="592"/>
                    <a:pt x="144" y="592"/>
                  </a:cubicBezTo>
                  <a:lnTo>
                    <a:pt x="395" y="592"/>
                  </a:lnTo>
                  <a:cubicBezTo>
                    <a:pt x="1112" y="592"/>
                    <a:pt x="1381" y="807"/>
                    <a:pt x="1381" y="1382"/>
                  </a:cubicBezTo>
                  <a:lnTo>
                    <a:pt x="1381" y="10212"/>
                  </a:lnTo>
                  <a:cubicBezTo>
                    <a:pt x="1381" y="10786"/>
                    <a:pt x="1112" y="11002"/>
                    <a:pt x="395" y="11002"/>
                  </a:cubicBezTo>
                  <a:lnTo>
                    <a:pt x="144" y="11002"/>
                  </a:lnTo>
                  <a:cubicBezTo>
                    <a:pt x="72" y="11002"/>
                    <a:pt x="0" y="11055"/>
                    <a:pt x="0" y="11163"/>
                  </a:cubicBezTo>
                  <a:lnTo>
                    <a:pt x="0" y="11557"/>
                  </a:lnTo>
                  <a:lnTo>
                    <a:pt x="54" y="11593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16" name="Paper math native glyph 2"/>
            <p:cNvSpPr/>
            <p:nvPr/>
          </p:nvSpPr>
          <p:spPr>
            <a:xfrm>
              <a:off x="0" y="0"/>
              <a:ext cx="531845" cy="189868"/>
            </a:xfrm>
            <a:custGeom>
              <a:avLst/>
              <a:gdLst/>
              <a:ahLst/>
              <a:cxnLst/>
              <a:rect l="0" t="0" r="r" b="b"/>
              <a:pathLst>
                <a:path w="41878" h="14950" stroke="0" extrusionOk="0">
                  <a:moveTo>
                    <a:pt x="21325" y="6409"/>
                  </a:moveTo>
                  <a:cubicBezTo>
                    <a:pt x="21325" y="5937"/>
                    <a:pt x="21233" y="5401"/>
                    <a:pt x="20644" y="5401"/>
                  </a:cubicBezTo>
                  <a:cubicBezTo>
                    <a:pt x="17895" y="5401"/>
                    <a:pt x="16364" y="9672"/>
                    <a:pt x="14609" y="9725"/>
                  </a:cubicBezTo>
                  <a:cubicBezTo>
                    <a:pt x="15067" y="8362"/>
                    <a:pt x="15434" y="6959"/>
                    <a:pt x="15945" y="5610"/>
                  </a:cubicBezTo>
                  <a:cubicBezTo>
                    <a:pt x="15735" y="5532"/>
                    <a:pt x="15500" y="5492"/>
                    <a:pt x="15277" y="5492"/>
                  </a:cubicBezTo>
                  <a:cubicBezTo>
                    <a:pt x="14714" y="5492"/>
                    <a:pt x="14151" y="5597"/>
                    <a:pt x="13615" y="5741"/>
                  </a:cubicBezTo>
                  <a:cubicBezTo>
                    <a:pt x="12580" y="6016"/>
                    <a:pt x="9740" y="7129"/>
                    <a:pt x="9740" y="8401"/>
                  </a:cubicBezTo>
                  <a:cubicBezTo>
                    <a:pt x="9740" y="9056"/>
                    <a:pt x="10302" y="10026"/>
                    <a:pt x="11036" y="10026"/>
                  </a:cubicBezTo>
                  <a:cubicBezTo>
                    <a:pt x="11088" y="10026"/>
                    <a:pt x="11140" y="10013"/>
                    <a:pt x="11193" y="9987"/>
                  </a:cubicBezTo>
                  <a:cubicBezTo>
                    <a:pt x="10879" y="9712"/>
                    <a:pt x="10826" y="9253"/>
                    <a:pt x="10826" y="8860"/>
                  </a:cubicBezTo>
                  <a:cubicBezTo>
                    <a:pt x="10826" y="7260"/>
                    <a:pt x="12476" y="6134"/>
                    <a:pt x="13955" y="6134"/>
                  </a:cubicBezTo>
                  <a:cubicBezTo>
                    <a:pt x="14047" y="6134"/>
                    <a:pt x="14125" y="6134"/>
                    <a:pt x="14217" y="6147"/>
                  </a:cubicBezTo>
                  <a:cubicBezTo>
                    <a:pt x="14099" y="8139"/>
                    <a:pt x="13078" y="10787"/>
                    <a:pt x="12371" y="12687"/>
                  </a:cubicBezTo>
                  <a:cubicBezTo>
                    <a:pt x="12135" y="13303"/>
                    <a:pt x="11638" y="14692"/>
                    <a:pt x="10865" y="14757"/>
                  </a:cubicBezTo>
                  <a:cubicBezTo>
                    <a:pt x="10996" y="14849"/>
                    <a:pt x="11167" y="14901"/>
                    <a:pt x="11324" y="14901"/>
                  </a:cubicBezTo>
                  <a:cubicBezTo>
                    <a:pt x="11716" y="14901"/>
                    <a:pt x="12855" y="14352"/>
                    <a:pt x="13143" y="14076"/>
                  </a:cubicBezTo>
                  <a:cubicBezTo>
                    <a:pt x="13392" y="13841"/>
                    <a:pt x="14361" y="10773"/>
                    <a:pt x="14505" y="10236"/>
                  </a:cubicBezTo>
                  <a:cubicBezTo>
                    <a:pt x="14793" y="10144"/>
                    <a:pt x="15067" y="10053"/>
                    <a:pt x="15343" y="9948"/>
                  </a:cubicBezTo>
                  <a:cubicBezTo>
                    <a:pt x="15604" y="10695"/>
                    <a:pt x="17136" y="14810"/>
                    <a:pt x="17856" y="14810"/>
                  </a:cubicBezTo>
                  <a:cubicBezTo>
                    <a:pt x="18314" y="14810"/>
                    <a:pt x="19427" y="14535"/>
                    <a:pt x="19505" y="13985"/>
                  </a:cubicBezTo>
                  <a:cubicBezTo>
                    <a:pt x="19466" y="14024"/>
                    <a:pt x="19427" y="14037"/>
                    <a:pt x="19375" y="14037"/>
                  </a:cubicBezTo>
                  <a:cubicBezTo>
                    <a:pt x="18157" y="14037"/>
                    <a:pt x="16822" y="10275"/>
                    <a:pt x="16507" y="9253"/>
                  </a:cubicBezTo>
                  <a:cubicBezTo>
                    <a:pt x="17319" y="8493"/>
                    <a:pt x="19492" y="6566"/>
                    <a:pt x="20579" y="6566"/>
                  </a:cubicBezTo>
                  <a:cubicBezTo>
                    <a:pt x="20919" y="6566"/>
                    <a:pt x="21142" y="6828"/>
                    <a:pt x="21103" y="7156"/>
                  </a:cubicBezTo>
                  <a:lnTo>
                    <a:pt x="21247" y="7090"/>
                  </a:lnTo>
                  <a:cubicBezTo>
                    <a:pt x="21299" y="6867"/>
                    <a:pt x="21325" y="6631"/>
                    <a:pt x="21325" y="640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17" name="Paper math native glyph 3"/>
            <p:cNvSpPr/>
            <p:nvPr/>
          </p:nvSpPr>
          <p:spPr>
            <a:xfrm>
              <a:off x="0" y="0"/>
              <a:ext cx="531845" cy="189868"/>
            </a:xfrm>
            <a:custGeom>
              <a:avLst/>
              <a:gdLst/>
              <a:ahLst/>
              <a:cxnLst/>
              <a:rect l="0" t="0" r="r" b="b"/>
              <a:pathLst>
                <a:path w="41878" h="14950" stroke="0" extrusionOk="0">
                  <a:moveTo>
                    <a:pt x="28787" y="11072"/>
                  </a:moveTo>
                  <a:lnTo>
                    <a:pt x="28787" y="7027"/>
                  </a:lnTo>
                  <a:lnTo>
                    <a:pt x="28119" y="7027"/>
                  </a:lnTo>
                  <a:lnTo>
                    <a:pt x="28119" y="11125"/>
                  </a:lnTo>
                  <a:cubicBezTo>
                    <a:pt x="28119" y="12512"/>
                    <a:pt x="26902" y="13861"/>
                    <a:pt x="25318" y="13861"/>
                  </a:cubicBezTo>
                  <a:cubicBezTo>
                    <a:pt x="23812" y="13861"/>
                    <a:pt x="22516" y="12683"/>
                    <a:pt x="22516" y="11125"/>
                  </a:cubicBezTo>
                  <a:lnTo>
                    <a:pt x="22516" y="7027"/>
                  </a:lnTo>
                  <a:lnTo>
                    <a:pt x="21849" y="7027"/>
                  </a:lnTo>
                  <a:lnTo>
                    <a:pt x="21849" y="11072"/>
                  </a:lnTo>
                  <a:cubicBezTo>
                    <a:pt x="21849" y="13023"/>
                    <a:pt x="23472" y="14528"/>
                    <a:pt x="25331" y="14528"/>
                  </a:cubicBezTo>
                  <a:cubicBezTo>
                    <a:pt x="27190" y="14528"/>
                    <a:pt x="28787" y="13023"/>
                    <a:pt x="28787" y="1107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18" name="Paper math native glyph 4"/>
            <p:cNvSpPr/>
            <p:nvPr/>
          </p:nvSpPr>
          <p:spPr>
            <a:xfrm>
              <a:off x="0" y="0"/>
              <a:ext cx="531845" cy="189868"/>
            </a:xfrm>
            <a:custGeom>
              <a:avLst/>
              <a:gdLst/>
              <a:ahLst/>
              <a:cxnLst/>
              <a:rect l="0" t="0" r="r" b="b"/>
              <a:pathLst>
                <a:path w="41878" h="14950" stroke="0" extrusionOk="0">
                  <a:moveTo>
                    <a:pt x="41878" y="5518"/>
                  </a:moveTo>
                  <a:lnTo>
                    <a:pt x="41812" y="5439"/>
                  </a:lnTo>
                  <a:cubicBezTo>
                    <a:pt x="41393" y="5491"/>
                    <a:pt x="40333" y="5753"/>
                    <a:pt x="40032" y="6042"/>
                  </a:cubicBezTo>
                  <a:cubicBezTo>
                    <a:pt x="39875" y="6186"/>
                    <a:pt x="39377" y="7876"/>
                    <a:pt x="39273" y="8216"/>
                  </a:cubicBezTo>
                  <a:cubicBezTo>
                    <a:pt x="38749" y="9828"/>
                    <a:pt x="38225" y="11151"/>
                    <a:pt x="36942" y="12317"/>
                  </a:cubicBezTo>
                  <a:cubicBezTo>
                    <a:pt x="36235" y="12972"/>
                    <a:pt x="35123" y="13693"/>
                    <a:pt x="34128" y="13693"/>
                  </a:cubicBezTo>
                  <a:cubicBezTo>
                    <a:pt x="33918" y="13693"/>
                    <a:pt x="33761" y="13614"/>
                    <a:pt x="33761" y="13378"/>
                  </a:cubicBezTo>
                  <a:cubicBezTo>
                    <a:pt x="33761" y="11492"/>
                    <a:pt x="35371" y="7640"/>
                    <a:pt x="36000" y="5675"/>
                  </a:cubicBezTo>
                  <a:cubicBezTo>
                    <a:pt x="35895" y="5596"/>
                    <a:pt x="35777" y="5583"/>
                    <a:pt x="35646" y="5583"/>
                  </a:cubicBezTo>
                  <a:cubicBezTo>
                    <a:pt x="34246" y="5583"/>
                    <a:pt x="29690" y="6893"/>
                    <a:pt x="29690" y="8636"/>
                  </a:cubicBezTo>
                  <a:cubicBezTo>
                    <a:pt x="29690" y="9134"/>
                    <a:pt x="30436" y="10326"/>
                    <a:pt x="30986" y="10326"/>
                  </a:cubicBezTo>
                  <a:cubicBezTo>
                    <a:pt x="31065" y="10326"/>
                    <a:pt x="31143" y="10313"/>
                    <a:pt x="31208" y="10286"/>
                  </a:cubicBezTo>
                  <a:cubicBezTo>
                    <a:pt x="30973" y="9998"/>
                    <a:pt x="30894" y="9631"/>
                    <a:pt x="30894" y="9265"/>
                  </a:cubicBezTo>
                  <a:cubicBezTo>
                    <a:pt x="30894" y="7732"/>
                    <a:pt x="33081" y="6291"/>
                    <a:pt x="34481" y="6251"/>
                  </a:cubicBezTo>
                  <a:cubicBezTo>
                    <a:pt x="33814" y="8151"/>
                    <a:pt x="32217" y="11885"/>
                    <a:pt x="32217" y="13758"/>
                  </a:cubicBezTo>
                  <a:cubicBezTo>
                    <a:pt x="32217" y="14335"/>
                    <a:pt x="32452" y="14806"/>
                    <a:pt x="33094" y="14806"/>
                  </a:cubicBezTo>
                  <a:cubicBezTo>
                    <a:pt x="34468" y="14806"/>
                    <a:pt x="37361" y="12789"/>
                    <a:pt x="38251" y="11741"/>
                  </a:cubicBezTo>
                  <a:cubicBezTo>
                    <a:pt x="38081" y="12317"/>
                    <a:pt x="37911" y="12907"/>
                    <a:pt x="37911" y="13509"/>
                  </a:cubicBezTo>
                  <a:cubicBezTo>
                    <a:pt x="37911" y="13876"/>
                    <a:pt x="37990" y="14950"/>
                    <a:pt x="38513" y="14950"/>
                  </a:cubicBezTo>
                  <a:cubicBezTo>
                    <a:pt x="39129" y="14950"/>
                    <a:pt x="40058" y="14387"/>
                    <a:pt x="40150" y="13745"/>
                  </a:cubicBezTo>
                  <a:cubicBezTo>
                    <a:pt x="40058" y="13824"/>
                    <a:pt x="39927" y="13876"/>
                    <a:pt x="39796" y="13876"/>
                  </a:cubicBezTo>
                  <a:cubicBezTo>
                    <a:pt x="39417" y="13876"/>
                    <a:pt x="39430" y="13352"/>
                    <a:pt x="39430" y="13103"/>
                  </a:cubicBezTo>
                  <a:cubicBezTo>
                    <a:pt x="39430" y="11767"/>
                    <a:pt x="41040" y="6487"/>
                    <a:pt x="41878" y="5518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grpSp>
        <p:nvGrpSpPr>
          <p:cNvPr id="1819" name="Formula · \boldsymbol{\Theta}_{\mathcal{K}\cup\mathcal{U}},\mathbf{P}_{\mathcal{K}\cup\mathcal{U}}" descr="Editable LaTeX source: $\boldsymbol{\Theta}_{\mathcal{K}\cup\mathcal{U}},\mathbf{P}_{\mathcal{K}\cup\mathcal{U}}$; native vector glyphs."/>
          <p:cNvGrpSpPr/>
          <p:nvPr/>
        </p:nvGrpSpPr>
        <p:grpSpPr>
          <a:xfrm>
            <a:off x="10600306" y="8027809"/>
            <a:ext cx="1145037" cy="184507"/>
            <a:chOff x="0" y="0"/>
            <a:chExt cx="1145037" cy="184507"/>
          </a:xfrm>
        </p:grpSpPr>
        <p:sp>
          <p:nvSpPr>
            <p:cNvPr id="1820" name="Paper math native glyph 1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6891" y="5159"/>
                  </a:moveTo>
                  <a:lnTo>
                    <a:pt x="4417" y="5159"/>
                  </a:lnTo>
                  <a:cubicBezTo>
                    <a:pt x="3833" y="5159"/>
                    <a:pt x="3643" y="5125"/>
                    <a:pt x="3643" y="4522"/>
                  </a:cubicBezTo>
                  <a:lnTo>
                    <a:pt x="3643" y="4402"/>
                  </a:lnTo>
                  <a:cubicBezTo>
                    <a:pt x="3643" y="4351"/>
                    <a:pt x="3626" y="4282"/>
                    <a:pt x="3506" y="4265"/>
                  </a:cubicBezTo>
                  <a:lnTo>
                    <a:pt x="3042" y="4265"/>
                  </a:lnTo>
                  <a:cubicBezTo>
                    <a:pt x="3042" y="4265"/>
                    <a:pt x="3094" y="5090"/>
                    <a:pt x="3094" y="5606"/>
                  </a:cubicBezTo>
                  <a:cubicBezTo>
                    <a:pt x="3094" y="6224"/>
                    <a:pt x="3042" y="7169"/>
                    <a:pt x="3042" y="7169"/>
                  </a:cubicBezTo>
                  <a:lnTo>
                    <a:pt x="3506" y="7169"/>
                  </a:lnTo>
                  <a:cubicBezTo>
                    <a:pt x="3557" y="7169"/>
                    <a:pt x="3626" y="7135"/>
                    <a:pt x="3643" y="7031"/>
                  </a:cubicBezTo>
                  <a:lnTo>
                    <a:pt x="3643" y="6911"/>
                  </a:lnTo>
                  <a:cubicBezTo>
                    <a:pt x="3643" y="6345"/>
                    <a:pt x="3850" y="6293"/>
                    <a:pt x="4417" y="6293"/>
                  </a:cubicBezTo>
                  <a:lnTo>
                    <a:pt x="6891" y="6293"/>
                  </a:lnTo>
                  <a:cubicBezTo>
                    <a:pt x="7390" y="6293"/>
                    <a:pt x="7665" y="6345"/>
                    <a:pt x="7665" y="6911"/>
                  </a:cubicBezTo>
                  <a:lnTo>
                    <a:pt x="7665" y="7031"/>
                  </a:lnTo>
                  <a:cubicBezTo>
                    <a:pt x="7682" y="7152"/>
                    <a:pt x="7768" y="7169"/>
                    <a:pt x="7802" y="7169"/>
                  </a:cubicBezTo>
                  <a:lnTo>
                    <a:pt x="8266" y="7169"/>
                  </a:lnTo>
                  <a:cubicBezTo>
                    <a:pt x="8266" y="7169"/>
                    <a:pt x="8215" y="6224"/>
                    <a:pt x="8215" y="5606"/>
                  </a:cubicBezTo>
                  <a:cubicBezTo>
                    <a:pt x="8215" y="5090"/>
                    <a:pt x="8266" y="4282"/>
                    <a:pt x="8266" y="4282"/>
                  </a:cubicBezTo>
                  <a:lnTo>
                    <a:pt x="7785" y="4282"/>
                  </a:lnTo>
                  <a:cubicBezTo>
                    <a:pt x="7716" y="4282"/>
                    <a:pt x="7682" y="4316"/>
                    <a:pt x="7665" y="4419"/>
                  </a:cubicBezTo>
                  <a:lnTo>
                    <a:pt x="7665" y="4522"/>
                  </a:lnTo>
                  <a:cubicBezTo>
                    <a:pt x="7665" y="5107"/>
                    <a:pt x="7441" y="5159"/>
                    <a:pt x="6891" y="5159"/>
                  </a:cubicBezTo>
                  <a:moveTo>
                    <a:pt x="5396" y="704"/>
                  </a:moveTo>
                  <a:cubicBezTo>
                    <a:pt x="7338" y="704"/>
                    <a:pt x="9023" y="2493"/>
                    <a:pt x="9023" y="5984"/>
                  </a:cubicBezTo>
                  <a:cubicBezTo>
                    <a:pt x="9023" y="8972"/>
                    <a:pt x="7699" y="10775"/>
                    <a:pt x="5963" y="10775"/>
                  </a:cubicBezTo>
                  <a:cubicBezTo>
                    <a:pt x="3936" y="10775"/>
                    <a:pt x="2252" y="8903"/>
                    <a:pt x="2252" y="5674"/>
                  </a:cubicBezTo>
                  <a:cubicBezTo>
                    <a:pt x="2252" y="2166"/>
                    <a:pt x="3936" y="704"/>
                    <a:pt x="5396" y="704"/>
                  </a:cubicBezTo>
                  <a:moveTo>
                    <a:pt x="11291" y="5657"/>
                  </a:moveTo>
                  <a:cubicBezTo>
                    <a:pt x="11291" y="2235"/>
                    <a:pt x="8644" y="0"/>
                    <a:pt x="5603" y="0"/>
                  </a:cubicBezTo>
                  <a:cubicBezTo>
                    <a:pt x="2337" y="0"/>
                    <a:pt x="0" y="2596"/>
                    <a:pt x="0" y="5967"/>
                  </a:cubicBezTo>
                  <a:cubicBezTo>
                    <a:pt x="0" y="9367"/>
                    <a:pt x="2492" y="11479"/>
                    <a:pt x="5620" y="11479"/>
                  </a:cubicBezTo>
                  <a:cubicBezTo>
                    <a:pt x="9091" y="11479"/>
                    <a:pt x="11291" y="9092"/>
                    <a:pt x="11291" y="5657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21" name="Paper math native glyph 2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23100" y="6343"/>
                  </a:moveTo>
                  <a:cubicBezTo>
                    <a:pt x="23100" y="5891"/>
                    <a:pt x="23012" y="5376"/>
                    <a:pt x="22448" y="5376"/>
                  </a:cubicBezTo>
                  <a:cubicBezTo>
                    <a:pt x="19813" y="5376"/>
                    <a:pt x="18346" y="9470"/>
                    <a:pt x="16664" y="9520"/>
                  </a:cubicBezTo>
                  <a:cubicBezTo>
                    <a:pt x="17103" y="8214"/>
                    <a:pt x="17455" y="6870"/>
                    <a:pt x="17944" y="5577"/>
                  </a:cubicBezTo>
                  <a:cubicBezTo>
                    <a:pt x="17743" y="5502"/>
                    <a:pt x="17517" y="5464"/>
                    <a:pt x="17304" y="5464"/>
                  </a:cubicBezTo>
                  <a:cubicBezTo>
                    <a:pt x="16765" y="5464"/>
                    <a:pt x="16225" y="5565"/>
                    <a:pt x="15711" y="5703"/>
                  </a:cubicBezTo>
                  <a:cubicBezTo>
                    <a:pt x="14720" y="5966"/>
                    <a:pt x="11997" y="7033"/>
                    <a:pt x="11997" y="8252"/>
                  </a:cubicBezTo>
                  <a:cubicBezTo>
                    <a:pt x="11997" y="8880"/>
                    <a:pt x="12537" y="9809"/>
                    <a:pt x="13239" y="9809"/>
                  </a:cubicBezTo>
                  <a:cubicBezTo>
                    <a:pt x="13290" y="9809"/>
                    <a:pt x="13340" y="9797"/>
                    <a:pt x="13390" y="9772"/>
                  </a:cubicBezTo>
                  <a:cubicBezTo>
                    <a:pt x="13089" y="9508"/>
                    <a:pt x="13039" y="9068"/>
                    <a:pt x="13039" y="8691"/>
                  </a:cubicBezTo>
                  <a:cubicBezTo>
                    <a:pt x="13039" y="7159"/>
                    <a:pt x="14619" y="6079"/>
                    <a:pt x="16037" y="6079"/>
                  </a:cubicBezTo>
                  <a:cubicBezTo>
                    <a:pt x="16125" y="6079"/>
                    <a:pt x="16200" y="6079"/>
                    <a:pt x="16288" y="6092"/>
                  </a:cubicBezTo>
                  <a:cubicBezTo>
                    <a:pt x="16175" y="8000"/>
                    <a:pt x="15197" y="10538"/>
                    <a:pt x="14519" y="12359"/>
                  </a:cubicBezTo>
                  <a:cubicBezTo>
                    <a:pt x="14293" y="12950"/>
                    <a:pt x="13817" y="14281"/>
                    <a:pt x="13076" y="14343"/>
                  </a:cubicBezTo>
                  <a:cubicBezTo>
                    <a:pt x="13202" y="14431"/>
                    <a:pt x="13365" y="14481"/>
                    <a:pt x="13515" y="14481"/>
                  </a:cubicBezTo>
                  <a:cubicBezTo>
                    <a:pt x="13892" y="14481"/>
                    <a:pt x="14983" y="13954"/>
                    <a:pt x="15259" y="13691"/>
                  </a:cubicBezTo>
                  <a:cubicBezTo>
                    <a:pt x="15498" y="13465"/>
                    <a:pt x="16426" y="10525"/>
                    <a:pt x="16564" y="10010"/>
                  </a:cubicBezTo>
                  <a:cubicBezTo>
                    <a:pt x="16840" y="9922"/>
                    <a:pt x="17103" y="9835"/>
                    <a:pt x="17367" y="9734"/>
                  </a:cubicBezTo>
                  <a:cubicBezTo>
                    <a:pt x="17618" y="10450"/>
                    <a:pt x="19086" y="14393"/>
                    <a:pt x="19776" y="14393"/>
                  </a:cubicBezTo>
                  <a:cubicBezTo>
                    <a:pt x="20215" y="14393"/>
                    <a:pt x="21281" y="14130"/>
                    <a:pt x="21356" y="13603"/>
                  </a:cubicBezTo>
                  <a:cubicBezTo>
                    <a:pt x="21319" y="13641"/>
                    <a:pt x="21281" y="13653"/>
                    <a:pt x="21231" y="13653"/>
                  </a:cubicBezTo>
                  <a:cubicBezTo>
                    <a:pt x="20064" y="13653"/>
                    <a:pt x="18785" y="10048"/>
                    <a:pt x="18483" y="9068"/>
                  </a:cubicBezTo>
                  <a:cubicBezTo>
                    <a:pt x="19261" y="8340"/>
                    <a:pt x="21344" y="6493"/>
                    <a:pt x="22385" y="6493"/>
                  </a:cubicBezTo>
                  <a:cubicBezTo>
                    <a:pt x="22711" y="6493"/>
                    <a:pt x="22925" y="6744"/>
                    <a:pt x="22887" y="7058"/>
                  </a:cubicBezTo>
                  <a:lnTo>
                    <a:pt x="23025" y="6995"/>
                  </a:lnTo>
                  <a:cubicBezTo>
                    <a:pt x="23075" y="6782"/>
                    <a:pt x="23100" y="6556"/>
                    <a:pt x="23100" y="634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22" name="Paper math native glyph 3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30239" y="10812"/>
                  </a:moveTo>
                  <a:lnTo>
                    <a:pt x="30239" y="6935"/>
                  </a:lnTo>
                  <a:lnTo>
                    <a:pt x="29599" y="6935"/>
                  </a:lnTo>
                  <a:lnTo>
                    <a:pt x="29599" y="10862"/>
                  </a:lnTo>
                  <a:cubicBezTo>
                    <a:pt x="29599" y="12192"/>
                    <a:pt x="28432" y="13484"/>
                    <a:pt x="26914" y="13484"/>
                  </a:cubicBezTo>
                  <a:cubicBezTo>
                    <a:pt x="25471" y="13484"/>
                    <a:pt x="24229" y="12355"/>
                    <a:pt x="24229" y="10862"/>
                  </a:cubicBezTo>
                  <a:lnTo>
                    <a:pt x="24229" y="6935"/>
                  </a:lnTo>
                  <a:lnTo>
                    <a:pt x="23589" y="6935"/>
                  </a:lnTo>
                  <a:lnTo>
                    <a:pt x="23589" y="10812"/>
                  </a:lnTo>
                  <a:cubicBezTo>
                    <a:pt x="23589" y="12681"/>
                    <a:pt x="25145" y="14124"/>
                    <a:pt x="26926" y="14124"/>
                  </a:cubicBezTo>
                  <a:cubicBezTo>
                    <a:pt x="28708" y="14124"/>
                    <a:pt x="30239" y="12681"/>
                    <a:pt x="30239" y="1081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23" name="Paper math native glyph 4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42796" y="5489"/>
                  </a:moveTo>
                  <a:lnTo>
                    <a:pt x="42734" y="5413"/>
                  </a:lnTo>
                  <a:cubicBezTo>
                    <a:pt x="42332" y="5463"/>
                    <a:pt x="41316" y="5715"/>
                    <a:pt x="41028" y="5991"/>
                  </a:cubicBezTo>
                  <a:cubicBezTo>
                    <a:pt x="40877" y="6129"/>
                    <a:pt x="40400" y="7749"/>
                    <a:pt x="40300" y="8075"/>
                  </a:cubicBezTo>
                  <a:cubicBezTo>
                    <a:pt x="39798" y="9619"/>
                    <a:pt x="39296" y="10887"/>
                    <a:pt x="38067" y="12005"/>
                  </a:cubicBezTo>
                  <a:cubicBezTo>
                    <a:pt x="37389" y="12633"/>
                    <a:pt x="36323" y="13323"/>
                    <a:pt x="35370" y="13323"/>
                  </a:cubicBezTo>
                  <a:cubicBezTo>
                    <a:pt x="35169" y="13323"/>
                    <a:pt x="35018" y="13248"/>
                    <a:pt x="35018" y="13022"/>
                  </a:cubicBezTo>
                  <a:cubicBezTo>
                    <a:pt x="35018" y="11214"/>
                    <a:pt x="36561" y="7522"/>
                    <a:pt x="37164" y="5639"/>
                  </a:cubicBezTo>
                  <a:cubicBezTo>
                    <a:pt x="37063" y="5564"/>
                    <a:pt x="36950" y="5551"/>
                    <a:pt x="36825" y="5551"/>
                  </a:cubicBezTo>
                  <a:cubicBezTo>
                    <a:pt x="35483" y="5551"/>
                    <a:pt x="31117" y="6807"/>
                    <a:pt x="31117" y="8477"/>
                  </a:cubicBezTo>
                  <a:cubicBezTo>
                    <a:pt x="31117" y="8954"/>
                    <a:pt x="31832" y="10096"/>
                    <a:pt x="32359" y="10096"/>
                  </a:cubicBezTo>
                  <a:cubicBezTo>
                    <a:pt x="32434" y="10096"/>
                    <a:pt x="32509" y="10084"/>
                    <a:pt x="32572" y="10059"/>
                  </a:cubicBezTo>
                  <a:cubicBezTo>
                    <a:pt x="32346" y="9782"/>
                    <a:pt x="32271" y="9431"/>
                    <a:pt x="32271" y="9079"/>
                  </a:cubicBezTo>
                  <a:cubicBezTo>
                    <a:pt x="32271" y="7611"/>
                    <a:pt x="34366" y="6229"/>
                    <a:pt x="35708" y="6192"/>
                  </a:cubicBezTo>
                  <a:cubicBezTo>
                    <a:pt x="35068" y="8012"/>
                    <a:pt x="33538" y="11591"/>
                    <a:pt x="33538" y="13386"/>
                  </a:cubicBezTo>
                  <a:cubicBezTo>
                    <a:pt x="33538" y="13938"/>
                    <a:pt x="33764" y="14390"/>
                    <a:pt x="34379" y="14390"/>
                  </a:cubicBezTo>
                  <a:cubicBezTo>
                    <a:pt x="35696" y="14390"/>
                    <a:pt x="38468" y="12457"/>
                    <a:pt x="39321" y="11452"/>
                  </a:cubicBezTo>
                  <a:cubicBezTo>
                    <a:pt x="39158" y="12005"/>
                    <a:pt x="38995" y="12570"/>
                    <a:pt x="38995" y="13147"/>
                  </a:cubicBezTo>
                  <a:cubicBezTo>
                    <a:pt x="38995" y="13499"/>
                    <a:pt x="39070" y="14528"/>
                    <a:pt x="39572" y="14528"/>
                  </a:cubicBezTo>
                  <a:cubicBezTo>
                    <a:pt x="40162" y="14528"/>
                    <a:pt x="41053" y="13989"/>
                    <a:pt x="41141" y="13373"/>
                  </a:cubicBezTo>
                  <a:cubicBezTo>
                    <a:pt x="41053" y="13449"/>
                    <a:pt x="40927" y="13499"/>
                    <a:pt x="40802" y="13499"/>
                  </a:cubicBezTo>
                  <a:cubicBezTo>
                    <a:pt x="40438" y="13499"/>
                    <a:pt x="40450" y="12997"/>
                    <a:pt x="40450" y="12758"/>
                  </a:cubicBezTo>
                  <a:cubicBezTo>
                    <a:pt x="40450" y="11478"/>
                    <a:pt x="41994" y="6418"/>
                    <a:pt x="42796" y="548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24" name="Paper math native glyph 5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44792" y="9679"/>
                  </a:moveTo>
                  <a:cubicBezTo>
                    <a:pt x="44259" y="9679"/>
                    <a:pt x="43881" y="10040"/>
                    <a:pt x="43881" y="10521"/>
                  </a:cubicBezTo>
                  <a:cubicBezTo>
                    <a:pt x="43881" y="11071"/>
                    <a:pt x="44328" y="11226"/>
                    <a:pt x="44637" y="11277"/>
                  </a:cubicBezTo>
                  <a:cubicBezTo>
                    <a:pt x="44964" y="11312"/>
                    <a:pt x="45256" y="11415"/>
                    <a:pt x="45256" y="11809"/>
                  </a:cubicBezTo>
                  <a:cubicBezTo>
                    <a:pt x="45256" y="12169"/>
                    <a:pt x="44637" y="12958"/>
                    <a:pt x="43744" y="13181"/>
                  </a:cubicBezTo>
                  <a:cubicBezTo>
                    <a:pt x="43744" y="13353"/>
                    <a:pt x="43778" y="13473"/>
                    <a:pt x="43898" y="13594"/>
                  </a:cubicBezTo>
                  <a:cubicBezTo>
                    <a:pt x="44930" y="13405"/>
                    <a:pt x="45926" y="12581"/>
                    <a:pt x="45926" y="11381"/>
                  </a:cubicBezTo>
                  <a:cubicBezTo>
                    <a:pt x="45926" y="10350"/>
                    <a:pt x="45480" y="9679"/>
                    <a:pt x="44792" y="967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25" name="Paper math native glyph 6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53620" y="1717"/>
                  </a:moveTo>
                  <a:cubicBezTo>
                    <a:pt x="53620" y="1115"/>
                    <a:pt x="53740" y="771"/>
                    <a:pt x="54651" y="771"/>
                  </a:cubicBezTo>
                  <a:cubicBezTo>
                    <a:pt x="55648" y="771"/>
                    <a:pt x="56799" y="1184"/>
                    <a:pt x="56799" y="3281"/>
                  </a:cubicBezTo>
                  <a:cubicBezTo>
                    <a:pt x="56799" y="5068"/>
                    <a:pt x="55888" y="5824"/>
                    <a:pt x="54479" y="5824"/>
                  </a:cubicBezTo>
                  <a:cubicBezTo>
                    <a:pt x="54221" y="5824"/>
                    <a:pt x="53860" y="5807"/>
                    <a:pt x="53620" y="5772"/>
                  </a:cubicBezTo>
                  <a:lnTo>
                    <a:pt x="53620" y="1717"/>
                  </a:lnTo>
                  <a:moveTo>
                    <a:pt x="51523" y="9780"/>
                  </a:moveTo>
                  <a:cubicBezTo>
                    <a:pt x="51523" y="10434"/>
                    <a:pt x="51282" y="10623"/>
                    <a:pt x="50578" y="10726"/>
                  </a:cubicBezTo>
                  <a:lnTo>
                    <a:pt x="50337" y="10760"/>
                  </a:lnTo>
                  <a:cubicBezTo>
                    <a:pt x="50268" y="10778"/>
                    <a:pt x="50200" y="10812"/>
                    <a:pt x="50200" y="10915"/>
                  </a:cubicBezTo>
                  <a:lnTo>
                    <a:pt x="50200" y="11310"/>
                  </a:lnTo>
                  <a:lnTo>
                    <a:pt x="50234" y="11345"/>
                  </a:lnTo>
                  <a:cubicBezTo>
                    <a:pt x="50870" y="11328"/>
                    <a:pt x="51918" y="11310"/>
                    <a:pt x="52571" y="11310"/>
                  </a:cubicBezTo>
                  <a:cubicBezTo>
                    <a:pt x="53224" y="11310"/>
                    <a:pt x="54445" y="11328"/>
                    <a:pt x="55081" y="11345"/>
                  </a:cubicBezTo>
                  <a:lnTo>
                    <a:pt x="55115" y="11310"/>
                  </a:lnTo>
                  <a:lnTo>
                    <a:pt x="55115" y="10915"/>
                  </a:lnTo>
                  <a:cubicBezTo>
                    <a:pt x="55115" y="10812"/>
                    <a:pt x="55081" y="10778"/>
                    <a:pt x="54977" y="10760"/>
                  </a:cubicBezTo>
                  <a:lnTo>
                    <a:pt x="54651" y="10726"/>
                  </a:lnTo>
                  <a:cubicBezTo>
                    <a:pt x="53963" y="10657"/>
                    <a:pt x="53620" y="10434"/>
                    <a:pt x="53620" y="9780"/>
                  </a:cubicBezTo>
                  <a:lnTo>
                    <a:pt x="53620" y="6460"/>
                  </a:lnTo>
                  <a:cubicBezTo>
                    <a:pt x="53860" y="6494"/>
                    <a:pt x="54153" y="6511"/>
                    <a:pt x="54565" y="6511"/>
                  </a:cubicBezTo>
                  <a:cubicBezTo>
                    <a:pt x="57950" y="6511"/>
                    <a:pt x="58982" y="4638"/>
                    <a:pt x="58982" y="2988"/>
                  </a:cubicBezTo>
                  <a:cubicBezTo>
                    <a:pt x="58982" y="1888"/>
                    <a:pt x="58243" y="67"/>
                    <a:pt x="54788" y="67"/>
                  </a:cubicBezTo>
                  <a:cubicBezTo>
                    <a:pt x="53396" y="64"/>
                    <a:pt x="51248" y="184"/>
                    <a:pt x="50234" y="184"/>
                  </a:cubicBezTo>
                  <a:lnTo>
                    <a:pt x="50200" y="219"/>
                  </a:lnTo>
                  <a:lnTo>
                    <a:pt x="50200" y="631"/>
                  </a:lnTo>
                  <a:cubicBezTo>
                    <a:pt x="50200" y="703"/>
                    <a:pt x="50251" y="771"/>
                    <a:pt x="50389" y="771"/>
                  </a:cubicBezTo>
                  <a:lnTo>
                    <a:pt x="50939" y="806"/>
                  </a:lnTo>
                  <a:cubicBezTo>
                    <a:pt x="51317" y="823"/>
                    <a:pt x="51523" y="1081"/>
                    <a:pt x="51523" y="1682"/>
                  </a:cubicBezTo>
                  <a:lnTo>
                    <a:pt x="51523" y="9780"/>
                  </a:ln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26" name="Paper math native glyph 7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70464" y="6343"/>
                  </a:moveTo>
                  <a:cubicBezTo>
                    <a:pt x="70464" y="5891"/>
                    <a:pt x="70376" y="5376"/>
                    <a:pt x="69812" y="5376"/>
                  </a:cubicBezTo>
                  <a:cubicBezTo>
                    <a:pt x="67177" y="5376"/>
                    <a:pt x="65710" y="9470"/>
                    <a:pt x="64029" y="9520"/>
                  </a:cubicBezTo>
                  <a:cubicBezTo>
                    <a:pt x="64467" y="8214"/>
                    <a:pt x="64819" y="6870"/>
                    <a:pt x="65308" y="5577"/>
                  </a:cubicBezTo>
                  <a:cubicBezTo>
                    <a:pt x="65107" y="5502"/>
                    <a:pt x="64882" y="5464"/>
                    <a:pt x="64668" y="5464"/>
                  </a:cubicBezTo>
                  <a:cubicBezTo>
                    <a:pt x="64129" y="5464"/>
                    <a:pt x="63589" y="5565"/>
                    <a:pt x="63075" y="5703"/>
                  </a:cubicBezTo>
                  <a:cubicBezTo>
                    <a:pt x="62084" y="5966"/>
                    <a:pt x="59362" y="7033"/>
                    <a:pt x="59362" y="8252"/>
                  </a:cubicBezTo>
                  <a:cubicBezTo>
                    <a:pt x="59362" y="8880"/>
                    <a:pt x="59901" y="9809"/>
                    <a:pt x="60604" y="9809"/>
                  </a:cubicBezTo>
                  <a:cubicBezTo>
                    <a:pt x="60654" y="9809"/>
                    <a:pt x="60704" y="9797"/>
                    <a:pt x="60754" y="9772"/>
                  </a:cubicBezTo>
                  <a:cubicBezTo>
                    <a:pt x="60453" y="9508"/>
                    <a:pt x="60403" y="9068"/>
                    <a:pt x="60403" y="8691"/>
                  </a:cubicBezTo>
                  <a:cubicBezTo>
                    <a:pt x="60403" y="7159"/>
                    <a:pt x="61984" y="6079"/>
                    <a:pt x="63401" y="6079"/>
                  </a:cubicBezTo>
                  <a:cubicBezTo>
                    <a:pt x="63489" y="6079"/>
                    <a:pt x="63564" y="6079"/>
                    <a:pt x="63652" y="6092"/>
                  </a:cubicBezTo>
                  <a:cubicBezTo>
                    <a:pt x="63539" y="8000"/>
                    <a:pt x="62561" y="10538"/>
                    <a:pt x="61883" y="12359"/>
                  </a:cubicBezTo>
                  <a:cubicBezTo>
                    <a:pt x="61657" y="12950"/>
                    <a:pt x="61181" y="14281"/>
                    <a:pt x="60440" y="14343"/>
                  </a:cubicBezTo>
                  <a:cubicBezTo>
                    <a:pt x="60566" y="14431"/>
                    <a:pt x="60729" y="14481"/>
                    <a:pt x="60880" y="14481"/>
                  </a:cubicBezTo>
                  <a:cubicBezTo>
                    <a:pt x="61256" y="14481"/>
                    <a:pt x="62347" y="13954"/>
                    <a:pt x="62623" y="13691"/>
                  </a:cubicBezTo>
                  <a:cubicBezTo>
                    <a:pt x="62862" y="13465"/>
                    <a:pt x="63790" y="10525"/>
                    <a:pt x="63928" y="10010"/>
                  </a:cubicBezTo>
                  <a:cubicBezTo>
                    <a:pt x="64204" y="9922"/>
                    <a:pt x="64467" y="9835"/>
                    <a:pt x="64731" y="9734"/>
                  </a:cubicBezTo>
                  <a:cubicBezTo>
                    <a:pt x="64982" y="10450"/>
                    <a:pt x="66450" y="14393"/>
                    <a:pt x="67140" y="14393"/>
                  </a:cubicBezTo>
                  <a:cubicBezTo>
                    <a:pt x="67579" y="14393"/>
                    <a:pt x="68645" y="14130"/>
                    <a:pt x="68720" y="13603"/>
                  </a:cubicBezTo>
                  <a:cubicBezTo>
                    <a:pt x="68683" y="13641"/>
                    <a:pt x="68645" y="13653"/>
                    <a:pt x="68595" y="13653"/>
                  </a:cubicBezTo>
                  <a:cubicBezTo>
                    <a:pt x="67428" y="13653"/>
                    <a:pt x="66149" y="10048"/>
                    <a:pt x="65847" y="9068"/>
                  </a:cubicBezTo>
                  <a:cubicBezTo>
                    <a:pt x="66625" y="8340"/>
                    <a:pt x="68708" y="6493"/>
                    <a:pt x="69749" y="6493"/>
                  </a:cubicBezTo>
                  <a:cubicBezTo>
                    <a:pt x="70075" y="6493"/>
                    <a:pt x="70289" y="6744"/>
                    <a:pt x="70251" y="7058"/>
                  </a:cubicBezTo>
                  <a:lnTo>
                    <a:pt x="70389" y="6995"/>
                  </a:lnTo>
                  <a:cubicBezTo>
                    <a:pt x="70439" y="6782"/>
                    <a:pt x="70464" y="6556"/>
                    <a:pt x="70464" y="6343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27" name="Paper math native glyph 8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77603" y="10812"/>
                  </a:moveTo>
                  <a:lnTo>
                    <a:pt x="77603" y="6935"/>
                  </a:lnTo>
                  <a:lnTo>
                    <a:pt x="76963" y="6935"/>
                  </a:lnTo>
                  <a:lnTo>
                    <a:pt x="76963" y="10862"/>
                  </a:lnTo>
                  <a:cubicBezTo>
                    <a:pt x="76963" y="12192"/>
                    <a:pt x="75796" y="13484"/>
                    <a:pt x="74278" y="13484"/>
                  </a:cubicBezTo>
                  <a:cubicBezTo>
                    <a:pt x="72835" y="13484"/>
                    <a:pt x="71593" y="12355"/>
                    <a:pt x="71593" y="10862"/>
                  </a:cubicBezTo>
                  <a:lnTo>
                    <a:pt x="71593" y="6935"/>
                  </a:lnTo>
                  <a:lnTo>
                    <a:pt x="70954" y="6935"/>
                  </a:lnTo>
                  <a:lnTo>
                    <a:pt x="70954" y="10812"/>
                  </a:lnTo>
                  <a:cubicBezTo>
                    <a:pt x="70954" y="12681"/>
                    <a:pt x="72509" y="14124"/>
                    <a:pt x="74291" y="14124"/>
                  </a:cubicBezTo>
                  <a:cubicBezTo>
                    <a:pt x="76072" y="14124"/>
                    <a:pt x="77603" y="12681"/>
                    <a:pt x="77603" y="10812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  <p:sp>
          <p:nvSpPr>
            <p:cNvPr id="1828" name="Paper math native glyph 9"/>
            <p:cNvSpPr/>
            <p:nvPr/>
          </p:nvSpPr>
          <p:spPr>
            <a:xfrm>
              <a:off x="0" y="0"/>
              <a:ext cx="1145037" cy="184507"/>
            </a:xfrm>
            <a:custGeom>
              <a:avLst/>
              <a:gdLst/>
              <a:ahLst/>
              <a:cxnLst/>
              <a:rect l="0" t="0" r="r" b="b"/>
              <a:pathLst>
                <a:path w="90160" h="14528" stroke="0" extrusionOk="0">
                  <a:moveTo>
                    <a:pt x="90160" y="5489"/>
                  </a:moveTo>
                  <a:lnTo>
                    <a:pt x="90098" y="5413"/>
                  </a:lnTo>
                  <a:cubicBezTo>
                    <a:pt x="89696" y="5463"/>
                    <a:pt x="88680" y="5715"/>
                    <a:pt x="88392" y="5991"/>
                  </a:cubicBezTo>
                  <a:cubicBezTo>
                    <a:pt x="88241" y="6129"/>
                    <a:pt x="87764" y="7749"/>
                    <a:pt x="87664" y="8075"/>
                  </a:cubicBezTo>
                  <a:cubicBezTo>
                    <a:pt x="87162" y="9619"/>
                    <a:pt x="86660" y="10887"/>
                    <a:pt x="85431" y="12005"/>
                  </a:cubicBezTo>
                  <a:cubicBezTo>
                    <a:pt x="84753" y="12633"/>
                    <a:pt x="83687" y="13323"/>
                    <a:pt x="82734" y="13323"/>
                  </a:cubicBezTo>
                  <a:cubicBezTo>
                    <a:pt x="82533" y="13323"/>
                    <a:pt x="82382" y="13248"/>
                    <a:pt x="82382" y="13022"/>
                  </a:cubicBezTo>
                  <a:cubicBezTo>
                    <a:pt x="82382" y="11214"/>
                    <a:pt x="83925" y="7522"/>
                    <a:pt x="84528" y="5639"/>
                  </a:cubicBezTo>
                  <a:cubicBezTo>
                    <a:pt x="84427" y="5564"/>
                    <a:pt x="84314" y="5551"/>
                    <a:pt x="84189" y="5551"/>
                  </a:cubicBezTo>
                  <a:cubicBezTo>
                    <a:pt x="82847" y="5551"/>
                    <a:pt x="78481" y="6807"/>
                    <a:pt x="78481" y="8477"/>
                  </a:cubicBezTo>
                  <a:cubicBezTo>
                    <a:pt x="78481" y="8954"/>
                    <a:pt x="79196" y="10096"/>
                    <a:pt x="79723" y="10096"/>
                  </a:cubicBezTo>
                  <a:cubicBezTo>
                    <a:pt x="79798" y="10096"/>
                    <a:pt x="79873" y="10084"/>
                    <a:pt x="79936" y="10059"/>
                  </a:cubicBezTo>
                  <a:cubicBezTo>
                    <a:pt x="79710" y="9782"/>
                    <a:pt x="79635" y="9431"/>
                    <a:pt x="79635" y="9079"/>
                  </a:cubicBezTo>
                  <a:cubicBezTo>
                    <a:pt x="79635" y="7611"/>
                    <a:pt x="81730" y="6229"/>
                    <a:pt x="83072" y="6192"/>
                  </a:cubicBezTo>
                  <a:cubicBezTo>
                    <a:pt x="82433" y="8012"/>
                    <a:pt x="80902" y="11591"/>
                    <a:pt x="80902" y="13386"/>
                  </a:cubicBezTo>
                  <a:cubicBezTo>
                    <a:pt x="80902" y="13938"/>
                    <a:pt x="81128" y="14390"/>
                    <a:pt x="81743" y="14390"/>
                  </a:cubicBezTo>
                  <a:cubicBezTo>
                    <a:pt x="83060" y="14390"/>
                    <a:pt x="85832" y="12457"/>
                    <a:pt x="86685" y="11452"/>
                  </a:cubicBezTo>
                  <a:cubicBezTo>
                    <a:pt x="86522" y="12005"/>
                    <a:pt x="86359" y="12570"/>
                    <a:pt x="86359" y="13147"/>
                  </a:cubicBezTo>
                  <a:cubicBezTo>
                    <a:pt x="86359" y="13499"/>
                    <a:pt x="86434" y="14528"/>
                    <a:pt x="86936" y="14528"/>
                  </a:cubicBezTo>
                  <a:cubicBezTo>
                    <a:pt x="87526" y="14528"/>
                    <a:pt x="88417" y="13989"/>
                    <a:pt x="88505" y="13373"/>
                  </a:cubicBezTo>
                  <a:cubicBezTo>
                    <a:pt x="88417" y="13449"/>
                    <a:pt x="88291" y="13499"/>
                    <a:pt x="88166" y="13499"/>
                  </a:cubicBezTo>
                  <a:cubicBezTo>
                    <a:pt x="87802" y="13499"/>
                    <a:pt x="87814" y="12997"/>
                    <a:pt x="87814" y="12758"/>
                  </a:cubicBezTo>
                  <a:cubicBezTo>
                    <a:pt x="87814" y="11478"/>
                    <a:pt x="89358" y="6418"/>
                    <a:pt x="90160" y="5489"/>
                  </a:cubicBezTo>
                  <a:close/>
                </a:path>
              </a:pathLst>
            </a:custGeom>
            <a:solidFill>
              <a:srgbClr val="26272C"/>
            </a:solidFill>
            <a:ln>
              <a:noFill/>
            </a:ln>
            <a:effectLst/>
          </p:spPr>
        </p:sp>
      </p:grpSp>
      <p:cxnSp>
        <p:nvCxnSpPr>
          <p:cNvPr id="1829" name="Write borrowed new identity rows into E"/>
          <p:cNvCxnSpPr/>
          <p:nvPr/>
        </p:nvCxnSpPr>
        <p:spPr>
          <a:xfrm>
            <a:off x="11915775" y="5629275"/>
            <a:ext cx="314325" cy="0"/>
          </a:xfrm>
          <a:prstGeom prst="line">
            <a:avLst/>
          </a:prstGeom>
          <a:ln w="26670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0" name="Write borrowed new identity rows into E"/>
          <p:cNvCxnSpPr/>
          <p:nvPr/>
        </p:nvCxnSpPr>
        <p:spPr>
          <a:xfrm flipV="1">
            <a:off x="12230100" y="3409950"/>
            <a:ext cx="0" cy="2219325"/>
          </a:xfrm>
          <a:prstGeom prst="line">
            <a:avLst/>
          </a:prstGeom>
          <a:ln w="26670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1" name="Write borrowed new identity rows into E"/>
          <p:cNvCxnSpPr/>
          <p:nvPr/>
        </p:nvCxnSpPr>
        <p:spPr>
          <a:xfrm flipH="1">
            <a:off x="9334500" y="3409950"/>
            <a:ext cx="2895600" cy="0"/>
          </a:xfrm>
          <a:prstGeom prst="line">
            <a:avLst/>
          </a:prstGeom>
          <a:ln w="26670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Write borrowed new identity rows into E"/>
          <p:cNvCxnSpPr/>
          <p:nvPr/>
        </p:nvCxnSpPr>
        <p:spPr>
          <a:xfrm flipV="1">
            <a:off x="9334500" y="2847975"/>
            <a:ext cx="0" cy="561975"/>
          </a:xfrm>
          <a:prstGeom prst="line">
            <a:avLst/>
          </a:prstGeom>
          <a:ln w="26670">
            <a:solidFill>
              <a:srgbClr val="B15E7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3" name="Write all jointly refitted identity rows into E"/>
          <p:cNvCxnSpPr/>
          <p:nvPr/>
        </p:nvCxnSpPr>
        <p:spPr>
          <a:xfrm flipH="1">
            <a:off x="8239125" y="8115300"/>
            <a:ext cx="514350" cy="0"/>
          </a:xfrm>
          <a:prstGeom prst="line">
            <a:avLst/>
          </a:prstGeom>
          <a:ln w="26670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4" name="Write all jointly refitted identity rows into E"/>
          <p:cNvCxnSpPr/>
          <p:nvPr/>
        </p:nvCxnSpPr>
        <p:spPr>
          <a:xfrm flipV="1">
            <a:off x="8239125" y="3333750"/>
            <a:ext cx="0" cy="4781550"/>
          </a:xfrm>
          <a:prstGeom prst="line">
            <a:avLst/>
          </a:prstGeom>
          <a:ln w="26670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5" name="Write all jointly refitted identity rows into E"/>
          <p:cNvCxnSpPr/>
          <p:nvPr/>
        </p:nvCxnSpPr>
        <p:spPr>
          <a:xfrm>
            <a:off x="8239125" y="3333750"/>
            <a:ext cx="476250" cy="0"/>
          </a:xfrm>
          <a:prstGeom prst="line">
            <a:avLst/>
          </a:prstGeom>
          <a:ln w="26670">
            <a:solidFill>
              <a:srgbClr val="B15E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6" name="Write all jointly refitted identity rows into E"/>
          <p:cNvCxnSpPr/>
          <p:nvPr/>
        </p:nvCxnSpPr>
        <p:spPr>
          <a:xfrm flipV="1">
            <a:off x="8715375" y="2847975"/>
            <a:ext cx="0" cy="485775"/>
          </a:xfrm>
          <a:prstGeom prst="line">
            <a:avLst/>
          </a:prstGeom>
          <a:ln w="26670">
            <a:solidFill>
              <a:srgbClr val="B15E7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Macintosh PowerPoint</Application>
  <PresentationFormat>自定义</PresentationFormat>
  <Paragraphs>662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Canva Sans</vt:lpstr>
      <vt:lpstr>Times New Roman</vt:lpstr>
      <vt:lpstr>等线</vt:lpstr>
      <vt:lpstr>Arial</vt:lpstr>
      <vt:lpstr>Calibri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EvoST method 01: Blue / cream yellow / apricot</dc:title>
  <cp:lastModifiedBy>Yin Du</cp:lastModifiedBy>
  <cp:revision>2</cp:revision>
  <dcterms:created xsi:type="dcterms:W3CDTF">2006-08-16T00:00:00Z</dcterms:created>
  <dcterms:modified xsi:type="dcterms:W3CDTF">2026-10-11T10:02:55Z</dcterms:modified>
  <dc:identifier>DAG28uOF8XY</dc:identifier>
  <dc:subject>Latest g41 method; reference-derived palette on panels and interior modules</dc:subject>
</cp:coreProperties>
</file>