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477118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63B663-D073-415F-A481-FCBA638E04E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431189-B521-42A5-BAAA-1D4A254595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5958CE-7D2E-4499-8319-F2FC2EB2B5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BC0F91-B224-4957-A62F-2678098E4EA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3597DA-5C90-4970-934C-59A24AF3D55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5F25A2-40E4-4F2A-ACDA-68078CF3CF4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5EA529-E9C5-4AE3-80C2-A4A2A54B14B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1EA638-080E-4C83-8EAF-861F67DF3F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31DBFD-13DF-41E6-B967-B54AEB2C3A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526D55-FE5F-46CD-8A23-FB4C6501F47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B604EB-7912-4733-B45F-8B4EF7FAD25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D95B81-4827-49B4-8196-71BE0E1B3E6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B31C3D18-BB00-4AD8-8056-A62D98290651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ecast panel"/>
          <p:cNvSpPr/>
          <p:nvPr/>
        </p:nvSpPr>
        <p:spPr>
          <a:xfrm>
            <a:off x="73152" y="73152"/>
            <a:ext cx="12045696" cy="1810512"/>
          </a:xfrm>
          <a:prstGeom prst="roundRect">
            <a:avLst>
              <a:gd name="adj" fmla="val 11111"/>
            </a:avLst>
          </a:prstGeom>
          <a:solidFill>
            <a:srgbClr val="F2F3F5"/>
          </a:solidFill>
          <a:ln>
            <a:noFill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2" name="title"/>
          <p:cNvSpPr/>
          <p:nvPr/>
        </p:nvSpPr>
        <p:spPr>
          <a:xfrm>
            <a:off x="228600" y="137160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1900" b="1" i="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Forecasting at window </a:t>
            </a:r>
            <a:r>
              <a:rPr lang="en-US" sz="1900" b="1" i="1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3" name="snowflake"/>
          <p:cNvSpPr/>
          <p:nvPr/>
        </p:nvSpPr>
        <p:spPr>
          <a:xfrm>
            <a:off x="6053328" y="201168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50000" y="100000"/>
                </a:moveTo>
                <a:lnTo>
                  <a:pt x="49999" y="0"/>
                </a:lnTo>
              </a:path>
              <a:path w="100000" h="100000" fill="none">
                <a:moveTo>
                  <a:pt x="6698" y="75000"/>
                </a:moveTo>
                <a:lnTo>
                  <a:pt x="93301" y="24999"/>
                </a:lnTo>
              </a:path>
              <a:path w="100000" h="100000" fill="none">
                <a:moveTo>
                  <a:pt x="6698" y="25000"/>
                </a:moveTo>
                <a:lnTo>
                  <a:pt x="93301" y="74999"/>
                </a:lnTo>
              </a:path>
              <a:path w="100000" h="100000" fill="none">
                <a:moveTo>
                  <a:pt x="50000" y="82000"/>
                </a:moveTo>
                <a:lnTo>
                  <a:pt x="62020" y="94020"/>
                </a:lnTo>
              </a:path>
              <a:path w="100000" h="100000" fill="none">
                <a:moveTo>
                  <a:pt x="50000" y="82000"/>
                </a:moveTo>
                <a:lnTo>
                  <a:pt x="37979" y="94020"/>
                </a:lnTo>
              </a:path>
              <a:path w="100000" h="100000" fill="none">
                <a:moveTo>
                  <a:pt x="22287" y="66000"/>
                </a:moveTo>
                <a:lnTo>
                  <a:pt x="17887" y="82420"/>
                </a:lnTo>
              </a:path>
              <a:path w="100000" h="100000" fill="none">
                <a:moveTo>
                  <a:pt x="22287" y="66000"/>
                </a:moveTo>
                <a:lnTo>
                  <a:pt x="5866" y="61600"/>
                </a:lnTo>
              </a:path>
              <a:path w="100000" h="100000" fill="none">
                <a:moveTo>
                  <a:pt x="22287" y="34000"/>
                </a:moveTo>
                <a:lnTo>
                  <a:pt x="5866" y="38399"/>
                </a:lnTo>
              </a:path>
              <a:path w="100000" h="100000" fill="none">
                <a:moveTo>
                  <a:pt x="22287" y="34000"/>
                </a:moveTo>
                <a:lnTo>
                  <a:pt x="17887" y="17579"/>
                </a:lnTo>
              </a:path>
              <a:path w="100000" h="100000" fill="none">
                <a:moveTo>
                  <a:pt x="49999" y="18000"/>
                </a:moveTo>
                <a:lnTo>
                  <a:pt x="37979" y="5979"/>
                </a:lnTo>
              </a:path>
              <a:path w="100000" h="100000" fill="none">
                <a:moveTo>
                  <a:pt x="49999" y="18000"/>
                </a:moveTo>
                <a:lnTo>
                  <a:pt x="62020" y="5979"/>
                </a:lnTo>
              </a:path>
              <a:path w="100000" h="100000" fill="none">
                <a:moveTo>
                  <a:pt x="77712" y="33999"/>
                </a:moveTo>
                <a:lnTo>
                  <a:pt x="82112" y="17579"/>
                </a:lnTo>
              </a:path>
              <a:path w="100000" h="100000" fill="none">
                <a:moveTo>
                  <a:pt x="77712" y="33999"/>
                </a:moveTo>
                <a:lnTo>
                  <a:pt x="94133" y="38399"/>
                </a:lnTo>
              </a:path>
              <a:path w="100000" h="100000" fill="none">
                <a:moveTo>
                  <a:pt x="77712" y="65999"/>
                </a:moveTo>
                <a:lnTo>
                  <a:pt x="94133" y="61600"/>
                </a:lnTo>
              </a:path>
              <a:path w="100000" h="100000" fill="none">
                <a:moveTo>
                  <a:pt x="77712" y="65999"/>
                </a:moveTo>
                <a:lnTo>
                  <a:pt x="82112" y="82420"/>
                </a:lnTo>
              </a:path>
            </a:pathLst>
          </a:custGeom>
          <a:noFill/>
          <a:ln w="19050" cap="rnd">
            <a:solidFill>
              <a:srgbClr val="6E95D6"/>
            </a:solidFill>
            <a:round/>
          </a:ln>
        </p:spPr>
      </p:sp>
      <p:sp>
        <p:nvSpPr>
          <p:cNvPr id="14" name="legend"/>
          <p:cNvSpPr/>
          <p:nvPr/>
        </p:nvSpPr>
        <p:spPr>
          <a:xfrm>
            <a:off x="6272784" y="15544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1200" b="0" i="1" dirty="0">
                <a:solidFill>
                  <a:srgbClr val="5A5A5A"/>
                </a:solidFill>
                <a:latin typeface="Times New Roman"/>
                <a:ea typeface="Times New Roman"/>
                <a:cs typeface="Times New Roman"/>
              </a:rPr>
              <a:t>frozen</a:t>
            </a:r>
          </a:p>
        </p:txBody>
      </p:sp>
      <p:sp>
        <p:nvSpPr>
          <p:cNvPr id="15" name="flame"/>
          <p:cNvSpPr/>
          <p:nvPr/>
        </p:nvSpPr>
        <p:spPr>
          <a:xfrm>
            <a:off x="6858000" y="201168"/>
            <a:ext cx="146304" cy="182880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50000" y="100000"/>
                </a:moveTo>
                <a:cubicBezTo>
                  <a:pt x="15000" y="100000"/>
                  <a:pt x="2000" y="70000"/>
                  <a:pt x="18000" y="42000"/>
                </a:cubicBezTo>
                <a:cubicBezTo>
                  <a:pt x="26000" y="28000"/>
                  <a:pt x="30000" y="30000"/>
                  <a:pt x="32000" y="45000"/>
                </a:cubicBezTo>
                <a:cubicBezTo>
                  <a:pt x="30000" y="20000"/>
                  <a:pt x="45000" y="5000"/>
                  <a:pt x="55000" y="0"/>
                </a:cubicBezTo>
                <a:cubicBezTo>
                  <a:pt x="50000" y="25000"/>
                  <a:pt x="75000" y="30000"/>
                  <a:pt x="80000" y="50000"/>
                </a:cubicBezTo>
                <a:cubicBezTo>
                  <a:pt x="84000" y="40000"/>
                  <a:pt x="86000" y="36000"/>
                  <a:pt x="88000" y="30000"/>
                </a:cubicBezTo>
                <a:cubicBezTo>
                  <a:pt x="102000" y="55000"/>
                  <a:pt x="95000" y="100000"/>
                  <a:pt x="50000" y="100000"/>
                </a:cubicBezTo>
                <a:close/>
              </a:path>
            </a:pathLst>
          </a:custGeom>
          <a:gradFill rotWithShape="1">
            <a:gsLst>
              <a:gs pos="0">
                <a:srgbClr val="FFB000"/>
              </a:gs>
              <a:gs pos="100000">
                <a:srgbClr val="E8401C"/>
              </a:gs>
            </a:gsLst>
            <a:lin ang="5400000" scaled="0"/>
          </a:gradFill>
          <a:ln>
            <a:noFill/>
          </a:ln>
        </p:spPr>
      </p:sp>
      <p:sp>
        <p:nvSpPr>
          <p:cNvPr id="16" name="flame-core"/>
          <p:cNvSpPr/>
          <p:nvPr/>
        </p:nvSpPr>
        <p:spPr>
          <a:xfrm>
            <a:off x="6858000" y="201168"/>
            <a:ext cx="146304" cy="182880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52000" y="100000"/>
                </a:moveTo>
                <a:cubicBezTo>
                  <a:pt x="33000" y="100000"/>
                  <a:pt x="28000" y="82000"/>
                  <a:pt x="38000" y="66000"/>
                </a:cubicBezTo>
                <a:cubicBezTo>
                  <a:pt x="44000" y="56000"/>
                  <a:pt x="50000" y="52000"/>
                  <a:pt x="50000" y="42000"/>
                </a:cubicBezTo>
                <a:cubicBezTo>
                  <a:pt x="62000" y="55000"/>
                  <a:pt x="74000" y="70000"/>
                  <a:pt x="70000" y="84000"/>
                </a:cubicBezTo>
                <a:cubicBezTo>
                  <a:pt x="68000" y="95000"/>
                  <a:pt x="60000" y="100000"/>
                  <a:pt x="52000" y="100000"/>
                </a:cubicBezTo>
                <a:close/>
              </a:path>
            </a:pathLst>
          </a:custGeom>
          <a:solidFill>
            <a:srgbClr val="FFE14D"/>
          </a:solidFill>
          <a:ln>
            <a:noFill/>
          </a:ln>
        </p:spPr>
      </p:sp>
      <p:sp>
        <p:nvSpPr>
          <p:cNvPr id="17" name="legend"/>
          <p:cNvSpPr/>
          <p:nvPr/>
        </p:nvSpPr>
        <p:spPr>
          <a:xfrm>
            <a:off x="7059168" y="15544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1200" b="0" i="1" dirty="0">
                <a:solidFill>
                  <a:srgbClr val="5A5A5A"/>
                </a:solidFill>
                <a:latin typeface="Times New Roman"/>
                <a:ea typeface="Times New Roman"/>
                <a:cs typeface="Times New Roman"/>
              </a:rPr>
              <a:t>updated</a:t>
            </a:r>
          </a:p>
        </p:txBody>
      </p:sp>
      <p:cxnSp>
        <p:nvCxnSpPr>
          <p:cNvPr id="18" name="arrow"/>
          <p:cNvCxnSpPr/>
          <p:nvPr/>
        </p:nvCxnSpPr>
        <p:spPr>
          <a:xfrm>
            <a:off x="7754112" y="292608"/>
            <a:ext cx="329184" cy="0"/>
          </a:xfrm>
          <a:prstGeom prst="straightConnector1">
            <a:avLst/>
          </a:prstGeom>
          <a:ln w="19050" cap="rnd">
            <a:solidFill>
              <a:srgbClr val="548235"/>
            </a:solidFill>
            <a:round/>
            <a:tailEnd type="triangle" w="med" len="med"/>
          </a:ln>
        </p:spPr>
      </p:cxnSp>
      <p:sp>
        <p:nvSpPr>
          <p:cNvPr id="19" name="legend"/>
          <p:cNvSpPr/>
          <p:nvPr/>
        </p:nvSpPr>
        <p:spPr>
          <a:xfrm>
            <a:off x="8129016" y="155448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1200" b="0" i="1" dirty="0">
                <a:solidFill>
                  <a:srgbClr val="5A5A5A"/>
                </a:solidFill>
                <a:latin typeface="Times New Roman"/>
                <a:ea typeface="Times New Roman"/>
                <a:cs typeface="Times New Roman"/>
              </a:rPr>
              <a:t>released labels</a:t>
            </a:r>
          </a:p>
        </p:txBody>
      </p:sp>
      <p:cxnSp>
        <p:nvCxnSpPr>
          <p:cNvPr id="20" name="arrow"/>
          <p:cNvCxnSpPr/>
          <p:nvPr/>
        </p:nvCxnSpPr>
        <p:spPr>
          <a:xfrm>
            <a:off x="9299448" y="292608"/>
            <a:ext cx="329184" cy="0"/>
          </a:xfrm>
          <a:prstGeom prst="straightConnector1">
            <a:avLst/>
          </a:prstGeom>
          <a:ln w="19050" cap="rnd">
            <a:solidFill>
              <a:srgbClr val="262626"/>
            </a:solidFill>
            <a:prstDash val="dash"/>
            <a:round/>
            <a:tailEnd type="triangle" w="med" len="med"/>
          </a:ln>
        </p:spPr>
      </p:cxnSp>
      <p:sp>
        <p:nvSpPr>
          <p:cNvPr id="21" name="legend"/>
          <p:cNvSpPr/>
          <p:nvPr/>
        </p:nvSpPr>
        <p:spPr>
          <a:xfrm>
            <a:off x="9674352" y="15544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1200" b="0" i="1" dirty="0">
                <a:solidFill>
                  <a:srgbClr val="5A5A5A"/>
                </a:solidFill>
                <a:latin typeface="Times New Roman"/>
                <a:ea typeface="Times New Roman"/>
                <a:cs typeface="Times New Roman"/>
              </a:rPr>
              <a:t>state update</a:t>
            </a:r>
          </a:p>
        </p:txBody>
      </p:sp>
      <p:sp>
        <p:nvSpPr>
          <p:cNvPr id="22" name="legend new sensor"/>
          <p:cNvSpPr/>
          <p:nvPr/>
        </p:nvSpPr>
        <p:spPr>
          <a:xfrm>
            <a:off x="10698480" y="219456"/>
            <a:ext cx="146304" cy="146304"/>
          </a:xfrm>
          <a:prstGeom prst="ellipse">
            <a:avLst/>
          </a:prstGeom>
          <a:solidFill>
            <a:srgbClr val="8E6CC9"/>
          </a:solidFill>
          <a:ln w="10160" cap="rnd">
            <a:solidFill>
              <a:srgbClr val="262626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23" name="legend"/>
          <p:cNvSpPr/>
          <p:nvPr/>
        </p:nvSpPr>
        <p:spPr>
          <a:xfrm>
            <a:off x="10890504" y="155448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1200" b="0" i="1" dirty="0">
                <a:solidFill>
                  <a:srgbClr val="5A5A5A"/>
                </a:solidFill>
                <a:latin typeface="Times New Roman"/>
                <a:ea typeface="Times New Roman"/>
                <a:cs typeface="Times New Roman"/>
              </a:rPr>
              <a:t>new sensor</a:t>
            </a:r>
          </a:p>
        </p:txBody>
      </p:sp>
      <p:sp>
        <p:nvSpPr>
          <p:cNvPr id="24" name="input window"/>
          <p:cNvSpPr/>
          <p:nvPr/>
        </p:nvSpPr>
        <p:spPr>
          <a:xfrm>
            <a:off x="201168" y="548640"/>
            <a:ext cx="1188720" cy="603504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 cap="rnd">
            <a:solidFill>
              <a:srgbClr val="8C8C8C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25" name="sensor series"/>
          <p:cNvSpPr/>
          <p:nvPr/>
        </p:nvSpPr>
        <p:spPr>
          <a:xfrm>
            <a:off x="265176" y="612648"/>
            <a:ext cx="1060704" cy="134112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0" y="29912"/>
                </a:moveTo>
                <a:lnTo>
                  <a:pt x="3333" y="17572"/>
                </a:lnTo>
                <a:lnTo>
                  <a:pt x="6666" y="17531"/>
                </a:lnTo>
                <a:lnTo>
                  <a:pt x="10000" y="27875"/>
                </a:lnTo>
                <a:lnTo>
                  <a:pt x="13333" y="38982"/>
                </a:lnTo>
                <a:lnTo>
                  <a:pt x="16666" y="42388"/>
                </a:lnTo>
                <a:lnTo>
                  <a:pt x="20000" y="38248"/>
                </a:lnTo>
                <a:lnTo>
                  <a:pt x="23333" y="34713"/>
                </a:lnTo>
                <a:lnTo>
                  <a:pt x="26666" y="40025"/>
                </a:lnTo>
                <a:lnTo>
                  <a:pt x="30000" y="54689"/>
                </a:lnTo>
                <a:lnTo>
                  <a:pt x="33333" y="70777"/>
                </a:lnTo>
                <a:lnTo>
                  <a:pt x="36666" y="78813"/>
                </a:lnTo>
                <a:lnTo>
                  <a:pt x="40000" y="75868"/>
                </a:lnTo>
                <a:lnTo>
                  <a:pt x="43333" y="67613"/>
                </a:lnTo>
                <a:lnTo>
                  <a:pt x="46666" y="62749"/>
                </a:lnTo>
                <a:lnTo>
                  <a:pt x="50000" y="65058"/>
                </a:lnTo>
                <a:lnTo>
                  <a:pt x="53333" y="70270"/>
                </a:lnTo>
                <a:lnTo>
                  <a:pt x="56666" y="70314"/>
                </a:lnTo>
                <a:lnTo>
                  <a:pt x="60000" y="60887"/>
                </a:lnTo>
                <a:lnTo>
                  <a:pt x="63333" y="45481"/>
                </a:lnTo>
                <a:lnTo>
                  <a:pt x="66666" y="32427"/>
                </a:lnTo>
                <a:lnTo>
                  <a:pt x="70000" y="27838"/>
                </a:lnTo>
                <a:lnTo>
                  <a:pt x="73333" y="30801"/>
                </a:lnTo>
                <a:lnTo>
                  <a:pt x="76666" y="34872"/>
                </a:lnTo>
                <a:lnTo>
                  <a:pt x="80000" y="34252"/>
                </a:lnTo>
                <a:lnTo>
                  <a:pt x="83333" y="28979"/>
                </a:lnTo>
                <a:lnTo>
                  <a:pt x="86666" y="24680"/>
                </a:lnTo>
                <a:lnTo>
                  <a:pt x="90000" y="27370"/>
                </a:lnTo>
                <a:lnTo>
                  <a:pt x="93333" y="38049"/>
                </a:lnTo>
                <a:lnTo>
                  <a:pt x="96666" y="51779"/>
                </a:lnTo>
                <a:lnTo>
                  <a:pt x="100000" y="61815"/>
                </a:lnTo>
              </a:path>
            </a:pathLst>
          </a:custGeom>
          <a:noFill/>
          <a:ln w="19050" cap="rnd">
            <a:solidFill>
              <a:srgbClr val="3F4A5A"/>
            </a:solidFill>
            <a:round/>
          </a:ln>
        </p:spPr>
      </p:sp>
      <p:sp>
        <p:nvSpPr>
          <p:cNvPr id="26" name="sensor series"/>
          <p:cNvSpPr/>
          <p:nvPr/>
        </p:nvSpPr>
        <p:spPr>
          <a:xfrm>
            <a:off x="265176" y="783336"/>
            <a:ext cx="1060704" cy="134112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0" y="39032"/>
                </a:moveTo>
                <a:lnTo>
                  <a:pt x="3333" y="45736"/>
                </a:lnTo>
                <a:lnTo>
                  <a:pt x="6666" y="44747"/>
                </a:lnTo>
                <a:lnTo>
                  <a:pt x="10000" y="41674"/>
                </a:lnTo>
                <a:lnTo>
                  <a:pt x="13333" y="44830"/>
                </a:lnTo>
                <a:lnTo>
                  <a:pt x="16666" y="57192"/>
                </a:lnTo>
                <a:lnTo>
                  <a:pt x="20000" y="72982"/>
                </a:lnTo>
                <a:lnTo>
                  <a:pt x="23333" y="82254"/>
                </a:lnTo>
                <a:lnTo>
                  <a:pt x="26666" y="79556"/>
                </a:lnTo>
                <a:lnTo>
                  <a:pt x="30000" y="68817"/>
                </a:lnTo>
                <a:lnTo>
                  <a:pt x="33333" y="59850"/>
                </a:lnTo>
                <a:lnTo>
                  <a:pt x="36666" y="59439"/>
                </a:lnTo>
                <a:lnTo>
                  <a:pt x="40000" y="65127"/>
                </a:lnTo>
                <a:lnTo>
                  <a:pt x="43333" y="67501"/>
                </a:lnTo>
                <a:lnTo>
                  <a:pt x="46666" y="59089"/>
                </a:lnTo>
                <a:lnTo>
                  <a:pt x="50000" y="41747"/>
                </a:lnTo>
                <a:lnTo>
                  <a:pt x="53333" y="25641"/>
                </a:lnTo>
                <a:lnTo>
                  <a:pt x="56666" y="20518"/>
                </a:lnTo>
                <a:lnTo>
                  <a:pt x="60000" y="27135"/>
                </a:lnTo>
                <a:lnTo>
                  <a:pt x="63333" y="36745"/>
                </a:lnTo>
                <a:lnTo>
                  <a:pt x="66666" y="39247"/>
                </a:lnTo>
                <a:lnTo>
                  <a:pt x="70000" y="32595"/>
                </a:lnTo>
                <a:lnTo>
                  <a:pt x="73333" y="24781"/>
                </a:lnTo>
                <a:lnTo>
                  <a:pt x="76666" y="26440"/>
                </a:lnTo>
                <a:lnTo>
                  <a:pt x="80000" y="40780"/>
                </a:lnTo>
                <a:lnTo>
                  <a:pt x="83333" y="60138"/>
                </a:lnTo>
                <a:lnTo>
                  <a:pt x="86666" y="72458"/>
                </a:lnTo>
                <a:lnTo>
                  <a:pt x="90000" y="71866"/>
                </a:lnTo>
                <a:lnTo>
                  <a:pt x="93333" y="63666"/>
                </a:lnTo>
                <a:lnTo>
                  <a:pt x="96666" y="59134"/>
                </a:lnTo>
                <a:lnTo>
                  <a:pt x="100000" y="64858"/>
                </a:lnTo>
              </a:path>
            </a:pathLst>
          </a:custGeom>
          <a:noFill/>
          <a:ln w="19050" cap="rnd">
            <a:solidFill>
              <a:srgbClr val="6B7687"/>
            </a:solidFill>
            <a:round/>
          </a:ln>
        </p:spPr>
      </p:sp>
      <p:sp>
        <p:nvSpPr>
          <p:cNvPr id="27" name="sensor series"/>
          <p:cNvSpPr/>
          <p:nvPr/>
        </p:nvSpPr>
        <p:spPr>
          <a:xfrm>
            <a:off x="265176" y="954024"/>
            <a:ext cx="1060704" cy="134112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0" y="57835"/>
                </a:moveTo>
                <a:lnTo>
                  <a:pt x="3333" y="72030"/>
                </a:lnTo>
                <a:lnTo>
                  <a:pt x="6666" y="79147"/>
                </a:lnTo>
                <a:lnTo>
                  <a:pt x="10000" y="76576"/>
                </a:lnTo>
                <a:lnTo>
                  <a:pt x="13333" y="68913"/>
                </a:lnTo>
                <a:lnTo>
                  <a:pt x="16666" y="63464"/>
                </a:lnTo>
                <a:lnTo>
                  <a:pt x="20000" y="63719"/>
                </a:lnTo>
                <a:lnTo>
                  <a:pt x="23333" y="66597"/>
                </a:lnTo>
                <a:lnTo>
                  <a:pt x="26666" y="65649"/>
                </a:lnTo>
                <a:lnTo>
                  <a:pt x="30000" y="57119"/>
                </a:lnTo>
                <a:lnTo>
                  <a:pt x="33333" y="43450"/>
                </a:lnTo>
                <a:lnTo>
                  <a:pt x="36666" y="31330"/>
                </a:lnTo>
                <a:lnTo>
                  <a:pt x="40000" y="26212"/>
                </a:lnTo>
                <a:lnTo>
                  <a:pt x="43333" y="28135"/>
                </a:lnTo>
                <a:lnTo>
                  <a:pt x="46666" y="32297"/>
                </a:lnTo>
                <a:lnTo>
                  <a:pt x="50000" y="33599"/>
                </a:lnTo>
                <a:lnTo>
                  <a:pt x="53333" y="31086"/>
                </a:lnTo>
                <a:lnTo>
                  <a:pt x="56666" y="28555"/>
                </a:lnTo>
                <a:lnTo>
                  <a:pt x="60000" y="31032"/>
                </a:lnTo>
                <a:lnTo>
                  <a:pt x="63333" y="40271"/>
                </a:lnTo>
                <a:lnTo>
                  <a:pt x="66666" y="53080"/>
                </a:lnTo>
                <a:lnTo>
                  <a:pt x="70000" y="63750"/>
                </a:lnTo>
                <a:lnTo>
                  <a:pt x="73333" y="68451"/>
                </a:lnTo>
                <a:lnTo>
                  <a:pt x="76666" y="67925"/>
                </a:lnTo>
                <a:lnTo>
                  <a:pt x="80000" y="66380"/>
                </a:lnTo>
                <a:lnTo>
                  <a:pt x="83333" y="67628"/>
                </a:lnTo>
                <a:lnTo>
                  <a:pt x="86666" y="71710"/>
                </a:lnTo>
                <a:lnTo>
                  <a:pt x="90000" y="74795"/>
                </a:lnTo>
                <a:lnTo>
                  <a:pt x="93333" y="72413"/>
                </a:lnTo>
                <a:lnTo>
                  <a:pt x="96666" y="63347"/>
                </a:lnTo>
                <a:lnTo>
                  <a:pt x="100000" y="50963"/>
                </a:lnTo>
              </a:path>
            </a:pathLst>
          </a:custGeom>
          <a:noFill/>
          <a:ln w="19050" cap="rnd">
            <a:solidFill>
              <a:srgbClr val="98A2B3"/>
            </a:solidFill>
            <a:round/>
          </a:ln>
        </p:spPr>
      </p:sp>
      <p:sp>
        <p:nvSpPr>
          <p:cNvPr id="28" name="edges"/>
          <p:cNvSpPr/>
          <p:nvPr/>
        </p:nvSpPr>
        <p:spPr>
          <a:xfrm>
            <a:off x="274320" y="1188720"/>
            <a:ext cx="1097280" cy="329184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10000" y="55000"/>
                </a:moveTo>
                <a:lnTo>
                  <a:pt x="32000" y="20000"/>
                </a:lnTo>
              </a:path>
              <a:path w="100000" h="100000" fill="none">
                <a:moveTo>
                  <a:pt x="10000" y="55000"/>
                </a:moveTo>
                <a:lnTo>
                  <a:pt x="36000" y="78000"/>
                </a:lnTo>
              </a:path>
              <a:path w="100000" h="100000" fill="none">
                <a:moveTo>
                  <a:pt x="32000" y="20000"/>
                </a:moveTo>
                <a:lnTo>
                  <a:pt x="60000" y="45000"/>
                </a:lnTo>
              </a:path>
              <a:path w="100000" h="100000" fill="none">
                <a:moveTo>
                  <a:pt x="36000" y="78000"/>
                </a:moveTo>
                <a:lnTo>
                  <a:pt x="60000" y="45000"/>
                </a:lnTo>
              </a:path>
              <a:path w="100000" h="100000" fill="none">
                <a:moveTo>
                  <a:pt x="60000" y="45000"/>
                </a:moveTo>
                <a:lnTo>
                  <a:pt x="82000" y="15000"/>
                </a:lnTo>
              </a:path>
              <a:path w="100000" h="100000" fill="none">
                <a:moveTo>
                  <a:pt x="60000" y="45000"/>
                </a:moveTo>
                <a:lnTo>
                  <a:pt x="88000" y="75000"/>
                </a:lnTo>
              </a:path>
              <a:path w="100000" h="100000" fill="none">
                <a:moveTo>
                  <a:pt x="82000" y="15000"/>
                </a:moveTo>
                <a:lnTo>
                  <a:pt x="88000" y="75000"/>
                </a:lnTo>
              </a:path>
            </a:pathLst>
          </a:custGeom>
          <a:noFill/>
          <a:ln w="12700" cap="rnd">
            <a:solidFill>
              <a:srgbClr val="8C8C8C"/>
            </a:solidFill>
            <a:round/>
          </a:ln>
        </p:spPr>
      </p:sp>
      <p:sp>
        <p:nvSpPr>
          <p:cNvPr id="29" name="sensor"/>
          <p:cNvSpPr/>
          <p:nvPr/>
        </p:nvSpPr>
        <p:spPr>
          <a:xfrm>
            <a:off x="357713" y="1343436"/>
            <a:ext cx="52669" cy="52669"/>
          </a:xfrm>
          <a:prstGeom prst="ellipse">
            <a:avLst/>
          </a:prstGeom>
          <a:solidFill>
            <a:srgbClr val="ECEEF1"/>
          </a:solidFill>
          <a:ln w="11430" cap="rnd">
            <a:solidFill>
              <a:srgbClr val="262626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30" name="sensor"/>
          <p:cNvSpPr/>
          <p:nvPr/>
        </p:nvSpPr>
        <p:spPr>
          <a:xfrm>
            <a:off x="599115" y="1228222"/>
            <a:ext cx="52669" cy="52669"/>
          </a:xfrm>
          <a:prstGeom prst="ellipse">
            <a:avLst/>
          </a:prstGeom>
          <a:solidFill>
            <a:srgbClr val="ECEEF1"/>
          </a:solidFill>
          <a:ln w="11430" cap="rnd">
            <a:solidFill>
              <a:srgbClr val="262626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31" name="sensor"/>
          <p:cNvSpPr/>
          <p:nvPr/>
        </p:nvSpPr>
        <p:spPr>
          <a:xfrm>
            <a:off x="643006" y="1419149"/>
            <a:ext cx="52669" cy="52669"/>
          </a:xfrm>
          <a:prstGeom prst="ellipse">
            <a:avLst/>
          </a:prstGeom>
          <a:solidFill>
            <a:srgbClr val="ECEEF1"/>
          </a:solidFill>
          <a:ln w="11430" cap="rnd">
            <a:solidFill>
              <a:srgbClr val="262626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32" name="sensor"/>
          <p:cNvSpPr/>
          <p:nvPr/>
        </p:nvSpPr>
        <p:spPr>
          <a:xfrm>
            <a:off x="906353" y="1310518"/>
            <a:ext cx="52669" cy="52669"/>
          </a:xfrm>
          <a:prstGeom prst="ellipse">
            <a:avLst/>
          </a:prstGeom>
          <a:solidFill>
            <a:srgbClr val="ECEEF1"/>
          </a:solidFill>
          <a:ln w="11430" cap="rnd">
            <a:solidFill>
              <a:srgbClr val="262626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33" name="sensor"/>
          <p:cNvSpPr/>
          <p:nvPr/>
        </p:nvSpPr>
        <p:spPr>
          <a:xfrm>
            <a:off x="1147755" y="1211763"/>
            <a:ext cx="52669" cy="52669"/>
          </a:xfrm>
          <a:prstGeom prst="ellipse">
            <a:avLst/>
          </a:prstGeom>
          <a:solidFill>
            <a:srgbClr val="ECEEF1"/>
          </a:solidFill>
          <a:ln w="11430" cap="rnd">
            <a:solidFill>
              <a:srgbClr val="262626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34" name="sensor"/>
          <p:cNvSpPr/>
          <p:nvPr/>
        </p:nvSpPr>
        <p:spPr>
          <a:xfrm>
            <a:off x="1213592" y="1409273"/>
            <a:ext cx="52669" cy="52669"/>
          </a:xfrm>
          <a:prstGeom prst="ellipse">
            <a:avLst/>
          </a:prstGeom>
          <a:solidFill>
            <a:srgbClr val="ECEEF1"/>
          </a:solidFill>
          <a:ln w="11430" cap="rnd">
            <a:solidFill>
              <a:srgbClr val="262626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35" name="new sensor"/>
          <p:cNvSpPr/>
          <p:nvPr/>
        </p:nvSpPr>
        <p:spPr>
          <a:xfrm>
            <a:off x="921715" y="1458651"/>
            <a:ext cx="65837" cy="65837"/>
          </a:xfrm>
          <a:prstGeom prst="ellipse">
            <a:avLst/>
          </a:prstGeom>
          <a:solidFill>
            <a:srgbClr val="8E6CC9"/>
          </a:solidFill>
          <a:ln w="12700" cap="rnd">
            <a:solidFill>
              <a:srgbClr val="262626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36" name="note"/>
          <p:cNvSpPr/>
          <p:nvPr/>
        </p:nvSpPr>
        <p:spPr>
          <a:xfrm>
            <a:off x="91440" y="1554480"/>
            <a:ext cx="14173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500" b="0" i="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Input window</a:t>
            </a:r>
          </a:p>
        </p:txBody>
      </p:sp>
      <p:cxnSp>
        <p:nvCxnSpPr>
          <p:cNvPr id="37" name="arrow"/>
          <p:cNvCxnSpPr/>
          <p:nvPr/>
        </p:nvCxnSpPr>
        <p:spPr>
          <a:xfrm>
            <a:off x="1417320" y="1143000"/>
            <a:ext cx="320040" cy="0"/>
          </a:xfrm>
          <a:prstGeom prst="straightConnector1">
            <a:avLst/>
          </a:prstGeom>
          <a:ln w="22225" cap="rnd">
            <a:solidFill>
              <a:srgbClr val="262626"/>
            </a:solidFill>
            <a:round/>
            <a:tailEnd type="triangle" w="med" len="med"/>
          </a:ln>
        </p:spPr>
      </p:cxnSp>
      <p:sp>
        <p:nvSpPr>
          <p:cNvPr id="38" name="checkpoint"/>
          <p:cNvSpPr/>
          <p:nvPr/>
        </p:nvSpPr>
        <p:spPr>
          <a:xfrm>
            <a:off x="1773936" y="457200"/>
            <a:ext cx="6108192" cy="131673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2225" cap="rnd">
            <a:solidFill>
              <a:srgbClr val="262626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39" name="checkpoint tab"/>
          <p:cNvSpPr/>
          <p:nvPr/>
        </p:nvSpPr>
        <p:spPr>
          <a:xfrm>
            <a:off x="4224528" y="338328"/>
            <a:ext cx="1682496" cy="246888"/>
          </a:xfrm>
          <a:prstGeom prst="roundRect">
            <a:avLst>
              <a:gd name="adj" fmla="val 29629"/>
            </a:avLst>
          </a:prstGeom>
          <a:solidFill>
            <a:srgbClr val="FFFFFF"/>
          </a:solidFill>
          <a:ln w="15875" cap="rnd">
            <a:solidFill>
              <a:srgbClr val="262626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400" b="1" i="0" dirty="0">
                <a:solidFill>
                  <a:srgbClr val="5A5A5A"/>
                </a:solidFill>
                <a:latin typeface="Times New Roman"/>
                <a:ea typeface="Times New Roman"/>
                <a:cs typeface="Times New Roman"/>
              </a:rPr>
              <a:t>Deployed checkpoint</a:t>
            </a:r>
          </a:p>
        </p:txBody>
      </p:sp>
      <p:sp>
        <p:nvSpPr>
          <p:cNvPr id="40" name="node identities"/>
          <p:cNvSpPr/>
          <p:nvPr/>
        </p:nvSpPr>
        <p:spPr>
          <a:xfrm>
            <a:off x="1901952" y="658368"/>
            <a:ext cx="3950208" cy="987552"/>
          </a:xfrm>
          <a:prstGeom prst="roundRect">
            <a:avLst>
              <a:gd name="adj" fmla="val 12962"/>
            </a:avLst>
          </a:prstGeom>
          <a:gradFill rotWithShape="1">
            <a:gsLst>
              <a:gs pos="0">
                <a:srgbClr val="FFE08A"/>
              </a:gs>
              <a:gs pos="100000">
                <a:srgbClr val="FFF4CF"/>
              </a:gs>
            </a:gsLst>
            <a:lin ang="5400000" scaled="0"/>
          </a:gradFill>
          <a:ln w="22225" cap="rnd">
            <a:solidFill>
              <a:srgbClr val="262626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41" name="identity"/>
          <p:cNvSpPr/>
          <p:nvPr/>
        </p:nvSpPr>
        <p:spPr>
          <a:xfrm>
            <a:off x="2103120" y="804672"/>
            <a:ext cx="201168" cy="173736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42" name="identity"/>
          <p:cNvSpPr/>
          <p:nvPr/>
        </p:nvSpPr>
        <p:spPr>
          <a:xfrm>
            <a:off x="2304288" y="804672"/>
            <a:ext cx="201168" cy="173736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43" name="identity"/>
          <p:cNvSpPr/>
          <p:nvPr/>
        </p:nvSpPr>
        <p:spPr>
          <a:xfrm>
            <a:off x="2505456" y="804672"/>
            <a:ext cx="201168" cy="173736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44" name="identity"/>
          <p:cNvSpPr/>
          <p:nvPr/>
        </p:nvSpPr>
        <p:spPr>
          <a:xfrm>
            <a:off x="2706624" y="804672"/>
            <a:ext cx="201168" cy="173736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45" name="identity"/>
          <p:cNvSpPr/>
          <p:nvPr/>
        </p:nvSpPr>
        <p:spPr>
          <a:xfrm>
            <a:off x="2907792" y="804672"/>
            <a:ext cx="201168" cy="173736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46" name="identity"/>
          <p:cNvSpPr/>
          <p:nvPr/>
        </p:nvSpPr>
        <p:spPr>
          <a:xfrm>
            <a:off x="3108960" y="804672"/>
            <a:ext cx="201168" cy="173736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47" name="identity"/>
          <p:cNvSpPr/>
          <p:nvPr/>
        </p:nvSpPr>
        <p:spPr>
          <a:xfrm>
            <a:off x="3310128" y="804672"/>
            <a:ext cx="201168" cy="173736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48" name="identity"/>
          <p:cNvSpPr/>
          <p:nvPr/>
        </p:nvSpPr>
        <p:spPr>
          <a:xfrm>
            <a:off x="3511296" y="804672"/>
            <a:ext cx="201168" cy="173736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49" name="identity"/>
          <p:cNvSpPr/>
          <p:nvPr/>
        </p:nvSpPr>
        <p:spPr>
          <a:xfrm>
            <a:off x="3712464" y="804672"/>
            <a:ext cx="201168" cy="173736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50" name="identity"/>
          <p:cNvSpPr/>
          <p:nvPr/>
        </p:nvSpPr>
        <p:spPr>
          <a:xfrm>
            <a:off x="2103120" y="978408"/>
            <a:ext cx="201168" cy="173736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51" name="identity"/>
          <p:cNvSpPr/>
          <p:nvPr/>
        </p:nvSpPr>
        <p:spPr>
          <a:xfrm>
            <a:off x="2304288" y="978408"/>
            <a:ext cx="201168" cy="173736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52" name="identity"/>
          <p:cNvSpPr/>
          <p:nvPr/>
        </p:nvSpPr>
        <p:spPr>
          <a:xfrm>
            <a:off x="2505456" y="978408"/>
            <a:ext cx="201168" cy="173736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53" name="identity"/>
          <p:cNvSpPr/>
          <p:nvPr/>
        </p:nvSpPr>
        <p:spPr>
          <a:xfrm>
            <a:off x="2706624" y="978408"/>
            <a:ext cx="201168" cy="173736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54" name="identity"/>
          <p:cNvSpPr/>
          <p:nvPr/>
        </p:nvSpPr>
        <p:spPr>
          <a:xfrm>
            <a:off x="2907792" y="978408"/>
            <a:ext cx="201168" cy="173736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55" name="identity"/>
          <p:cNvSpPr/>
          <p:nvPr/>
        </p:nvSpPr>
        <p:spPr>
          <a:xfrm>
            <a:off x="3108960" y="978408"/>
            <a:ext cx="201168" cy="173736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56" name="identity"/>
          <p:cNvSpPr/>
          <p:nvPr/>
        </p:nvSpPr>
        <p:spPr>
          <a:xfrm>
            <a:off x="3310128" y="978408"/>
            <a:ext cx="201168" cy="173736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57" name="identity"/>
          <p:cNvSpPr/>
          <p:nvPr/>
        </p:nvSpPr>
        <p:spPr>
          <a:xfrm>
            <a:off x="3511296" y="978408"/>
            <a:ext cx="201168" cy="173736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58" name="identity"/>
          <p:cNvSpPr/>
          <p:nvPr/>
        </p:nvSpPr>
        <p:spPr>
          <a:xfrm>
            <a:off x="3712464" y="978408"/>
            <a:ext cx="201168" cy="173736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59" name="identity"/>
          <p:cNvSpPr/>
          <p:nvPr/>
        </p:nvSpPr>
        <p:spPr>
          <a:xfrm>
            <a:off x="2103120" y="1152144"/>
            <a:ext cx="201168" cy="173736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60" name="identity"/>
          <p:cNvSpPr/>
          <p:nvPr/>
        </p:nvSpPr>
        <p:spPr>
          <a:xfrm>
            <a:off x="2304288" y="1152144"/>
            <a:ext cx="201168" cy="173736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61" name="identity"/>
          <p:cNvSpPr/>
          <p:nvPr/>
        </p:nvSpPr>
        <p:spPr>
          <a:xfrm>
            <a:off x="2505456" y="1152144"/>
            <a:ext cx="201168" cy="173736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62" name="identity"/>
          <p:cNvSpPr/>
          <p:nvPr/>
        </p:nvSpPr>
        <p:spPr>
          <a:xfrm>
            <a:off x="2706624" y="1152144"/>
            <a:ext cx="201168" cy="173736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63" name="identity"/>
          <p:cNvSpPr/>
          <p:nvPr/>
        </p:nvSpPr>
        <p:spPr>
          <a:xfrm>
            <a:off x="2907792" y="1152144"/>
            <a:ext cx="201168" cy="173736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64" name="identity"/>
          <p:cNvSpPr/>
          <p:nvPr/>
        </p:nvSpPr>
        <p:spPr>
          <a:xfrm>
            <a:off x="3108960" y="1152144"/>
            <a:ext cx="201168" cy="173736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65" name="identity"/>
          <p:cNvSpPr/>
          <p:nvPr/>
        </p:nvSpPr>
        <p:spPr>
          <a:xfrm>
            <a:off x="3310128" y="1152144"/>
            <a:ext cx="201168" cy="173736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66" name="identity"/>
          <p:cNvSpPr/>
          <p:nvPr/>
        </p:nvSpPr>
        <p:spPr>
          <a:xfrm>
            <a:off x="3511296" y="1152144"/>
            <a:ext cx="201168" cy="173736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67" name="identity"/>
          <p:cNvSpPr/>
          <p:nvPr/>
        </p:nvSpPr>
        <p:spPr>
          <a:xfrm>
            <a:off x="3712464" y="1152144"/>
            <a:ext cx="201168" cy="173736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68" name="new identity"/>
          <p:cNvSpPr/>
          <p:nvPr/>
        </p:nvSpPr>
        <p:spPr>
          <a:xfrm>
            <a:off x="2103120" y="1325880"/>
            <a:ext cx="201168" cy="173736"/>
          </a:xfrm>
          <a:prstGeom prst="rect">
            <a:avLst/>
          </a:prstGeom>
          <a:solidFill>
            <a:srgbClr val="E4DAF5"/>
          </a:solidFill>
          <a:ln w="7620" cap="rnd">
            <a:solidFill>
              <a:srgbClr val="8E6CC9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69" name="new identity"/>
          <p:cNvSpPr/>
          <p:nvPr/>
        </p:nvSpPr>
        <p:spPr>
          <a:xfrm>
            <a:off x="2304288" y="1325880"/>
            <a:ext cx="201168" cy="173736"/>
          </a:xfrm>
          <a:prstGeom prst="rect">
            <a:avLst/>
          </a:prstGeom>
          <a:solidFill>
            <a:srgbClr val="E4DAF5"/>
          </a:solidFill>
          <a:ln w="7620" cap="rnd">
            <a:solidFill>
              <a:srgbClr val="8E6CC9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70" name="new identity"/>
          <p:cNvSpPr/>
          <p:nvPr/>
        </p:nvSpPr>
        <p:spPr>
          <a:xfrm>
            <a:off x="2505456" y="1325880"/>
            <a:ext cx="201168" cy="173736"/>
          </a:xfrm>
          <a:prstGeom prst="rect">
            <a:avLst/>
          </a:prstGeom>
          <a:solidFill>
            <a:srgbClr val="E4DAF5"/>
          </a:solidFill>
          <a:ln w="7620" cap="rnd">
            <a:solidFill>
              <a:srgbClr val="8E6CC9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71" name="new identity"/>
          <p:cNvSpPr/>
          <p:nvPr/>
        </p:nvSpPr>
        <p:spPr>
          <a:xfrm>
            <a:off x="2706624" y="1325880"/>
            <a:ext cx="201168" cy="173736"/>
          </a:xfrm>
          <a:prstGeom prst="rect">
            <a:avLst/>
          </a:prstGeom>
          <a:solidFill>
            <a:srgbClr val="E4DAF5"/>
          </a:solidFill>
          <a:ln w="7620" cap="rnd">
            <a:solidFill>
              <a:srgbClr val="8E6CC9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72" name="new identity"/>
          <p:cNvSpPr/>
          <p:nvPr/>
        </p:nvSpPr>
        <p:spPr>
          <a:xfrm>
            <a:off x="2907792" y="1325880"/>
            <a:ext cx="201168" cy="173736"/>
          </a:xfrm>
          <a:prstGeom prst="rect">
            <a:avLst/>
          </a:prstGeom>
          <a:solidFill>
            <a:srgbClr val="E4DAF5"/>
          </a:solidFill>
          <a:ln w="7620" cap="rnd">
            <a:solidFill>
              <a:srgbClr val="8E6CC9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73" name="new identity"/>
          <p:cNvSpPr/>
          <p:nvPr/>
        </p:nvSpPr>
        <p:spPr>
          <a:xfrm>
            <a:off x="3108960" y="1325880"/>
            <a:ext cx="201168" cy="173736"/>
          </a:xfrm>
          <a:prstGeom prst="rect">
            <a:avLst/>
          </a:prstGeom>
          <a:solidFill>
            <a:srgbClr val="E4DAF5"/>
          </a:solidFill>
          <a:ln w="7620" cap="rnd">
            <a:solidFill>
              <a:srgbClr val="8E6CC9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74" name="new identity"/>
          <p:cNvSpPr/>
          <p:nvPr/>
        </p:nvSpPr>
        <p:spPr>
          <a:xfrm>
            <a:off x="3310128" y="1325880"/>
            <a:ext cx="201168" cy="173736"/>
          </a:xfrm>
          <a:prstGeom prst="rect">
            <a:avLst/>
          </a:prstGeom>
          <a:solidFill>
            <a:srgbClr val="E4DAF5"/>
          </a:solidFill>
          <a:ln w="7620" cap="rnd">
            <a:solidFill>
              <a:srgbClr val="8E6CC9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75" name="new identity"/>
          <p:cNvSpPr/>
          <p:nvPr/>
        </p:nvSpPr>
        <p:spPr>
          <a:xfrm>
            <a:off x="3511296" y="1325880"/>
            <a:ext cx="201168" cy="173736"/>
          </a:xfrm>
          <a:prstGeom prst="rect">
            <a:avLst/>
          </a:prstGeom>
          <a:solidFill>
            <a:srgbClr val="E4DAF5"/>
          </a:solidFill>
          <a:ln w="7620" cap="rnd">
            <a:solidFill>
              <a:srgbClr val="8E6CC9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76" name="new identity"/>
          <p:cNvSpPr/>
          <p:nvPr/>
        </p:nvSpPr>
        <p:spPr>
          <a:xfrm>
            <a:off x="3712464" y="1325880"/>
            <a:ext cx="201168" cy="173736"/>
          </a:xfrm>
          <a:prstGeom prst="rect">
            <a:avLst/>
          </a:prstGeom>
          <a:solidFill>
            <a:srgbClr val="E4DAF5"/>
          </a:solidFill>
          <a:ln w="7620" cap="rnd">
            <a:solidFill>
              <a:srgbClr val="8E6CC9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77" name="label"/>
          <p:cNvSpPr/>
          <p:nvPr/>
        </p:nvSpPr>
        <p:spPr>
          <a:xfrm>
            <a:off x="4005072" y="786384"/>
            <a:ext cx="1792224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600" b="1" i="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Node identities </a:t>
            </a:r>
            <a:r>
              <a:rPr lang="en-US" sz="1600" b="1" i="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  <a:p>
            <a:pPr algn="ctr"/>
            <a:r>
              <a:rPr lang="en-US" sz="1300" b="0" i="1" dirty="0">
                <a:solidFill>
                  <a:srgbClr val="B8860B"/>
                </a:solidFill>
                <a:latin typeface="Times New Roman"/>
                <a:ea typeface="Times New Roman"/>
                <a:cs typeface="Times New Roman"/>
              </a:rPr>
              <a:t>maintained</a:t>
            </a:r>
          </a:p>
        </p:txBody>
      </p:sp>
      <p:sp>
        <p:nvSpPr>
          <p:cNvPr id="78" name="flame"/>
          <p:cNvSpPr/>
          <p:nvPr/>
        </p:nvSpPr>
        <p:spPr>
          <a:xfrm>
            <a:off x="5618074" y="694944"/>
            <a:ext cx="175565" cy="219456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50000" y="100000"/>
                </a:moveTo>
                <a:cubicBezTo>
                  <a:pt x="15000" y="100000"/>
                  <a:pt x="2000" y="70000"/>
                  <a:pt x="18000" y="42000"/>
                </a:cubicBezTo>
                <a:cubicBezTo>
                  <a:pt x="26000" y="28000"/>
                  <a:pt x="30000" y="30000"/>
                  <a:pt x="32000" y="45000"/>
                </a:cubicBezTo>
                <a:cubicBezTo>
                  <a:pt x="30000" y="20000"/>
                  <a:pt x="45000" y="5000"/>
                  <a:pt x="55000" y="0"/>
                </a:cubicBezTo>
                <a:cubicBezTo>
                  <a:pt x="50000" y="25000"/>
                  <a:pt x="75000" y="30000"/>
                  <a:pt x="80000" y="50000"/>
                </a:cubicBezTo>
                <a:cubicBezTo>
                  <a:pt x="84000" y="40000"/>
                  <a:pt x="86000" y="36000"/>
                  <a:pt x="88000" y="30000"/>
                </a:cubicBezTo>
                <a:cubicBezTo>
                  <a:pt x="102000" y="55000"/>
                  <a:pt x="95000" y="100000"/>
                  <a:pt x="50000" y="100000"/>
                </a:cubicBezTo>
                <a:close/>
              </a:path>
            </a:pathLst>
          </a:custGeom>
          <a:gradFill rotWithShape="1">
            <a:gsLst>
              <a:gs pos="0">
                <a:srgbClr val="FFB000"/>
              </a:gs>
              <a:gs pos="100000">
                <a:srgbClr val="E8401C"/>
              </a:gs>
            </a:gsLst>
            <a:lin ang="5400000" scaled="0"/>
          </a:gradFill>
          <a:ln>
            <a:noFill/>
          </a:ln>
        </p:spPr>
      </p:sp>
      <p:sp>
        <p:nvSpPr>
          <p:cNvPr id="79" name="flame-core"/>
          <p:cNvSpPr/>
          <p:nvPr/>
        </p:nvSpPr>
        <p:spPr>
          <a:xfrm>
            <a:off x="5618074" y="694944"/>
            <a:ext cx="175565" cy="219456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52000" y="100000"/>
                </a:moveTo>
                <a:cubicBezTo>
                  <a:pt x="33000" y="100000"/>
                  <a:pt x="28000" y="82000"/>
                  <a:pt x="38000" y="66000"/>
                </a:cubicBezTo>
                <a:cubicBezTo>
                  <a:pt x="44000" y="56000"/>
                  <a:pt x="50000" y="52000"/>
                  <a:pt x="50000" y="42000"/>
                </a:cubicBezTo>
                <a:cubicBezTo>
                  <a:pt x="62000" y="55000"/>
                  <a:pt x="74000" y="70000"/>
                  <a:pt x="70000" y="84000"/>
                </a:cubicBezTo>
                <a:cubicBezTo>
                  <a:pt x="68000" y="95000"/>
                  <a:pt x="60000" y="100000"/>
                  <a:pt x="52000" y="100000"/>
                </a:cubicBezTo>
                <a:close/>
              </a:path>
            </a:pathLst>
          </a:custGeom>
          <a:solidFill>
            <a:srgbClr val="FFE14D"/>
          </a:solidFill>
          <a:ln>
            <a:noFill/>
          </a:ln>
        </p:spPr>
      </p:sp>
      <p:sp>
        <p:nvSpPr>
          <p:cNvPr id="80" name="shared weights"/>
          <p:cNvSpPr/>
          <p:nvPr/>
        </p:nvSpPr>
        <p:spPr>
          <a:xfrm>
            <a:off x="5989320" y="658368"/>
            <a:ext cx="1764792" cy="987552"/>
          </a:xfrm>
          <a:prstGeom prst="roundRect">
            <a:avLst>
              <a:gd name="adj" fmla="val 12962"/>
            </a:avLst>
          </a:prstGeom>
          <a:gradFill rotWithShape="1">
            <a:gsLst>
              <a:gs pos="0">
                <a:srgbClr val="A9BFEE"/>
              </a:gs>
              <a:gs pos="100000">
                <a:srgbClr val="D3DEF7"/>
              </a:gs>
            </a:gsLst>
            <a:lin ang="5400000" scaled="0"/>
          </a:gradFill>
          <a:ln w="22225" cap="rnd">
            <a:solidFill>
              <a:srgbClr val="262626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81" name="weights"/>
          <p:cNvSpPr/>
          <p:nvPr/>
        </p:nvSpPr>
        <p:spPr>
          <a:xfrm>
            <a:off x="6533388" y="722376"/>
            <a:ext cx="676656" cy="310896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10000" y="22000"/>
                </a:moveTo>
                <a:lnTo>
                  <a:pt x="50000" y="10000"/>
                </a:lnTo>
              </a:path>
              <a:path w="100000" h="100000" fill="none">
                <a:moveTo>
                  <a:pt x="10000" y="22000"/>
                </a:moveTo>
                <a:lnTo>
                  <a:pt x="50000" y="50000"/>
                </a:lnTo>
              </a:path>
              <a:path w="100000" h="100000" fill="none">
                <a:moveTo>
                  <a:pt x="10000" y="22000"/>
                </a:moveTo>
                <a:lnTo>
                  <a:pt x="50000" y="90000"/>
                </a:lnTo>
              </a:path>
              <a:path w="100000" h="100000" fill="none">
                <a:moveTo>
                  <a:pt x="10000" y="78000"/>
                </a:moveTo>
                <a:lnTo>
                  <a:pt x="50000" y="10000"/>
                </a:lnTo>
              </a:path>
              <a:path w="100000" h="100000" fill="none">
                <a:moveTo>
                  <a:pt x="10000" y="78000"/>
                </a:moveTo>
                <a:lnTo>
                  <a:pt x="50000" y="50000"/>
                </a:lnTo>
              </a:path>
              <a:path w="100000" h="100000" fill="none">
                <a:moveTo>
                  <a:pt x="10000" y="78000"/>
                </a:moveTo>
                <a:lnTo>
                  <a:pt x="50000" y="90000"/>
                </a:lnTo>
              </a:path>
              <a:path w="100000" h="100000" fill="none">
                <a:moveTo>
                  <a:pt x="50000" y="10000"/>
                </a:moveTo>
                <a:lnTo>
                  <a:pt x="90000" y="22000"/>
                </a:lnTo>
              </a:path>
              <a:path w="100000" h="100000" fill="none">
                <a:moveTo>
                  <a:pt x="50000" y="10000"/>
                </a:moveTo>
                <a:lnTo>
                  <a:pt x="90000" y="78000"/>
                </a:lnTo>
              </a:path>
              <a:path w="100000" h="100000" fill="none">
                <a:moveTo>
                  <a:pt x="50000" y="50000"/>
                </a:moveTo>
                <a:lnTo>
                  <a:pt x="90000" y="22000"/>
                </a:lnTo>
              </a:path>
              <a:path w="100000" h="100000" fill="none">
                <a:moveTo>
                  <a:pt x="50000" y="50000"/>
                </a:moveTo>
                <a:lnTo>
                  <a:pt x="90000" y="78000"/>
                </a:lnTo>
              </a:path>
              <a:path w="100000" h="100000" fill="none">
                <a:moveTo>
                  <a:pt x="50000" y="90000"/>
                </a:moveTo>
                <a:lnTo>
                  <a:pt x="90000" y="22000"/>
                </a:lnTo>
              </a:path>
              <a:path w="100000" h="100000" fill="none">
                <a:moveTo>
                  <a:pt x="50000" y="90000"/>
                </a:moveTo>
                <a:lnTo>
                  <a:pt x="90000" y="78000"/>
                </a:lnTo>
              </a:path>
            </a:pathLst>
          </a:custGeom>
          <a:noFill/>
          <a:ln w="11430" cap="rnd">
            <a:solidFill>
              <a:srgbClr val="5B7FC4"/>
            </a:solidFill>
            <a:round/>
          </a:ln>
        </p:spPr>
      </p:sp>
      <p:sp>
        <p:nvSpPr>
          <p:cNvPr id="82" name="unit"/>
          <p:cNvSpPr/>
          <p:nvPr/>
        </p:nvSpPr>
        <p:spPr>
          <a:xfrm>
            <a:off x="6569964" y="759684"/>
            <a:ext cx="62179" cy="62179"/>
          </a:xfrm>
          <a:prstGeom prst="ellipse">
            <a:avLst/>
          </a:prstGeom>
          <a:solidFill>
            <a:srgbClr val="FFFFFF"/>
          </a:solidFill>
          <a:ln w="12700" cap="rnd">
            <a:solidFill>
              <a:srgbClr val="2F5597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83" name="unit"/>
          <p:cNvSpPr/>
          <p:nvPr/>
        </p:nvSpPr>
        <p:spPr>
          <a:xfrm>
            <a:off x="6569964" y="933785"/>
            <a:ext cx="62179" cy="62179"/>
          </a:xfrm>
          <a:prstGeom prst="ellipse">
            <a:avLst/>
          </a:prstGeom>
          <a:solidFill>
            <a:srgbClr val="FFFFFF"/>
          </a:solidFill>
          <a:ln w="12700" cap="rnd">
            <a:solidFill>
              <a:srgbClr val="2F5597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84" name="unit"/>
          <p:cNvSpPr/>
          <p:nvPr/>
        </p:nvSpPr>
        <p:spPr>
          <a:xfrm>
            <a:off x="6840626" y="722376"/>
            <a:ext cx="62179" cy="62179"/>
          </a:xfrm>
          <a:prstGeom prst="ellipse">
            <a:avLst/>
          </a:prstGeom>
          <a:solidFill>
            <a:srgbClr val="FFFFFF"/>
          </a:solidFill>
          <a:ln w="12700" cap="rnd">
            <a:solidFill>
              <a:srgbClr val="2F5597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85" name="unit"/>
          <p:cNvSpPr/>
          <p:nvPr/>
        </p:nvSpPr>
        <p:spPr>
          <a:xfrm>
            <a:off x="6840626" y="846734"/>
            <a:ext cx="62179" cy="62179"/>
          </a:xfrm>
          <a:prstGeom prst="ellipse">
            <a:avLst/>
          </a:prstGeom>
          <a:solidFill>
            <a:srgbClr val="FFFFFF"/>
          </a:solidFill>
          <a:ln w="12700" cap="rnd">
            <a:solidFill>
              <a:srgbClr val="2F5597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86" name="unit"/>
          <p:cNvSpPr/>
          <p:nvPr/>
        </p:nvSpPr>
        <p:spPr>
          <a:xfrm>
            <a:off x="6840626" y="971093"/>
            <a:ext cx="62179" cy="62179"/>
          </a:xfrm>
          <a:prstGeom prst="ellipse">
            <a:avLst/>
          </a:prstGeom>
          <a:solidFill>
            <a:srgbClr val="FFFFFF"/>
          </a:solidFill>
          <a:ln w="12700" cap="rnd">
            <a:solidFill>
              <a:srgbClr val="2F5597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87" name="unit"/>
          <p:cNvSpPr/>
          <p:nvPr/>
        </p:nvSpPr>
        <p:spPr>
          <a:xfrm>
            <a:off x="7111289" y="759684"/>
            <a:ext cx="62179" cy="62179"/>
          </a:xfrm>
          <a:prstGeom prst="ellipse">
            <a:avLst/>
          </a:prstGeom>
          <a:solidFill>
            <a:srgbClr val="FFFFFF"/>
          </a:solidFill>
          <a:ln w="12700" cap="rnd">
            <a:solidFill>
              <a:srgbClr val="2F5597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88" name="unit"/>
          <p:cNvSpPr/>
          <p:nvPr/>
        </p:nvSpPr>
        <p:spPr>
          <a:xfrm>
            <a:off x="7111289" y="933785"/>
            <a:ext cx="62179" cy="62179"/>
          </a:xfrm>
          <a:prstGeom prst="ellipse">
            <a:avLst/>
          </a:prstGeom>
          <a:solidFill>
            <a:srgbClr val="FFFFFF"/>
          </a:solidFill>
          <a:ln w="12700" cap="rnd">
            <a:solidFill>
              <a:srgbClr val="2F5597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89" name="label"/>
          <p:cNvSpPr/>
          <p:nvPr/>
        </p:nvSpPr>
        <p:spPr>
          <a:xfrm>
            <a:off x="6016752" y="1042416"/>
            <a:ext cx="1709928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500" b="1" i="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Shared weights </a:t>
            </a:r>
            <a:r>
              <a:rPr lang="en-US" sz="1500" b="1" i="1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θ</a:t>
            </a:r>
          </a:p>
          <a:p>
            <a:pPr algn="ctr"/>
            <a:r>
              <a:rPr lang="en-US" sz="1300" b="0" i="1" dirty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frozen</a:t>
            </a:r>
          </a:p>
        </p:txBody>
      </p:sp>
      <p:sp>
        <p:nvSpPr>
          <p:cNvPr id="90" name="snowflake"/>
          <p:cNvSpPr/>
          <p:nvPr/>
        </p:nvSpPr>
        <p:spPr>
          <a:xfrm>
            <a:off x="7498080" y="694944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50000" y="100000"/>
                </a:moveTo>
                <a:lnTo>
                  <a:pt x="49999" y="0"/>
                </a:lnTo>
              </a:path>
              <a:path w="100000" h="100000" fill="none">
                <a:moveTo>
                  <a:pt x="6698" y="75000"/>
                </a:moveTo>
                <a:lnTo>
                  <a:pt x="93301" y="24999"/>
                </a:lnTo>
              </a:path>
              <a:path w="100000" h="100000" fill="none">
                <a:moveTo>
                  <a:pt x="6698" y="25000"/>
                </a:moveTo>
                <a:lnTo>
                  <a:pt x="93301" y="74999"/>
                </a:lnTo>
              </a:path>
              <a:path w="100000" h="100000" fill="none">
                <a:moveTo>
                  <a:pt x="50000" y="82000"/>
                </a:moveTo>
                <a:lnTo>
                  <a:pt x="62020" y="94020"/>
                </a:lnTo>
              </a:path>
              <a:path w="100000" h="100000" fill="none">
                <a:moveTo>
                  <a:pt x="50000" y="82000"/>
                </a:moveTo>
                <a:lnTo>
                  <a:pt x="37979" y="94020"/>
                </a:lnTo>
              </a:path>
              <a:path w="100000" h="100000" fill="none">
                <a:moveTo>
                  <a:pt x="22287" y="66000"/>
                </a:moveTo>
                <a:lnTo>
                  <a:pt x="17887" y="82420"/>
                </a:lnTo>
              </a:path>
              <a:path w="100000" h="100000" fill="none">
                <a:moveTo>
                  <a:pt x="22287" y="66000"/>
                </a:moveTo>
                <a:lnTo>
                  <a:pt x="5866" y="61600"/>
                </a:lnTo>
              </a:path>
              <a:path w="100000" h="100000" fill="none">
                <a:moveTo>
                  <a:pt x="22287" y="34000"/>
                </a:moveTo>
                <a:lnTo>
                  <a:pt x="5866" y="38399"/>
                </a:lnTo>
              </a:path>
              <a:path w="100000" h="100000" fill="none">
                <a:moveTo>
                  <a:pt x="22287" y="34000"/>
                </a:moveTo>
                <a:lnTo>
                  <a:pt x="17887" y="17579"/>
                </a:lnTo>
              </a:path>
              <a:path w="100000" h="100000" fill="none">
                <a:moveTo>
                  <a:pt x="49999" y="18000"/>
                </a:moveTo>
                <a:lnTo>
                  <a:pt x="37979" y="5979"/>
                </a:lnTo>
              </a:path>
              <a:path w="100000" h="100000" fill="none">
                <a:moveTo>
                  <a:pt x="49999" y="18000"/>
                </a:moveTo>
                <a:lnTo>
                  <a:pt x="62020" y="5979"/>
                </a:lnTo>
              </a:path>
              <a:path w="100000" h="100000" fill="none">
                <a:moveTo>
                  <a:pt x="77712" y="33999"/>
                </a:moveTo>
                <a:lnTo>
                  <a:pt x="82112" y="17579"/>
                </a:lnTo>
              </a:path>
              <a:path w="100000" h="100000" fill="none">
                <a:moveTo>
                  <a:pt x="77712" y="33999"/>
                </a:moveTo>
                <a:lnTo>
                  <a:pt x="94133" y="38399"/>
                </a:lnTo>
              </a:path>
              <a:path w="100000" h="100000" fill="none">
                <a:moveTo>
                  <a:pt x="77712" y="65999"/>
                </a:moveTo>
                <a:lnTo>
                  <a:pt x="94133" y="61600"/>
                </a:lnTo>
              </a:path>
              <a:path w="100000" h="100000" fill="none">
                <a:moveTo>
                  <a:pt x="77712" y="65999"/>
                </a:moveTo>
                <a:lnTo>
                  <a:pt x="82112" y="82420"/>
                </a:lnTo>
              </a:path>
            </a:pathLst>
          </a:custGeom>
          <a:noFill/>
          <a:ln w="19050" cap="rnd">
            <a:solidFill>
              <a:srgbClr val="6E95D6"/>
            </a:solidFill>
            <a:round/>
          </a:ln>
        </p:spPr>
      </p:sp>
      <p:cxnSp>
        <p:nvCxnSpPr>
          <p:cNvPr id="91" name="arrow"/>
          <p:cNvCxnSpPr/>
          <p:nvPr/>
        </p:nvCxnSpPr>
        <p:spPr>
          <a:xfrm>
            <a:off x="7900416" y="1143000"/>
            <a:ext cx="694944" cy="0"/>
          </a:xfrm>
          <a:prstGeom prst="straightConnector1">
            <a:avLst/>
          </a:prstGeom>
          <a:ln w="22225" cap="rnd">
            <a:solidFill>
              <a:srgbClr val="262626"/>
            </a:solidFill>
            <a:round/>
            <a:tailEnd type="triangle" w="med" len="med"/>
          </a:ln>
        </p:spPr>
      </p:cxnSp>
      <p:sp>
        <p:nvSpPr>
          <p:cNvPr id="92" name="base forecast"/>
          <p:cNvSpPr/>
          <p:nvPr/>
        </p:nvSpPr>
        <p:spPr>
          <a:xfrm>
            <a:off x="7882128" y="749808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200" b="0" i="1" dirty="0">
                <a:solidFill>
                  <a:srgbClr val="5A5A5A"/>
                </a:solidFill>
                <a:latin typeface="Times New Roman"/>
                <a:ea typeface="Times New Roman"/>
                <a:cs typeface="Times New Roman"/>
              </a:rPr>
              <a:t>base</a:t>
            </a:r>
          </a:p>
          <a:p>
            <a:pPr algn="ctr"/>
            <a:r>
              <a:rPr lang="en-US" sz="1200" b="0" i="1" dirty="0">
                <a:solidFill>
                  <a:srgbClr val="5A5A5A"/>
                </a:solidFill>
                <a:latin typeface="Times New Roman"/>
                <a:ea typeface="Times New Roman"/>
                <a:cs typeface="Times New Roman"/>
              </a:rPr>
              <a:t>forecast</a:t>
            </a:r>
          </a:p>
        </p:txBody>
      </p:sp>
      <p:sp>
        <p:nvSpPr>
          <p:cNvPr id="93" name="calibrator"/>
          <p:cNvSpPr/>
          <p:nvPr/>
        </p:nvSpPr>
        <p:spPr>
          <a:xfrm>
            <a:off x="8631936" y="658368"/>
            <a:ext cx="1645920" cy="987552"/>
          </a:xfrm>
          <a:prstGeom prst="roundRect">
            <a:avLst>
              <a:gd name="adj" fmla="val 12962"/>
            </a:avLst>
          </a:prstGeom>
          <a:gradFill rotWithShape="1">
            <a:gsLst>
              <a:gs pos="0">
                <a:srgbClr val="F7C29C"/>
              </a:gs>
              <a:gs pos="100000">
                <a:srgbClr val="FCE4D3"/>
              </a:gs>
            </a:gsLst>
            <a:lin ang="5400000" scaled="0"/>
          </a:gradFill>
          <a:ln w="22225" cap="rnd">
            <a:solidFill>
              <a:srgbClr val="262626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94" name="slider"/>
          <p:cNvSpPr/>
          <p:nvPr/>
        </p:nvSpPr>
        <p:spPr>
          <a:xfrm>
            <a:off x="9134856" y="731520"/>
            <a:ext cx="640080" cy="310896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4000" y="16666"/>
                </a:moveTo>
                <a:lnTo>
                  <a:pt x="96000" y="16666"/>
                </a:lnTo>
              </a:path>
            </a:pathLst>
          </a:custGeom>
          <a:noFill/>
          <a:ln w="16510" cap="rnd">
            <a:solidFill>
              <a:srgbClr val="C55A11"/>
            </a:solidFill>
            <a:round/>
          </a:ln>
        </p:spPr>
      </p:sp>
      <p:sp>
        <p:nvSpPr>
          <p:cNvPr id="95" name="knob"/>
          <p:cNvSpPr/>
          <p:nvPr/>
        </p:nvSpPr>
        <p:spPr>
          <a:xfrm>
            <a:off x="9289572" y="746028"/>
            <a:ext cx="74615" cy="74615"/>
          </a:xfrm>
          <a:prstGeom prst="ellipse">
            <a:avLst/>
          </a:prstGeom>
          <a:solidFill>
            <a:srgbClr val="FFFFFF"/>
          </a:solidFill>
          <a:ln w="12700" cap="rnd">
            <a:solidFill>
              <a:srgbClr val="262626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96" name="slider"/>
          <p:cNvSpPr/>
          <p:nvPr/>
        </p:nvSpPr>
        <p:spPr>
          <a:xfrm>
            <a:off x="9134856" y="731520"/>
            <a:ext cx="640080" cy="310896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4000" y="50000"/>
                </a:moveTo>
                <a:lnTo>
                  <a:pt x="96000" y="50000"/>
                </a:lnTo>
              </a:path>
            </a:pathLst>
          </a:custGeom>
          <a:noFill/>
          <a:ln w="16510" cap="rnd">
            <a:solidFill>
              <a:srgbClr val="C55A11"/>
            </a:solidFill>
            <a:round/>
          </a:ln>
        </p:spPr>
      </p:sp>
      <p:sp>
        <p:nvSpPr>
          <p:cNvPr id="97" name="knob"/>
          <p:cNvSpPr/>
          <p:nvPr/>
        </p:nvSpPr>
        <p:spPr>
          <a:xfrm>
            <a:off x="9558406" y="849660"/>
            <a:ext cx="74615" cy="74615"/>
          </a:xfrm>
          <a:prstGeom prst="ellipse">
            <a:avLst/>
          </a:prstGeom>
          <a:solidFill>
            <a:srgbClr val="FFFFFF"/>
          </a:solidFill>
          <a:ln w="12700" cap="rnd">
            <a:solidFill>
              <a:srgbClr val="262626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98" name="slider"/>
          <p:cNvSpPr/>
          <p:nvPr/>
        </p:nvSpPr>
        <p:spPr>
          <a:xfrm>
            <a:off x="9134856" y="731520"/>
            <a:ext cx="640080" cy="310896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4000" y="83333"/>
                </a:moveTo>
                <a:lnTo>
                  <a:pt x="96000" y="83333"/>
                </a:lnTo>
              </a:path>
            </a:pathLst>
          </a:custGeom>
          <a:noFill/>
          <a:ln w="16510" cap="rnd">
            <a:solidFill>
              <a:srgbClr val="C55A11"/>
            </a:solidFill>
            <a:round/>
          </a:ln>
        </p:spPr>
      </p:sp>
      <p:sp>
        <p:nvSpPr>
          <p:cNvPr id="99" name="knob"/>
          <p:cNvSpPr/>
          <p:nvPr/>
        </p:nvSpPr>
        <p:spPr>
          <a:xfrm>
            <a:off x="9404787" y="953292"/>
            <a:ext cx="74615" cy="74615"/>
          </a:xfrm>
          <a:prstGeom prst="ellipse">
            <a:avLst/>
          </a:prstGeom>
          <a:solidFill>
            <a:srgbClr val="FFFFFF"/>
          </a:solidFill>
          <a:ln w="12700" cap="rnd">
            <a:solidFill>
              <a:srgbClr val="262626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00" name="label"/>
          <p:cNvSpPr/>
          <p:nvPr/>
        </p:nvSpPr>
        <p:spPr>
          <a:xfrm>
            <a:off x="8668512" y="1042416"/>
            <a:ext cx="1572768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500" b="1" i="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Per-sensor</a:t>
            </a:r>
          </a:p>
          <a:p>
            <a:pPr algn="ctr"/>
            <a:r>
              <a:rPr lang="en-US" sz="1500" b="1" i="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calibrator</a:t>
            </a:r>
          </a:p>
        </p:txBody>
      </p:sp>
      <p:sp>
        <p:nvSpPr>
          <p:cNvPr id="101" name="flame"/>
          <p:cNvSpPr/>
          <p:nvPr/>
        </p:nvSpPr>
        <p:spPr>
          <a:xfrm>
            <a:off x="10062058" y="694944"/>
            <a:ext cx="175565" cy="219456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50000" y="100000"/>
                </a:moveTo>
                <a:cubicBezTo>
                  <a:pt x="15000" y="100000"/>
                  <a:pt x="2000" y="70000"/>
                  <a:pt x="18000" y="42000"/>
                </a:cubicBezTo>
                <a:cubicBezTo>
                  <a:pt x="26000" y="28000"/>
                  <a:pt x="30000" y="30000"/>
                  <a:pt x="32000" y="45000"/>
                </a:cubicBezTo>
                <a:cubicBezTo>
                  <a:pt x="30000" y="20000"/>
                  <a:pt x="45000" y="5000"/>
                  <a:pt x="55000" y="0"/>
                </a:cubicBezTo>
                <a:cubicBezTo>
                  <a:pt x="50000" y="25000"/>
                  <a:pt x="75000" y="30000"/>
                  <a:pt x="80000" y="50000"/>
                </a:cubicBezTo>
                <a:cubicBezTo>
                  <a:pt x="84000" y="40000"/>
                  <a:pt x="86000" y="36000"/>
                  <a:pt x="88000" y="30000"/>
                </a:cubicBezTo>
                <a:cubicBezTo>
                  <a:pt x="102000" y="55000"/>
                  <a:pt x="95000" y="100000"/>
                  <a:pt x="50000" y="100000"/>
                </a:cubicBezTo>
                <a:close/>
              </a:path>
            </a:pathLst>
          </a:custGeom>
          <a:gradFill rotWithShape="1">
            <a:gsLst>
              <a:gs pos="0">
                <a:srgbClr val="FFB000"/>
              </a:gs>
              <a:gs pos="100000">
                <a:srgbClr val="E8401C"/>
              </a:gs>
            </a:gsLst>
            <a:lin ang="5400000" scaled="0"/>
          </a:gradFill>
          <a:ln>
            <a:noFill/>
          </a:ln>
        </p:spPr>
      </p:sp>
      <p:sp>
        <p:nvSpPr>
          <p:cNvPr id="102" name="flame-core"/>
          <p:cNvSpPr/>
          <p:nvPr/>
        </p:nvSpPr>
        <p:spPr>
          <a:xfrm>
            <a:off x="10062058" y="694944"/>
            <a:ext cx="175565" cy="219456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52000" y="100000"/>
                </a:moveTo>
                <a:cubicBezTo>
                  <a:pt x="33000" y="100000"/>
                  <a:pt x="28000" y="82000"/>
                  <a:pt x="38000" y="66000"/>
                </a:cubicBezTo>
                <a:cubicBezTo>
                  <a:pt x="44000" y="56000"/>
                  <a:pt x="50000" y="52000"/>
                  <a:pt x="50000" y="42000"/>
                </a:cubicBezTo>
                <a:cubicBezTo>
                  <a:pt x="62000" y="55000"/>
                  <a:pt x="74000" y="70000"/>
                  <a:pt x="70000" y="84000"/>
                </a:cubicBezTo>
                <a:cubicBezTo>
                  <a:pt x="68000" y="95000"/>
                  <a:pt x="60000" y="100000"/>
                  <a:pt x="52000" y="100000"/>
                </a:cubicBezTo>
                <a:close/>
              </a:path>
            </a:pathLst>
          </a:custGeom>
          <a:solidFill>
            <a:srgbClr val="FFE14D"/>
          </a:solidFill>
          <a:ln>
            <a:noFill/>
          </a:ln>
        </p:spPr>
      </p:sp>
      <p:cxnSp>
        <p:nvCxnSpPr>
          <p:cNvPr id="103" name="arrow"/>
          <p:cNvCxnSpPr/>
          <p:nvPr/>
        </p:nvCxnSpPr>
        <p:spPr>
          <a:xfrm>
            <a:off x="10296144" y="1143000"/>
            <a:ext cx="292608" cy="0"/>
          </a:xfrm>
          <a:prstGeom prst="straightConnector1">
            <a:avLst/>
          </a:prstGeom>
          <a:ln w="22225" cap="rnd">
            <a:solidFill>
              <a:srgbClr val="262626"/>
            </a:solidFill>
            <a:round/>
            <a:tailEnd type="triangle" w="med" len="med"/>
          </a:ln>
        </p:spPr>
      </p:cxnSp>
      <p:sp>
        <p:nvSpPr>
          <p:cNvPr id="104" name="forecast card"/>
          <p:cNvSpPr/>
          <p:nvPr/>
        </p:nvSpPr>
        <p:spPr>
          <a:xfrm>
            <a:off x="10625328" y="822960"/>
            <a:ext cx="1133856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 cap="rnd">
            <a:solidFill>
              <a:srgbClr val="8C8C8C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05" name="history"/>
          <p:cNvSpPr/>
          <p:nvPr/>
        </p:nvSpPr>
        <p:spPr>
          <a:xfrm>
            <a:off x="10689336" y="886968"/>
            <a:ext cx="1005840" cy="512064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0" y="10966"/>
                </a:moveTo>
                <a:lnTo>
                  <a:pt x="2500" y="15855"/>
                </a:lnTo>
                <a:lnTo>
                  <a:pt x="5000" y="27474"/>
                </a:lnTo>
                <a:lnTo>
                  <a:pt x="7500" y="41046"/>
                </a:lnTo>
                <a:lnTo>
                  <a:pt x="10000" y="51310"/>
                </a:lnTo>
                <a:lnTo>
                  <a:pt x="12500" y="55215"/>
                </a:lnTo>
                <a:lnTo>
                  <a:pt x="15000" y="53381"/>
                </a:lnTo>
                <a:lnTo>
                  <a:pt x="17500" y="49586"/>
                </a:lnTo>
                <a:lnTo>
                  <a:pt x="20000" y="48581"/>
                </a:lnTo>
                <a:lnTo>
                  <a:pt x="22500" y="53437"/>
                </a:lnTo>
                <a:lnTo>
                  <a:pt x="25000" y="63837"/>
                </a:lnTo>
                <a:lnTo>
                  <a:pt x="27500" y="76198"/>
                </a:lnTo>
                <a:lnTo>
                  <a:pt x="30000" y="85526"/>
                </a:lnTo>
                <a:lnTo>
                  <a:pt x="32500" y="87997"/>
                </a:lnTo>
                <a:lnTo>
                  <a:pt x="35000" y="82891"/>
                </a:lnTo>
                <a:lnTo>
                  <a:pt x="37500" y="72874"/>
                </a:lnTo>
                <a:lnTo>
                  <a:pt x="40000" y="62533"/>
                </a:lnTo>
                <a:lnTo>
                  <a:pt x="42500" y="55964"/>
                </a:lnTo>
                <a:lnTo>
                  <a:pt x="45000" y="54710"/>
                </a:lnTo>
                <a:lnTo>
                  <a:pt x="47500" y="57104"/>
                </a:lnTo>
                <a:lnTo>
                  <a:pt x="50000" y="59333"/>
                </a:lnTo>
                <a:lnTo>
                  <a:pt x="52500" y="57597"/>
                </a:lnTo>
                <a:lnTo>
                  <a:pt x="55000" y="50215"/>
                </a:lnTo>
                <a:lnTo>
                  <a:pt x="57499" y="38564"/>
                </a:lnTo>
                <a:lnTo>
                  <a:pt x="60000" y="26406"/>
                </a:lnTo>
              </a:path>
            </a:pathLst>
          </a:custGeom>
          <a:noFill/>
          <a:ln w="20320" cap="rnd">
            <a:solidFill>
              <a:srgbClr val="5F6B7A"/>
            </a:solidFill>
            <a:round/>
          </a:ln>
        </p:spPr>
      </p:sp>
      <p:sp>
        <p:nvSpPr>
          <p:cNvPr id="106" name="now"/>
          <p:cNvSpPr/>
          <p:nvPr/>
        </p:nvSpPr>
        <p:spPr>
          <a:xfrm>
            <a:off x="10689336" y="886968"/>
            <a:ext cx="1005840" cy="512064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60000" y="0"/>
                </a:moveTo>
                <a:lnTo>
                  <a:pt x="60000" y="100000"/>
                </a:lnTo>
              </a:path>
            </a:pathLst>
          </a:custGeom>
          <a:noFill/>
          <a:ln w="12700" cap="rnd">
            <a:solidFill>
              <a:srgbClr val="A6A6A6"/>
            </a:solidFill>
            <a:prstDash val="sysDot"/>
            <a:round/>
          </a:ln>
        </p:spPr>
      </p:sp>
      <p:sp>
        <p:nvSpPr>
          <p:cNvPr id="107" name="base forecast"/>
          <p:cNvSpPr/>
          <p:nvPr/>
        </p:nvSpPr>
        <p:spPr>
          <a:xfrm>
            <a:off x="10689336" y="886968"/>
            <a:ext cx="1005840" cy="512064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60000" y="26406"/>
                </a:moveTo>
                <a:lnTo>
                  <a:pt x="62500" y="17978"/>
                </a:lnTo>
                <a:lnTo>
                  <a:pt x="65000" y="15892"/>
                </a:lnTo>
                <a:lnTo>
                  <a:pt x="67500" y="19909"/>
                </a:lnTo>
                <a:lnTo>
                  <a:pt x="70000" y="27214"/>
                </a:lnTo>
                <a:lnTo>
                  <a:pt x="72500" y="33968"/>
                </a:lnTo>
                <a:lnTo>
                  <a:pt x="75000" y="37321"/>
                </a:lnTo>
                <a:lnTo>
                  <a:pt x="77500" y="36802"/>
                </a:lnTo>
                <a:lnTo>
                  <a:pt x="80000" y="34431"/>
                </a:lnTo>
                <a:lnTo>
                  <a:pt x="82500" y="33518"/>
                </a:lnTo>
                <a:lnTo>
                  <a:pt x="85000" y="36833"/>
                </a:lnTo>
                <a:lnTo>
                  <a:pt x="87500" y="45103"/>
                </a:lnTo>
                <a:lnTo>
                  <a:pt x="90000" y="56597"/>
                </a:lnTo>
                <a:lnTo>
                  <a:pt x="92500" y="67962"/>
                </a:lnTo>
                <a:lnTo>
                  <a:pt x="95000" y="75856"/>
                </a:lnTo>
                <a:lnTo>
                  <a:pt x="97500" y="78516"/>
                </a:lnTo>
                <a:lnTo>
                  <a:pt x="100000" y="76482"/>
                </a:lnTo>
              </a:path>
            </a:pathLst>
          </a:custGeom>
          <a:noFill/>
          <a:ln w="19050" cap="rnd">
            <a:solidFill>
              <a:srgbClr val="A6A6A6"/>
            </a:solidFill>
            <a:prstDash val="dash"/>
            <a:round/>
          </a:ln>
        </p:spPr>
      </p:sp>
      <p:sp>
        <p:nvSpPr>
          <p:cNvPr id="108" name="calibrated forecast"/>
          <p:cNvSpPr/>
          <p:nvPr/>
        </p:nvSpPr>
        <p:spPr>
          <a:xfrm>
            <a:off x="10689336" y="886968"/>
            <a:ext cx="1005840" cy="512064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60000" y="26406"/>
                </a:moveTo>
                <a:lnTo>
                  <a:pt x="62500" y="18001"/>
                </a:lnTo>
                <a:lnTo>
                  <a:pt x="65000" y="15594"/>
                </a:lnTo>
                <a:lnTo>
                  <a:pt x="67500" y="18955"/>
                </a:lnTo>
                <a:lnTo>
                  <a:pt x="70000" y="25284"/>
                </a:lnTo>
                <a:lnTo>
                  <a:pt x="72500" y="30773"/>
                </a:lnTo>
                <a:lnTo>
                  <a:pt x="75000" y="32605"/>
                </a:lnTo>
                <a:lnTo>
                  <a:pt x="77500" y="30359"/>
                </a:lnTo>
                <a:lnTo>
                  <a:pt x="80000" y="26106"/>
                </a:lnTo>
                <a:lnTo>
                  <a:pt x="82500" y="23217"/>
                </a:lnTo>
                <a:lnTo>
                  <a:pt x="85000" y="24527"/>
                </a:lnTo>
                <a:lnTo>
                  <a:pt x="87500" y="30831"/>
                </a:lnTo>
                <a:lnTo>
                  <a:pt x="90000" y="40468"/>
                </a:lnTo>
                <a:lnTo>
                  <a:pt x="92500" y="50155"/>
                </a:lnTo>
                <a:lnTo>
                  <a:pt x="95000" y="56620"/>
                </a:lnTo>
                <a:lnTo>
                  <a:pt x="97500" y="58163"/>
                </a:lnTo>
                <a:lnTo>
                  <a:pt x="100000" y="55385"/>
                </a:lnTo>
              </a:path>
            </a:pathLst>
          </a:custGeom>
          <a:noFill/>
          <a:ln w="26670" cap="rnd">
            <a:solidFill>
              <a:srgbClr val="D35400"/>
            </a:solidFill>
            <a:round/>
          </a:ln>
        </p:spPr>
      </p:sp>
      <p:sp>
        <p:nvSpPr>
          <p:cNvPr id="109" name="note"/>
          <p:cNvSpPr/>
          <p:nvPr/>
        </p:nvSpPr>
        <p:spPr>
          <a:xfrm>
            <a:off x="10515600" y="1481328"/>
            <a:ext cx="135331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500" b="0" i="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Forecast</a:t>
            </a:r>
          </a:p>
        </p:txBody>
      </p:sp>
      <p:sp>
        <p:nvSpPr>
          <p:cNvPr id="110" name="module panel"/>
          <p:cNvSpPr/>
          <p:nvPr/>
        </p:nvSpPr>
        <p:spPr>
          <a:xfrm>
            <a:off x="73152" y="2212848"/>
            <a:ext cx="3172968" cy="2194560"/>
          </a:xfrm>
          <a:prstGeom prst="roundRect">
            <a:avLst>
              <a:gd name="adj" fmla="val 9166"/>
            </a:avLst>
          </a:prstGeom>
          <a:solidFill>
            <a:srgbClr val="FFF8E6"/>
          </a:solidFill>
          <a:ln>
            <a:noFill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11" name="title"/>
          <p:cNvSpPr/>
          <p:nvPr/>
        </p:nvSpPr>
        <p:spPr>
          <a:xfrm>
            <a:off x="210312" y="2267712"/>
            <a:ext cx="2898648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1700" b="1" i="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Node Identity Maintenance</a:t>
            </a:r>
          </a:p>
        </p:txBody>
      </p:sp>
      <p:sp>
        <p:nvSpPr>
          <p:cNvPr id="112" name="module panel"/>
          <p:cNvSpPr/>
          <p:nvPr/>
        </p:nvSpPr>
        <p:spPr>
          <a:xfrm>
            <a:off x="3374136" y="2212848"/>
            <a:ext cx="4507992" cy="2194560"/>
          </a:xfrm>
          <a:prstGeom prst="roundRect">
            <a:avLst>
              <a:gd name="adj" fmla="val 9166"/>
            </a:avLst>
          </a:prstGeom>
          <a:solidFill>
            <a:srgbClr val="FFF8E6"/>
          </a:solidFill>
          <a:ln>
            <a:noFill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13" name="title"/>
          <p:cNvSpPr/>
          <p:nvPr/>
        </p:nvSpPr>
        <p:spPr>
          <a:xfrm>
            <a:off x="3511296" y="2267712"/>
            <a:ext cx="42336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1700" b="1" i="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New-Sensor Initialization and Joint Refitting</a:t>
            </a:r>
          </a:p>
        </p:txBody>
      </p:sp>
      <p:sp>
        <p:nvSpPr>
          <p:cNvPr id="114" name="module panel"/>
          <p:cNvSpPr/>
          <p:nvPr/>
        </p:nvSpPr>
        <p:spPr>
          <a:xfrm>
            <a:off x="8010144" y="2212848"/>
            <a:ext cx="3703320" cy="2194560"/>
          </a:xfrm>
          <a:prstGeom prst="roundRect">
            <a:avLst>
              <a:gd name="adj" fmla="val 9166"/>
            </a:avLst>
          </a:prstGeom>
          <a:solidFill>
            <a:srgbClr val="FDF1E8"/>
          </a:solidFill>
          <a:ln>
            <a:noFill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15" name="title"/>
          <p:cNvSpPr/>
          <p:nvPr/>
        </p:nvSpPr>
        <p:spPr>
          <a:xfrm>
            <a:off x="8147304" y="2267712"/>
            <a:ext cx="3429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1700" b="1" i="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Per-Sensor Recursive Calibration</a:t>
            </a:r>
          </a:p>
        </p:txBody>
      </p:sp>
      <p:sp>
        <p:nvSpPr>
          <p:cNvPr id="116" name="identity refresh"/>
          <p:cNvSpPr/>
          <p:nvPr/>
        </p:nvSpPr>
        <p:spPr>
          <a:xfrm>
            <a:off x="347472" y="2724912"/>
            <a:ext cx="2615184" cy="950976"/>
          </a:xfrm>
          <a:prstGeom prst="roundRect">
            <a:avLst>
              <a:gd name="adj" fmla="val 13461"/>
            </a:avLst>
          </a:prstGeom>
          <a:gradFill rotWithShape="1">
            <a:gsLst>
              <a:gs pos="0">
                <a:srgbClr val="FFE08A"/>
              </a:gs>
              <a:gs pos="100000">
                <a:srgbClr val="FFF4CF"/>
              </a:gs>
            </a:gsLst>
            <a:lin ang="5400000" scaled="0"/>
          </a:gradFill>
          <a:ln w="22225" cap="rnd">
            <a:solidFill>
              <a:srgbClr val="262626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17" name="identity"/>
          <p:cNvSpPr/>
          <p:nvPr/>
        </p:nvSpPr>
        <p:spPr>
          <a:xfrm>
            <a:off x="530352" y="2871216"/>
            <a:ext cx="198120" cy="164592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18" name="identity"/>
          <p:cNvSpPr/>
          <p:nvPr/>
        </p:nvSpPr>
        <p:spPr>
          <a:xfrm>
            <a:off x="728472" y="2871216"/>
            <a:ext cx="198120" cy="164592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19" name="identity"/>
          <p:cNvSpPr/>
          <p:nvPr/>
        </p:nvSpPr>
        <p:spPr>
          <a:xfrm>
            <a:off x="926592" y="2871216"/>
            <a:ext cx="198120" cy="164592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20" name="identity"/>
          <p:cNvSpPr/>
          <p:nvPr/>
        </p:nvSpPr>
        <p:spPr>
          <a:xfrm>
            <a:off x="1124712" y="2871216"/>
            <a:ext cx="198120" cy="164592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21" name="identity"/>
          <p:cNvSpPr/>
          <p:nvPr/>
        </p:nvSpPr>
        <p:spPr>
          <a:xfrm>
            <a:off x="1322832" y="2871216"/>
            <a:ext cx="198120" cy="164592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22" name="identity"/>
          <p:cNvSpPr/>
          <p:nvPr/>
        </p:nvSpPr>
        <p:spPr>
          <a:xfrm>
            <a:off x="1520952" y="2871216"/>
            <a:ext cx="198120" cy="164592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23" name="identity"/>
          <p:cNvSpPr/>
          <p:nvPr/>
        </p:nvSpPr>
        <p:spPr>
          <a:xfrm>
            <a:off x="530352" y="3035808"/>
            <a:ext cx="198120" cy="164592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24" name="identity"/>
          <p:cNvSpPr/>
          <p:nvPr/>
        </p:nvSpPr>
        <p:spPr>
          <a:xfrm>
            <a:off x="728472" y="3035808"/>
            <a:ext cx="198120" cy="164592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25" name="identity"/>
          <p:cNvSpPr/>
          <p:nvPr/>
        </p:nvSpPr>
        <p:spPr>
          <a:xfrm>
            <a:off x="926592" y="3035808"/>
            <a:ext cx="198120" cy="164592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26" name="identity"/>
          <p:cNvSpPr/>
          <p:nvPr/>
        </p:nvSpPr>
        <p:spPr>
          <a:xfrm>
            <a:off x="1124712" y="3035808"/>
            <a:ext cx="198120" cy="164592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27" name="identity"/>
          <p:cNvSpPr/>
          <p:nvPr/>
        </p:nvSpPr>
        <p:spPr>
          <a:xfrm>
            <a:off x="1322832" y="3035808"/>
            <a:ext cx="198120" cy="164592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28" name="identity"/>
          <p:cNvSpPr/>
          <p:nvPr/>
        </p:nvSpPr>
        <p:spPr>
          <a:xfrm>
            <a:off x="1520952" y="3035808"/>
            <a:ext cx="198120" cy="164592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29" name="identity"/>
          <p:cNvSpPr/>
          <p:nvPr/>
        </p:nvSpPr>
        <p:spPr>
          <a:xfrm>
            <a:off x="530352" y="3200400"/>
            <a:ext cx="198120" cy="164592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30" name="identity"/>
          <p:cNvSpPr/>
          <p:nvPr/>
        </p:nvSpPr>
        <p:spPr>
          <a:xfrm>
            <a:off x="728472" y="3200400"/>
            <a:ext cx="198120" cy="164592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31" name="identity"/>
          <p:cNvSpPr/>
          <p:nvPr/>
        </p:nvSpPr>
        <p:spPr>
          <a:xfrm>
            <a:off x="926592" y="3200400"/>
            <a:ext cx="198120" cy="164592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32" name="identity"/>
          <p:cNvSpPr/>
          <p:nvPr/>
        </p:nvSpPr>
        <p:spPr>
          <a:xfrm>
            <a:off x="1124712" y="3200400"/>
            <a:ext cx="198120" cy="164592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33" name="identity"/>
          <p:cNvSpPr/>
          <p:nvPr/>
        </p:nvSpPr>
        <p:spPr>
          <a:xfrm>
            <a:off x="1322832" y="3200400"/>
            <a:ext cx="198120" cy="164592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34" name="identity"/>
          <p:cNvSpPr/>
          <p:nvPr/>
        </p:nvSpPr>
        <p:spPr>
          <a:xfrm>
            <a:off x="1520952" y="3200400"/>
            <a:ext cx="198120" cy="164592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35" name="identity"/>
          <p:cNvSpPr/>
          <p:nvPr/>
        </p:nvSpPr>
        <p:spPr>
          <a:xfrm>
            <a:off x="530352" y="3364992"/>
            <a:ext cx="198120" cy="164592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36" name="identity"/>
          <p:cNvSpPr/>
          <p:nvPr/>
        </p:nvSpPr>
        <p:spPr>
          <a:xfrm>
            <a:off x="728472" y="3364992"/>
            <a:ext cx="198120" cy="164592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37" name="identity"/>
          <p:cNvSpPr/>
          <p:nvPr/>
        </p:nvSpPr>
        <p:spPr>
          <a:xfrm>
            <a:off x="926592" y="3364992"/>
            <a:ext cx="198120" cy="164592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38" name="identity"/>
          <p:cNvSpPr/>
          <p:nvPr/>
        </p:nvSpPr>
        <p:spPr>
          <a:xfrm>
            <a:off x="1124712" y="3364992"/>
            <a:ext cx="198120" cy="164592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39" name="identity"/>
          <p:cNvSpPr/>
          <p:nvPr/>
        </p:nvSpPr>
        <p:spPr>
          <a:xfrm>
            <a:off x="1322832" y="3364992"/>
            <a:ext cx="198120" cy="164592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40" name="identity"/>
          <p:cNvSpPr/>
          <p:nvPr/>
        </p:nvSpPr>
        <p:spPr>
          <a:xfrm>
            <a:off x="1520952" y="3364992"/>
            <a:ext cx="198120" cy="164592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41" name="label"/>
          <p:cNvSpPr/>
          <p:nvPr/>
        </p:nvSpPr>
        <p:spPr>
          <a:xfrm>
            <a:off x="1792224" y="2816352"/>
            <a:ext cx="1115568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600" b="1" i="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Identity</a:t>
            </a:r>
          </a:p>
          <a:p>
            <a:pPr algn="ctr"/>
            <a:r>
              <a:rPr lang="en-US" sz="1600" b="1" i="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refresh</a:t>
            </a:r>
          </a:p>
        </p:txBody>
      </p:sp>
      <p:sp>
        <p:nvSpPr>
          <p:cNvPr id="142" name="flame"/>
          <p:cNvSpPr/>
          <p:nvPr/>
        </p:nvSpPr>
        <p:spPr>
          <a:xfrm>
            <a:off x="2746858" y="2743200"/>
            <a:ext cx="175565" cy="219456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50000" y="100000"/>
                </a:moveTo>
                <a:cubicBezTo>
                  <a:pt x="15000" y="100000"/>
                  <a:pt x="2000" y="70000"/>
                  <a:pt x="18000" y="42000"/>
                </a:cubicBezTo>
                <a:cubicBezTo>
                  <a:pt x="26000" y="28000"/>
                  <a:pt x="30000" y="30000"/>
                  <a:pt x="32000" y="45000"/>
                </a:cubicBezTo>
                <a:cubicBezTo>
                  <a:pt x="30000" y="20000"/>
                  <a:pt x="45000" y="5000"/>
                  <a:pt x="55000" y="0"/>
                </a:cubicBezTo>
                <a:cubicBezTo>
                  <a:pt x="50000" y="25000"/>
                  <a:pt x="75000" y="30000"/>
                  <a:pt x="80000" y="50000"/>
                </a:cubicBezTo>
                <a:cubicBezTo>
                  <a:pt x="84000" y="40000"/>
                  <a:pt x="86000" y="36000"/>
                  <a:pt x="88000" y="30000"/>
                </a:cubicBezTo>
                <a:cubicBezTo>
                  <a:pt x="102000" y="55000"/>
                  <a:pt x="95000" y="100000"/>
                  <a:pt x="50000" y="100000"/>
                </a:cubicBezTo>
                <a:close/>
              </a:path>
            </a:pathLst>
          </a:custGeom>
          <a:gradFill rotWithShape="1">
            <a:gsLst>
              <a:gs pos="0">
                <a:srgbClr val="FFB000"/>
              </a:gs>
              <a:gs pos="100000">
                <a:srgbClr val="E8401C"/>
              </a:gs>
            </a:gsLst>
            <a:lin ang="5400000" scaled="0"/>
          </a:gradFill>
          <a:ln>
            <a:noFill/>
          </a:ln>
        </p:spPr>
      </p:sp>
      <p:sp>
        <p:nvSpPr>
          <p:cNvPr id="143" name="flame-core"/>
          <p:cNvSpPr/>
          <p:nvPr/>
        </p:nvSpPr>
        <p:spPr>
          <a:xfrm>
            <a:off x="2746858" y="2743200"/>
            <a:ext cx="175565" cy="219456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52000" y="100000"/>
                </a:moveTo>
                <a:cubicBezTo>
                  <a:pt x="33000" y="100000"/>
                  <a:pt x="28000" y="82000"/>
                  <a:pt x="38000" y="66000"/>
                </a:cubicBezTo>
                <a:cubicBezTo>
                  <a:pt x="44000" y="56000"/>
                  <a:pt x="50000" y="52000"/>
                  <a:pt x="50000" y="42000"/>
                </a:cubicBezTo>
                <a:cubicBezTo>
                  <a:pt x="62000" y="55000"/>
                  <a:pt x="74000" y="70000"/>
                  <a:pt x="70000" y="84000"/>
                </a:cubicBezTo>
                <a:cubicBezTo>
                  <a:pt x="68000" y="95000"/>
                  <a:pt x="60000" y="100000"/>
                  <a:pt x="52000" y="100000"/>
                </a:cubicBezTo>
                <a:close/>
              </a:path>
            </a:pathLst>
          </a:custGeom>
          <a:solidFill>
            <a:srgbClr val="FFE14D"/>
          </a:solidFill>
          <a:ln>
            <a:noFill/>
          </a:ln>
        </p:spPr>
      </p:sp>
      <p:sp>
        <p:nvSpPr>
          <p:cNvPr id="144" name="note"/>
          <p:cNvSpPr/>
          <p:nvPr/>
        </p:nvSpPr>
        <p:spPr>
          <a:xfrm>
            <a:off x="182880" y="3767328"/>
            <a:ext cx="2953512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0" i="1" dirty="0">
                <a:solidFill>
                  <a:srgbClr val="5A5A5A"/>
                </a:solidFill>
                <a:latin typeface="Times New Roman"/>
                <a:ea typeface="Times New Roman"/>
                <a:cs typeface="Times New Roman"/>
              </a:rPr>
              <a:t>Refit identities on recent released windows while shared weights stay frozen</a:t>
            </a:r>
          </a:p>
        </p:txBody>
      </p:sp>
      <p:sp>
        <p:nvSpPr>
          <p:cNvPr id="145" name="borrow"/>
          <p:cNvSpPr/>
          <p:nvPr/>
        </p:nvSpPr>
        <p:spPr>
          <a:xfrm>
            <a:off x="3511296" y="2688336"/>
            <a:ext cx="1984248" cy="1572768"/>
          </a:xfrm>
          <a:prstGeom prst="roundRect">
            <a:avLst>
              <a:gd name="adj" fmla="val 8139"/>
            </a:avLst>
          </a:prstGeom>
          <a:solidFill>
            <a:srgbClr val="FFF4CF"/>
          </a:solidFill>
          <a:ln w="19050" cap="rnd">
            <a:solidFill>
              <a:srgbClr val="262626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46" name="sub-title"/>
          <p:cNvSpPr/>
          <p:nvPr/>
        </p:nvSpPr>
        <p:spPr>
          <a:xfrm>
            <a:off x="3529584" y="2715768"/>
            <a:ext cx="19476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500" b="1" i="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Borrowing an identity</a:t>
            </a:r>
          </a:p>
        </p:txBody>
      </p:sp>
      <p:sp>
        <p:nvSpPr>
          <p:cNvPr id="147" name="edges"/>
          <p:cNvSpPr/>
          <p:nvPr/>
        </p:nvSpPr>
        <p:spPr>
          <a:xfrm>
            <a:off x="3703320" y="3035808"/>
            <a:ext cx="1591056" cy="603504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10000" y="55000"/>
                </a:moveTo>
                <a:lnTo>
                  <a:pt x="32000" y="20000"/>
                </a:lnTo>
              </a:path>
              <a:path w="100000" h="100000" fill="none">
                <a:moveTo>
                  <a:pt x="10000" y="55000"/>
                </a:moveTo>
                <a:lnTo>
                  <a:pt x="36000" y="78000"/>
                </a:lnTo>
              </a:path>
              <a:path w="100000" h="100000" fill="none">
                <a:moveTo>
                  <a:pt x="32000" y="20000"/>
                </a:moveTo>
                <a:lnTo>
                  <a:pt x="60000" y="45000"/>
                </a:lnTo>
              </a:path>
              <a:path w="100000" h="100000" fill="none">
                <a:moveTo>
                  <a:pt x="36000" y="78000"/>
                </a:moveTo>
                <a:lnTo>
                  <a:pt x="60000" y="45000"/>
                </a:lnTo>
              </a:path>
              <a:path w="100000" h="100000" fill="none">
                <a:moveTo>
                  <a:pt x="60000" y="45000"/>
                </a:moveTo>
                <a:lnTo>
                  <a:pt x="82000" y="15000"/>
                </a:lnTo>
              </a:path>
              <a:path w="100000" h="100000" fill="none">
                <a:moveTo>
                  <a:pt x="60000" y="45000"/>
                </a:moveTo>
                <a:lnTo>
                  <a:pt x="88000" y="75000"/>
                </a:lnTo>
              </a:path>
              <a:path w="100000" h="100000" fill="none">
                <a:moveTo>
                  <a:pt x="82000" y="15000"/>
                </a:moveTo>
                <a:lnTo>
                  <a:pt x="88000" y="75000"/>
                </a:lnTo>
              </a:path>
            </a:pathLst>
          </a:custGeom>
          <a:noFill/>
          <a:ln w="12700" cap="rnd">
            <a:solidFill>
              <a:srgbClr val="8C8C8C"/>
            </a:solidFill>
            <a:round/>
          </a:ln>
        </p:spPr>
      </p:sp>
      <p:sp>
        <p:nvSpPr>
          <p:cNvPr id="148" name="sensor"/>
          <p:cNvSpPr/>
          <p:nvPr/>
        </p:nvSpPr>
        <p:spPr>
          <a:xfrm>
            <a:off x="3814145" y="3319455"/>
            <a:ext cx="96561" cy="96561"/>
          </a:xfrm>
          <a:prstGeom prst="ellipse">
            <a:avLst/>
          </a:prstGeom>
          <a:solidFill>
            <a:srgbClr val="ECEEF1"/>
          </a:solidFill>
          <a:ln w="11430" cap="rnd">
            <a:solidFill>
              <a:srgbClr val="262626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49" name="sensor"/>
          <p:cNvSpPr/>
          <p:nvPr/>
        </p:nvSpPr>
        <p:spPr>
          <a:xfrm>
            <a:off x="4164178" y="3108228"/>
            <a:ext cx="96561" cy="96561"/>
          </a:xfrm>
          <a:prstGeom prst="ellipse">
            <a:avLst/>
          </a:prstGeom>
          <a:solidFill>
            <a:srgbClr val="ECEEF1"/>
          </a:solidFill>
          <a:ln w="11430" cap="rnd">
            <a:solidFill>
              <a:srgbClr val="262626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50" name="donor"/>
          <p:cNvSpPr/>
          <p:nvPr/>
        </p:nvSpPr>
        <p:spPr>
          <a:xfrm>
            <a:off x="4227820" y="3458261"/>
            <a:ext cx="96561" cy="96561"/>
          </a:xfrm>
          <a:prstGeom prst="ellipse">
            <a:avLst/>
          </a:prstGeom>
          <a:solidFill>
            <a:srgbClr val="FFD966"/>
          </a:solidFill>
          <a:ln w="11430" cap="rnd">
            <a:solidFill>
              <a:srgbClr val="262626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51" name="donor"/>
          <p:cNvSpPr/>
          <p:nvPr/>
        </p:nvSpPr>
        <p:spPr>
          <a:xfrm>
            <a:off x="4609673" y="3259104"/>
            <a:ext cx="96561" cy="96561"/>
          </a:xfrm>
          <a:prstGeom prst="ellipse">
            <a:avLst/>
          </a:prstGeom>
          <a:solidFill>
            <a:srgbClr val="FFD966"/>
          </a:solidFill>
          <a:ln w="11430" cap="rnd">
            <a:solidFill>
              <a:srgbClr val="262626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52" name="sensor"/>
          <p:cNvSpPr/>
          <p:nvPr/>
        </p:nvSpPr>
        <p:spPr>
          <a:xfrm>
            <a:off x="4959706" y="3078053"/>
            <a:ext cx="96561" cy="96561"/>
          </a:xfrm>
          <a:prstGeom prst="ellipse">
            <a:avLst/>
          </a:prstGeom>
          <a:solidFill>
            <a:srgbClr val="ECEEF1"/>
          </a:solidFill>
          <a:ln w="11430" cap="rnd">
            <a:solidFill>
              <a:srgbClr val="262626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53" name="donor"/>
          <p:cNvSpPr/>
          <p:nvPr/>
        </p:nvSpPr>
        <p:spPr>
          <a:xfrm>
            <a:off x="5055169" y="3440156"/>
            <a:ext cx="96561" cy="96561"/>
          </a:xfrm>
          <a:prstGeom prst="ellipse">
            <a:avLst/>
          </a:prstGeom>
          <a:solidFill>
            <a:srgbClr val="FFD966"/>
          </a:solidFill>
          <a:ln w="11430" cap="rnd">
            <a:solidFill>
              <a:srgbClr val="262626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54" name="similar"/>
          <p:cNvSpPr/>
          <p:nvPr/>
        </p:nvSpPr>
        <p:spPr>
          <a:xfrm>
            <a:off x="3703320" y="3035808"/>
            <a:ext cx="1591056" cy="603504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62000" y="92000"/>
                </a:moveTo>
                <a:lnTo>
                  <a:pt x="36000" y="78000"/>
                </a:lnTo>
              </a:path>
            </a:pathLst>
          </a:custGeom>
          <a:noFill/>
          <a:ln w="13970" cap="rnd">
            <a:solidFill>
              <a:srgbClr val="8E6CC9"/>
            </a:solidFill>
            <a:prstDash val="sysDash"/>
            <a:round/>
          </a:ln>
        </p:spPr>
      </p:sp>
      <p:sp>
        <p:nvSpPr>
          <p:cNvPr id="155" name="similar"/>
          <p:cNvSpPr/>
          <p:nvPr/>
        </p:nvSpPr>
        <p:spPr>
          <a:xfrm>
            <a:off x="3703320" y="3035808"/>
            <a:ext cx="1591056" cy="603504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62000" y="92000"/>
                </a:moveTo>
                <a:lnTo>
                  <a:pt x="60000" y="45000"/>
                </a:lnTo>
              </a:path>
            </a:pathLst>
          </a:custGeom>
          <a:noFill/>
          <a:ln w="13970" cap="rnd">
            <a:solidFill>
              <a:srgbClr val="8E6CC9"/>
            </a:solidFill>
            <a:prstDash val="sysDash"/>
            <a:round/>
          </a:ln>
        </p:spPr>
      </p:sp>
      <p:sp>
        <p:nvSpPr>
          <p:cNvPr id="156" name="similar"/>
          <p:cNvSpPr/>
          <p:nvPr/>
        </p:nvSpPr>
        <p:spPr>
          <a:xfrm>
            <a:off x="3703320" y="3035808"/>
            <a:ext cx="1591056" cy="603504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62000" y="92000"/>
                </a:moveTo>
                <a:lnTo>
                  <a:pt x="88000" y="75000"/>
                </a:lnTo>
              </a:path>
            </a:pathLst>
          </a:custGeom>
          <a:noFill/>
          <a:ln w="13970" cap="rnd">
            <a:solidFill>
              <a:srgbClr val="8E6CC9"/>
            </a:solidFill>
            <a:prstDash val="sysDash"/>
            <a:round/>
          </a:ln>
        </p:spPr>
      </p:sp>
      <p:sp>
        <p:nvSpPr>
          <p:cNvPr id="157" name="new sensor"/>
          <p:cNvSpPr/>
          <p:nvPr/>
        </p:nvSpPr>
        <p:spPr>
          <a:xfrm>
            <a:off x="4629424" y="3530681"/>
            <a:ext cx="120701" cy="120701"/>
          </a:xfrm>
          <a:prstGeom prst="ellipse">
            <a:avLst/>
          </a:prstGeom>
          <a:solidFill>
            <a:srgbClr val="8E6CC9"/>
          </a:solidFill>
          <a:ln w="12700" cap="rnd">
            <a:solidFill>
              <a:srgbClr val="262626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58" name="note"/>
          <p:cNvSpPr/>
          <p:nvPr/>
        </p:nvSpPr>
        <p:spPr>
          <a:xfrm>
            <a:off x="3529584" y="3767328"/>
            <a:ext cx="19476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0" i="1" dirty="0">
                <a:solidFill>
                  <a:srgbClr val="5A5A5A"/>
                </a:solidFill>
                <a:latin typeface="Times New Roman"/>
                <a:ea typeface="Times New Roman"/>
                <a:cs typeface="Times New Roman"/>
              </a:rPr>
              <a:t>New sensor starts from the identities of similar sensors</a:t>
            </a:r>
          </a:p>
        </p:txBody>
      </p:sp>
      <p:cxnSp>
        <p:nvCxnSpPr>
          <p:cNvPr id="159" name="arrow"/>
          <p:cNvCxnSpPr/>
          <p:nvPr/>
        </p:nvCxnSpPr>
        <p:spPr>
          <a:xfrm>
            <a:off x="5522976" y="3465576"/>
            <a:ext cx="356616" cy="0"/>
          </a:xfrm>
          <a:prstGeom prst="straightConnector1">
            <a:avLst/>
          </a:prstGeom>
          <a:ln w="22225" cap="rnd">
            <a:solidFill>
              <a:srgbClr val="262626"/>
            </a:solidFill>
            <a:round/>
            <a:tailEnd type="triangle" w="med" len="med"/>
          </a:ln>
        </p:spPr>
      </p:cxnSp>
      <p:sp>
        <p:nvSpPr>
          <p:cNvPr id="160" name="clock"/>
          <p:cNvSpPr/>
          <p:nvPr/>
        </p:nvSpPr>
        <p:spPr>
          <a:xfrm>
            <a:off x="5591556" y="3090672"/>
            <a:ext cx="219456" cy="219456"/>
          </a:xfrm>
          <a:prstGeom prst="ellipse">
            <a:avLst/>
          </a:prstGeom>
          <a:solidFill>
            <a:srgbClr val="FFFFFF"/>
          </a:solidFill>
          <a:ln w="19050" cap="rnd">
            <a:solidFill>
              <a:srgbClr val="262626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61" name="hands"/>
          <p:cNvSpPr/>
          <p:nvPr/>
        </p:nvSpPr>
        <p:spPr>
          <a:xfrm>
            <a:off x="5591556" y="3090672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50000" y="50000"/>
                </a:moveTo>
                <a:lnTo>
                  <a:pt x="50000" y="18000"/>
                </a:lnTo>
              </a:path>
              <a:path w="100000" h="100000" fill="none">
                <a:moveTo>
                  <a:pt x="50000" y="50000"/>
                </a:moveTo>
                <a:lnTo>
                  <a:pt x="74000" y="62000"/>
                </a:lnTo>
              </a:path>
            </a:pathLst>
          </a:custGeom>
          <a:noFill/>
          <a:ln w="19050" cap="rnd">
            <a:solidFill>
              <a:srgbClr val="262626"/>
            </a:solidFill>
            <a:round/>
          </a:ln>
        </p:spPr>
      </p:sp>
      <p:sp>
        <p:nvSpPr>
          <p:cNvPr id="162" name="refit"/>
          <p:cNvSpPr/>
          <p:nvPr/>
        </p:nvSpPr>
        <p:spPr>
          <a:xfrm>
            <a:off x="5916168" y="2688336"/>
            <a:ext cx="1828800" cy="1572768"/>
          </a:xfrm>
          <a:prstGeom prst="roundRect">
            <a:avLst>
              <a:gd name="adj" fmla="val 8139"/>
            </a:avLst>
          </a:prstGeom>
          <a:gradFill rotWithShape="1">
            <a:gsLst>
              <a:gs pos="0">
                <a:srgbClr val="FFE08A"/>
              </a:gs>
              <a:gs pos="100000">
                <a:srgbClr val="FFF4CF"/>
              </a:gs>
            </a:gsLst>
            <a:lin ang="5400000" scaled="0"/>
          </a:gradFill>
          <a:ln w="22225" cap="rnd">
            <a:solidFill>
              <a:srgbClr val="262626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63" name="sub-title"/>
          <p:cNvSpPr/>
          <p:nvPr/>
        </p:nvSpPr>
        <p:spPr>
          <a:xfrm>
            <a:off x="5943600" y="2715768"/>
            <a:ext cx="177393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500" b="1" i="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Refitting the</a:t>
            </a:r>
          </a:p>
          <a:p>
            <a:pPr algn="ctr"/>
            <a:r>
              <a:rPr lang="en-US" sz="1500" b="1" i="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expanded network</a:t>
            </a:r>
          </a:p>
        </p:txBody>
      </p:sp>
      <p:sp>
        <p:nvSpPr>
          <p:cNvPr id="164" name="identity"/>
          <p:cNvSpPr/>
          <p:nvPr/>
        </p:nvSpPr>
        <p:spPr>
          <a:xfrm>
            <a:off x="6272784" y="3236976"/>
            <a:ext cx="185928" cy="123444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65" name="identity"/>
          <p:cNvSpPr/>
          <p:nvPr/>
        </p:nvSpPr>
        <p:spPr>
          <a:xfrm>
            <a:off x="6458712" y="3236976"/>
            <a:ext cx="185928" cy="123444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66" name="identity"/>
          <p:cNvSpPr/>
          <p:nvPr/>
        </p:nvSpPr>
        <p:spPr>
          <a:xfrm>
            <a:off x="6644640" y="3236976"/>
            <a:ext cx="185928" cy="123444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67" name="identity"/>
          <p:cNvSpPr/>
          <p:nvPr/>
        </p:nvSpPr>
        <p:spPr>
          <a:xfrm>
            <a:off x="6830568" y="3236976"/>
            <a:ext cx="185928" cy="123444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68" name="identity"/>
          <p:cNvSpPr/>
          <p:nvPr/>
        </p:nvSpPr>
        <p:spPr>
          <a:xfrm>
            <a:off x="7016496" y="3236976"/>
            <a:ext cx="185928" cy="123444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69" name="identity"/>
          <p:cNvSpPr/>
          <p:nvPr/>
        </p:nvSpPr>
        <p:spPr>
          <a:xfrm>
            <a:off x="7202424" y="3236976"/>
            <a:ext cx="185928" cy="123444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70" name="identity"/>
          <p:cNvSpPr/>
          <p:nvPr/>
        </p:nvSpPr>
        <p:spPr>
          <a:xfrm>
            <a:off x="6272784" y="3360420"/>
            <a:ext cx="185928" cy="123444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71" name="identity"/>
          <p:cNvSpPr/>
          <p:nvPr/>
        </p:nvSpPr>
        <p:spPr>
          <a:xfrm>
            <a:off x="6458712" y="3360420"/>
            <a:ext cx="185928" cy="123444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72" name="identity"/>
          <p:cNvSpPr/>
          <p:nvPr/>
        </p:nvSpPr>
        <p:spPr>
          <a:xfrm>
            <a:off x="6644640" y="3360420"/>
            <a:ext cx="185928" cy="123444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73" name="identity"/>
          <p:cNvSpPr/>
          <p:nvPr/>
        </p:nvSpPr>
        <p:spPr>
          <a:xfrm>
            <a:off x="6830568" y="3360420"/>
            <a:ext cx="185928" cy="123444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74" name="identity"/>
          <p:cNvSpPr/>
          <p:nvPr/>
        </p:nvSpPr>
        <p:spPr>
          <a:xfrm>
            <a:off x="7016496" y="3360420"/>
            <a:ext cx="185928" cy="123444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75" name="identity"/>
          <p:cNvSpPr/>
          <p:nvPr/>
        </p:nvSpPr>
        <p:spPr>
          <a:xfrm>
            <a:off x="7202424" y="3360420"/>
            <a:ext cx="185928" cy="123444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76" name="identity"/>
          <p:cNvSpPr/>
          <p:nvPr/>
        </p:nvSpPr>
        <p:spPr>
          <a:xfrm>
            <a:off x="6272784" y="3483864"/>
            <a:ext cx="185928" cy="123444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77" name="identity"/>
          <p:cNvSpPr/>
          <p:nvPr/>
        </p:nvSpPr>
        <p:spPr>
          <a:xfrm>
            <a:off x="6458712" y="3483864"/>
            <a:ext cx="185928" cy="123444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78" name="identity"/>
          <p:cNvSpPr/>
          <p:nvPr/>
        </p:nvSpPr>
        <p:spPr>
          <a:xfrm>
            <a:off x="6644640" y="3483864"/>
            <a:ext cx="185928" cy="123444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79" name="identity"/>
          <p:cNvSpPr/>
          <p:nvPr/>
        </p:nvSpPr>
        <p:spPr>
          <a:xfrm>
            <a:off x="6830568" y="3483864"/>
            <a:ext cx="185928" cy="123444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80" name="identity"/>
          <p:cNvSpPr/>
          <p:nvPr/>
        </p:nvSpPr>
        <p:spPr>
          <a:xfrm>
            <a:off x="7016496" y="3483864"/>
            <a:ext cx="185928" cy="123444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81" name="identity"/>
          <p:cNvSpPr/>
          <p:nvPr/>
        </p:nvSpPr>
        <p:spPr>
          <a:xfrm>
            <a:off x="7202424" y="3483864"/>
            <a:ext cx="185928" cy="123444"/>
          </a:xfrm>
          <a:prstGeom prst="rect">
            <a:avLst/>
          </a:prstGeom>
          <a:solidFill>
            <a:srgbClr val="FFD966"/>
          </a:solidFill>
          <a:ln w="7620" cap="rnd">
            <a:solidFill>
              <a:srgbClr val="B8860B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82" name="new identity"/>
          <p:cNvSpPr/>
          <p:nvPr/>
        </p:nvSpPr>
        <p:spPr>
          <a:xfrm>
            <a:off x="6272784" y="3607308"/>
            <a:ext cx="185928" cy="123444"/>
          </a:xfrm>
          <a:prstGeom prst="rect">
            <a:avLst/>
          </a:prstGeom>
          <a:solidFill>
            <a:srgbClr val="E4DAF5"/>
          </a:solidFill>
          <a:ln w="7620" cap="rnd">
            <a:solidFill>
              <a:srgbClr val="8E6CC9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83" name="new identity"/>
          <p:cNvSpPr/>
          <p:nvPr/>
        </p:nvSpPr>
        <p:spPr>
          <a:xfrm>
            <a:off x="6458712" y="3607308"/>
            <a:ext cx="185928" cy="123444"/>
          </a:xfrm>
          <a:prstGeom prst="rect">
            <a:avLst/>
          </a:prstGeom>
          <a:solidFill>
            <a:srgbClr val="E4DAF5"/>
          </a:solidFill>
          <a:ln w="7620" cap="rnd">
            <a:solidFill>
              <a:srgbClr val="8E6CC9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84" name="new identity"/>
          <p:cNvSpPr/>
          <p:nvPr/>
        </p:nvSpPr>
        <p:spPr>
          <a:xfrm>
            <a:off x="6644640" y="3607308"/>
            <a:ext cx="185928" cy="123444"/>
          </a:xfrm>
          <a:prstGeom prst="rect">
            <a:avLst/>
          </a:prstGeom>
          <a:solidFill>
            <a:srgbClr val="E4DAF5"/>
          </a:solidFill>
          <a:ln w="7620" cap="rnd">
            <a:solidFill>
              <a:srgbClr val="8E6CC9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85" name="new identity"/>
          <p:cNvSpPr/>
          <p:nvPr/>
        </p:nvSpPr>
        <p:spPr>
          <a:xfrm>
            <a:off x="6830568" y="3607308"/>
            <a:ext cx="185928" cy="123444"/>
          </a:xfrm>
          <a:prstGeom prst="rect">
            <a:avLst/>
          </a:prstGeom>
          <a:solidFill>
            <a:srgbClr val="E4DAF5"/>
          </a:solidFill>
          <a:ln w="7620" cap="rnd">
            <a:solidFill>
              <a:srgbClr val="8E6CC9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86" name="new identity"/>
          <p:cNvSpPr/>
          <p:nvPr/>
        </p:nvSpPr>
        <p:spPr>
          <a:xfrm>
            <a:off x="7016496" y="3607308"/>
            <a:ext cx="185928" cy="123444"/>
          </a:xfrm>
          <a:prstGeom prst="rect">
            <a:avLst/>
          </a:prstGeom>
          <a:solidFill>
            <a:srgbClr val="E4DAF5"/>
          </a:solidFill>
          <a:ln w="7620" cap="rnd">
            <a:solidFill>
              <a:srgbClr val="8E6CC9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87" name="new identity"/>
          <p:cNvSpPr/>
          <p:nvPr/>
        </p:nvSpPr>
        <p:spPr>
          <a:xfrm>
            <a:off x="7202424" y="3607308"/>
            <a:ext cx="185928" cy="123444"/>
          </a:xfrm>
          <a:prstGeom prst="rect">
            <a:avLst/>
          </a:prstGeom>
          <a:solidFill>
            <a:srgbClr val="E4DAF5"/>
          </a:solidFill>
          <a:ln w="7620" cap="rnd">
            <a:solidFill>
              <a:srgbClr val="8E6CC9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188" name="flame"/>
          <p:cNvSpPr/>
          <p:nvPr/>
        </p:nvSpPr>
        <p:spPr>
          <a:xfrm>
            <a:off x="7529170" y="2706624"/>
            <a:ext cx="175565" cy="219456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50000" y="100000"/>
                </a:moveTo>
                <a:cubicBezTo>
                  <a:pt x="15000" y="100000"/>
                  <a:pt x="2000" y="70000"/>
                  <a:pt x="18000" y="42000"/>
                </a:cubicBezTo>
                <a:cubicBezTo>
                  <a:pt x="26000" y="28000"/>
                  <a:pt x="30000" y="30000"/>
                  <a:pt x="32000" y="45000"/>
                </a:cubicBezTo>
                <a:cubicBezTo>
                  <a:pt x="30000" y="20000"/>
                  <a:pt x="45000" y="5000"/>
                  <a:pt x="55000" y="0"/>
                </a:cubicBezTo>
                <a:cubicBezTo>
                  <a:pt x="50000" y="25000"/>
                  <a:pt x="75000" y="30000"/>
                  <a:pt x="80000" y="50000"/>
                </a:cubicBezTo>
                <a:cubicBezTo>
                  <a:pt x="84000" y="40000"/>
                  <a:pt x="86000" y="36000"/>
                  <a:pt x="88000" y="30000"/>
                </a:cubicBezTo>
                <a:cubicBezTo>
                  <a:pt x="102000" y="55000"/>
                  <a:pt x="95000" y="100000"/>
                  <a:pt x="50000" y="100000"/>
                </a:cubicBezTo>
                <a:close/>
              </a:path>
            </a:pathLst>
          </a:custGeom>
          <a:gradFill rotWithShape="1">
            <a:gsLst>
              <a:gs pos="0">
                <a:srgbClr val="FFB000"/>
              </a:gs>
              <a:gs pos="100000">
                <a:srgbClr val="E8401C"/>
              </a:gs>
            </a:gsLst>
            <a:lin ang="5400000" scaled="0"/>
          </a:gradFill>
          <a:ln>
            <a:noFill/>
          </a:ln>
        </p:spPr>
      </p:sp>
      <p:sp>
        <p:nvSpPr>
          <p:cNvPr id="189" name="flame-core"/>
          <p:cNvSpPr/>
          <p:nvPr/>
        </p:nvSpPr>
        <p:spPr>
          <a:xfrm>
            <a:off x="7529170" y="2706624"/>
            <a:ext cx="175565" cy="219456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52000" y="100000"/>
                </a:moveTo>
                <a:cubicBezTo>
                  <a:pt x="33000" y="100000"/>
                  <a:pt x="28000" y="82000"/>
                  <a:pt x="38000" y="66000"/>
                </a:cubicBezTo>
                <a:cubicBezTo>
                  <a:pt x="44000" y="56000"/>
                  <a:pt x="50000" y="52000"/>
                  <a:pt x="50000" y="42000"/>
                </a:cubicBezTo>
                <a:cubicBezTo>
                  <a:pt x="62000" y="55000"/>
                  <a:pt x="74000" y="70000"/>
                  <a:pt x="70000" y="84000"/>
                </a:cubicBezTo>
                <a:cubicBezTo>
                  <a:pt x="68000" y="95000"/>
                  <a:pt x="60000" y="100000"/>
                  <a:pt x="52000" y="100000"/>
                </a:cubicBezTo>
                <a:close/>
              </a:path>
            </a:pathLst>
          </a:custGeom>
          <a:solidFill>
            <a:srgbClr val="FFE14D"/>
          </a:solidFill>
          <a:ln>
            <a:noFill/>
          </a:ln>
        </p:spPr>
      </p:sp>
      <p:sp>
        <p:nvSpPr>
          <p:cNvPr id="190" name="note"/>
          <p:cNvSpPr/>
          <p:nvPr/>
        </p:nvSpPr>
        <p:spPr>
          <a:xfrm>
            <a:off x="5934456" y="3767328"/>
            <a:ext cx="179222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0" i="1" dirty="0">
                <a:solidFill>
                  <a:srgbClr val="5A5A5A"/>
                </a:solidFill>
                <a:latin typeface="Times New Roman"/>
                <a:ea typeface="Times New Roman"/>
                <a:cs typeface="Times New Roman"/>
              </a:rPr>
              <a:t>All identities refit and calibrators rebuilt</a:t>
            </a:r>
          </a:p>
        </p:txBody>
      </p:sp>
      <p:sp>
        <p:nvSpPr>
          <p:cNvPr id="191" name="feature"/>
          <p:cNvSpPr/>
          <p:nvPr/>
        </p:nvSpPr>
        <p:spPr>
          <a:xfrm>
            <a:off x="8211312" y="274320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ECEEF1"/>
          </a:solidFill>
          <a:ln w="13970" cap="rnd">
            <a:solidFill>
              <a:srgbClr val="7F7F7F"/>
            </a:solidFill>
            <a:round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/>
            <a:r>
              <a:rPr lang="en-US" sz="1400" b="0" i="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History</a:t>
            </a:r>
          </a:p>
        </p:txBody>
      </p:sp>
      <p:sp>
        <p:nvSpPr>
          <p:cNvPr id="192" name="feature"/>
          <p:cNvSpPr/>
          <p:nvPr/>
        </p:nvSpPr>
        <p:spPr>
          <a:xfrm>
            <a:off x="8211312" y="3127248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ECEEF1"/>
          </a:solidFill>
          <a:ln w="13970" cap="rnd">
            <a:solidFill>
              <a:srgbClr val="7F7F7F"/>
            </a:solidFill>
            <a:round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/>
            <a:r>
              <a:rPr lang="en-US" sz="1400" b="0" i="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Base forecast</a:t>
            </a:r>
          </a:p>
        </p:txBody>
      </p:sp>
      <p:sp>
        <p:nvSpPr>
          <p:cNvPr id="193" name="feature"/>
          <p:cNvSpPr/>
          <p:nvPr/>
        </p:nvSpPr>
        <p:spPr>
          <a:xfrm>
            <a:off x="8211312" y="3511296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ECEEF1"/>
          </a:solidFill>
          <a:ln w="13970" cap="rnd">
            <a:solidFill>
              <a:srgbClr val="7F7F7F"/>
            </a:solidFill>
            <a:round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/>
            <a:r>
              <a:rPr lang="en-US" sz="1400" b="0" i="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Statistics</a:t>
            </a:r>
          </a:p>
        </p:txBody>
      </p:sp>
      <p:cxnSp>
        <p:nvCxnSpPr>
          <p:cNvPr id="194" name="arrow"/>
          <p:cNvCxnSpPr/>
          <p:nvPr/>
        </p:nvCxnSpPr>
        <p:spPr>
          <a:xfrm>
            <a:off x="9582912" y="3127248"/>
            <a:ext cx="292608" cy="0"/>
          </a:xfrm>
          <a:prstGeom prst="straightConnector1">
            <a:avLst/>
          </a:prstGeom>
          <a:ln w="22225" cap="rnd">
            <a:solidFill>
              <a:srgbClr val="262626"/>
            </a:solidFill>
            <a:round/>
            <a:tailEnd type="triangle" w="med" len="med"/>
          </a:ln>
        </p:spPr>
      </p:cxnSp>
      <p:sp>
        <p:nvSpPr>
          <p:cNvPr id="195" name="rls"/>
          <p:cNvSpPr/>
          <p:nvPr/>
        </p:nvSpPr>
        <p:spPr>
          <a:xfrm>
            <a:off x="9912096" y="2706624"/>
            <a:ext cx="1636776" cy="877824"/>
          </a:xfrm>
          <a:prstGeom prst="roundRect">
            <a:avLst>
              <a:gd name="adj" fmla="val 14583"/>
            </a:avLst>
          </a:prstGeom>
          <a:gradFill rotWithShape="1">
            <a:gsLst>
              <a:gs pos="0">
                <a:srgbClr val="F7C29C"/>
              </a:gs>
              <a:gs pos="100000">
                <a:srgbClr val="FCE4D3"/>
              </a:gs>
            </a:gsLst>
            <a:lin ang="5400000" scaled="0"/>
          </a:gradFill>
          <a:ln w="22225" cap="rnd">
            <a:solidFill>
              <a:srgbClr val="262626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pPr algn="ctr"/>
            <a:r>
              <a:rPr lang="en-US" sz="1700" b="1" i="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RLS update</a:t>
            </a:r>
          </a:p>
          <a:p>
            <a:pPr algn="ctr"/>
            <a:r>
              <a:rPr lang="en-US" sz="1400" b="0" i="1" dirty="0">
                <a:solidFill>
                  <a:srgbClr val="5A5A5A"/>
                </a:solidFill>
                <a:latin typeface="Times New Roman"/>
                <a:ea typeface="Times New Roman"/>
                <a:cs typeface="Times New Roman"/>
              </a:rPr>
              <a:t>one per sensor</a:t>
            </a:r>
          </a:p>
        </p:txBody>
      </p:sp>
      <p:sp>
        <p:nvSpPr>
          <p:cNvPr id="196" name="flame"/>
          <p:cNvSpPr/>
          <p:nvPr/>
        </p:nvSpPr>
        <p:spPr>
          <a:xfrm>
            <a:off x="11351362" y="2724912"/>
            <a:ext cx="175565" cy="219456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50000" y="100000"/>
                </a:moveTo>
                <a:cubicBezTo>
                  <a:pt x="15000" y="100000"/>
                  <a:pt x="2000" y="70000"/>
                  <a:pt x="18000" y="42000"/>
                </a:cubicBezTo>
                <a:cubicBezTo>
                  <a:pt x="26000" y="28000"/>
                  <a:pt x="30000" y="30000"/>
                  <a:pt x="32000" y="45000"/>
                </a:cubicBezTo>
                <a:cubicBezTo>
                  <a:pt x="30000" y="20000"/>
                  <a:pt x="45000" y="5000"/>
                  <a:pt x="55000" y="0"/>
                </a:cubicBezTo>
                <a:cubicBezTo>
                  <a:pt x="50000" y="25000"/>
                  <a:pt x="75000" y="30000"/>
                  <a:pt x="80000" y="50000"/>
                </a:cubicBezTo>
                <a:cubicBezTo>
                  <a:pt x="84000" y="40000"/>
                  <a:pt x="86000" y="36000"/>
                  <a:pt x="88000" y="30000"/>
                </a:cubicBezTo>
                <a:cubicBezTo>
                  <a:pt x="102000" y="55000"/>
                  <a:pt x="95000" y="100000"/>
                  <a:pt x="50000" y="100000"/>
                </a:cubicBezTo>
                <a:close/>
              </a:path>
            </a:pathLst>
          </a:custGeom>
          <a:gradFill rotWithShape="1">
            <a:gsLst>
              <a:gs pos="0">
                <a:srgbClr val="FFB000"/>
              </a:gs>
              <a:gs pos="100000">
                <a:srgbClr val="E8401C"/>
              </a:gs>
            </a:gsLst>
            <a:lin ang="5400000" scaled="0"/>
          </a:gradFill>
          <a:ln>
            <a:noFill/>
          </a:ln>
        </p:spPr>
      </p:sp>
      <p:sp>
        <p:nvSpPr>
          <p:cNvPr id="197" name="flame-core"/>
          <p:cNvSpPr/>
          <p:nvPr/>
        </p:nvSpPr>
        <p:spPr>
          <a:xfrm>
            <a:off x="11351362" y="2724912"/>
            <a:ext cx="175565" cy="219456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52000" y="100000"/>
                </a:moveTo>
                <a:cubicBezTo>
                  <a:pt x="33000" y="100000"/>
                  <a:pt x="28000" y="82000"/>
                  <a:pt x="38000" y="66000"/>
                </a:cubicBezTo>
                <a:cubicBezTo>
                  <a:pt x="44000" y="56000"/>
                  <a:pt x="50000" y="52000"/>
                  <a:pt x="50000" y="42000"/>
                </a:cubicBezTo>
                <a:cubicBezTo>
                  <a:pt x="62000" y="55000"/>
                  <a:pt x="74000" y="70000"/>
                  <a:pt x="70000" y="84000"/>
                </a:cubicBezTo>
                <a:cubicBezTo>
                  <a:pt x="68000" y="95000"/>
                  <a:pt x="60000" y="100000"/>
                  <a:pt x="52000" y="100000"/>
                </a:cubicBezTo>
                <a:close/>
              </a:path>
            </a:pathLst>
          </a:custGeom>
          <a:solidFill>
            <a:srgbClr val="FFE14D"/>
          </a:solidFill>
          <a:ln>
            <a:noFill/>
          </a:ln>
        </p:spPr>
      </p:sp>
      <p:sp>
        <p:nvSpPr>
          <p:cNvPr id="198" name="note"/>
          <p:cNvSpPr/>
          <p:nvPr/>
        </p:nvSpPr>
        <p:spPr>
          <a:xfrm>
            <a:off x="8101584" y="3858768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0" i="1" dirty="0">
                <a:solidFill>
                  <a:srgbClr val="5A5A5A"/>
                </a:solidFill>
                <a:latin typeface="Times New Roman"/>
                <a:ea typeface="Times New Roman"/>
                <a:cs typeface="Times New Roman"/>
              </a:rPr>
              <a:t>Ridge initialization, then RLS updates</a:t>
            </a:r>
          </a:p>
          <a:p>
            <a:pPr algn="ctr"/>
            <a:r>
              <a:rPr lang="en-US" sz="1300" b="0" i="1" dirty="0">
                <a:solidFill>
                  <a:srgbClr val="5A5A5A"/>
                </a:solidFill>
                <a:latin typeface="Times New Roman"/>
                <a:ea typeface="Times New Roman"/>
                <a:cs typeface="Times New Roman"/>
              </a:rPr>
              <a:t>from released feedback</a:t>
            </a:r>
          </a:p>
        </p:txBody>
      </p:sp>
      <p:cxnSp>
        <p:nvCxnSpPr>
          <p:cNvPr id="199" name="arrow"/>
          <p:cNvCxnSpPr/>
          <p:nvPr/>
        </p:nvCxnSpPr>
        <p:spPr>
          <a:xfrm flipV="1">
            <a:off x="2560320" y="1664208"/>
            <a:ext cx="0" cy="530352"/>
          </a:xfrm>
          <a:prstGeom prst="straightConnector1">
            <a:avLst/>
          </a:prstGeom>
          <a:ln w="24130" cap="rnd">
            <a:solidFill>
              <a:srgbClr val="262626"/>
            </a:solidFill>
            <a:prstDash val="dash"/>
            <a:round/>
            <a:tailEnd type="triangle" w="med" len="med"/>
          </a:ln>
        </p:spPr>
      </p:cxnSp>
      <p:cxnSp>
        <p:nvCxnSpPr>
          <p:cNvPr id="200" name="arrow"/>
          <p:cNvCxnSpPr/>
          <p:nvPr/>
        </p:nvCxnSpPr>
        <p:spPr>
          <a:xfrm flipV="1">
            <a:off x="4937760" y="1664208"/>
            <a:ext cx="0" cy="530352"/>
          </a:xfrm>
          <a:prstGeom prst="straightConnector1">
            <a:avLst/>
          </a:prstGeom>
          <a:ln w="24130" cap="rnd">
            <a:solidFill>
              <a:srgbClr val="262626"/>
            </a:solidFill>
            <a:prstDash val="dash"/>
            <a:round/>
            <a:tailEnd type="triangle" w="med" len="med"/>
          </a:ln>
        </p:spPr>
      </p:cxnSp>
      <p:cxnSp>
        <p:nvCxnSpPr>
          <p:cNvPr id="201" name="arrow"/>
          <p:cNvCxnSpPr/>
          <p:nvPr/>
        </p:nvCxnSpPr>
        <p:spPr>
          <a:xfrm flipV="1">
            <a:off x="9418320" y="1664208"/>
            <a:ext cx="0" cy="530352"/>
          </a:xfrm>
          <a:prstGeom prst="straightConnector1">
            <a:avLst/>
          </a:prstGeom>
          <a:ln w="24130" cap="rnd">
            <a:solidFill>
              <a:srgbClr val="262626"/>
            </a:solidFill>
            <a:prstDash val="dash"/>
            <a:round/>
            <a:tailEnd type="triangle" w="med" len="med"/>
          </a:ln>
        </p:spPr>
      </p:cxnSp>
      <p:cxnSp>
        <p:nvCxnSpPr>
          <p:cNvPr id="202" name="arrow"/>
          <p:cNvCxnSpPr/>
          <p:nvPr/>
        </p:nvCxnSpPr>
        <p:spPr>
          <a:xfrm>
            <a:off x="7744968" y="3108960"/>
            <a:ext cx="201168" cy="0"/>
          </a:xfrm>
          <a:prstGeom prst="straightConnector1">
            <a:avLst/>
          </a:prstGeom>
          <a:ln w="24130" cap="rnd">
            <a:solidFill>
              <a:srgbClr val="262626"/>
            </a:solidFill>
            <a:prstDash val="dash"/>
            <a:round/>
          </a:ln>
        </p:spPr>
      </p:cxnSp>
      <p:cxnSp>
        <p:nvCxnSpPr>
          <p:cNvPr id="203" name="arrow"/>
          <p:cNvCxnSpPr/>
          <p:nvPr/>
        </p:nvCxnSpPr>
        <p:spPr>
          <a:xfrm flipV="1">
            <a:off x="7946136" y="2029968"/>
            <a:ext cx="0" cy="1078992"/>
          </a:xfrm>
          <a:prstGeom prst="straightConnector1">
            <a:avLst/>
          </a:prstGeom>
          <a:ln w="24130" cap="rnd">
            <a:solidFill>
              <a:srgbClr val="262626"/>
            </a:solidFill>
            <a:prstDash val="dash"/>
            <a:round/>
          </a:ln>
        </p:spPr>
      </p:cxnSp>
      <p:cxnSp>
        <p:nvCxnSpPr>
          <p:cNvPr id="204" name="arrow"/>
          <p:cNvCxnSpPr/>
          <p:nvPr/>
        </p:nvCxnSpPr>
        <p:spPr>
          <a:xfrm>
            <a:off x="7946136" y="2029968"/>
            <a:ext cx="923544" cy="0"/>
          </a:xfrm>
          <a:prstGeom prst="straightConnector1">
            <a:avLst/>
          </a:prstGeom>
          <a:ln w="24130" cap="rnd">
            <a:solidFill>
              <a:srgbClr val="262626"/>
            </a:solidFill>
            <a:prstDash val="dash"/>
            <a:round/>
          </a:ln>
        </p:spPr>
      </p:cxnSp>
      <p:cxnSp>
        <p:nvCxnSpPr>
          <p:cNvPr id="205" name="arrow"/>
          <p:cNvCxnSpPr/>
          <p:nvPr/>
        </p:nvCxnSpPr>
        <p:spPr>
          <a:xfrm flipV="1">
            <a:off x="8869680" y="1664208"/>
            <a:ext cx="0" cy="365760"/>
          </a:xfrm>
          <a:prstGeom prst="straightConnector1">
            <a:avLst/>
          </a:prstGeom>
          <a:ln w="24130" cap="rnd">
            <a:solidFill>
              <a:srgbClr val="262626"/>
            </a:solidFill>
            <a:prstDash val="dash"/>
            <a:round/>
            <a:tailEnd type="triangle" w="med" len="med"/>
          </a:ln>
        </p:spPr>
      </p:cxnSp>
      <p:sp>
        <p:nvSpPr>
          <p:cNvPr id="206" name="pool panel"/>
          <p:cNvSpPr/>
          <p:nvPr/>
        </p:nvSpPr>
        <p:spPr>
          <a:xfrm>
            <a:off x="73152" y="4791456"/>
            <a:ext cx="12045696" cy="1612510"/>
          </a:xfrm>
          <a:prstGeom prst="roundRect">
            <a:avLst>
              <a:gd name="adj" fmla="val 12475"/>
            </a:avLst>
          </a:prstGeom>
          <a:solidFill>
            <a:srgbClr val="EBF5E5"/>
          </a:solidFill>
          <a:ln>
            <a:noFill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207" name="released pool"/>
          <p:cNvSpPr/>
          <p:nvPr/>
        </p:nvSpPr>
        <p:spPr>
          <a:xfrm>
            <a:off x="228600" y="5138928"/>
            <a:ext cx="9281160" cy="658368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9050" cap="rnd">
            <a:solidFill>
              <a:srgbClr val="548235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208" name="database body"/>
          <p:cNvSpPr/>
          <p:nvPr/>
        </p:nvSpPr>
        <p:spPr>
          <a:xfrm>
            <a:off x="374904" y="5193792"/>
            <a:ext cx="475488" cy="548640"/>
          </a:xfrm>
          <a:custGeom>
            <a:avLst/>
            <a:gdLst/>
            <a:ahLst/>
            <a:cxnLst/>
            <a:rect l="0" t="0" r="r" b="b"/>
            <a:pathLst>
              <a:path w="100000" h="100000">
                <a:moveTo>
                  <a:pt x="0" y="12000"/>
                </a:moveTo>
                <a:cubicBezTo>
                  <a:pt x="0" y="12000"/>
                  <a:pt x="0" y="88000"/>
                  <a:pt x="0" y="88000"/>
                </a:cubicBezTo>
                <a:cubicBezTo>
                  <a:pt x="0" y="103996"/>
                  <a:pt x="100000" y="103996"/>
                  <a:pt x="100000" y="88000"/>
                </a:cubicBezTo>
                <a:cubicBezTo>
                  <a:pt x="100000" y="88000"/>
                  <a:pt x="100000" y="12000"/>
                  <a:pt x="100000" y="12000"/>
                </a:cubicBezTo>
                <a:cubicBezTo>
                  <a:pt x="100000" y="27996"/>
                  <a:pt x="0" y="27996"/>
                  <a:pt x="0" y="12000"/>
                </a:cubicBezTo>
                <a:close/>
              </a:path>
            </a:pathLst>
          </a:custGeom>
          <a:gradFill rotWithShape="1">
            <a:gsLst>
              <a:gs pos="0">
                <a:srgbClr val="C5E0B4"/>
              </a:gs>
              <a:gs pos="100000">
                <a:srgbClr val="70AD47"/>
              </a:gs>
            </a:gsLst>
            <a:lin ang="0" scaled="0"/>
          </a:gradFill>
          <a:ln w="13970" cap="rnd">
            <a:solidFill>
              <a:srgbClr val="548235"/>
            </a:solidFill>
            <a:round/>
          </a:ln>
        </p:spPr>
      </p:sp>
      <p:sp>
        <p:nvSpPr>
          <p:cNvPr id="209" name="database band"/>
          <p:cNvSpPr/>
          <p:nvPr/>
        </p:nvSpPr>
        <p:spPr>
          <a:xfrm>
            <a:off x="374904" y="5193792"/>
            <a:ext cx="475488" cy="548640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0" y="39360"/>
                </a:moveTo>
                <a:cubicBezTo>
                  <a:pt x="0" y="55356"/>
                  <a:pt x="100000" y="55356"/>
                  <a:pt x="100000" y="39360"/>
                </a:cubicBezTo>
              </a:path>
            </a:pathLst>
          </a:custGeom>
          <a:noFill/>
          <a:ln w="19050" cap="rnd">
            <a:solidFill>
              <a:srgbClr val="F0F7EC"/>
            </a:solidFill>
            <a:round/>
          </a:ln>
        </p:spPr>
      </p:sp>
      <p:sp>
        <p:nvSpPr>
          <p:cNvPr id="210" name="database band"/>
          <p:cNvSpPr/>
          <p:nvPr/>
        </p:nvSpPr>
        <p:spPr>
          <a:xfrm>
            <a:off x="374904" y="5193792"/>
            <a:ext cx="475488" cy="548640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0" y="62160"/>
                </a:moveTo>
                <a:cubicBezTo>
                  <a:pt x="0" y="78156"/>
                  <a:pt x="100000" y="78156"/>
                  <a:pt x="100000" y="62160"/>
                </a:cubicBezTo>
              </a:path>
            </a:pathLst>
          </a:custGeom>
          <a:noFill/>
          <a:ln w="19050" cap="rnd">
            <a:solidFill>
              <a:srgbClr val="F0F7EC"/>
            </a:solidFill>
            <a:round/>
          </a:ln>
        </p:spPr>
      </p:sp>
      <p:sp>
        <p:nvSpPr>
          <p:cNvPr id="211" name="database top"/>
          <p:cNvSpPr/>
          <p:nvPr/>
        </p:nvSpPr>
        <p:spPr>
          <a:xfrm>
            <a:off x="374904" y="5193792"/>
            <a:ext cx="475488" cy="131674"/>
          </a:xfrm>
          <a:prstGeom prst="ellipse">
            <a:avLst/>
          </a:prstGeom>
          <a:solidFill>
            <a:srgbClr val="E2F0D9"/>
          </a:solidFill>
          <a:ln w="13970" cap="rnd">
            <a:solidFill>
              <a:srgbClr val="548235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212" name="label"/>
          <p:cNvSpPr/>
          <p:nvPr/>
        </p:nvSpPr>
        <p:spPr>
          <a:xfrm>
            <a:off x="941832" y="5175504"/>
            <a:ext cx="233172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1600" b="1" i="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Released pool</a:t>
            </a:r>
          </a:p>
          <a:p>
            <a:pPr algn="l"/>
            <a:r>
              <a:rPr lang="en-US" sz="1200" b="0" i="1" dirty="0">
                <a:solidFill>
                  <a:srgbClr val="5A5A5A"/>
                </a:solidFill>
                <a:latin typeface="Times New Roman"/>
                <a:ea typeface="Times New Roman"/>
                <a:cs typeface="Times New Roman"/>
              </a:rPr>
              <a:t>inputs, base forecasts, labels</a:t>
            </a:r>
          </a:p>
        </p:txBody>
      </p:sp>
      <p:sp>
        <p:nvSpPr>
          <p:cNvPr id="213" name="record"/>
          <p:cNvSpPr/>
          <p:nvPr/>
        </p:nvSpPr>
        <p:spPr>
          <a:xfrm>
            <a:off x="3383280" y="5266944"/>
            <a:ext cx="749808" cy="402336"/>
          </a:xfrm>
          <a:prstGeom prst="roundRect">
            <a:avLst>
              <a:gd name="adj" fmla="val 11363"/>
            </a:avLst>
          </a:prstGeom>
          <a:solidFill>
            <a:srgbClr val="F6F7F9"/>
          </a:solidFill>
          <a:ln w="12700" cap="rnd">
            <a:solidFill>
              <a:srgbClr val="9AA3AF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214" name="record input and forecast"/>
          <p:cNvSpPr/>
          <p:nvPr/>
        </p:nvSpPr>
        <p:spPr>
          <a:xfrm>
            <a:off x="3438144" y="5330952"/>
            <a:ext cx="419892" cy="274320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0" y="33632"/>
                </a:moveTo>
                <a:lnTo>
                  <a:pt x="6250" y="37458"/>
                </a:lnTo>
                <a:lnTo>
                  <a:pt x="12500" y="28757"/>
                </a:lnTo>
                <a:lnTo>
                  <a:pt x="18750" y="15599"/>
                </a:lnTo>
                <a:lnTo>
                  <a:pt x="25000" y="36150"/>
                </a:lnTo>
                <a:lnTo>
                  <a:pt x="31250" y="58824"/>
                </a:lnTo>
                <a:lnTo>
                  <a:pt x="37500" y="54776"/>
                </a:lnTo>
                <a:lnTo>
                  <a:pt x="43750" y="65412"/>
                </a:lnTo>
                <a:lnTo>
                  <a:pt x="50000" y="87761"/>
                </a:lnTo>
                <a:lnTo>
                  <a:pt x="56250" y="72402"/>
                </a:lnTo>
                <a:lnTo>
                  <a:pt x="62500" y="48937"/>
                </a:lnTo>
                <a:lnTo>
                  <a:pt x="68750" y="54611"/>
                </a:lnTo>
                <a:lnTo>
                  <a:pt x="75000" y="43432"/>
                </a:lnTo>
                <a:lnTo>
                  <a:pt x="81250" y="13310"/>
                </a:lnTo>
                <a:lnTo>
                  <a:pt x="87500" y="22511"/>
                </a:lnTo>
                <a:lnTo>
                  <a:pt x="93750" y="44474"/>
                </a:lnTo>
                <a:lnTo>
                  <a:pt x="100000" y="35874"/>
                </a:lnTo>
              </a:path>
            </a:pathLst>
          </a:custGeom>
          <a:noFill/>
          <a:ln w="16510" cap="rnd">
            <a:solidFill>
              <a:srgbClr val="5F6B7A"/>
            </a:solidFill>
            <a:round/>
          </a:ln>
        </p:spPr>
      </p:sp>
      <p:sp>
        <p:nvSpPr>
          <p:cNvPr id="215" name="label"/>
          <p:cNvSpPr/>
          <p:nvPr/>
        </p:nvSpPr>
        <p:spPr>
          <a:xfrm>
            <a:off x="3874130" y="5370637"/>
            <a:ext cx="194950" cy="194950"/>
          </a:xfrm>
          <a:prstGeom prst="roundRect">
            <a:avLst>
              <a:gd name="adj" fmla="val 14071"/>
            </a:avLst>
          </a:prstGeom>
          <a:solidFill>
            <a:srgbClr val="A9D18E"/>
          </a:solidFill>
          <a:ln w="12700" cap="rnd">
            <a:solidFill>
              <a:srgbClr val="548235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216" name="record"/>
          <p:cNvSpPr/>
          <p:nvPr/>
        </p:nvSpPr>
        <p:spPr>
          <a:xfrm>
            <a:off x="4242816" y="5266944"/>
            <a:ext cx="749808" cy="402336"/>
          </a:xfrm>
          <a:prstGeom prst="roundRect">
            <a:avLst>
              <a:gd name="adj" fmla="val 11363"/>
            </a:avLst>
          </a:prstGeom>
          <a:solidFill>
            <a:srgbClr val="F6F7F9"/>
          </a:solidFill>
          <a:ln w="12700" cap="rnd">
            <a:solidFill>
              <a:srgbClr val="9AA3AF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217" name="record input and forecast"/>
          <p:cNvSpPr/>
          <p:nvPr/>
        </p:nvSpPr>
        <p:spPr>
          <a:xfrm>
            <a:off x="4297680" y="5330952"/>
            <a:ext cx="419892" cy="274320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0" y="21547"/>
                </a:moveTo>
                <a:lnTo>
                  <a:pt x="6250" y="36293"/>
                </a:lnTo>
                <a:lnTo>
                  <a:pt x="12500" y="28452"/>
                </a:lnTo>
                <a:lnTo>
                  <a:pt x="18750" y="32244"/>
                </a:lnTo>
                <a:lnTo>
                  <a:pt x="25000" y="66359"/>
                </a:lnTo>
                <a:lnTo>
                  <a:pt x="31250" y="75302"/>
                </a:lnTo>
                <a:lnTo>
                  <a:pt x="37500" y="62453"/>
                </a:lnTo>
                <a:lnTo>
                  <a:pt x="43750" y="75722"/>
                </a:lnTo>
                <a:lnTo>
                  <a:pt x="50000" y="78680"/>
                </a:lnTo>
                <a:lnTo>
                  <a:pt x="56250" y="43863"/>
                </a:lnTo>
                <a:lnTo>
                  <a:pt x="62500" y="31126"/>
                </a:lnTo>
                <a:lnTo>
                  <a:pt x="68750" y="42121"/>
                </a:lnTo>
                <a:lnTo>
                  <a:pt x="75000" y="23785"/>
                </a:lnTo>
                <a:lnTo>
                  <a:pt x="81250" y="13426"/>
                </a:lnTo>
                <a:lnTo>
                  <a:pt x="87500" y="45992"/>
                </a:lnTo>
                <a:lnTo>
                  <a:pt x="93750" y="60350"/>
                </a:lnTo>
                <a:lnTo>
                  <a:pt x="100000" y="50617"/>
                </a:lnTo>
              </a:path>
            </a:pathLst>
          </a:custGeom>
          <a:noFill/>
          <a:ln w="16510" cap="rnd">
            <a:solidFill>
              <a:srgbClr val="5F6B7A"/>
            </a:solidFill>
            <a:round/>
          </a:ln>
        </p:spPr>
      </p:sp>
      <p:sp>
        <p:nvSpPr>
          <p:cNvPr id="218" name="label"/>
          <p:cNvSpPr/>
          <p:nvPr/>
        </p:nvSpPr>
        <p:spPr>
          <a:xfrm>
            <a:off x="4733666" y="5370637"/>
            <a:ext cx="194950" cy="194950"/>
          </a:xfrm>
          <a:prstGeom prst="roundRect">
            <a:avLst>
              <a:gd name="adj" fmla="val 14071"/>
            </a:avLst>
          </a:prstGeom>
          <a:solidFill>
            <a:srgbClr val="A9D18E"/>
          </a:solidFill>
          <a:ln w="12700" cap="rnd">
            <a:solidFill>
              <a:srgbClr val="548235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219" name="record"/>
          <p:cNvSpPr/>
          <p:nvPr/>
        </p:nvSpPr>
        <p:spPr>
          <a:xfrm>
            <a:off x="5102352" y="5266944"/>
            <a:ext cx="749808" cy="402336"/>
          </a:xfrm>
          <a:prstGeom prst="roundRect">
            <a:avLst>
              <a:gd name="adj" fmla="val 11363"/>
            </a:avLst>
          </a:prstGeom>
          <a:solidFill>
            <a:srgbClr val="F6F7F9"/>
          </a:solidFill>
          <a:ln w="12700" cap="rnd">
            <a:solidFill>
              <a:srgbClr val="9AA3AF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220" name="record input and forecast"/>
          <p:cNvSpPr/>
          <p:nvPr/>
        </p:nvSpPr>
        <p:spPr>
          <a:xfrm>
            <a:off x="5157216" y="5330952"/>
            <a:ext cx="419892" cy="274320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0" y="32277"/>
                </a:moveTo>
                <a:lnTo>
                  <a:pt x="6250" y="49018"/>
                </a:lnTo>
                <a:lnTo>
                  <a:pt x="12500" y="41196"/>
                </a:lnTo>
                <a:lnTo>
                  <a:pt x="18750" y="60663"/>
                </a:lnTo>
                <a:lnTo>
                  <a:pt x="25000" y="88111"/>
                </a:lnTo>
                <a:lnTo>
                  <a:pt x="31250" y="72162"/>
                </a:lnTo>
                <a:lnTo>
                  <a:pt x="37500" y="57368"/>
                </a:lnTo>
                <a:lnTo>
                  <a:pt x="43750" y="68859"/>
                </a:lnTo>
                <a:lnTo>
                  <a:pt x="50000" y="49975"/>
                </a:lnTo>
                <a:lnTo>
                  <a:pt x="56250" y="16855"/>
                </a:lnTo>
                <a:lnTo>
                  <a:pt x="62500" y="27202"/>
                </a:lnTo>
                <a:lnTo>
                  <a:pt x="68750" y="38652"/>
                </a:lnTo>
                <a:lnTo>
                  <a:pt x="75000" y="22769"/>
                </a:lnTo>
                <a:lnTo>
                  <a:pt x="81250" y="38767"/>
                </a:lnTo>
                <a:lnTo>
                  <a:pt x="87500" y="74692"/>
                </a:lnTo>
                <a:lnTo>
                  <a:pt x="93750" y="69674"/>
                </a:lnTo>
                <a:lnTo>
                  <a:pt x="100000" y="62193"/>
                </a:lnTo>
              </a:path>
            </a:pathLst>
          </a:custGeom>
          <a:noFill/>
          <a:ln w="16510" cap="rnd">
            <a:solidFill>
              <a:srgbClr val="5F6B7A"/>
            </a:solidFill>
            <a:round/>
          </a:ln>
        </p:spPr>
      </p:sp>
      <p:sp>
        <p:nvSpPr>
          <p:cNvPr id="221" name="label"/>
          <p:cNvSpPr/>
          <p:nvPr/>
        </p:nvSpPr>
        <p:spPr>
          <a:xfrm>
            <a:off x="5593202" y="5370637"/>
            <a:ext cx="194950" cy="194950"/>
          </a:xfrm>
          <a:prstGeom prst="roundRect">
            <a:avLst>
              <a:gd name="adj" fmla="val 14071"/>
            </a:avLst>
          </a:prstGeom>
          <a:solidFill>
            <a:srgbClr val="A9D18E"/>
          </a:solidFill>
          <a:ln w="12700" cap="rnd">
            <a:solidFill>
              <a:srgbClr val="548235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222" name="record"/>
          <p:cNvSpPr/>
          <p:nvPr/>
        </p:nvSpPr>
        <p:spPr>
          <a:xfrm>
            <a:off x="5961888" y="5266944"/>
            <a:ext cx="749808" cy="402336"/>
          </a:xfrm>
          <a:prstGeom prst="roundRect">
            <a:avLst>
              <a:gd name="adj" fmla="val 11363"/>
            </a:avLst>
          </a:prstGeom>
          <a:solidFill>
            <a:srgbClr val="F6F7F9"/>
          </a:solidFill>
          <a:ln w="12700" cap="rnd">
            <a:solidFill>
              <a:srgbClr val="9AA3AF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223" name="record input and forecast"/>
          <p:cNvSpPr/>
          <p:nvPr/>
        </p:nvSpPr>
        <p:spPr>
          <a:xfrm>
            <a:off x="6016752" y="5330952"/>
            <a:ext cx="419892" cy="274320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0" y="59484"/>
                </a:moveTo>
                <a:lnTo>
                  <a:pt x="6250" y="63686"/>
                </a:lnTo>
                <a:lnTo>
                  <a:pt x="12500" y="57054"/>
                </a:lnTo>
                <a:lnTo>
                  <a:pt x="18750" y="81703"/>
                </a:lnTo>
                <a:lnTo>
                  <a:pt x="25000" y="84077"/>
                </a:lnTo>
                <a:lnTo>
                  <a:pt x="31250" y="50214"/>
                </a:lnTo>
                <a:lnTo>
                  <a:pt x="37500" y="44957"/>
                </a:lnTo>
                <a:lnTo>
                  <a:pt x="43750" y="50580"/>
                </a:lnTo>
                <a:lnTo>
                  <a:pt x="50000" y="21632"/>
                </a:lnTo>
                <a:lnTo>
                  <a:pt x="56250" y="12014"/>
                </a:lnTo>
                <a:lnTo>
                  <a:pt x="62500" y="41456"/>
                </a:lnTo>
                <a:lnTo>
                  <a:pt x="68750" y="46047"/>
                </a:lnTo>
                <a:lnTo>
                  <a:pt x="75000" y="40288"/>
                </a:lnTo>
                <a:lnTo>
                  <a:pt x="81250" y="71213"/>
                </a:lnTo>
                <a:lnTo>
                  <a:pt x="87500" y="87403"/>
                </a:lnTo>
                <a:lnTo>
                  <a:pt x="93750" y="64324"/>
                </a:lnTo>
                <a:lnTo>
                  <a:pt x="100000" y="61781"/>
                </a:lnTo>
              </a:path>
            </a:pathLst>
          </a:custGeom>
          <a:noFill/>
          <a:ln w="16510" cap="rnd">
            <a:solidFill>
              <a:srgbClr val="5F6B7A"/>
            </a:solidFill>
            <a:round/>
          </a:ln>
        </p:spPr>
      </p:sp>
      <p:sp>
        <p:nvSpPr>
          <p:cNvPr id="224" name="label"/>
          <p:cNvSpPr/>
          <p:nvPr/>
        </p:nvSpPr>
        <p:spPr>
          <a:xfrm>
            <a:off x="6452738" y="5370637"/>
            <a:ext cx="194950" cy="194950"/>
          </a:xfrm>
          <a:prstGeom prst="roundRect">
            <a:avLst>
              <a:gd name="adj" fmla="val 14071"/>
            </a:avLst>
          </a:prstGeom>
          <a:solidFill>
            <a:srgbClr val="A9D18E"/>
          </a:solidFill>
          <a:ln w="12700" cap="rnd">
            <a:solidFill>
              <a:srgbClr val="548235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225" name="record"/>
          <p:cNvSpPr/>
          <p:nvPr/>
        </p:nvSpPr>
        <p:spPr>
          <a:xfrm>
            <a:off x="6821424" y="5266944"/>
            <a:ext cx="749808" cy="402336"/>
          </a:xfrm>
          <a:prstGeom prst="roundRect">
            <a:avLst>
              <a:gd name="adj" fmla="val 11363"/>
            </a:avLst>
          </a:prstGeom>
          <a:solidFill>
            <a:srgbClr val="F6F7F9"/>
          </a:solidFill>
          <a:ln w="12700" cap="rnd">
            <a:solidFill>
              <a:srgbClr val="9AA3AF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226" name="record input and forecast"/>
          <p:cNvSpPr/>
          <p:nvPr/>
        </p:nvSpPr>
        <p:spPr>
          <a:xfrm>
            <a:off x="6876288" y="5330952"/>
            <a:ext cx="419892" cy="274320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0" y="82715"/>
                </a:moveTo>
                <a:lnTo>
                  <a:pt x="6250" y="67376"/>
                </a:lnTo>
                <a:lnTo>
                  <a:pt x="12500" y="64907"/>
                </a:lnTo>
                <a:lnTo>
                  <a:pt x="18750" y="80709"/>
                </a:lnTo>
                <a:lnTo>
                  <a:pt x="25000" y="56014"/>
                </a:lnTo>
                <a:lnTo>
                  <a:pt x="31250" y="25520"/>
                </a:lnTo>
                <a:lnTo>
                  <a:pt x="37500" y="35900"/>
                </a:lnTo>
                <a:lnTo>
                  <a:pt x="43750" y="34604"/>
                </a:lnTo>
                <a:lnTo>
                  <a:pt x="50000" y="13889"/>
                </a:lnTo>
                <a:lnTo>
                  <a:pt x="56250" y="33444"/>
                </a:lnTo>
                <a:lnTo>
                  <a:pt x="62500" y="64074"/>
                </a:lnTo>
                <a:lnTo>
                  <a:pt x="68750" y="57977"/>
                </a:lnTo>
                <a:lnTo>
                  <a:pt x="75000" y="62400"/>
                </a:lnTo>
                <a:lnTo>
                  <a:pt x="81250" y="87358"/>
                </a:lnTo>
                <a:lnTo>
                  <a:pt x="87500" y="74928"/>
                </a:lnTo>
                <a:lnTo>
                  <a:pt x="93750" y="46951"/>
                </a:lnTo>
                <a:lnTo>
                  <a:pt x="100000" y="49880"/>
                </a:lnTo>
              </a:path>
            </a:pathLst>
          </a:custGeom>
          <a:noFill/>
          <a:ln w="16510" cap="rnd">
            <a:solidFill>
              <a:srgbClr val="5F6B7A"/>
            </a:solidFill>
            <a:round/>
          </a:ln>
        </p:spPr>
      </p:sp>
      <p:sp>
        <p:nvSpPr>
          <p:cNvPr id="227" name="label"/>
          <p:cNvSpPr/>
          <p:nvPr/>
        </p:nvSpPr>
        <p:spPr>
          <a:xfrm>
            <a:off x="7312274" y="5370637"/>
            <a:ext cx="194950" cy="194950"/>
          </a:xfrm>
          <a:prstGeom prst="roundRect">
            <a:avLst>
              <a:gd name="adj" fmla="val 14071"/>
            </a:avLst>
          </a:prstGeom>
          <a:solidFill>
            <a:srgbClr val="A9D18E"/>
          </a:solidFill>
          <a:ln w="12700" cap="rnd">
            <a:solidFill>
              <a:srgbClr val="548235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228" name="record"/>
          <p:cNvSpPr/>
          <p:nvPr/>
        </p:nvSpPr>
        <p:spPr>
          <a:xfrm>
            <a:off x="7680960" y="5266944"/>
            <a:ext cx="749808" cy="402336"/>
          </a:xfrm>
          <a:prstGeom prst="roundRect">
            <a:avLst>
              <a:gd name="adj" fmla="val 11363"/>
            </a:avLst>
          </a:prstGeom>
          <a:solidFill>
            <a:srgbClr val="F6F7F9"/>
          </a:solidFill>
          <a:ln w="12700" cap="rnd">
            <a:solidFill>
              <a:srgbClr val="9AA3AF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229" name="record input and forecast"/>
          <p:cNvSpPr/>
          <p:nvPr/>
        </p:nvSpPr>
        <p:spPr>
          <a:xfrm>
            <a:off x="7735824" y="5330952"/>
            <a:ext cx="419892" cy="274320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0" y="83812"/>
                </a:moveTo>
                <a:lnTo>
                  <a:pt x="6250" y="56274"/>
                </a:lnTo>
                <a:lnTo>
                  <a:pt x="12500" y="59776"/>
                </a:lnTo>
                <a:lnTo>
                  <a:pt x="18750" y="59012"/>
                </a:lnTo>
                <a:lnTo>
                  <a:pt x="25000" y="24033"/>
                </a:lnTo>
                <a:lnTo>
                  <a:pt x="31250" y="16497"/>
                </a:lnTo>
                <a:lnTo>
                  <a:pt x="37500" y="38158"/>
                </a:lnTo>
                <a:lnTo>
                  <a:pt x="43750" y="32827"/>
                </a:lnTo>
                <a:lnTo>
                  <a:pt x="50000" y="31418"/>
                </a:lnTo>
                <a:lnTo>
                  <a:pt x="56250" y="65615"/>
                </a:lnTo>
                <a:lnTo>
                  <a:pt x="62500" y="79051"/>
                </a:lnTo>
                <a:lnTo>
                  <a:pt x="68750" y="64214"/>
                </a:lnTo>
                <a:lnTo>
                  <a:pt x="75000" y="71807"/>
                </a:lnTo>
                <a:lnTo>
                  <a:pt x="81250" y="76760"/>
                </a:lnTo>
                <a:lnTo>
                  <a:pt x="87500" y="46446"/>
                </a:lnTo>
                <a:lnTo>
                  <a:pt x="93750" y="28801"/>
                </a:lnTo>
                <a:lnTo>
                  <a:pt x="100000" y="36788"/>
                </a:lnTo>
              </a:path>
            </a:pathLst>
          </a:custGeom>
          <a:noFill/>
          <a:ln w="16510" cap="rnd">
            <a:solidFill>
              <a:srgbClr val="5F6B7A"/>
            </a:solidFill>
            <a:round/>
          </a:ln>
        </p:spPr>
      </p:sp>
      <p:sp>
        <p:nvSpPr>
          <p:cNvPr id="230" name="label"/>
          <p:cNvSpPr/>
          <p:nvPr/>
        </p:nvSpPr>
        <p:spPr>
          <a:xfrm>
            <a:off x="8171810" y="5370637"/>
            <a:ext cx="194950" cy="194950"/>
          </a:xfrm>
          <a:prstGeom prst="roundRect">
            <a:avLst>
              <a:gd name="adj" fmla="val 14071"/>
            </a:avLst>
          </a:prstGeom>
          <a:solidFill>
            <a:srgbClr val="A9D18E"/>
          </a:solidFill>
          <a:ln w="12700" cap="rnd">
            <a:solidFill>
              <a:srgbClr val="548235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231" name="record"/>
          <p:cNvSpPr/>
          <p:nvPr/>
        </p:nvSpPr>
        <p:spPr>
          <a:xfrm>
            <a:off x="8540496" y="5266944"/>
            <a:ext cx="749808" cy="402336"/>
          </a:xfrm>
          <a:prstGeom prst="roundRect">
            <a:avLst>
              <a:gd name="adj" fmla="val 11363"/>
            </a:avLst>
          </a:prstGeom>
          <a:solidFill>
            <a:srgbClr val="F6F7F9"/>
          </a:solidFill>
          <a:ln w="12700" cap="rnd">
            <a:solidFill>
              <a:srgbClr val="9AA3AF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232" name="record input and forecast"/>
          <p:cNvSpPr/>
          <p:nvPr/>
        </p:nvSpPr>
        <p:spPr>
          <a:xfrm>
            <a:off x="8595360" y="5330952"/>
            <a:ext cx="419892" cy="274320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0" y="61303"/>
                </a:moveTo>
                <a:lnTo>
                  <a:pt x="6250" y="37948"/>
                </a:lnTo>
                <a:lnTo>
                  <a:pt x="12500" y="46483"/>
                </a:lnTo>
                <a:lnTo>
                  <a:pt x="18750" y="33514"/>
                </a:lnTo>
                <a:lnTo>
                  <a:pt x="25000" y="10978"/>
                </a:lnTo>
                <a:lnTo>
                  <a:pt x="31250" y="29903"/>
                </a:lnTo>
                <a:lnTo>
                  <a:pt x="37500" y="51530"/>
                </a:lnTo>
                <a:lnTo>
                  <a:pt x="43750" y="45896"/>
                </a:lnTo>
                <a:lnTo>
                  <a:pt x="50000" y="59622"/>
                </a:lnTo>
                <a:lnTo>
                  <a:pt x="56250" y="85798"/>
                </a:lnTo>
                <a:lnTo>
                  <a:pt x="62500" y="75797"/>
                </a:lnTo>
                <a:lnTo>
                  <a:pt x="68750" y="57900"/>
                </a:lnTo>
                <a:lnTo>
                  <a:pt x="75000" y="61863"/>
                </a:lnTo>
                <a:lnTo>
                  <a:pt x="81250" y="49555"/>
                </a:lnTo>
                <a:lnTo>
                  <a:pt x="87500" y="21676"/>
                </a:lnTo>
                <a:lnTo>
                  <a:pt x="93750" y="22267"/>
                </a:lnTo>
                <a:lnTo>
                  <a:pt x="100000" y="35101"/>
                </a:lnTo>
              </a:path>
            </a:pathLst>
          </a:custGeom>
          <a:noFill/>
          <a:ln w="16510" cap="rnd">
            <a:solidFill>
              <a:srgbClr val="5F6B7A"/>
            </a:solidFill>
            <a:round/>
          </a:ln>
        </p:spPr>
      </p:sp>
      <p:sp>
        <p:nvSpPr>
          <p:cNvPr id="233" name="label"/>
          <p:cNvSpPr/>
          <p:nvPr/>
        </p:nvSpPr>
        <p:spPr>
          <a:xfrm>
            <a:off x="9031346" y="5370637"/>
            <a:ext cx="194950" cy="194950"/>
          </a:xfrm>
          <a:prstGeom prst="roundRect">
            <a:avLst>
              <a:gd name="adj" fmla="val 14071"/>
            </a:avLst>
          </a:prstGeom>
          <a:solidFill>
            <a:srgbClr val="A9D18E"/>
          </a:solidFill>
          <a:ln w="12700" cap="rnd">
            <a:solidFill>
              <a:srgbClr val="548235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234" name="label"/>
          <p:cNvSpPr/>
          <p:nvPr/>
        </p:nvSpPr>
        <p:spPr>
          <a:xfrm>
            <a:off x="9939528" y="4846320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500" b="1" i="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Pending queue</a:t>
            </a:r>
          </a:p>
        </p:txBody>
      </p:sp>
      <p:sp>
        <p:nvSpPr>
          <p:cNvPr id="235" name="pending queue"/>
          <p:cNvSpPr/>
          <p:nvPr/>
        </p:nvSpPr>
        <p:spPr>
          <a:xfrm>
            <a:off x="9985248" y="5138928"/>
            <a:ext cx="1783080" cy="658368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9050" cap="rnd">
            <a:solidFill>
              <a:srgbClr val="7F7F7F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236" name="record"/>
          <p:cNvSpPr/>
          <p:nvPr/>
        </p:nvSpPr>
        <p:spPr>
          <a:xfrm>
            <a:off x="10094976" y="5266944"/>
            <a:ext cx="749808" cy="402336"/>
          </a:xfrm>
          <a:prstGeom prst="roundRect">
            <a:avLst>
              <a:gd name="adj" fmla="val 11363"/>
            </a:avLst>
          </a:prstGeom>
          <a:solidFill>
            <a:srgbClr val="F6F7F9"/>
          </a:solidFill>
          <a:ln w="12700" cap="rnd">
            <a:solidFill>
              <a:srgbClr val="9AA3AF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237" name="record input and forecast"/>
          <p:cNvSpPr/>
          <p:nvPr/>
        </p:nvSpPr>
        <p:spPr>
          <a:xfrm>
            <a:off x="10149840" y="5330952"/>
            <a:ext cx="419892" cy="274320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0" y="28484"/>
                </a:moveTo>
                <a:lnTo>
                  <a:pt x="6250" y="45429"/>
                </a:lnTo>
                <a:lnTo>
                  <a:pt x="12500" y="69849"/>
                </a:lnTo>
                <a:lnTo>
                  <a:pt x="18750" y="71753"/>
                </a:lnTo>
                <a:lnTo>
                  <a:pt x="25000" y="69088"/>
                </a:lnTo>
                <a:lnTo>
                  <a:pt x="31250" y="75636"/>
                </a:lnTo>
                <a:lnTo>
                  <a:pt x="37500" y="66400"/>
                </a:lnTo>
                <a:lnTo>
                  <a:pt x="43750" y="41589"/>
                </a:lnTo>
                <a:lnTo>
                  <a:pt x="50000" y="31912"/>
                </a:lnTo>
                <a:lnTo>
                  <a:pt x="56250" y="32814"/>
                </a:lnTo>
                <a:lnTo>
                  <a:pt x="62500" y="23694"/>
                </a:lnTo>
                <a:lnTo>
                  <a:pt x="68750" y="23592"/>
                </a:lnTo>
                <a:lnTo>
                  <a:pt x="75000" y="46458"/>
                </a:lnTo>
                <a:lnTo>
                  <a:pt x="81250" y="61972"/>
                </a:lnTo>
                <a:lnTo>
                  <a:pt x="87500" y="61746"/>
                </a:lnTo>
                <a:lnTo>
                  <a:pt x="93750" y="73106"/>
                </a:lnTo>
                <a:lnTo>
                  <a:pt x="100000" y="83266"/>
                </a:lnTo>
              </a:path>
            </a:pathLst>
          </a:custGeom>
          <a:noFill/>
          <a:ln w="16510" cap="rnd">
            <a:solidFill>
              <a:srgbClr val="5F6B7A"/>
            </a:solidFill>
            <a:round/>
          </a:ln>
        </p:spPr>
      </p:sp>
      <p:sp>
        <p:nvSpPr>
          <p:cNvPr id="238" name="label slot"/>
          <p:cNvSpPr/>
          <p:nvPr/>
        </p:nvSpPr>
        <p:spPr>
          <a:xfrm>
            <a:off x="10585826" y="5370637"/>
            <a:ext cx="194950" cy="194950"/>
          </a:xfrm>
          <a:prstGeom prst="roundRect">
            <a:avLst>
              <a:gd name="adj" fmla="val 14071"/>
            </a:avLst>
          </a:prstGeom>
          <a:solidFill>
            <a:srgbClr val="FFFFFF"/>
          </a:solidFill>
          <a:ln w="12700" cap="rnd">
            <a:solidFill>
              <a:srgbClr val="9AA3AF"/>
            </a:solidFill>
            <a:prstDash val="dash"/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239" name="record"/>
          <p:cNvSpPr/>
          <p:nvPr/>
        </p:nvSpPr>
        <p:spPr>
          <a:xfrm>
            <a:off x="10917936" y="5266944"/>
            <a:ext cx="749808" cy="402336"/>
          </a:xfrm>
          <a:prstGeom prst="roundRect">
            <a:avLst>
              <a:gd name="adj" fmla="val 11363"/>
            </a:avLst>
          </a:prstGeom>
          <a:solidFill>
            <a:srgbClr val="F6F7F9"/>
          </a:solidFill>
          <a:ln w="12700" cap="rnd">
            <a:solidFill>
              <a:srgbClr val="9AA3AF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240" name="record input and forecast"/>
          <p:cNvSpPr/>
          <p:nvPr/>
        </p:nvSpPr>
        <p:spPr>
          <a:xfrm>
            <a:off x="10972800" y="5330952"/>
            <a:ext cx="419892" cy="274320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0" y="58705"/>
                </a:moveTo>
                <a:lnTo>
                  <a:pt x="6250" y="82011"/>
                </a:lnTo>
                <a:lnTo>
                  <a:pt x="12500" y="73207"/>
                </a:lnTo>
                <a:lnTo>
                  <a:pt x="18750" y="64467"/>
                </a:lnTo>
                <a:lnTo>
                  <a:pt x="25000" y="68849"/>
                </a:lnTo>
                <a:lnTo>
                  <a:pt x="31250" y="52531"/>
                </a:lnTo>
                <a:lnTo>
                  <a:pt x="37500" y="26984"/>
                </a:lnTo>
                <a:lnTo>
                  <a:pt x="43750" y="26285"/>
                </a:lnTo>
                <a:lnTo>
                  <a:pt x="50000" y="31777"/>
                </a:lnTo>
                <a:lnTo>
                  <a:pt x="56250" y="26316"/>
                </a:lnTo>
                <a:lnTo>
                  <a:pt x="62500" y="36031"/>
                </a:lnTo>
                <a:lnTo>
                  <a:pt x="68750" y="61478"/>
                </a:lnTo>
                <a:lnTo>
                  <a:pt x="75000" y="70690"/>
                </a:lnTo>
                <a:lnTo>
                  <a:pt x="81250" y="68242"/>
                </a:lnTo>
                <a:lnTo>
                  <a:pt x="87500" y="75302"/>
                </a:lnTo>
                <a:lnTo>
                  <a:pt x="93750" y="74019"/>
                </a:lnTo>
                <a:lnTo>
                  <a:pt x="100000" y="51070"/>
                </a:lnTo>
              </a:path>
            </a:pathLst>
          </a:custGeom>
          <a:noFill/>
          <a:ln w="16510" cap="rnd">
            <a:solidFill>
              <a:srgbClr val="5F6B7A"/>
            </a:solidFill>
            <a:round/>
          </a:ln>
        </p:spPr>
      </p:sp>
      <p:sp>
        <p:nvSpPr>
          <p:cNvPr id="241" name="label slot"/>
          <p:cNvSpPr/>
          <p:nvPr/>
        </p:nvSpPr>
        <p:spPr>
          <a:xfrm>
            <a:off x="11408786" y="5370637"/>
            <a:ext cx="194950" cy="194950"/>
          </a:xfrm>
          <a:prstGeom prst="roundRect">
            <a:avLst>
              <a:gd name="adj" fmla="val 14071"/>
            </a:avLst>
          </a:prstGeom>
          <a:solidFill>
            <a:srgbClr val="FFFFFF"/>
          </a:solidFill>
          <a:ln w="12700" cap="rnd">
            <a:solidFill>
              <a:srgbClr val="9AA3AF"/>
            </a:solidFill>
            <a:prstDash val="dash"/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cxnSp>
        <p:nvCxnSpPr>
          <p:cNvPr id="242" name="arrow"/>
          <p:cNvCxnSpPr/>
          <p:nvPr/>
        </p:nvCxnSpPr>
        <p:spPr>
          <a:xfrm flipH="1">
            <a:off x="9528048" y="5468112"/>
            <a:ext cx="438912" cy="0"/>
          </a:xfrm>
          <a:prstGeom prst="straightConnector1">
            <a:avLst/>
          </a:prstGeom>
          <a:ln w="22225" cap="rnd">
            <a:solidFill>
              <a:srgbClr val="262626"/>
            </a:solidFill>
            <a:round/>
            <a:tailEnd type="triangle" w="med" len="med"/>
          </a:ln>
        </p:spPr>
      </p:cxnSp>
      <p:sp>
        <p:nvSpPr>
          <p:cNvPr id="243" name="clock"/>
          <p:cNvSpPr/>
          <p:nvPr/>
        </p:nvSpPr>
        <p:spPr>
          <a:xfrm>
            <a:off x="9628632" y="5824728"/>
            <a:ext cx="237744" cy="237744"/>
          </a:xfrm>
          <a:prstGeom prst="ellipse">
            <a:avLst/>
          </a:prstGeom>
          <a:solidFill>
            <a:srgbClr val="FFFFFF"/>
          </a:solidFill>
          <a:ln w="19050" cap="rnd">
            <a:solidFill>
              <a:srgbClr val="262626"/>
            </a:solidFill>
            <a:round/>
          </a:ln>
        </p:spPr>
        <p:txBody>
          <a:bodyPr wrap="square" lIns="45720" tIns="45720" rIns="45720" bIns="45720" anchor="ctr" rtlCol="0">
            <a:noAutofit/>
          </a:bodyPr>
          <a:lstStyle/>
          <a:p>
            <a:endParaRPr lang="en-US"/>
          </a:p>
        </p:txBody>
      </p:sp>
      <p:sp>
        <p:nvSpPr>
          <p:cNvPr id="244" name="hands"/>
          <p:cNvSpPr/>
          <p:nvPr/>
        </p:nvSpPr>
        <p:spPr>
          <a:xfrm>
            <a:off x="9628632" y="5824728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50000" y="50000"/>
                </a:moveTo>
                <a:lnTo>
                  <a:pt x="50000" y="18000"/>
                </a:lnTo>
              </a:path>
              <a:path w="100000" h="100000" fill="none">
                <a:moveTo>
                  <a:pt x="50000" y="50000"/>
                </a:moveTo>
                <a:lnTo>
                  <a:pt x="74000" y="62000"/>
                </a:lnTo>
              </a:path>
            </a:pathLst>
          </a:custGeom>
          <a:noFill/>
          <a:ln w="19050" cap="rnd">
            <a:solidFill>
              <a:srgbClr val="262626"/>
            </a:solidFill>
            <a:round/>
          </a:ln>
        </p:spPr>
      </p:sp>
      <p:sp>
        <p:nvSpPr>
          <p:cNvPr id="245" name="release"/>
          <p:cNvSpPr/>
          <p:nvPr/>
        </p:nvSpPr>
        <p:spPr>
          <a:xfrm>
            <a:off x="9948672" y="581558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1300" b="0" i="1" dirty="0">
                <a:solidFill>
                  <a:srgbClr val="5A5A5A"/>
                </a:solidFill>
                <a:latin typeface="Times New Roman"/>
                <a:ea typeface="Times New Roman"/>
                <a:cs typeface="Times New Roman"/>
              </a:rPr>
              <a:t>labels released after </a:t>
            </a:r>
            <a:r>
              <a:rPr lang="en-US" sz="1300" b="0" i="1" dirty="0">
                <a:solidFill>
                  <a:srgbClr val="5A5A5A"/>
                </a:solidFill>
                <a:latin typeface="Times New Roman"/>
                <a:ea typeface="Times New Roman"/>
                <a:cs typeface="Times New Roman"/>
              </a:rPr>
              <a:t>H</a:t>
            </a:r>
            <a:r>
              <a:rPr lang="en-US" sz="1300" b="0" i="1" dirty="0">
                <a:solidFill>
                  <a:srgbClr val="5A5A5A"/>
                </a:solidFill>
                <a:latin typeface="Times New Roman"/>
                <a:ea typeface="Times New Roman"/>
                <a:cs typeface="Times New Roman"/>
              </a:rPr>
              <a:t> steps</a:t>
            </a:r>
          </a:p>
        </p:txBody>
      </p:sp>
      <p:sp>
        <p:nvSpPr>
          <p:cNvPr id="246" name="title"/>
          <p:cNvSpPr/>
          <p:nvPr/>
        </p:nvSpPr>
        <p:spPr>
          <a:xfrm>
            <a:off x="228600" y="6019918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1800" b="1" i="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Causal Delayed-Feedback Pool</a:t>
            </a:r>
          </a:p>
        </p:txBody>
      </p:sp>
      <p:cxnSp>
        <p:nvCxnSpPr>
          <p:cNvPr id="247" name="arrow"/>
          <p:cNvCxnSpPr/>
          <p:nvPr/>
        </p:nvCxnSpPr>
        <p:spPr>
          <a:xfrm>
            <a:off x="11777472" y="1143000"/>
            <a:ext cx="158496" cy="0"/>
          </a:xfrm>
          <a:prstGeom prst="straightConnector1">
            <a:avLst/>
          </a:prstGeom>
          <a:ln w="22225" cap="rnd">
            <a:solidFill>
              <a:srgbClr val="262626"/>
            </a:solidFill>
            <a:round/>
          </a:ln>
        </p:spPr>
      </p:cxnSp>
      <p:cxnSp>
        <p:nvCxnSpPr>
          <p:cNvPr id="248" name="arrow"/>
          <p:cNvCxnSpPr/>
          <p:nvPr/>
        </p:nvCxnSpPr>
        <p:spPr>
          <a:xfrm>
            <a:off x="11935968" y="1143000"/>
            <a:ext cx="0" cy="4325112"/>
          </a:xfrm>
          <a:prstGeom prst="straightConnector1">
            <a:avLst/>
          </a:prstGeom>
          <a:ln w="22225" cap="rnd">
            <a:solidFill>
              <a:srgbClr val="262626"/>
            </a:solidFill>
            <a:round/>
          </a:ln>
        </p:spPr>
      </p:cxnSp>
      <p:cxnSp>
        <p:nvCxnSpPr>
          <p:cNvPr id="249" name="arrow"/>
          <p:cNvCxnSpPr/>
          <p:nvPr/>
        </p:nvCxnSpPr>
        <p:spPr>
          <a:xfrm flipH="1">
            <a:off x="11786616" y="5468112"/>
            <a:ext cx="149352" cy="0"/>
          </a:xfrm>
          <a:prstGeom prst="straightConnector1">
            <a:avLst/>
          </a:prstGeom>
          <a:ln w="22225" cap="rnd">
            <a:solidFill>
              <a:srgbClr val="262626"/>
            </a:solidFill>
            <a:round/>
            <a:tailEnd type="triangle" w="med" len="med"/>
          </a:ln>
        </p:spPr>
      </p:cxnSp>
      <p:sp>
        <p:nvSpPr>
          <p:cNvPr id="250" name="store"/>
          <p:cNvSpPr/>
          <p:nvPr/>
        </p:nvSpPr>
        <p:spPr>
          <a:xfrm>
            <a:off x="10747248" y="1911096"/>
            <a:ext cx="11247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/>
            <a:r>
              <a:rPr lang="en-US" sz="1300" b="0" i="1" dirty="0">
                <a:solidFill>
                  <a:srgbClr val="5A5A5A"/>
                </a:solidFill>
                <a:latin typeface="Times New Roman"/>
                <a:ea typeface="Times New Roman"/>
                <a:cs typeface="Times New Roman"/>
              </a:rPr>
              <a:t>store record</a:t>
            </a:r>
          </a:p>
        </p:txBody>
      </p:sp>
      <p:cxnSp>
        <p:nvCxnSpPr>
          <p:cNvPr id="251" name="arrow"/>
          <p:cNvCxnSpPr/>
          <p:nvPr/>
        </p:nvCxnSpPr>
        <p:spPr>
          <a:xfrm flipV="1">
            <a:off x="1645920" y="4425696"/>
            <a:ext cx="0" cy="694944"/>
          </a:xfrm>
          <a:prstGeom prst="straightConnector1">
            <a:avLst/>
          </a:prstGeom>
          <a:ln w="24130" cap="rnd">
            <a:solidFill>
              <a:srgbClr val="548235"/>
            </a:solidFill>
            <a:round/>
            <a:tailEnd type="triangle" w="med" len="med"/>
          </a:ln>
        </p:spPr>
      </p:cxnSp>
      <p:cxnSp>
        <p:nvCxnSpPr>
          <p:cNvPr id="252" name="arrow"/>
          <p:cNvCxnSpPr/>
          <p:nvPr/>
        </p:nvCxnSpPr>
        <p:spPr>
          <a:xfrm flipV="1">
            <a:off x="5623560" y="4425696"/>
            <a:ext cx="0" cy="694944"/>
          </a:xfrm>
          <a:prstGeom prst="straightConnector1">
            <a:avLst/>
          </a:prstGeom>
          <a:ln w="24130" cap="rnd">
            <a:solidFill>
              <a:srgbClr val="548235"/>
            </a:solidFill>
            <a:round/>
            <a:tailEnd type="triangle" w="med" len="med"/>
          </a:ln>
        </p:spPr>
      </p:cxnSp>
      <p:cxnSp>
        <p:nvCxnSpPr>
          <p:cNvPr id="253" name="arrow"/>
          <p:cNvCxnSpPr/>
          <p:nvPr/>
        </p:nvCxnSpPr>
        <p:spPr>
          <a:xfrm flipV="1">
            <a:off x="9144000" y="4425696"/>
            <a:ext cx="0" cy="694944"/>
          </a:xfrm>
          <a:prstGeom prst="straightConnector1">
            <a:avLst/>
          </a:prstGeom>
          <a:ln w="24130" cap="rnd">
            <a:solidFill>
              <a:srgbClr val="548235"/>
            </a:solidFill>
            <a:round/>
            <a:tailEnd type="triangle" w="med" len="med"/>
          </a:ln>
        </p:spPr>
      </p:cxnSp>
      <p:sp>
        <p:nvSpPr>
          <p:cNvPr id="254" name="released labels"/>
          <p:cNvSpPr/>
          <p:nvPr/>
        </p:nvSpPr>
        <p:spPr>
          <a:xfrm>
            <a:off x="1737360" y="44622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1300" b="0" i="1" dirty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rPr>
              <a:t>released labels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