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40000" cy="70008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H7 green-gray revision, 2026-10-17 Sydney. Eight existing nodes per panel; four new nodes in deployment, with plus signs and outer rings. Road blocks ECEFED; existing nodes 65717D; new nodes 159447; updates 126A3B; pending targets F1D7A5. All visual components are native editable vector shapes. Signal curves are conceptual, not measured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eutral title band"/>
          <p:cNvSpPr/>
          <p:nvPr/>
        </p:nvSpPr>
        <p:spPr>
          <a:xfrm>
            <a:off x="457200" y="114300"/>
            <a:ext cx="6496050" cy="485775"/>
          </a:xfrm>
          <a:prstGeom prst="rect">
            <a:avLst/>
          </a:prstGeom>
          <a:solidFill>
            <a:srgbClr val="F0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eutral title band"/>
          <p:cNvSpPr/>
          <p:nvPr/>
        </p:nvSpPr>
        <p:spPr>
          <a:xfrm>
            <a:off x="8286750" y="114300"/>
            <a:ext cx="6496050" cy="485775"/>
          </a:xfrm>
          <a:prstGeom prst="rect">
            <a:avLst/>
          </a:prstGeom>
          <a:solidFill>
            <a:srgbClr val="F0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(a) At training"/>
          <p:cNvSpPr txBox="1"/>
          <p:nvPr/>
        </p:nvSpPr>
        <p:spPr>
          <a:xfrm>
            <a:off x="666750" y="190500"/>
            <a:ext cx="6076950" cy="51863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defRPr sz="2475" b="1">
                <a:solidFill>
                  <a:srgbClr val="242830"/>
                </a:solidFill>
                <a:latin typeface="Times New Roman"/>
              </a:defRPr>
            </a:pPr>
            <a:r>
              <a:t>(a) At training</a:t>
            </a:r>
          </a:p>
        </p:txBody>
      </p:sp>
      <p:sp>
        <p:nvSpPr>
          <p:cNvPr id="5" name="(b) During deployment"/>
          <p:cNvSpPr txBox="1"/>
          <p:nvPr/>
        </p:nvSpPr>
        <p:spPr>
          <a:xfrm>
            <a:off x="8496300" y="190500"/>
            <a:ext cx="6076950" cy="51863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defRPr sz="2475" b="1">
                <a:solidFill>
                  <a:srgbClr val="242830"/>
                </a:solidFill>
                <a:latin typeface="Times New Roman"/>
              </a:defRPr>
            </a:pPr>
            <a:r>
              <a:t>(b) During deployment</a:t>
            </a:r>
          </a:p>
        </p:txBody>
      </p:sp>
      <p:sp>
        <p:nvSpPr>
          <p:cNvPr id="6" name="Known sensors and historical targets"/>
          <p:cNvSpPr txBox="1"/>
          <p:nvPr/>
        </p:nvSpPr>
        <p:spPr>
          <a:xfrm>
            <a:off x="457200" y="762000"/>
            <a:ext cx="6496050" cy="42433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defRPr sz="2025" b="0">
                <a:solidFill>
                  <a:srgbClr val="242830"/>
                </a:solidFill>
                <a:latin typeface="Times New Roman"/>
              </a:defRPr>
            </a:pPr>
            <a:r>
              <a:t>Known sensors and historical targets</a:t>
            </a:r>
          </a:p>
        </p:txBody>
      </p:sp>
      <p:sp>
        <p:nvSpPr>
          <p:cNvPr id="7" name="New sensors, shifted signals, delayed targets"/>
          <p:cNvSpPr txBox="1"/>
          <p:nvPr/>
        </p:nvSpPr>
        <p:spPr>
          <a:xfrm>
            <a:off x="8286750" y="762000"/>
            <a:ext cx="6496050" cy="42433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defRPr sz="2025" b="0">
                <a:solidFill>
                  <a:srgbClr val="242830"/>
                </a:solidFill>
                <a:latin typeface="Times New Roman"/>
              </a:defRPr>
            </a:pPr>
            <a:r>
              <a:t>New sensors, shifted signals, delayed targets</a:t>
            </a:r>
          </a:p>
        </p:txBody>
      </p:sp>
      <p:grpSp>
        <p:nvGrpSpPr>
          <p:cNvPr id="8" name="training road network — all native editable shapes"/>
          <p:cNvGrpSpPr/>
          <p:nvPr/>
        </p:nvGrpSpPr>
        <p:grpSpPr>
          <a:xfrm>
            <a:off x="518506" y="1256267"/>
            <a:ext cx="6365680" cy="3040539"/>
            <a:chOff x="518506" y="1465817"/>
            <a:chExt cx="6365680" cy="3040539"/>
          </a:xfrm>
        </p:grpSpPr>
        <p:sp>
          <p:nvSpPr>
            <p:cNvPr id="9" name="training gray city block 1,1"/>
            <p:cNvSpPr/>
            <p:nvPr/>
          </p:nvSpPr>
          <p:spPr>
            <a:xfrm>
              <a:off x="670906" y="1513442"/>
              <a:ext cx="1069586" cy="750888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raining gray city block 1,2"/>
            <p:cNvSpPr/>
            <p:nvPr/>
          </p:nvSpPr>
          <p:spPr>
            <a:xfrm>
              <a:off x="670906" y="2435781"/>
              <a:ext cx="1069586" cy="728301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raining gray city block 1,3"/>
            <p:cNvSpPr/>
            <p:nvPr/>
          </p:nvSpPr>
          <p:spPr>
            <a:xfrm>
              <a:off x="670906" y="3335532"/>
              <a:ext cx="1069586" cy="712788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raining gray city block 2,1"/>
            <p:cNvSpPr/>
            <p:nvPr/>
          </p:nvSpPr>
          <p:spPr>
            <a:xfrm>
              <a:off x="1911943" y="1513442"/>
              <a:ext cx="1077342" cy="750888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raining gray city block 2,2"/>
            <p:cNvSpPr/>
            <p:nvPr/>
          </p:nvSpPr>
          <p:spPr>
            <a:xfrm>
              <a:off x="1911943" y="2435781"/>
              <a:ext cx="1077342" cy="728301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raining gray city block 2,3"/>
            <p:cNvSpPr/>
            <p:nvPr/>
          </p:nvSpPr>
          <p:spPr>
            <a:xfrm>
              <a:off x="1911943" y="3335532"/>
              <a:ext cx="1077342" cy="712788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raining gray city block 3,1"/>
            <p:cNvSpPr/>
            <p:nvPr/>
          </p:nvSpPr>
          <p:spPr>
            <a:xfrm>
              <a:off x="3160736" y="1513442"/>
              <a:ext cx="1085099" cy="750888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raining gray city block 3,2"/>
            <p:cNvSpPr/>
            <p:nvPr/>
          </p:nvSpPr>
          <p:spPr>
            <a:xfrm>
              <a:off x="3160736" y="2435781"/>
              <a:ext cx="1085099" cy="728301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raining gray city block 3,3"/>
            <p:cNvSpPr/>
            <p:nvPr/>
          </p:nvSpPr>
          <p:spPr>
            <a:xfrm>
              <a:off x="3160736" y="3335532"/>
              <a:ext cx="1085099" cy="712788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raining gray city block 4,1"/>
            <p:cNvSpPr/>
            <p:nvPr/>
          </p:nvSpPr>
          <p:spPr>
            <a:xfrm>
              <a:off x="4417285" y="1513442"/>
              <a:ext cx="1085099" cy="750888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raining gray city block 4,2"/>
            <p:cNvSpPr/>
            <p:nvPr/>
          </p:nvSpPr>
          <p:spPr>
            <a:xfrm>
              <a:off x="4417285" y="2435781"/>
              <a:ext cx="1085099" cy="728301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raining gray city block 4,3"/>
            <p:cNvSpPr/>
            <p:nvPr/>
          </p:nvSpPr>
          <p:spPr>
            <a:xfrm>
              <a:off x="4417285" y="3335532"/>
              <a:ext cx="1085099" cy="712788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raining gray city block 5,1"/>
            <p:cNvSpPr/>
            <p:nvPr/>
          </p:nvSpPr>
          <p:spPr>
            <a:xfrm>
              <a:off x="5673834" y="1513442"/>
              <a:ext cx="1057951" cy="750888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raining gray city block 5,2"/>
            <p:cNvSpPr/>
            <p:nvPr/>
          </p:nvSpPr>
          <p:spPr>
            <a:xfrm>
              <a:off x="5673834" y="2435781"/>
              <a:ext cx="1057951" cy="728301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raining gray city block 5,3"/>
            <p:cNvSpPr/>
            <p:nvPr/>
          </p:nvSpPr>
          <p:spPr>
            <a:xfrm>
              <a:off x="5673834" y="3335532"/>
              <a:ext cx="1057951" cy="712788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raining vertical road 1"/>
            <p:cNvSpPr/>
            <p:nvPr/>
          </p:nvSpPr>
          <p:spPr>
            <a:xfrm>
              <a:off x="518506" y="1465817"/>
              <a:ext cx="133350" cy="3040539"/>
            </a:xfrm>
            <a:prstGeom prst="rect">
              <a:avLst/>
            </a:prstGeom>
            <a:solidFill>
              <a:srgbClr val="BEC8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raining vertical road 2"/>
            <p:cNvSpPr/>
            <p:nvPr/>
          </p:nvSpPr>
          <p:spPr>
            <a:xfrm>
              <a:off x="1759543" y="1465817"/>
              <a:ext cx="133350" cy="3040539"/>
            </a:xfrm>
            <a:prstGeom prst="rect">
              <a:avLst/>
            </a:prstGeom>
            <a:solidFill>
              <a:srgbClr val="BEC8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raining vertical road 3"/>
            <p:cNvSpPr/>
            <p:nvPr/>
          </p:nvSpPr>
          <p:spPr>
            <a:xfrm>
              <a:off x="3008336" y="1465817"/>
              <a:ext cx="133350" cy="3040539"/>
            </a:xfrm>
            <a:prstGeom prst="rect">
              <a:avLst/>
            </a:prstGeom>
            <a:solidFill>
              <a:srgbClr val="BEC8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raining vertical road 4"/>
            <p:cNvSpPr/>
            <p:nvPr/>
          </p:nvSpPr>
          <p:spPr>
            <a:xfrm>
              <a:off x="4264885" y="1465817"/>
              <a:ext cx="133350" cy="3040539"/>
            </a:xfrm>
            <a:prstGeom prst="rect">
              <a:avLst/>
            </a:prstGeom>
            <a:solidFill>
              <a:srgbClr val="BEC8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raining vertical road 5"/>
            <p:cNvSpPr/>
            <p:nvPr/>
          </p:nvSpPr>
          <p:spPr>
            <a:xfrm>
              <a:off x="5521434" y="1465817"/>
              <a:ext cx="133350" cy="3040539"/>
            </a:xfrm>
            <a:prstGeom prst="rect">
              <a:avLst/>
            </a:prstGeom>
            <a:solidFill>
              <a:srgbClr val="BEC8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raining vertical road 6"/>
            <p:cNvSpPr/>
            <p:nvPr/>
          </p:nvSpPr>
          <p:spPr>
            <a:xfrm>
              <a:off x="6750836" y="1465817"/>
              <a:ext cx="133350" cy="3040539"/>
            </a:xfrm>
            <a:prstGeom prst="rect">
              <a:avLst/>
            </a:prstGeom>
            <a:solidFill>
              <a:srgbClr val="BEC8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raining horizontal road 1"/>
            <p:cNvSpPr/>
            <p:nvPr/>
          </p:nvSpPr>
          <p:spPr>
            <a:xfrm>
              <a:off x="518506" y="2283381"/>
              <a:ext cx="6365679" cy="133350"/>
            </a:xfrm>
            <a:prstGeom prst="rect">
              <a:avLst/>
            </a:prstGeom>
            <a:solidFill>
              <a:srgbClr val="BEC8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raining horizontal road 2"/>
            <p:cNvSpPr/>
            <p:nvPr/>
          </p:nvSpPr>
          <p:spPr>
            <a:xfrm>
              <a:off x="518506" y="3183132"/>
              <a:ext cx="6365679" cy="133350"/>
            </a:xfrm>
            <a:prstGeom prst="rect">
              <a:avLst/>
            </a:prstGeom>
            <a:solidFill>
              <a:srgbClr val="BEC8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raining horizontal road 3"/>
            <p:cNvSpPr/>
            <p:nvPr/>
          </p:nvSpPr>
          <p:spPr>
            <a:xfrm>
              <a:off x="518506" y="4067371"/>
              <a:ext cx="6365679" cy="133350"/>
            </a:xfrm>
            <a:prstGeom prst="rect">
              <a:avLst/>
            </a:prstGeom>
            <a:solidFill>
              <a:srgbClr val="BEC8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3" name="training road center marking"/>
            <p:cNvCxnSpPr/>
            <p:nvPr/>
          </p:nvCxnSpPr>
          <p:spPr>
            <a:xfrm>
              <a:off x="585181" y="1494392"/>
              <a:ext cx="0" cy="2983390"/>
            </a:xfrm>
            <a:prstGeom prst="line">
              <a:avLst/>
            </a:prstGeom>
            <a:ln w="9525">
              <a:solidFill>
                <a:srgbClr val="FFFFF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training road center marking"/>
            <p:cNvCxnSpPr/>
            <p:nvPr/>
          </p:nvCxnSpPr>
          <p:spPr>
            <a:xfrm>
              <a:off x="1826218" y="1494392"/>
              <a:ext cx="0" cy="2983390"/>
            </a:xfrm>
            <a:prstGeom prst="line">
              <a:avLst/>
            </a:prstGeom>
            <a:ln w="9525">
              <a:solidFill>
                <a:srgbClr val="FFFFF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training road center marking"/>
            <p:cNvCxnSpPr/>
            <p:nvPr/>
          </p:nvCxnSpPr>
          <p:spPr>
            <a:xfrm>
              <a:off x="3075011" y="1494392"/>
              <a:ext cx="0" cy="2983390"/>
            </a:xfrm>
            <a:prstGeom prst="line">
              <a:avLst/>
            </a:prstGeom>
            <a:ln w="9525">
              <a:solidFill>
                <a:srgbClr val="FFFFF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training road center marking"/>
            <p:cNvCxnSpPr/>
            <p:nvPr/>
          </p:nvCxnSpPr>
          <p:spPr>
            <a:xfrm>
              <a:off x="4331560" y="1494392"/>
              <a:ext cx="0" cy="2983390"/>
            </a:xfrm>
            <a:prstGeom prst="line">
              <a:avLst/>
            </a:prstGeom>
            <a:ln w="9525">
              <a:solidFill>
                <a:srgbClr val="FFFFF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training road center marking"/>
            <p:cNvCxnSpPr/>
            <p:nvPr/>
          </p:nvCxnSpPr>
          <p:spPr>
            <a:xfrm>
              <a:off x="5588109" y="1494392"/>
              <a:ext cx="0" cy="2983390"/>
            </a:xfrm>
            <a:prstGeom prst="line">
              <a:avLst/>
            </a:prstGeom>
            <a:ln w="9525">
              <a:solidFill>
                <a:srgbClr val="FFFFF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training road center marking"/>
            <p:cNvCxnSpPr/>
            <p:nvPr/>
          </p:nvCxnSpPr>
          <p:spPr>
            <a:xfrm>
              <a:off x="6817511" y="1494392"/>
              <a:ext cx="0" cy="2983390"/>
            </a:xfrm>
            <a:prstGeom prst="line">
              <a:avLst/>
            </a:prstGeom>
            <a:ln w="9525">
              <a:solidFill>
                <a:srgbClr val="FFFFF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training road center marking"/>
            <p:cNvCxnSpPr/>
            <p:nvPr/>
          </p:nvCxnSpPr>
          <p:spPr>
            <a:xfrm>
              <a:off x="585181" y="2350056"/>
              <a:ext cx="6232330" cy="0"/>
            </a:xfrm>
            <a:prstGeom prst="line">
              <a:avLst/>
            </a:prstGeom>
            <a:ln w="9525">
              <a:solidFill>
                <a:srgbClr val="FFFFF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training road center marking"/>
            <p:cNvCxnSpPr/>
            <p:nvPr/>
          </p:nvCxnSpPr>
          <p:spPr>
            <a:xfrm>
              <a:off x="585181" y="3249807"/>
              <a:ext cx="6232330" cy="0"/>
            </a:xfrm>
            <a:prstGeom prst="line">
              <a:avLst/>
            </a:prstGeom>
            <a:ln w="9525">
              <a:solidFill>
                <a:srgbClr val="FFFFF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training road center marking"/>
            <p:cNvCxnSpPr/>
            <p:nvPr/>
          </p:nvCxnSpPr>
          <p:spPr>
            <a:xfrm>
              <a:off x="585181" y="4134046"/>
              <a:ext cx="6232330" cy="0"/>
            </a:xfrm>
            <a:prstGeom prst="line">
              <a:avLst/>
            </a:prstGeom>
            <a:ln w="9525">
              <a:solidFill>
                <a:srgbClr val="FFFFF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training existing graph edge"/>
            <p:cNvCxnSpPr/>
            <p:nvPr/>
          </p:nvCxnSpPr>
          <p:spPr>
            <a:xfrm>
              <a:off x="1826218" y="2350056"/>
              <a:ext cx="1248793" cy="0"/>
            </a:xfrm>
            <a:prstGeom prst="line">
              <a:avLst/>
            </a:prstGeom>
            <a:ln w="20002">
              <a:solidFill>
                <a:srgbClr val="65717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training existing graph edge"/>
            <p:cNvCxnSpPr/>
            <p:nvPr/>
          </p:nvCxnSpPr>
          <p:spPr>
            <a:xfrm>
              <a:off x="3075011" y="2350056"/>
              <a:ext cx="1256549" cy="0"/>
            </a:xfrm>
            <a:prstGeom prst="line">
              <a:avLst/>
            </a:prstGeom>
            <a:ln w="20002">
              <a:solidFill>
                <a:srgbClr val="65717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training existing graph edge"/>
            <p:cNvCxnSpPr/>
            <p:nvPr/>
          </p:nvCxnSpPr>
          <p:spPr>
            <a:xfrm>
              <a:off x="1826218" y="3249807"/>
              <a:ext cx="1248793" cy="0"/>
            </a:xfrm>
            <a:prstGeom prst="line">
              <a:avLst/>
            </a:prstGeom>
            <a:ln w="20002">
              <a:solidFill>
                <a:srgbClr val="65717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training existing graph edge"/>
            <p:cNvCxnSpPr/>
            <p:nvPr/>
          </p:nvCxnSpPr>
          <p:spPr>
            <a:xfrm>
              <a:off x="3075011" y="3249807"/>
              <a:ext cx="1256549" cy="0"/>
            </a:xfrm>
            <a:prstGeom prst="line">
              <a:avLst/>
            </a:prstGeom>
            <a:ln w="20002">
              <a:solidFill>
                <a:srgbClr val="65717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training existing graph edge"/>
            <p:cNvCxnSpPr/>
            <p:nvPr/>
          </p:nvCxnSpPr>
          <p:spPr>
            <a:xfrm>
              <a:off x="3075011" y="4134046"/>
              <a:ext cx="1256549" cy="0"/>
            </a:xfrm>
            <a:prstGeom prst="line">
              <a:avLst/>
            </a:prstGeom>
            <a:ln w="20002">
              <a:solidFill>
                <a:srgbClr val="65717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training existing graph edge"/>
            <p:cNvCxnSpPr/>
            <p:nvPr/>
          </p:nvCxnSpPr>
          <p:spPr>
            <a:xfrm>
              <a:off x="1826218" y="2350056"/>
              <a:ext cx="0" cy="899751"/>
            </a:xfrm>
            <a:prstGeom prst="line">
              <a:avLst/>
            </a:prstGeom>
            <a:ln w="20002">
              <a:solidFill>
                <a:srgbClr val="65717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training existing graph edge"/>
            <p:cNvCxnSpPr/>
            <p:nvPr/>
          </p:nvCxnSpPr>
          <p:spPr>
            <a:xfrm>
              <a:off x="3075011" y="2350056"/>
              <a:ext cx="0" cy="899751"/>
            </a:xfrm>
            <a:prstGeom prst="line">
              <a:avLst/>
            </a:prstGeom>
            <a:ln w="20002">
              <a:solidFill>
                <a:srgbClr val="65717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training existing graph edge"/>
            <p:cNvCxnSpPr/>
            <p:nvPr/>
          </p:nvCxnSpPr>
          <p:spPr>
            <a:xfrm>
              <a:off x="3075011" y="3249807"/>
              <a:ext cx="0" cy="884239"/>
            </a:xfrm>
            <a:prstGeom prst="line">
              <a:avLst/>
            </a:prstGeom>
            <a:ln w="20002">
              <a:solidFill>
                <a:srgbClr val="65717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training existing graph edge"/>
            <p:cNvCxnSpPr/>
            <p:nvPr/>
          </p:nvCxnSpPr>
          <p:spPr>
            <a:xfrm>
              <a:off x="4331560" y="2350056"/>
              <a:ext cx="0" cy="899751"/>
            </a:xfrm>
            <a:prstGeom prst="line">
              <a:avLst/>
            </a:prstGeom>
            <a:ln w="20002">
              <a:solidFill>
                <a:srgbClr val="65717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training existing graph edge"/>
            <p:cNvCxnSpPr/>
            <p:nvPr/>
          </p:nvCxnSpPr>
          <p:spPr>
            <a:xfrm>
              <a:off x="4331560" y="3249807"/>
              <a:ext cx="0" cy="884239"/>
            </a:xfrm>
            <a:prstGeom prst="line">
              <a:avLst/>
            </a:prstGeom>
            <a:ln w="20002">
              <a:solidFill>
                <a:srgbClr val="65717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training existing sensor 1"/>
            <p:cNvGrpSpPr/>
            <p:nvPr/>
          </p:nvGrpSpPr>
          <p:grpSpPr>
            <a:xfrm>
              <a:off x="1664293" y="2188131"/>
              <a:ext cx="323850" cy="323850"/>
              <a:chOff x="1664293" y="2188131"/>
              <a:chExt cx="323850" cy="323850"/>
            </a:xfrm>
          </p:grpSpPr>
          <p:sp>
            <p:nvSpPr>
              <p:cNvPr id="53" name="Oval 52"/>
              <p:cNvSpPr/>
              <p:nvPr/>
            </p:nvSpPr>
            <p:spPr>
              <a:xfrm>
                <a:off x="1664293" y="2188131"/>
                <a:ext cx="323850" cy="323850"/>
              </a:xfrm>
              <a:prstGeom prst="ellipse">
                <a:avLst/>
              </a:prstGeom>
              <a:solidFill>
                <a:srgbClr val="65717D"/>
              </a:solidFill>
              <a:ln w="1905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4" name="training existing sensor 2"/>
            <p:cNvGrpSpPr/>
            <p:nvPr/>
          </p:nvGrpSpPr>
          <p:grpSpPr>
            <a:xfrm>
              <a:off x="2913086" y="2188131"/>
              <a:ext cx="323850" cy="323850"/>
              <a:chOff x="2913086" y="2188131"/>
              <a:chExt cx="323850" cy="323850"/>
            </a:xfrm>
          </p:grpSpPr>
          <p:sp>
            <p:nvSpPr>
              <p:cNvPr id="55" name="Oval 54"/>
              <p:cNvSpPr/>
              <p:nvPr/>
            </p:nvSpPr>
            <p:spPr>
              <a:xfrm>
                <a:off x="2913086" y="2188131"/>
                <a:ext cx="323850" cy="323850"/>
              </a:xfrm>
              <a:prstGeom prst="ellipse">
                <a:avLst/>
              </a:prstGeom>
              <a:solidFill>
                <a:srgbClr val="65717D"/>
              </a:solidFill>
              <a:ln w="1905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6" name="training existing sensor 3"/>
            <p:cNvGrpSpPr/>
            <p:nvPr/>
          </p:nvGrpSpPr>
          <p:grpSpPr>
            <a:xfrm>
              <a:off x="4169635" y="2188131"/>
              <a:ext cx="323850" cy="323850"/>
              <a:chOff x="4169635" y="2188131"/>
              <a:chExt cx="323850" cy="323850"/>
            </a:xfrm>
          </p:grpSpPr>
          <p:sp>
            <p:nvSpPr>
              <p:cNvPr id="57" name="Oval 56"/>
              <p:cNvSpPr/>
              <p:nvPr/>
            </p:nvSpPr>
            <p:spPr>
              <a:xfrm>
                <a:off x="4169635" y="2188131"/>
                <a:ext cx="323850" cy="323850"/>
              </a:xfrm>
              <a:prstGeom prst="ellipse">
                <a:avLst/>
              </a:prstGeom>
              <a:solidFill>
                <a:srgbClr val="65717D"/>
              </a:solidFill>
              <a:ln w="1905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8" name="training existing sensor 4"/>
            <p:cNvGrpSpPr/>
            <p:nvPr/>
          </p:nvGrpSpPr>
          <p:grpSpPr>
            <a:xfrm>
              <a:off x="1664293" y="3087882"/>
              <a:ext cx="323850" cy="323850"/>
              <a:chOff x="1664293" y="3087882"/>
              <a:chExt cx="323850" cy="323850"/>
            </a:xfrm>
          </p:grpSpPr>
          <p:sp>
            <p:nvSpPr>
              <p:cNvPr id="59" name="Oval 58"/>
              <p:cNvSpPr/>
              <p:nvPr/>
            </p:nvSpPr>
            <p:spPr>
              <a:xfrm>
                <a:off x="1664293" y="3087882"/>
                <a:ext cx="323850" cy="323850"/>
              </a:xfrm>
              <a:prstGeom prst="ellipse">
                <a:avLst/>
              </a:prstGeom>
              <a:solidFill>
                <a:srgbClr val="65717D"/>
              </a:solidFill>
              <a:ln w="1905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0" name="training existing sensor 5"/>
            <p:cNvGrpSpPr/>
            <p:nvPr/>
          </p:nvGrpSpPr>
          <p:grpSpPr>
            <a:xfrm>
              <a:off x="2913086" y="3087882"/>
              <a:ext cx="323850" cy="323850"/>
              <a:chOff x="2913086" y="3087882"/>
              <a:chExt cx="323850" cy="323850"/>
            </a:xfrm>
          </p:grpSpPr>
          <p:sp>
            <p:nvSpPr>
              <p:cNvPr id="61" name="Oval 60"/>
              <p:cNvSpPr/>
              <p:nvPr/>
            </p:nvSpPr>
            <p:spPr>
              <a:xfrm>
                <a:off x="2913086" y="3087882"/>
                <a:ext cx="323850" cy="323850"/>
              </a:xfrm>
              <a:prstGeom prst="ellipse">
                <a:avLst/>
              </a:prstGeom>
              <a:solidFill>
                <a:srgbClr val="65717D"/>
              </a:solidFill>
              <a:ln w="1905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2" name="training existing sensor 6"/>
            <p:cNvGrpSpPr/>
            <p:nvPr/>
          </p:nvGrpSpPr>
          <p:grpSpPr>
            <a:xfrm>
              <a:off x="4169635" y="3087882"/>
              <a:ext cx="323850" cy="323850"/>
              <a:chOff x="4169635" y="3087882"/>
              <a:chExt cx="323850" cy="323850"/>
            </a:xfrm>
          </p:grpSpPr>
          <p:sp>
            <p:nvSpPr>
              <p:cNvPr id="63" name="Oval 62"/>
              <p:cNvSpPr/>
              <p:nvPr/>
            </p:nvSpPr>
            <p:spPr>
              <a:xfrm>
                <a:off x="4169635" y="3087882"/>
                <a:ext cx="323850" cy="323850"/>
              </a:xfrm>
              <a:prstGeom prst="ellipse">
                <a:avLst/>
              </a:prstGeom>
              <a:solidFill>
                <a:srgbClr val="65717D"/>
              </a:solidFill>
              <a:ln w="1905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4" name="training existing sensor 7"/>
            <p:cNvGrpSpPr/>
            <p:nvPr/>
          </p:nvGrpSpPr>
          <p:grpSpPr>
            <a:xfrm>
              <a:off x="2913086" y="3972121"/>
              <a:ext cx="323850" cy="323850"/>
              <a:chOff x="2913086" y="3972121"/>
              <a:chExt cx="323850" cy="323850"/>
            </a:xfrm>
          </p:grpSpPr>
          <p:sp>
            <p:nvSpPr>
              <p:cNvPr id="65" name="Oval 64"/>
              <p:cNvSpPr/>
              <p:nvPr/>
            </p:nvSpPr>
            <p:spPr>
              <a:xfrm>
                <a:off x="2913086" y="3972121"/>
                <a:ext cx="323850" cy="323850"/>
              </a:xfrm>
              <a:prstGeom prst="ellipse">
                <a:avLst/>
              </a:prstGeom>
              <a:solidFill>
                <a:srgbClr val="65717D"/>
              </a:solidFill>
              <a:ln w="1905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6" name="training existing sensor 8"/>
            <p:cNvGrpSpPr/>
            <p:nvPr/>
          </p:nvGrpSpPr>
          <p:grpSpPr>
            <a:xfrm>
              <a:off x="4169635" y="3972121"/>
              <a:ext cx="323850" cy="323850"/>
              <a:chOff x="4169635" y="3972121"/>
              <a:chExt cx="323850" cy="323850"/>
            </a:xfrm>
          </p:grpSpPr>
          <p:sp>
            <p:nvSpPr>
              <p:cNvPr id="67" name="Oval 66"/>
              <p:cNvSpPr/>
              <p:nvPr/>
            </p:nvSpPr>
            <p:spPr>
              <a:xfrm>
                <a:off x="4169635" y="3972121"/>
                <a:ext cx="323850" cy="323850"/>
              </a:xfrm>
              <a:prstGeom prst="ellipse">
                <a:avLst/>
              </a:prstGeom>
              <a:solidFill>
                <a:srgbClr val="65717D"/>
              </a:solidFill>
              <a:ln w="1905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68" name="deployment road network — all native editable shapes"/>
          <p:cNvGrpSpPr/>
          <p:nvPr/>
        </p:nvGrpSpPr>
        <p:grpSpPr>
          <a:xfrm>
            <a:off x="8348056" y="1256267"/>
            <a:ext cx="6527605" cy="3040539"/>
            <a:chOff x="8348056" y="1465817"/>
            <a:chExt cx="6527605" cy="3040539"/>
          </a:xfrm>
        </p:grpSpPr>
        <p:sp>
          <p:nvSpPr>
            <p:cNvPr id="69" name="deployment gray city block 1,1"/>
            <p:cNvSpPr/>
            <p:nvPr/>
          </p:nvSpPr>
          <p:spPr>
            <a:xfrm>
              <a:off x="8500456" y="1513442"/>
              <a:ext cx="1069586" cy="750888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deployment gray city block 1,2"/>
            <p:cNvSpPr/>
            <p:nvPr/>
          </p:nvSpPr>
          <p:spPr>
            <a:xfrm>
              <a:off x="8500456" y="2435781"/>
              <a:ext cx="1069586" cy="728301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deployment gray city block 1,3"/>
            <p:cNvSpPr/>
            <p:nvPr/>
          </p:nvSpPr>
          <p:spPr>
            <a:xfrm>
              <a:off x="8500456" y="3335532"/>
              <a:ext cx="1069586" cy="712788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deployment gray city block 2,1"/>
            <p:cNvSpPr/>
            <p:nvPr/>
          </p:nvSpPr>
          <p:spPr>
            <a:xfrm>
              <a:off x="9741493" y="1513442"/>
              <a:ext cx="1077342" cy="750888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deployment gray city block 2,2"/>
            <p:cNvSpPr/>
            <p:nvPr/>
          </p:nvSpPr>
          <p:spPr>
            <a:xfrm>
              <a:off x="9741493" y="2435781"/>
              <a:ext cx="1077342" cy="728301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deployment gray city block 2,3"/>
            <p:cNvSpPr/>
            <p:nvPr/>
          </p:nvSpPr>
          <p:spPr>
            <a:xfrm>
              <a:off x="9741493" y="3335532"/>
              <a:ext cx="1077342" cy="712788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deployment gray city block 3,1"/>
            <p:cNvSpPr/>
            <p:nvPr/>
          </p:nvSpPr>
          <p:spPr>
            <a:xfrm>
              <a:off x="10990286" y="1513442"/>
              <a:ext cx="1085099" cy="750888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deployment gray city block 3,2"/>
            <p:cNvSpPr/>
            <p:nvPr/>
          </p:nvSpPr>
          <p:spPr>
            <a:xfrm>
              <a:off x="10990286" y="2435781"/>
              <a:ext cx="1085099" cy="728301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deployment gray city block 3,3"/>
            <p:cNvSpPr/>
            <p:nvPr/>
          </p:nvSpPr>
          <p:spPr>
            <a:xfrm>
              <a:off x="10990286" y="3335532"/>
              <a:ext cx="1085099" cy="712788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deployment gray city block 4,1"/>
            <p:cNvSpPr/>
            <p:nvPr/>
          </p:nvSpPr>
          <p:spPr>
            <a:xfrm>
              <a:off x="12246835" y="1513442"/>
              <a:ext cx="1085099" cy="750888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deployment gray city block 4,2"/>
            <p:cNvSpPr/>
            <p:nvPr/>
          </p:nvSpPr>
          <p:spPr>
            <a:xfrm>
              <a:off x="12246835" y="2435781"/>
              <a:ext cx="1085099" cy="728301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deployment gray city block 4,3"/>
            <p:cNvSpPr/>
            <p:nvPr/>
          </p:nvSpPr>
          <p:spPr>
            <a:xfrm>
              <a:off x="12246835" y="3335532"/>
              <a:ext cx="1085099" cy="712788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deployment gray city block 5,1"/>
            <p:cNvSpPr/>
            <p:nvPr/>
          </p:nvSpPr>
          <p:spPr>
            <a:xfrm>
              <a:off x="13503384" y="1513442"/>
              <a:ext cx="1057951" cy="750888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deployment gray city block 5,2"/>
            <p:cNvSpPr/>
            <p:nvPr/>
          </p:nvSpPr>
          <p:spPr>
            <a:xfrm>
              <a:off x="13503384" y="2435781"/>
              <a:ext cx="1057951" cy="728301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deployment gray city block 5,3"/>
            <p:cNvSpPr/>
            <p:nvPr/>
          </p:nvSpPr>
          <p:spPr>
            <a:xfrm>
              <a:off x="13503384" y="3335532"/>
              <a:ext cx="1057951" cy="712788"/>
            </a:xfrm>
            <a:prstGeom prst="rect">
              <a:avLst/>
            </a:prstGeom>
            <a:solidFill>
              <a:srgbClr val="ECEF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deployment vertical road 1"/>
            <p:cNvSpPr/>
            <p:nvPr/>
          </p:nvSpPr>
          <p:spPr>
            <a:xfrm>
              <a:off x="8348056" y="1465817"/>
              <a:ext cx="133350" cy="3040539"/>
            </a:xfrm>
            <a:prstGeom prst="rect">
              <a:avLst/>
            </a:prstGeom>
            <a:solidFill>
              <a:srgbClr val="BEC8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deployment vertical road 2"/>
            <p:cNvSpPr/>
            <p:nvPr/>
          </p:nvSpPr>
          <p:spPr>
            <a:xfrm>
              <a:off x="9589093" y="1465817"/>
              <a:ext cx="133350" cy="3040539"/>
            </a:xfrm>
            <a:prstGeom prst="rect">
              <a:avLst/>
            </a:prstGeom>
            <a:solidFill>
              <a:srgbClr val="BEC8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deployment vertical road 3"/>
            <p:cNvSpPr/>
            <p:nvPr/>
          </p:nvSpPr>
          <p:spPr>
            <a:xfrm>
              <a:off x="10837886" y="1465817"/>
              <a:ext cx="133350" cy="3040539"/>
            </a:xfrm>
            <a:prstGeom prst="rect">
              <a:avLst/>
            </a:prstGeom>
            <a:solidFill>
              <a:srgbClr val="BEC8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deployment vertical road 4"/>
            <p:cNvSpPr/>
            <p:nvPr/>
          </p:nvSpPr>
          <p:spPr>
            <a:xfrm>
              <a:off x="12094435" y="1465817"/>
              <a:ext cx="133350" cy="3040539"/>
            </a:xfrm>
            <a:prstGeom prst="rect">
              <a:avLst/>
            </a:prstGeom>
            <a:solidFill>
              <a:srgbClr val="BEC8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deployment vertical road 5"/>
            <p:cNvSpPr/>
            <p:nvPr/>
          </p:nvSpPr>
          <p:spPr>
            <a:xfrm>
              <a:off x="13350984" y="1465817"/>
              <a:ext cx="133350" cy="3040539"/>
            </a:xfrm>
            <a:prstGeom prst="rect">
              <a:avLst/>
            </a:prstGeom>
            <a:solidFill>
              <a:srgbClr val="BEC8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deployment vertical road 6"/>
            <p:cNvSpPr/>
            <p:nvPr/>
          </p:nvSpPr>
          <p:spPr>
            <a:xfrm>
              <a:off x="14580386" y="1465817"/>
              <a:ext cx="133350" cy="3040539"/>
            </a:xfrm>
            <a:prstGeom prst="rect">
              <a:avLst/>
            </a:prstGeom>
            <a:solidFill>
              <a:srgbClr val="BEC8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deployment horizontal road 1"/>
            <p:cNvSpPr/>
            <p:nvPr/>
          </p:nvSpPr>
          <p:spPr>
            <a:xfrm>
              <a:off x="8348056" y="2283381"/>
              <a:ext cx="6365679" cy="133350"/>
            </a:xfrm>
            <a:prstGeom prst="rect">
              <a:avLst/>
            </a:prstGeom>
            <a:solidFill>
              <a:srgbClr val="BEC8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deployment horizontal road 2"/>
            <p:cNvSpPr/>
            <p:nvPr/>
          </p:nvSpPr>
          <p:spPr>
            <a:xfrm>
              <a:off x="8348056" y="3183132"/>
              <a:ext cx="6365679" cy="133350"/>
            </a:xfrm>
            <a:prstGeom prst="rect">
              <a:avLst/>
            </a:prstGeom>
            <a:solidFill>
              <a:srgbClr val="BEC8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deployment horizontal road 3"/>
            <p:cNvSpPr/>
            <p:nvPr/>
          </p:nvSpPr>
          <p:spPr>
            <a:xfrm>
              <a:off x="8348056" y="4067371"/>
              <a:ext cx="6365679" cy="133350"/>
            </a:xfrm>
            <a:prstGeom prst="rect">
              <a:avLst/>
            </a:prstGeom>
            <a:solidFill>
              <a:srgbClr val="BEC8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3" name="deployment road center marking"/>
            <p:cNvCxnSpPr/>
            <p:nvPr/>
          </p:nvCxnSpPr>
          <p:spPr>
            <a:xfrm>
              <a:off x="8414731" y="1494392"/>
              <a:ext cx="0" cy="2983390"/>
            </a:xfrm>
            <a:prstGeom prst="line">
              <a:avLst/>
            </a:prstGeom>
            <a:ln w="9525">
              <a:solidFill>
                <a:srgbClr val="FFFFF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deployment road center marking"/>
            <p:cNvCxnSpPr/>
            <p:nvPr/>
          </p:nvCxnSpPr>
          <p:spPr>
            <a:xfrm>
              <a:off x="9655768" y="1494392"/>
              <a:ext cx="0" cy="2983390"/>
            </a:xfrm>
            <a:prstGeom prst="line">
              <a:avLst/>
            </a:prstGeom>
            <a:ln w="9525">
              <a:solidFill>
                <a:srgbClr val="FFFFF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deployment road center marking"/>
            <p:cNvCxnSpPr/>
            <p:nvPr/>
          </p:nvCxnSpPr>
          <p:spPr>
            <a:xfrm>
              <a:off x="10904561" y="1494392"/>
              <a:ext cx="0" cy="2983390"/>
            </a:xfrm>
            <a:prstGeom prst="line">
              <a:avLst/>
            </a:prstGeom>
            <a:ln w="9525">
              <a:solidFill>
                <a:srgbClr val="FFFFF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deployment road center marking"/>
            <p:cNvCxnSpPr/>
            <p:nvPr/>
          </p:nvCxnSpPr>
          <p:spPr>
            <a:xfrm>
              <a:off x="12161110" y="1494392"/>
              <a:ext cx="0" cy="2983390"/>
            </a:xfrm>
            <a:prstGeom prst="line">
              <a:avLst/>
            </a:prstGeom>
            <a:ln w="9525">
              <a:solidFill>
                <a:srgbClr val="FFFFF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deployment road center marking"/>
            <p:cNvCxnSpPr/>
            <p:nvPr/>
          </p:nvCxnSpPr>
          <p:spPr>
            <a:xfrm>
              <a:off x="13417659" y="1494392"/>
              <a:ext cx="0" cy="2983390"/>
            </a:xfrm>
            <a:prstGeom prst="line">
              <a:avLst/>
            </a:prstGeom>
            <a:ln w="9525">
              <a:solidFill>
                <a:srgbClr val="FFFFF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deployment road center marking"/>
            <p:cNvCxnSpPr/>
            <p:nvPr/>
          </p:nvCxnSpPr>
          <p:spPr>
            <a:xfrm>
              <a:off x="14647061" y="1494392"/>
              <a:ext cx="0" cy="2983390"/>
            </a:xfrm>
            <a:prstGeom prst="line">
              <a:avLst/>
            </a:prstGeom>
            <a:ln w="9525">
              <a:solidFill>
                <a:srgbClr val="FFFFF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deployment road center marking"/>
            <p:cNvCxnSpPr/>
            <p:nvPr/>
          </p:nvCxnSpPr>
          <p:spPr>
            <a:xfrm>
              <a:off x="8414731" y="2350056"/>
              <a:ext cx="6232330" cy="0"/>
            </a:xfrm>
            <a:prstGeom prst="line">
              <a:avLst/>
            </a:prstGeom>
            <a:ln w="9525">
              <a:solidFill>
                <a:srgbClr val="FFFFF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deployment road center marking"/>
            <p:cNvCxnSpPr/>
            <p:nvPr/>
          </p:nvCxnSpPr>
          <p:spPr>
            <a:xfrm>
              <a:off x="8414731" y="3249807"/>
              <a:ext cx="6232330" cy="0"/>
            </a:xfrm>
            <a:prstGeom prst="line">
              <a:avLst/>
            </a:prstGeom>
            <a:ln w="9525">
              <a:solidFill>
                <a:srgbClr val="FFFFF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deployment road center marking"/>
            <p:cNvCxnSpPr/>
            <p:nvPr/>
          </p:nvCxnSpPr>
          <p:spPr>
            <a:xfrm>
              <a:off x="8414731" y="4134046"/>
              <a:ext cx="6232330" cy="0"/>
            </a:xfrm>
            <a:prstGeom prst="line">
              <a:avLst/>
            </a:prstGeom>
            <a:ln w="9525">
              <a:solidFill>
                <a:srgbClr val="FFFFF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deployment existing graph edge"/>
            <p:cNvCxnSpPr/>
            <p:nvPr/>
          </p:nvCxnSpPr>
          <p:spPr>
            <a:xfrm>
              <a:off x="9655768" y="2350056"/>
              <a:ext cx="1248793" cy="0"/>
            </a:xfrm>
            <a:prstGeom prst="line">
              <a:avLst/>
            </a:prstGeom>
            <a:ln w="20002">
              <a:solidFill>
                <a:srgbClr val="65717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deployment existing graph edge"/>
            <p:cNvCxnSpPr/>
            <p:nvPr/>
          </p:nvCxnSpPr>
          <p:spPr>
            <a:xfrm>
              <a:off x="10904561" y="2350056"/>
              <a:ext cx="1256549" cy="0"/>
            </a:xfrm>
            <a:prstGeom prst="line">
              <a:avLst/>
            </a:prstGeom>
            <a:ln w="20002">
              <a:solidFill>
                <a:srgbClr val="65717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deployment existing graph edge"/>
            <p:cNvCxnSpPr/>
            <p:nvPr/>
          </p:nvCxnSpPr>
          <p:spPr>
            <a:xfrm>
              <a:off x="9655768" y="3249807"/>
              <a:ext cx="1248793" cy="0"/>
            </a:xfrm>
            <a:prstGeom prst="line">
              <a:avLst/>
            </a:prstGeom>
            <a:ln w="20002">
              <a:solidFill>
                <a:srgbClr val="65717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deployment existing graph edge"/>
            <p:cNvCxnSpPr/>
            <p:nvPr/>
          </p:nvCxnSpPr>
          <p:spPr>
            <a:xfrm>
              <a:off x="10904561" y="3249807"/>
              <a:ext cx="1256549" cy="0"/>
            </a:xfrm>
            <a:prstGeom prst="line">
              <a:avLst/>
            </a:prstGeom>
            <a:ln w="20002">
              <a:solidFill>
                <a:srgbClr val="65717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deployment existing graph edge"/>
            <p:cNvCxnSpPr/>
            <p:nvPr/>
          </p:nvCxnSpPr>
          <p:spPr>
            <a:xfrm>
              <a:off x="10904561" y="4134046"/>
              <a:ext cx="1256549" cy="0"/>
            </a:xfrm>
            <a:prstGeom prst="line">
              <a:avLst/>
            </a:prstGeom>
            <a:ln w="20002">
              <a:solidFill>
                <a:srgbClr val="65717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deployment existing graph edge"/>
            <p:cNvCxnSpPr/>
            <p:nvPr/>
          </p:nvCxnSpPr>
          <p:spPr>
            <a:xfrm>
              <a:off x="9655768" y="2350056"/>
              <a:ext cx="0" cy="899751"/>
            </a:xfrm>
            <a:prstGeom prst="line">
              <a:avLst/>
            </a:prstGeom>
            <a:ln w="20002">
              <a:solidFill>
                <a:srgbClr val="65717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deployment existing graph edge"/>
            <p:cNvCxnSpPr/>
            <p:nvPr/>
          </p:nvCxnSpPr>
          <p:spPr>
            <a:xfrm>
              <a:off x="10904561" y="2350056"/>
              <a:ext cx="0" cy="899751"/>
            </a:xfrm>
            <a:prstGeom prst="line">
              <a:avLst/>
            </a:prstGeom>
            <a:ln w="20002">
              <a:solidFill>
                <a:srgbClr val="65717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deployment existing graph edge"/>
            <p:cNvCxnSpPr/>
            <p:nvPr/>
          </p:nvCxnSpPr>
          <p:spPr>
            <a:xfrm>
              <a:off x="10904561" y="3249807"/>
              <a:ext cx="0" cy="884239"/>
            </a:xfrm>
            <a:prstGeom prst="line">
              <a:avLst/>
            </a:prstGeom>
            <a:ln w="20002">
              <a:solidFill>
                <a:srgbClr val="65717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deployment existing graph edge"/>
            <p:cNvCxnSpPr/>
            <p:nvPr/>
          </p:nvCxnSpPr>
          <p:spPr>
            <a:xfrm>
              <a:off x="12161110" y="2350056"/>
              <a:ext cx="0" cy="899751"/>
            </a:xfrm>
            <a:prstGeom prst="line">
              <a:avLst/>
            </a:prstGeom>
            <a:ln w="20002">
              <a:solidFill>
                <a:srgbClr val="65717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deployment existing graph edge"/>
            <p:cNvCxnSpPr/>
            <p:nvPr/>
          </p:nvCxnSpPr>
          <p:spPr>
            <a:xfrm>
              <a:off x="12161110" y="3249807"/>
              <a:ext cx="0" cy="884239"/>
            </a:xfrm>
            <a:prstGeom prst="line">
              <a:avLst/>
            </a:prstGeom>
            <a:ln w="20002">
              <a:solidFill>
                <a:srgbClr val="65717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deployment added graph edge"/>
            <p:cNvCxnSpPr/>
            <p:nvPr/>
          </p:nvCxnSpPr>
          <p:spPr>
            <a:xfrm>
              <a:off x="12161110" y="3249807"/>
              <a:ext cx="1256549" cy="0"/>
            </a:xfrm>
            <a:prstGeom prst="line">
              <a:avLst/>
            </a:prstGeom>
            <a:ln w="20955">
              <a:solidFill>
                <a:srgbClr val="499F68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deployment added graph edge"/>
            <p:cNvCxnSpPr/>
            <p:nvPr/>
          </p:nvCxnSpPr>
          <p:spPr>
            <a:xfrm>
              <a:off x="13417659" y="3249807"/>
              <a:ext cx="1229402" cy="0"/>
            </a:xfrm>
            <a:prstGeom prst="line">
              <a:avLst/>
            </a:prstGeom>
            <a:ln w="20955">
              <a:solidFill>
                <a:srgbClr val="499F68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deployment added graph edge"/>
            <p:cNvCxnSpPr/>
            <p:nvPr/>
          </p:nvCxnSpPr>
          <p:spPr>
            <a:xfrm>
              <a:off x="12161110" y="4134046"/>
              <a:ext cx="1256549" cy="0"/>
            </a:xfrm>
            <a:prstGeom prst="line">
              <a:avLst/>
            </a:prstGeom>
            <a:ln w="20955">
              <a:solidFill>
                <a:srgbClr val="499F68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deployment added graph edge"/>
            <p:cNvCxnSpPr/>
            <p:nvPr/>
          </p:nvCxnSpPr>
          <p:spPr>
            <a:xfrm>
              <a:off x="13417659" y="4134046"/>
              <a:ext cx="1229402" cy="0"/>
            </a:xfrm>
            <a:prstGeom prst="line">
              <a:avLst/>
            </a:prstGeom>
            <a:ln w="20955">
              <a:solidFill>
                <a:srgbClr val="499F68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deployment added graph edge"/>
            <p:cNvCxnSpPr/>
            <p:nvPr/>
          </p:nvCxnSpPr>
          <p:spPr>
            <a:xfrm>
              <a:off x="13417659" y="3249807"/>
              <a:ext cx="0" cy="884239"/>
            </a:xfrm>
            <a:prstGeom prst="line">
              <a:avLst/>
            </a:prstGeom>
            <a:ln w="20955">
              <a:solidFill>
                <a:srgbClr val="499F68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deployment added graph edge"/>
            <p:cNvCxnSpPr/>
            <p:nvPr/>
          </p:nvCxnSpPr>
          <p:spPr>
            <a:xfrm>
              <a:off x="14647061" y="3249807"/>
              <a:ext cx="0" cy="884239"/>
            </a:xfrm>
            <a:prstGeom prst="line">
              <a:avLst/>
            </a:prstGeom>
            <a:ln w="20955">
              <a:solidFill>
                <a:srgbClr val="499F68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deployment added graph edge"/>
            <p:cNvCxnSpPr/>
            <p:nvPr/>
          </p:nvCxnSpPr>
          <p:spPr>
            <a:xfrm>
              <a:off x="12161110" y="2350056"/>
              <a:ext cx="1256549" cy="0"/>
            </a:xfrm>
            <a:prstGeom prst="line">
              <a:avLst/>
            </a:prstGeom>
            <a:ln w="20955">
              <a:solidFill>
                <a:srgbClr val="499F68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deployment added graph edge"/>
            <p:cNvCxnSpPr/>
            <p:nvPr/>
          </p:nvCxnSpPr>
          <p:spPr>
            <a:xfrm>
              <a:off x="13417659" y="2350056"/>
              <a:ext cx="0" cy="899751"/>
            </a:xfrm>
            <a:prstGeom prst="line">
              <a:avLst/>
            </a:prstGeom>
            <a:ln w="20955">
              <a:solidFill>
                <a:srgbClr val="499F68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0" name="deployment existing sensor 1"/>
            <p:cNvGrpSpPr/>
            <p:nvPr/>
          </p:nvGrpSpPr>
          <p:grpSpPr>
            <a:xfrm>
              <a:off x="9493843" y="2188131"/>
              <a:ext cx="323850" cy="323850"/>
              <a:chOff x="9493843" y="2188131"/>
              <a:chExt cx="323850" cy="323850"/>
            </a:xfrm>
          </p:grpSpPr>
          <p:sp>
            <p:nvSpPr>
              <p:cNvPr id="121" name="Oval 120"/>
              <p:cNvSpPr/>
              <p:nvPr/>
            </p:nvSpPr>
            <p:spPr>
              <a:xfrm>
                <a:off x="9493843" y="2188131"/>
                <a:ext cx="323850" cy="323850"/>
              </a:xfrm>
              <a:prstGeom prst="ellipse">
                <a:avLst/>
              </a:prstGeom>
              <a:solidFill>
                <a:srgbClr val="65717D"/>
              </a:solidFill>
              <a:ln w="1905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2" name="deployment existing sensor 2"/>
            <p:cNvGrpSpPr/>
            <p:nvPr/>
          </p:nvGrpSpPr>
          <p:grpSpPr>
            <a:xfrm>
              <a:off x="10742636" y="2188131"/>
              <a:ext cx="323850" cy="323850"/>
              <a:chOff x="10742636" y="2188131"/>
              <a:chExt cx="323850" cy="323850"/>
            </a:xfrm>
          </p:grpSpPr>
          <p:sp>
            <p:nvSpPr>
              <p:cNvPr id="123" name="Oval 122"/>
              <p:cNvSpPr/>
              <p:nvPr/>
            </p:nvSpPr>
            <p:spPr>
              <a:xfrm>
                <a:off x="10742636" y="2188131"/>
                <a:ext cx="323850" cy="323850"/>
              </a:xfrm>
              <a:prstGeom prst="ellipse">
                <a:avLst/>
              </a:prstGeom>
              <a:solidFill>
                <a:srgbClr val="65717D"/>
              </a:solidFill>
              <a:ln w="1905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4" name="deployment existing sensor 3"/>
            <p:cNvGrpSpPr/>
            <p:nvPr/>
          </p:nvGrpSpPr>
          <p:grpSpPr>
            <a:xfrm>
              <a:off x="11999185" y="2188131"/>
              <a:ext cx="323850" cy="323850"/>
              <a:chOff x="11999185" y="2188131"/>
              <a:chExt cx="323850" cy="323850"/>
            </a:xfrm>
          </p:grpSpPr>
          <p:sp>
            <p:nvSpPr>
              <p:cNvPr id="125" name="Oval 124"/>
              <p:cNvSpPr/>
              <p:nvPr/>
            </p:nvSpPr>
            <p:spPr>
              <a:xfrm>
                <a:off x="11999185" y="2188131"/>
                <a:ext cx="323850" cy="323850"/>
              </a:xfrm>
              <a:prstGeom prst="ellipse">
                <a:avLst/>
              </a:prstGeom>
              <a:solidFill>
                <a:srgbClr val="65717D"/>
              </a:solidFill>
              <a:ln w="1905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6" name="deployment existing sensor 4"/>
            <p:cNvGrpSpPr/>
            <p:nvPr/>
          </p:nvGrpSpPr>
          <p:grpSpPr>
            <a:xfrm>
              <a:off x="9493843" y="3087882"/>
              <a:ext cx="323850" cy="323850"/>
              <a:chOff x="9493843" y="3087882"/>
              <a:chExt cx="323850" cy="323850"/>
            </a:xfrm>
          </p:grpSpPr>
          <p:sp>
            <p:nvSpPr>
              <p:cNvPr id="127" name="Oval 126"/>
              <p:cNvSpPr/>
              <p:nvPr/>
            </p:nvSpPr>
            <p:spPr>
              <a:xfrm>
                <a:off x="9493843" y="3087882"/>
                <a:ext cx="323850" cy="323850"/>
              </a:xfrm>
              <a:prstGeom prst="ellipse">
                <a:avLst/>
              </a:prstGeom>
              <a:solidFill>
                <a:srgbClr val="65717D"/>
              </a:solidFill>
              <a:ln w="1905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8" name="deployment existing sensor 5"/>
            <p:cNvGrpSpPr/>
            <p:nvPr/>
          </p:nvGrpSpPr>
          <p:grpSpPr>
            <a:xfrm>
              <a:off x="10742636" y="3087882"/>
              <a:ext cx="323850" cy="323850"/>
              <a:chOff x="10742636" y="3087882"/>
              <a:chExt cx="323850" cy="323850"/>
            </a:xfrm>
          </p:grpSpPr>
          <p:sp>
            <p:nvSpPr>
              <p:cNvPr id="129" name="Oval 128"/>
              <p:cNvSpPr/>
              <p:nvPr/>
            </p:nvSpPr>
            <p:spPr>
              <a:xfrm>
                <a:off x="10742636" y="3087882"/>
                <a:ext cx="323850" cy="323850"/>
              </a:xfrm>
              <a:prstGeom prst="ellipse">
                <a:avLst/>
              </a:prstGeom>
              <a:solidFill>
                <a:srgbClr val="65717D"/>
              </a:solidFill>
              <a:ln w="1905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0" name="deployment existing sensor 6"/>
            <p:cNvGrpSpPr/>
            <p:nvPr/>
          </p:nvGrpSpPr>
          <p:grpSpPr>
            <a:xfrm>
              <a:off x="11999185" y="3087882"/>
              <a:ext cx="323850" cy="323850"/>
              <a:chOff x="11999185" y="3087882"/>
              <a:chExt cx="323850" cy="323850"/>
            </a:xfrm>
          </p:grpSpPr>
          <p:sp>
            <p:nvSpPr>
              <p:cNvPr id="131" name="Oval 130"/>
              <p:cNvSpPr/>
              <p:nvPr/>
            </p:nvSpPr>
            <p:spPr>
              <a:xfrm>
                <a:off x="11999185" y="3087882"/>
                <a:ext cx="323850" cy="323850"/>
              </a:xfrm>
              <a:prstGeom prst="ellipse">
                <a:avLst/>
              </a:prstGeom>
              <a:solidFill>
                <a:srgbClr val="65717D"/>
              </a:solidFill>
              <a:ln w="1905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2" name="deployment existing sensor 7"/>
            <p:cNvGrpSpPr/>
            <p:nvPr/>
          </p:nvGrpSpPr>
          <p:grpSpPr>
            <a:xfrm>
              <a:off x="10742636" y="3972121"/>
              <a:ext cx="323850" cy="323850"/>
              <a:chOff x="10742636" y="3972121"/>
              <a:chExt cx="323850" cy="323850"/>
            </a:xfrm>
          </p:grpSpPr>
          <p:sp>
            <p:nvSpPr>
              <p:cNvPr id="133" name="Oval 132"/>
              <p:cNvSpPr/>
              <p:nvPr/>
            </p:nvSpPr>
            <p:spPr>
              <a:xfrm>
                <a:off x="10742636" y="3972121"/>
                <a:ext cx="323850" cy="323850"/>
              </a:xfrm>
              <a:prstGeom prst="ellipse">
                <a:avLst/>
              </a:prstGeom>
              <a:solidFill>
                <a:srgbClr val="65717D"/>
              </a:solidFill>
              <a:ln w="1905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4" name="deployment existing sensor 8"/>
            <p:cNvGrpSpPr/>
            <p:nvPr/>
          </p:nvGrpSpPr>
          <p:grpSpPr>
            <a:xfrm>
              <a:off x="11999185" y="3972121"/>
              <a:ext cx="323850" cy="323850"/>
              <a:chOff x="11999185" y="3972121"/>
              <a:chExt cx="323850" cy="323850"/>
            </a:xfrm>
          </p:grpSpPr>
          <p:sp>
            <p:nvSpPr>
              <p:cNvPr id="135" name="Oval 134"/>
              <p:cNvSpPr/>
              <p:nvPr/>
            </p:nvSpPr>
            <p:spPr>
              <a:xfrm>
                <a:off x="11999185" y="3972121"/>
                <a:ext cx="323850" cy="323850"/>
              </a:xfrm>
              <a:prstGeom prst="ellipse">
                <a:avLst/>
              </a:prstGeom>
              <a:solidFill>
                <a:srgbClr val="65717D"/>
              </a:solidFill>
              <a:ln w="1905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6" name="deployment new sensor 1"/>
            <p:cNvGrpSpPr/>
            <p:nvPr/>
          </p:nvGrpSpPr>
          <p:grpSpPr>
            <a:xfrm>
              <a:off x="13189059" y="3021207"/>
              <a:ext cx="457200" cy="457200"/>
              <a:chOff x="13189059" y="3021207"/>
              <a:chExt cx="457200" cy="457200"/>
            </a:xfrm>
          </p:grpSpPr>
          <p:sp>
            <p:nvSpPr>
              <p:cNvPr id="137" name="Oval 136"/>
              <p:cNvSpPr/>
              <p:nvPr/>
            </p:nvSpPr>
            <p:spPr>
              <a:xfrm>
                <a:off x="13189059" y="3021207"/>
                <a:ext cx="457200" cy="457200"/>
              </a:xfrm>
              <a:prstGeom prst="ellipse">
                <a:avLst/>
              </a:prstGeom>
              <a:noFill/>
              <a:ln w="17145">
                <a:solidFill>
                  <a:srgbClr val="A1D4B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Oval 137"/>
              <p:cNvSpPr/>
              <p:nvPr/>
            </p:nvSpPr>
            <p:spPr>
              <a:xfrm>
                <a:off x="13227159" y="3059307"/>
                <a:ext cx="381000" cy="381000"/>
              </a:xfrm>
              <a:prstGeom prst="ellipse">
                <a:avLst/>
              </a:prstGeom>
              <a:solidFill>
                <a:srgbClr val="159447"/>
              </a:solidFill>
              <a:ln w="1905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new sensor plus horizontal"/>
              <p:cNvSpPr/>
              <p:nvPr/>
            </p:nvSpPr>
            <p:spPr>
              <a:xfrm>
                <a:off x="13337649" y="3235520"/>
                <a:ext cx="160020" cy="285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" name="new sensor plus vertical"/>
              <p:cNvSpPr/>
              <p:nvPr/>
            </p:nvSpPr>
            <p:spPr>
              <a:xfrm>
                <a:off x="13403372" y="3169797"/>
                <a:ext cx="28575" cy="1600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1" name="deployment new sensor 2"/>
            <p:cNvGrpSpPr/>
            <p:nvPr/>
          </p:nvGrpSpPr>
          <p:grpSpPr>
            <a:xfrm>
              <a:off x="14418461" y="3021207"/>
              <a:ext cx="457200" cy="457200"/>
              <a:chOff x="14418461" y="3021207"/>
              <a:chExt cx="457200" cy="457200"/>
            </a:xfrm>
          </p:grpSpPr>
          <p:sp>
            <p:nvSpPr>
              <p:cNvPr id="142" name="Oval 141"/>
              <p:cNvSpPr/>
              <p:nvPr/>
            </p:nvSpPr>
            <p:spPr>
              <a:xfrm>
                <a:off x="14418461" y="3021207"/>
                <a:ext cx="457200" cy="457200"/>
              </a:xfrm>
              <a:prstGeom prst="ellipse">
                <a:avLst/>
              </a:prstGeom>
              <a:noFill/>
              <a:ln w="17145">
                <a:solidFill>
                  <a:srgbClr val="A1D4B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Oval 142"/>
              <p:cNvSpPr/>
              <p:nvPr/>
            </p:nvSpPr>
            <p:spPr>
              <a:xfrm>
                <a:off x="14456561" y="3059307"/>
                <a:ext cx="381000" cy="381000"/>
              </a:xfrm>
              <a:prstGeom prst="ellipse">
                <a:avLst/>
              </a:prstGeom>
              <a:solidFill>
                <a:srgbClr val="159447"/>
              </a:solidFill>
              <a:ln w="1905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new sensor plus horizontal"/>
              <p:cNvSpPr/>
              <p:nvPr/>
            </p:nvSpPr>
            <p:spPr>
              <a:xfrm>
                <a:off x="14567051" y="3235520"/>
                <a:ext cx="160020" cy="285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new sensor plus vertical"/>
              <p:cNvSpPr/>
              <p:nvPr/>
            </p:nvSpPr>
            <p:spPr>
              <a:xfrm>
                <a:off x="14632774" y="3169797"/>
                <a:ext cx="28575" cy="1600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6" name="deployment new sensor 3"/>
            <p:cNvGrpSpPr/>
            <p:nvPr/>
          </p:nvGrpSpPr>
          <p:grpSpPr>
            <a:xfrm>
              <a:off x="13189059" y="3905446"/>
              <a:ext cx="457200" cy="457200"/>
              <a:chOff x="13189059" y="3905446"/>
              <a:chExt cx="457200" cy="457200"/>
            </a:xfrm>
          </p:grpSpPr>
          <p:sp>
            <p:nvSpPr>
              <p:cNvPr id="147" name="Oval 146"/>
              <p:cNvSpPr/>
              <p:nvPr/>
            </p:nvSpPr>
            <p:spPr>
              <a:xfrm>
                <a:off x="13189059" y="3905446"/>
                <a:ext cx="457200" cy="457200"/>
              </a:xfrm>
              <a:prstGeom prst="ellipse">
                <a:avLst/>
              </a:prstGeom>
              <a:noFill/>
              <a:ln w="17145">
                <a:solidFill>
                  <a:srgbClr val="A1D4B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Oval 147"/>
              <p:cNvSpPr/>
              <p:nvPr/>
            </p:nvSpPr>
            <p:spPr>
              <a:xfrm>
                <a:off x="13227159" y="3943546"/>
                <a:ext cx="381000" cy="381000"/>
              </a:xfrm>
              <a:prstGeom prst="ellipse">
                <a:avLst/>
              </a:prstGeom>
              <a:solidFill>
                <a:srgbClr val="159447"/>
              </a:solidFill>
              <a:ln w="1905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new sensor plus horizontal"/>
              <p:cNvSpPr/>
              <p:nvPr/>
            </p:nvSpPr>
            <p:spPr>
              <a:xfrm>
                <a:off x="13337649" y="4119758"/>
                <a:ext cx="160020" cy="285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new sensor plus vertical"/>
              <p:cNvSpPr/>
              <p:nvPr/>
            </p:nvSpPr>
            <p:spPr>
              <a:xfrm>
                <a:off x="13403372" y="4054036"/>
                <a:ext cx="28575" cy="1600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1" name="deployment new sensor 4"/>
            <p:cNvGrpSpPr/>
            <p:nvPr/>
          </p:nvGrpSpPr>
          <p:grpSpPr>
            <a:xfrm>
              <a:off x="14418461" y="3905446"/>
              <a:ext cx="457200" cy="457200"/>
              <a:chOff x="14418461" y="3905446"/>
              <a:chExt cx="457200" cy="457200"/>
            </a:xfrm>
          </p:grpSpPr>
          <p:sp>
            <p:nvSpPr>
              <p:cNvPr id="152" name="Oval 151"/>
              <p:cNvSpPr/>
              <p:nvPr/>
            </p:nvSpPr>
            <p:spPr>
              <a:xfrm>
                <a:off x="14418461" y="3905446"/>
                <a:ext cx="457200" cy="457200"/>
              </a:xfrm>
              <a:prstGeom prst="ellipse">
                <a:avLst/>
              </a:prstGeom>
              <a:noFill/>
              <a:ln w="17145">
                <a:solidFill>
                  <a:srgbClr val="A1D4B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Oval 152"/>
              <p:cNvSpPr/>
              <p:nvPr/>
            </p:nvSpPr>
            <p:spPr>
              <a:xfrm>
                <a:off x="14456561" y="3943546"/>
                <a:ext cx="381000" cy="381000"/>
              </a:xfrm>
              <a:prstGeom prst="ellipse">
                <a:avLst/>
              </a:prstGeom>
              <a:solidFill>
                <a:srgbClr val="159447"/>
              </a:solidFill>
              <a:ln w="1905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new sensor plus horizontal"/>
              <p:cNvSpPr/>
              <p:nvPr/>
            </p:nvSpPr>
            <p:spPr>
              <a:xfrm>
                <a:off x="14567051" y="4119758"/>
                <a:ext cx="160020" cy="285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new sensor plus vertical"/>
              <p:cNvSpPr/>
              <p:nvPr/>
            </p:nvSpPr>
            <p:spPr>
              <a:xfrm>
                <a:off x="14632774" y="4054036"/>
                <a:ext cx="28575" cy="1600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156" name="Time"/>
          <p:cNvSpPr txBox="1"/>
          <p:nvPr/>
        </p:nvSpPr>
        <p:spPr>
          <a:xfrm>
            <a:off x="7181850" y="2314575"/>
            <a:ext cx="866775" cy="377189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defRPr sz="1800" b="0">
                <a:solidFill>
                  <a:srgbClr val="242830"/>
                </a:solidFill>
                <a:latin typeface="Times New Roman"/>
              </a:defRPr>
            </a:pPr>
            <a:r>
              <a:t>Time</a:t>
            </a:r>
          </a:p>
        </p:txBody>
      </p:sp>
      <p:cxnSp>
        <p:nvCxnSpPr>
          <p:cNvPr id="157" name="Orthogonal time arrow"/>
          <p:cNvCxnSpPr/>
          <p:nvPr/>
        </p:nvCxnSpPr>
        <p:spPr>
          <a:xfrm>
            <a:off x="7181850" y="2733675"/>
            <a:ext cx="866775" cy="0"/>
          </a:xfrm>
          <a:prstGeom prst="line">
            <a:avLst/>
          </a:prstGeom>
          <a:ln w="19050">
            <a:solidFill>
              <a:srgbClr val="126A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legend existing sensor"/>
          <p:cNvGrpSpPr/>
          <p:nvPr/>
        </p:nvGrpSpPr>
        <p:grpSpPr>
          <a:xfrm>
            <a:off x="2795587" y="4529137"/>
            <a:ext cx="123824" cy="123824"/>
            <a:chOff x="2795587" y="4738687"/>
            <a:chExt cx="123824" cy="123824"/>
          </a:xfrm>
        </p:grpSpPr>
        <p:sp>
          <p:nvSpPr>
            <p:cNvPr id="159" name="Oval 158"/>
            <p:cNvSpPr/>
            <p:nvPr/>
          </p:nvSpPr>
          <p:spPr>
            <a:xfrm>
              <a:off x="2795587" y="4738687"/>
              <a:ext cx="123824" cy="123824"/>
            </a:xfrm>
            <a:prstGeom prst="ellipse">
              <a:avLst/>
            </a:prstGeom>
            <a:solidFill>
              <a:srgbClr val="65717D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0" name="Existing sensors"/>
          <p:cNvSpPr txBox="1"/>
          <p:nvPr/>
        </p:nvSpPr>
        <p:spPr>
          <a:xfrm>
            <a:off x="2981325" y="4495800"/>
            <a:ext cx="1466850" cy="2828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>
              <a:defRPr sz="1350" b="0">
                <a:solidFill>
                  <a:srgbClr val="59616D"/>
                </a:solidFill>
                <a:latin typeface="Times New Roman"/>
              </a:defRPr>
            </a:pPr>
            <a:r>
              <a:t>Existing sensors</a:t>
            </a:r>
          </a:p>
        </p:txBody>
      </p:sp>
      <p:grpSp>
        <p:nvGrpSpPr>
          <p:cNvPr id="161" name="legend existing sensor"/>
          <p:cNvGrpSpPr/>
          <p:nvPr/>
        </p:nvGrpSpPr>
        <p:grpSpPr>
          <a:xfrm>
            <a:off x="9844087" y="4529137"/>
            <a:ext cx="123824" cy="123824"/>
            <a:chOff x="9844087" y="4738687"/>
            <a:chExt cx="123824" cy="123824"/>
          </a:xfrm>
        </p:grpSpPr>
        <p:sp>
          <p:nvSpPr>
            <p:cNvPr id="162" name="Oval 161"/>
            <p:cNvSpPr/>
            <p:nvPr/>
          </p:nvSpPr>
          <p:spPr>
            <a:xfrm>
              <a:off x="9844087" y="4738687"/>
              <a:ext cx="123824" cy="123824"/>
            </a:xfrm>
            <a:prstGeom prst="ellipse">
              <a:avLst/>
            </a:prstGeom>
            <a:solidFill>
              <a:srgbClr val="65717D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3" name="Existing sensors"/>
          <p:cNvSpPr txBox="1"/>
          <p:nvPr/>
        </p:nvSpPr>
        <p:spPr>
          <a:xfrm>
            <a:off x="10029825" y="4495800"/>
            <a:ext cx="1466850" cy="2828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>
              <a:defRPr sz="1350" b="0">
                <a:solidFill>
                  <a:srgbClr val="59616D"/>
                </a:solidFill>
                <a:latin typeface="Times New Roman"/>
              </a:defRPr>
            </a:pPr>
            <a:r>
              <a:t>Existing sensors</a:t>
            </a:r>
          </a:p>
        </p:txBody>
      </p:sp>
      <p:grpSp>
        <p:nvGrpSpPr>
          <p:cNvPr id="164" name="legend new sensor"/>
          <p:cNvGrpSpPr/>
          <p:nvPr/>
        </p:nvGrpSpPr>
        <p:grpSpPr>
          <a:xfrm>
            <a:off x="11549062" y="4519612"/>
            <a:ext cx="142875" cy="142875"/>
            <a:chOff x="11549062" y="4729162"/>
            <a:chExt cx="142875" cy="142875"/>
          </a:xfrm>
        </p:grpSpPr>
        <p:sp>
          <p:nvSpPr>
            <p:cNvPr id="165" name="Oval 164"/>
            <p:cNvSpPr/>
            <p:nvPr/>
          </p:nvSpPr>
          <p:spPr>
            <a:xfrm>
              <a:off x="11549062" y="4729162"/>
              <a:ext cx="142875" cy="142875"/>
            </a:xfrm>
            <a:prstGeom prst="ellipse">
              <a:avLst/>
            </a:prstGeom>
            <a:solidFill>
              <a:srgbClr val="159447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new sensor plus horizontal"/>
            <p:cNvSpPr/>
            <p:nvPr/>
          </p:nvSpPr>
          <p:spPr>
            <a:xfrm>
              <a:off x="11590496" y="4790598"/>
              <a:ext cx="60007" cy="200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new sensor plus vertical"/>
            <p:cNvSpPr/>
            <p:nvPr/>
          </p:nvSpPr>
          <p:spPr>
            <a:xfrm>
              <a:off x="11610498" y="4770596"/>
              <a:ext cx="20002" cy="600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8" name="New sensors"/>
          <p:cNvSpPr txBox="1"/>
          <p:nvPr/>
        </p:nvSpPr>
        <p:spPr>
          <a:xfrm>
            <a:off x="11763375" y="4495800"/>
            <a:ext cx="1257300" cy="2828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>
              <a:defRPr sz="1350" b="0">
                <a:solidFill>
                  <a:srgbClr val="59616D"/>
                </a:solidFill>
                <a:latin typeface="Times New Roman"/>
              </a:defRPr>
            </a:pPr>
            <a:r>
              <a:t>New sensors</a:t>
            </a:r>
          </a:p>
        </p:txBody>
      </p:sp>
      <p:sp>
        <p:nvSpPr>
          <p:cNvPr id="169" name="Neutral separator"/>
          <p:cNvSpPr/>
          <p:nvPr/>
        </p:nvSpPr>
        <p:spPr>
          <a:xfrm>
            <a:off x="457200" y="4810125"/>
            <a:ext cx="6496050" cy="11429"/>
          </a:xfrm>
          <a:prstGeom prst="rect">
            <a:avLst/>
          </a:prstGeom>
          <a:solidFill>
            <a:srgbClr val="D6D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Neutral separator"/>
          <p:cNvSpPr/>
          <p:nvPr/>
        </p:nvSpPr>
        <p:spPr>
          <a:xfrm>
            <a:off x="8286750" y="4810125"/>
            <a:ext cx="6496050" cy="11429"/>
          </a:xfrm>
          <a:prstGeom prst="rect">
            <a:avLst/>
          </a:prstGeom>
          <a:solidFill>
            <a:srgbClr val="D6D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raffic pattern"/>
          <p:cNvSpPr txBox="1"/>
          <p:nvPr/>
        </p:nvSpPr>
        <p:spPr>
          <a:xfrm>
            <a:off x="628650" y="4981575"/>
            <a:ext cx="3238500" cy="455771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defRPr sz="2175" b="1">
                <a:solidFill>
                  <a:srgbClr val="242830"/>
                </a:solidFill>
                <a:latin typeface="Times New Roman"/>
              </a:defRPr>
            </a:pPr>
            <a:r>
              <a:t>Traffic pattern</a:t>
            </a:r>
          </a:p>
        </p:txBody>
      </p:sp>
      <p:sp>
        <p:nvSpPr>
          <p:cNvPr id="172" name="Released targets"/>
          <p:cNvSpPr txBox="1"/>
          <p:nvPr/>
        </p:nvSpPr>
        <p:spPr>
          <a:xfrm>
            <a:off x="4276725" y="4981575"/>
            <a:ext cx="2581275" cy="455771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defRPr sz="2175" b="1">
                <a:solidFill>
                  <a:srgbClr val="242830"/>
                </a:solidFill>
                <a:latin typeface="Times New Roman"/>
              </a:defRPr>
            </a:pPr>
            <a:r>
              <a:t>Released targets</a:t>
            </a:r>
          </a:p>
        </p:txBody>
      </p:sp>
      <p:sp>
        <p:nvSpPr>
          <p:cNvPr id="173" name="Changed pattern"/>
          <p:cNvSpPr txBox="1"/>
          <p:nvPr/>
        </p:nvSpPr>
        <p:spPr>
          <a:xfrm>
            <a:off x="8467725" y="4981575"/>
            <a:ext cx="3171825" cy="455771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defRPr sz="2175" b="1">
                <a:solidFill>
                  <a:srgbClr val="242830"/>
                </a:solidFill>
                <a:latin typeface="Times New Roman"/>
              </a:defRPr>
            </a:pPr>
            <a:r>
              <a:t>Changed pattern</a:t>
            </a:r>
          </a:p>
        </p:txBody>
      </p:sp>
      <p:sp>
        <p:nvSpPr>
          <p:cNvPr id="174" name="Delayed targets"/>
          <p:cNvSpPr txBox="1"/>
          <p:nvPr/>
        </p:nvSpPr>
        <p:spPr>
          <a:xfrm>
            <a:off x="12001500" y="4981575"/>
            <a:ext cx="2819400" cy="455771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defRPr sz="2175" b="1">
                <a:solidFill>
                  <a:srgbClr val="242830"/>
                </a:solidFill>
                <a:latin typeface="Times New Roman"/>
              </a:defRPr>
            </a:pPr>
            <a:r>
              <a:t>Delayed targets</a:t>
            </a:r>
          </a:p>
        </p:txBody>
      </p:sp>
      <p:grpSp>
        <p:nvGrpSpPr>
          <p:cNvPr id="175" name="Editable traffic signal — schematic, not measured data"/>
          <p:cNvGrpSpPr/>
          <p:nvPr/>
        </p:nvGrpSpPr>
        <p:grpSpPr>
          <a:xfrm>
            <a:off x="0" y="-209550"/>
            <a:ext cx="0" cy="0"/>
            <a:chOff x="0" y="0"/>
            <a:chExt cx="0" cy="0"/>
          </a:xfrm>
        </p:grpSpPr>
        <p:sp>
          <p:nvSpPr>
            <p:cNvPr id="176" name="Historical signal"/>
            <p:cNvSpPr/>
            <p:nvPr/>
          </p:nvSpPr>
          <p:spPr>
            <a:xfrm>
              <a:off x="752475" y="5753957"/>
              <a:ext cx="2724150" cy="465410"/>
            </a:xfrm>
            <a:custGeom>
              <a:avLst/>
              <a:gdLst/>
              <a:ahLst/>
              <a:cxnLst/>
              <a:rect l="l" t="t" r="r" b="b"/>
              <a:pathLst>
                <a:path w="2724150" h="465410">
                  <a:moveTo>
                    <a:pt x="0" y="465410"/>
                  </a:moveTo>
                  <a:lnTo>
                    <a:pt x="22701" y="465147"/>
                  </a:lnTo>
                  <a:lnTo>
                    <a:pt x="45402" y="464750"/>
                  </a:lnTo>
                  <a:lnTo>
                    <a:pt x="68103" y="464161"/>
                  </a:lnTo>
                  <a:lnTo>
                    <a:pt x="90805" y="463302"/>
                  </a:lnTo>
                  <a:lnTo>
                    <a:pt x="113506" y="462069"/>
                  </a:lnTo>
                  <a:lnTo>
                    <a:pt x="136207" y="460329"/>
                  </a:lnTo>
                  <a:lnTo>
                    <a:pt x="158908" y="457916"/>
                  </a:lnTo>
                  <a:lnTo>
                    <a:pt x="181610" y="454625"/>
                  </a:lnTo>
                  <a:lnTo>
                    <a:pt x="204311" y="450216"/>
                  </a:lnTo>
                  <a:lnTo>
                    <a:pt x="227012" y="444411"/>
                  </a:lnTo>
                  <a:lnTo>
                    <a:pt x="249713" y="436901"/>
                  </a:lnTo>
                  <a:lnTo>
                    <a:pt x="272415" y="427361"/>
                  </a:lnTo>
                  <a:lnTo>
                    <a:pt x="295116" y="415460"/>
                  </a:lnTo>
                  <a:lnTo>
                    <a:pt x="317817" y="400888"/>
                  </a:lnTo>
                  <a:lnTo>
                    <a:pt x="340518" y="383384"/>
                  </a:lnTo>
                  <a:lnTo>
                    <a:pt x="363220" y="362763"/>
                  </a:lnTo>
                  <a:lnTo>
                    <a:pt x="385921" y="338955"/>
                  </a:lnTo>
                  <a:lnTo>
                    <a:pt x="408622" y="312034"/>
                  </a:lnTo>
                  <a:lnTo>
                    <a:pt x="431323" y="282252"/>
                  </a:lnTo>
                  <a:lnTo>
                    <a:pt x="454025" y="250050"/>
                  </a:lnTo>
                  <a:lnTo>
                    <a:pt x="476726" y="216074"/>
                  </a:lnTo>
                  <a:lnTo>
                    <a:pt x="499427" y="181166"/>
                  </a:lnTo>
                  <a:lnTo>
                    <a:pt x="522128" y="146334"/>
                  </a:lnTo>
                  <a:lnTo>
                    <a:pt x="544830" y="112717"/>
                  </a:lnTo>
                  <a:lnTo>
                    <a:pt x="567531" y="81525"/>
                  </a:lnTo>
                  <a:lnTo>
                    <a:pt x="590232" y="53965"/>
                  </a:lnTo>
                  <a:lnTo>
                    <a:pt x="612933" y="31170"/>
                  </a:lnTo>
                  <a:lnTo>
                    <a:pt x="635635" y="14120"/>
                  </a:lnTo>
                  <a:lnTo>
                    <a:pt x="658336" y="3571"/>
                  </a:lnTo>
                  <a:lnTo>
                    <a:pt x="681037" y="0"/>
                  </a:lnTo>
                  <a:lnTo>
                    <a:pt x="703738" y="3571"/>
                  </a:lnTo>
                  <a:lnTo>
                    <a:pt x="726440" y="14120"/>
                  </a:lnTo>
                  <a:lnTo>
                    <a:pt x="749141" y="31170"/>
                  </a:lnTo>
                  <a:lnTo>
                    <a:pt x="771842" y="53965"/>
                  </a:lnTo>
                  <a:lnTo>
                    <a:pt x="794543" y="81525"/>
                  </a:lnTo>
                  <a:lnTo>
                    <a:pt x="817245" y="112717"/>
                  </a:lnTo>
                  <a:lnTo>
                    <a:pt x="839946" y="146334"/>
                  </a:lnTo>
                  <a:lnTo>
                    <a:pt x="862647" y="181166"/>
                  </a:lnTo>
                  <a:lnTo>
                    <a:pt x="885348" y="216074"/>
                  </a:lnTo>
                  <a:lnTo>
                    <a:pt x="908050" y="250050"/>
                  </a:lnTo>
                  <a:lnTo>
                    <a:pt x="930751" y="282251"/>
                  </a:lnTo>
                  <a:lnTo>
                    <a:pt x="953452" y="312034"/>
                  </a:lnTo>
                  <a:lnTo>
                    <a:pt x="976153" y="338953"/>
                  </a:lnTo>
                  <a:lnTo>
                    <a:pt x="998855" y="362761"/>
                  </a:lnTo>
                  <a:lnTo>
                    <a:pt x="1021556" y="383381"/>
                  </a:lnTo>
                  <a:lnTo>
                    <a:pt x="1044257" y="400883"/>
                  </a:lnTo>
                  <a:lnTo>
                    <a:pt x="1066958" y="415451"/>
                  </a:lnTo>
                  <a:lnTo>
                    <a:pt x="1089660" y="427347"/>
                  </a:lnTo>
                  <a:lnTo>
                    <a:pt x="1112361" y="436879"/>
                  </a:lnTo>
                  <a:lnTo>
                    <a:pt x="1135062" y="444375"/>
                  </a:lnTo>
                  <a:lnTo>
                    <a:pt x="1157763" y="450161"/>
                  </a:lnTo>
                  <a:lnTo>
                    <a:pt x="1180465" y="454539"/>
                  </a:lnTo>
                  <a:lnTo>
                    <a:pt x="1203166" y="457782"/>
                  </a:lnTo>
                  <a:lnTo>
                    <a:pt x="1225867" y="460126"/>
                  </a:lnTo>
                  <a:lnTo>
                    <a:pt x="1248568" y="461764"/>
                  </a:lnTo>
                  <a:lnTo>
                    <a:pt x="1271270" y="462849"/>
                  </a:lnTo>
                  <a:lnTo>
                    <a:pt x="1293971" y="463496"/>
                  </a:lnTo>
                  <a:lnTo>
                    <a:pt x="1316672" y="463784"/>
                  </a:lnTo>
                  <a:lnTo>
                    <a:pt x="1339373" y="463760"/>
                  </a:lnTo>
                  <a:lnTo>
                    <a:pt x="1362075" y="463441"/>
                  </a:lnTo>
                  <a:lnTo>
                    <a:pt x="1384776" y="462820"/>
                  </a:lnTo>
                  <a:lnTo>
                    <a:pt x="1407477" y="461861"/>
                  </a:lnTo>
                  <a:lnTo>
                    <a:pt x="1430178" y="460509"/>
                  </a:lnTo>
                  <a:lnTo>
                    <a:pt x="1452880" y="458685"/>
                  </a:lnTo>
                  <a:lnTo>
                    <a:pt x="1475581" y="456291"/>
                  </a:lnTo>
                  <a:lnTo>
                    <a:pt x="1498282" y="453209"/>
                  </a:lnTo>
                  <a:lnTo>
                    <a:pt x="1520983" y="449305"/>
                  </a:lnTo>
                  <a:lnTo>
                    <a:pt x="1543685" y="444434"/>
                  </a:lnTo>
                  <a:lnTo>
                    <a:pt x="1566386" y="438439"/>
                  </a:lnTo>
                  <a:lnTo>
                    <a:pt x="1589087" y="431165"/>
                  </a:lnTo>
                  <a:lnTo>
                    <a:pt x="1611788" y="422462"/>
                  </a:lnTo>
                  <a:lnTo>
                    <a:pt x="1634490" y="412193"/>
                  </a:lnTo>
                  <a:lnTo>
                    <a:pt x="1657191" y="400253"/>
                  </a:lnTo>
                  <a:lnTo>
                    <a:pt x="1679892" y="386571"/>
                  </a:lnTo>
                  <a:lnTo>
                    <a:pt x="1702593" y="371130"/>
                  </a:lnTo>
                  <a:lnTo>
                    <a:pt x="1725295" y="353975"/>
                  </a:lnTo>
                  <a:lnTo>
                    <a:pt x="1747996" y="335220"/>
                  </a:lnTo>
                  <a:lnTo>
                    <a:pt x="1770697" y="315064"/>
                  </a:lnTo>
                  <a:lnTo>
                    <a:pt x="1793398" y="293784"/>
                  </a:lnTo>
                  <a:lnTo>
                    <a:pt x="1816099" y="271742"/>
                  </a:lnTo>
                  <a:lnTo>
                    <a:pt x="1838801" y="249376"/>
                  </a:lnTo>
                  <a:lnTo>
                    <a:pt x="1861502" y="227189"/>
                  </a:lnTo>
                  <a:lnTo>
                    <a:pt x="1884203" y="205731"/>
                  </a:lnTo>
                  <a:lnTo>
                    <a:pt x="1906905" y="185580"/>
                  </a:lnTo>
                  <a:lnTo>
                    <a:pt x="1929606" y="167315"/>
                  </a:lnTo>
                  <a:lnTo>
                    <a:pt x="1952307" y="151489"/>
                  </a:lnTo>
                  <a:lnTo>
                    <a:pt x="1975008" y="138601"/>
                  </a:lnTo>
                  <a:lnTo>
                    <a:pt x="1997710" y="129074"/>
                  </a:lnTo>
                  <a:lnTo>
                    <a:pt x="2020411" y="123225"/>
                  </a:lnTo>
                  <a:lnTo>
                    <a:pt x="2043112" y="121253"/>
                  </a:lnTo>
                  <a:lnTo>
                    <a:pt x="2065813" y="123225"/>
                  </a:lnTo>
                  <a:lnTo>
                    <a:pt x="2088515" y="129074"/>
                  </a:lnTo>
                  <a:lnTo>
                    <a:pt x="2111216" y="138601"/>
                  </a:lnTo>
                  <a:lnTo>
                    <a:pt x="2133917" y="151489"/>
                  </a:lnTo>
                  <a:lnTo>
                    <a:pt x="2156618" y="167315"/>
                  </a:lnTo>
                  <a:lnTo>
                    <a:pt x="2179320" y="185580"/>
                  </a:lnTo>
                  <a:lnTo>
                    <a:pt x="2202021" y="205731"/>
                  </a:lnTo>
                  <a:lnTo>
                    <a:pt x="2224722" y="227189"/>
                  </a:lnTo>
                  <a:lnTo>
                    <a:pt x="2247423" y="249376"/>
                  </a:lnTo>
                  <a:lnTo>
                    <a:pt x="2270125" y="271742"/>
                  </a:lnTo>
                  <a:lnTo>
                    <a:pt x="2292826" y="293784"/>
                  </a:lnTo>
                  <a:lnTo>
                    <a:pt x="2315527" y="315064"/>
                  </a:lnTo>
                  <a:lnTo>
                    <a:pt x="2338228" y="335220"/>
                  </a:lnTo>
                  <a:lnTo>
                    <a:pt x="2360930" y="353975"/>
                  </a:lnTo>
                  <a:lnTo>
                    <a:pt x="2383631" y="371131"/>
                  </a:lnTo>
                  <a:lnTo>
                    <a:pt x="2406332" y="386571"/>
                  </a:lnTo>
                  <a:lnTo>
                    <a:pt x="2429033" y="400253"/>
                  </a:lnTo>
                  <a:lnTo>
                    <a:pt x="2451735" y="412194"/>
                  </a:lnTo>
                  <a:lnTo>
                    <a:pt x="2474436" y="422463"/>
                  </a:lnTo>
                  <a:lnTo>
                    <a:pt x="2497137" y="431167"/>
                  </a:lnTo>
                  <a:lnTo>
                    <a:pt x="2519838" y="438443"/>
                  </a:lnTo>
                  <a:lnTo>
                    <a:pt x="2542540" y="444441"/>
                  </a:lnTo>
                  <a:lnTo>
                    <a:pt x="2565241" y="449318"/>
                  </a:lnTo>
                  <a:lnTo>
                    <a:pt x="2587942" y="453230"/>
                  </a:lnTo>
                  <a:lnTo>
                    <a:pt x="2610643" y="456328"/>
                  </a:lnTo>
                  <a:lnTo>
                    <a:pt x="2633345" y="458749"/>
                  </a:lnTo>
                  <a:lnTo>
                    <a:pt x="2656046" y="460616"/>
                  </a:lnTo>
                  <a:lnTo>
                    <a:pt x="2678747" y="462037"/>
                  </a:lnTo>
                  <a:lnTo>
                    <a:pt x="2701448" y="463106"/>
                  </a:lnTo>
                  <a:lnTo>
                    <a:pt x="2724150" y="463899"/>
                  </a:lnTo>
                </a:path>
              </a:pathLst>
            </a:custGeom>
            <a:noFill/>
            <a:ln w="15875">
              <a:solidFill>
                <a:srgbClr val="65717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7" name="Editable traffic signal — schematic, not measured data"/>
          <p:cNvGrpSpPr/>
          <p:nvPr/>
        </p:nvGrpSpPr>
        <p:grpSpPr>
          <a:xfrm>
            <a:off x="0" y="-209550"/>
            <a:ext cx="0" cy="0"/>
            <a:chOff x="0" y="0"/>
            <a:chExt cx="0" cy="0"/>
          </a:xfrm>
        </p:grpSpPr>
        <p:sp>
          <p:nvSpPr>
            <p:cNvPr id="178" name="Historical signal"/>
            <p:cNvSpPr/>
            <p:nvPr/>
          </p:nvSpPr>
          <p:spPr>
            <a:xfrm>
              <a:off x="8486775" y="5753957"/>
              <a:ext cx="2724150" cy="465410"/>
            </a:xfrm>
            <a:custGeom>
              <a:avLst/>
              <a:gdLst/>
              <a:ahLst/>
              <a:cxnLst/>
              <a:rect l="l" t="t" r="r" b="b"/>
              <a:pathLst>
                <a:path w="2724150" h="465410">
                  <a:moveTo>
                    <a:pt x="0" y="465410"/>
                  </a:moveTo>
                  <a:lnTo>
                    <a:pt x="22701" y="465147"/>
                  </a:lnTo>
                  <a:lnTo>
                    <a:pt x="45402" y="464750"/>
                  </a:lnTo>
                  <a:lnTo>
                    <a:pt x="68103" y="464161"/>
                  </a:lnTo>
                  <a:lnTo>
                    <a:pt x="90805" y="463302"/>
                  </a:lnTo>
                  <a:lnTo>
                    <a:pt x="113506" y="462069"/>
                  </a:lnTo>
                  <a:lnTo>
                    <a:pt x="136207" y="460329"/>
                  </a:lnTo>
                  <a:lnTo>
                    <a:pt x="158908" y="457916"/>
                  </a:lnTo>
                  <a:lnTo>
                    <a:pt x="181610" y="454625"/>
                  </a:lnTo>
                  <a:lnTo>
                    <a:pt x="204311" y="450216"/>
                  </a:lnTo>
                  <a:lnTo>
                    <a:pt x="227012" y="444411"/>
                  </a:lnTo>
                  <a:lnTo>
                    <a:pt x="249713" y="436901"/>
                  </a:lnTo>
                  <a:lnTo>
                    <a:pt x="272415" y="427361"/>
                  </a:lnTo>
                  <a:lnTo>
                    <a:pt x="295116" y="415460"/>
                  </a:lnTo>
                  <a:lnTo>
                    <a:pt x="317817" y="400888"/>
                  </a:lnTo>
                  <a:lnTo>
                    <a:pt x="340518" y="383384"/>
                  </a:lnTo>
                  <a:lnTo>
                    <a:pt x="363220" y="362763"/>
                  </a:lnTo>
                  <a:lnTo>
                    <a:pt x="385921" y="338955"/>
                  </a:lnTo>
                  <a:lnTo>
                    <a:pt x="408622" y="312034"/>
                  </a:lnTo>
                  <a:lnTo>
                    <a:pt x="431323" y="282252"/>
                  </a:lnTo>
                  <a:lnTo>
                    <a:pt x="454025" y="250050"/>
                  </a:lnTo>
                  <a:lnTo>
                    <a:pt x="476726" y="216074"/>
                  </a:lnTo>
                  <a:lnTo>
                    <a:pt x="499427" y="181166"/>
                  </a:lnTo>
                  <a:lnTo>
                    <a:pt x="522128" y="146334"/>
                  </a:lnTo>
                  <a:lnTo>
                    <a:pt x="544830" y="112717"/>
                  </a:lnTo>
                  <a:lnTo>
                    <a:pt x="567531" y="81525"/>
                  </a:lnTo>
                  <a:lnTo>
                    <a:pt x="590232" y="53965"/>
                  </a:lnTo>
                  <a:lnTo>
                    <a:pt x="612933" y="31170"/>
                  </a:lnTo>
                  <a:lnTo>
                    <a:pt x="635635" y="14120"/>
                  </a:lnTo>
                  <a:lnTo>
                    <a:pt x="658336" y="3571"/>
                  </a:lnTo>
                  <a:lnTo>
                    <a:pt x="681037" y="0"/>
                  </a:lnTo>
                  <a:lnTo>
                    <a:pt x="703738" y="3571"/>
                  </a:lnTo>
                  <a:lnTo>
                    <a:pt x="726440" y="14120"/>
                  </a:lnTo>
                  <a:lnTo>
                    <a:pt x="749141" y="31170"/>
                  </a:lnTo>
                  <a:lnTo>
                    <a:pt x="771842" y="53965"/>
                  </a:lnTo>
                  <a:lnTo>
                    <a:pt x="794543" y="81525"/>
                  </a:lnTo>
                  <a:lnTo>
                    <a:pt x="817244" y="112717"/>
                  </a:lnTo>
                  <a:lnTo>
                    <a:pt x="839946" y="146334"/>
                  </a:lnTo>
                  <a:lnTo>
                    <a:pt x="862647" y="181166"/>
                  </a:lnTo>
                  <a:lnTo>
                    <a:pt x="885348" y="216074"/>
                  </a:lnTo>
                  <a:lnTo>
                    <a:pt x="908050" y="250050"/>
                  </a:lnTo>
                  <a:lnTo>
                    <a:pt x="930751" y="282251"/>
                  </a:lnTo>
                  <a:lnTo>
                    <a:pt x="953452" y="312034"/>
                  </a:lnTo>
                  <a:lnTo>
                    <a:pt x="976153" y="338953"/>
                  </a:lnTo>
                  <a:lnTo>
                    <a:pt x="998855" y="362761"/>
                  </a:lnTo>
                  <a:lnTo>
                    <a:pt x="1021556" y="383381"/>
                  </a:lnTo>
                  <a:lnTo>
                    <a:pt x="1044257" y="400883"/>
                  </a:lnTo>
                  <a:lnTo>
                    <a:pt x="1066958" y="415451"/>
                  </a:lnTo>
                  <a:lnTo>
                    <a:pt x="1089660" y="427347"/>
                  </a:lnTo>
                  <a:lnTo>
                    <a:pt x="1112361" y="436879"/>
                  </a:lnTo>
                  <a:lnTo>
                    <a:pt x="1135062" y="444375"/>
                  </a:lnTo>
                  <a:lnTo>
                    <a:pt x="1157763" y="450161"/>
                  </a:lnTo>
                  <a:lnTo>
                    <a:pt x="1180465" y="454539"/>
                  </a:lnTo>
                  <a:lnTo>
                    <a:pt x="1203166" y="457782"/>
                  </a:lnTo>
                  <a:lnTo>
                    <a:pt x="1225867" y="460126"/>
                  </a:lnTo>
                  <a:lnTo>
                    <a:pt x="1248568" y="461764"/>
                  </a:lnTo>
                  <a:lnTo>
                    <a:pt x="1271270" y="462849"/>
                  </a:lnTo>
                  <a:lnTo>
                    <a:pt x="1293971" y="463496"/>
                  </a:lnTo>
                  <a:lnTo>
                    <a:pt x="1316672" y="463784"/>
                  </a:lnTo>
                  <a:lnTo>
                    <a:pt x="1339373" y="463760"/>
                  </a:lnTo>
                  <a:lnTo>
                    <a:pt x="1362075" y="463441"/>
                  </a:lnTo>
                  <a:lnTo>
                    <a:pt x="1384776" y="462820"/>
                  </a:lnTo>
                  <a:lnTo>
                    <a:pt x="1407477" y="461861"/>
                  </a:lnTo>
                  <a:lnTo>
                    <a:pt x="1430178" y="460509"/>
                  </a:lnTo>
                  <a:lnTo>
                    <a:pt x="1452880" y="458685"/>
                  </a:lnTo>
                  <a:lnTo>
                    <a:pt x="1475581" y="456291"/>
                  </a:lnTo>
                  <a:lnTo>
                    <a:pt x="1498282" y="453209"/>
                  </a:lnTo>
                  <a:lnTo>
                    <a:pt x="1520983" y="449305"/>
                  </a:lnTo>
                  <a:lnTo>
                    <a:pt x="1543684" y="444434"/>
                  </a:lnTo>
                  <a:lnTo>
                    <a:pt x="1566386" y="438439"/>
                  </a:lnTo>
                  <a:lnTo>
                    <a:pt x="1589087" y="431165"/>
                  </a:lnTo>
                  <a:lnTo>
                    <a:pt x="1611788" y="422462"/>
                  </a:lnTo>
                  <a:lnTo>
                    <a:pt x="1634490" y="412193"/>
                  </a:lnTo>
                  <a:lnTo>
                    <a:pt x="1657191" y="400253"/>
                  </a:lnTo>
                  <a:lnTo>
                    <a:pt x="1679892" y="386571"/>
                  </a:lnTo>
                  <a:lnTo>
                    <a:pt x="1702593" y="371130"/>
                  </a:lnTo>
                  <a:lnTo>
                    <a:pt x="1725294" y="353975"/>
                  </a:lnTo>
                  <a:lnTo>
                    <a:pt x="1747996" y="335220"/>
                  </a:lnTo>
                  <a:lnTo>
                    <a:pt x="1770697" y="315064"/>
                  </a:lnTo>
                  <a:lnTo>
                    <a:pt x="1793398" y="293784"/>
                  </a:lnTo>
                  <a:lnTo>
                    <a:pt x="1816100" y="271742"/>
                  </a:lnTo>
                  <a:lnTo>
                    <a:pt x="1838801" y="249376"/>
                  </a:lnTo>
                  <a:lnTo>
                    <a:pt x="1861502" y="227189"/>
                  </a:lnTo>
                  <a:lnTo>
                    <a:pt x="1884203" y="205731"/>
                  </a:lnTo>
                  <a:lnTo>
                    <a:pt x="1906905" y="185580"/>
                  </a:lnTo>
                  <a:lnTo>
                    <a:pt x="1929606" y="167315"/>
                  </a:lnTo>
                  <a:lnTo>
                    <a:pt x="1952307" y="151489"/>
                  </a:lnTo>
                  <a:lnTo>
                    <a:pt x="1975008" y="138601"/>
                  </a:lnTo>
                  <a:lnTo>
                    <a:pt x="1997710" y="129074"/>
                  </a:lnTo>
                  <a:lnTo>
                    <a:pt x="2020411" y="123225"/>
                  </a:lnTo>
                  <a:lnTo>
                    <a:pt x="2043112" y="121253"/>
                  </a:lnTo>
                  <a:lnTo>
                    <a:pt x="2065813" y="123225"/>
                  </a:lnTo>
                  <a:lnTo>
                    <a:pt x="2088515" y="129074"/>
                  </a:lnTo>
                  <a:lnTo>
                    <a:pt x="2111216" y="138601"/>
                  </a:lnTo>
                  <a:lnTo>
                    <a:pt x="2133917" y="151489"/>
                  </a:lnTo>
                  <a:lnTo>
                    <a:pt x="2156618" y="167315"/>
                  </a:lnTo>
                  <a:lnTo>
                    <a:pt x="2179320" y="185580"/>
                  </a:lnTo>
                  <a:lnTo>
                    <a:pt x="2202021" y="205731"/>
                  </a:lnTo>
                  <a:lnTo>
                    <a:pt x="2224722" y="227189"/>
                  </a:lnTo>
                  <a:lnTo>
                    <a:pt x="2247423" y="249376"/>
                  </a:lnTo>
                  <a:lnTo>
                    <a:pt x="2270124" y="271742"/>
                  </a:lnTo>
                  <a:lnTo>
                    <a:pt x="2292826" y="293784"/>
                  </a:lnTo>
                  <a:lnTo>
                    <a:pt x="2315527" y="315064"/>
                  </a:lnTo>
                  <a:lnTo>
                    <a:pt x="2338228" y="335220"/>
                  </a:lnTo>
                  <a:lnTo>
                    <a:pt x="2360930" y="353975"/>
                  </a:lnTo>
                  <a:lnTo>
                    <a:pt x="2383631" y="371131"/>
                  </a:lnTo>
                  <a:lnTo>
                    <a:pt x="2406332" y="386571"/>
                  </a:lnTo>
                  <a:lnTo>
                    <a:pt x="2429033" y="400253"/>
                  </a:lnTo>
                  <a:lnTo>
                    <a:pt x="2451735" y="412194"/>
                  </a:lnTo>
                  <a:lnTo>
                    <a:pt x="2474436" y="422463"/>
                  </a:lnTo>
                  <a:lnTo>
                    <a:pt x="2497137" y="431167"/>
                  </a:lnTo>
                  <a:lnTo>
                    <a:pt x="2519838" y="438443"/>
                  </a:lnTo>
                  <a:lnTo>
                    <a:pt x="2542540" y="444441"/>
                  </a:lnTo>
                  <a:lnTo>
                    <a:pt x="2565241" y="449318"/>
                  </a:lnTo>
                  <a:lnTo>
                    <a:pt x="2587942" y="453230"/>
                  </a:lnTo>
                  <a:lnTo>
                    <a:pt x="2610643" y="456328"/>
                  </a:lnTo>
                  <a:lnTo>
                    <a:pt x="2633345" y="458749"/>
                  </a:lnTo>
                  <a:lnTo>
                    <a:pt x="2656046" y="460616"/>
                  </a:lnTo>
                  <a:lnTo>
                    <a:pt x="2678747" y="462037"/>
                  </a:lnTo>
                  <a:lnTo>
                    <a:pt x="2701448" y="463106"/>
                  </a:lnTo>
                  <a:lnTo>
                    <a:pt x="2724150" y="463899"/>
                  </a:lnTo>
                </a:path>
              </a:pathLst>
            </a:custGeom>
            <a:noFill/>
            <a:ln w="15875">
              <a:solidFill>
                <a:srgbClr val="65717D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Deployment signal"/>
            <p:cNvSpPr/>
            <p:nvPr/>
          </p:nvSpPr>
          <p:spPr>
            <a:xfrm>
              <a:off x="8486775" y="5753957"/>
              <a:ext cx="2724150" cy="465846"/>
            </a:xfrm>
            <a:custGeom>
              <a:avLst/>
              <a:gdLst/>
              <a:ahLst/>
              <a:cxnLst/>
              <a:rect l="l" t="t" r="r" b="b"/>
              <a:pathLst>
                <a:path w="2724150" h="465846">
                  <a:moveTo>
                    <a:pt x="0" y="465846"/>
                  </a:moveTo>
                  <a:lnTo>
                    <a:pt x="22701" y="465830"/>
                  </a:lnTo>
                  <a:lnTo>
                    <a:pt x="45402" y="465804"/>
                  </a:lnTo>
                  <a:lnTo>
                    <a:pt x="68103" y="465761"/>
                  </a:lnTo>
                  <a:lnTo>
                    <a:pt x="90805" y="465691"/>
                  </a:lnTo>
                  <a:lnTo>
                    <a:pt x="113506" y="465581"/>
                  </a:lnTo>
                  <a:lnTo>
                    <a:pt x="136207" y="465410"/>
                  </a:lnTo>
                  <a:lnTo>
                    <a:pt x="158908" y="465147"/>
                  </a:lnTo>
                  <a:lnTo>
                    <a:pt x="181610" y="464750"/>
                  </a:lnTo>
                  <a:lnTo>
                    <a:pt x="204311" y="464161"/>
                  </a:lnTo>
                  <a:lnTo>
                    <a:pt x="227012" y="463302"/>
                  </a:lnTo>
                  <a:lnTo>
                    <a:pt x="249713" y="462069"/>
                  </a:lnTo>
                  <a:lnTo>
                    <a:pt x="272415" y="460329"/>
                  </a:lnTo>
                  <a:lnTo>
                    <a:pt x="295116" y="457916"/>
                  </a:lnTo>
                  <a:lnTo>
                    <a:pt x="317817" y="454625"/>
                  </a:lnTo>
                  <a:lnTo>
                    <a:pt x="340518" y="450216"/>
                  </a:lnTo>
                  <a:lnTo>
                    <a:pt x="363220" y="444411"/>
                  </a:lnTo>
                  <a:lnTo>
                    <a:pt x="385921" y="436901"/>
                  </a:lnTo>
                  <a:lnTo>
                    <a:pt x="408622" y="427361"/>
                  </a:lnTo>
                  <a:lnTo>
                    <a:pt x="431323" y="415460"/>
                  </a:lnTo>
                  <a:lnTo>
                    <a:pt x="454025" y="400888"/>
                  </a:lnTo>
                  <a:lnTo>
                    <a:pt x="476726" y="383384"/>
                  </a:lnTo>
                  <a:lnTo>
                    <a:pt x="499427" y="362763"/>
                  </a:lnTo>
                  <a:lnTo>
                    <a:pt x="522128" y="338955"/>
                  </a:lnTo>
                  <a:lnTo>
                    <a:pt x="544830" y="312034"/>
                  </a:lnTo>
                  <a:lnTo>
                    <a:pt x="567531" y="282252"/>
                  </a:lnTo>
                  <a:lnTo>
                    <a:pt x="590232" y="250050"/>
                  </a:lnTo>
                  <a:lnTo>
                    <a:pt x="612933" y="216074"/>
                  </a:lnTo>
                  <a:lnTo>
                    <a:pt x="635635" y="181166"/>
                  </a:lnTo>
                  <a:lnTo>
                    <a:pt x="658336" y="146334"/>
                  </a:lnTo>
                  <a:lnTo>
                    <a:pt x="681037" y="112717"/>
                  </a:lnTo>
                  <a:lnTo>
                    <a:pt x="703738" y="81525"/>
                  </a:lnTo>
                  <a:lnTo>
                    <a:pt x="726440" y="53965"/>
                  </a:lnTo>
                  <a:lnTo>
                    <a:pt x="749141" y="31170"/>
                  </a:lnTo>
                  <a:lnTo>
                    <a:pt x="771842" y="14120"/>
                  </a:lnTo>
                  <a:lnTo>
                    <a:pt x="794543" y="3571"/>
                  </a:lnTo>
                  <a:lnTo>
                    <a:pt x="817244" y="0"/>
                  </a:lnTo>
                  <a:lnTo>
                    <a:pt x="839946" y="3571"/>
                  </a:lnTo>
                  <a:lnTo>
                    <a:pt x="862647" y="14120"/>
                  </a:lnTo>
                  <a:lnTo>
                    <a:pt x="885348" y="31170"/>
                  </a:lnTo>
                  <a:lnTo>
                    <a:pt x="908050" y="53965"/>
                  </a:lnTo>
                  <a:lnTo>
                    <a:pt x="930751" y="81525"/>
                  </a:lnTo>
                  <a:lnTo>
                    <a:pt x="953452" y="112717"/>
                  </a:lnTo>
                  <a:lnTo>
                    <a:pt x="976153" y="146334"/>
                  </a:lnTo>
                  <a:lnTo>
                    <a:pt x="998855" y="181165"/>
                  </a:lnTo>
                  <a:lnTo>
                    <a:pt x="1021556" y="216074"/>
                  </a:lnTo>
                  <a:lnTo>
                    <a:pt x="1044257" y="250049"/>
                  </a:lnTo>
                  <a:lnTo>
                    <a:pt x="1066958" y="282250"/>
                  </a:lnTo>
                  <a:lnTo>
                    <a:pt x="1089660" y="312032"/>
                  </a:lnTo>
                  <a:lnTo>
                    <a:pt x="1112361" y="338951"/>
                  </a:lnTo>
                  <a:lnTo>
                    <a:pt x="1135062" y="362756"/>
                  </a:lnTo>
                  <a:lnTo>
                    <a:pt x="1157763" y="383374"/>
                  </a:lnTo>
                  <a:lnTo>
                    <a:pt x="1180465" y="400872"/>
                  </a:lnTo>
                  <a:lnTo>
                    <a:pt x="1203166" y="415433"/>
                  </a:lnTo>
                  <a:lnTo>
                    <a:pt x="1225867" y="427318"/>
                  </a:lnTo>
                  <a:lnTo>
                    <a:pt x="1248568" y="436835"/>
                  </a:lnTo>
                  <a:lnTo>
                    <a:pt x="1271270" y="444308"/>
                  </a:lnTo>
                  <a:lnTo>
                    <a:pt x="1293971" y="450058"/>
                  </a:lnTo>
                  <a:lnTo>
                    <a:pt x="1316672" y="454386"/>
                  </a:lnTo>
                  <a:lnTo>
                    <a:pt x="1339373" y="457558"/>
                  </a:lnTo>
                  <a:lnTo>
                    <a:pt x="1362075" y="459800"/>
                  </a:lnTo>
                  <a:lnTo>
                    <a:pt x="1384776" y="461295"/>
                  </a:lnTo>
                  <a:lnTo>
                    <a:pt x="1407477" y="462184"/>
                  </a:lnTo>
                  <a:lnTo>
                    <a:pt x="1430178" y="462563"/>
                  </a:lnTo>
                  <a:lnTo>
                    <a:pt x="1452880" y="462493"/>
                  </a:lnTo>
                  <a:lnTo>
                    <a:pt x="1475581" y="461995"/>
                  </a:lnTo>
                  <a:lnTo>
                    <a:pt x="1498282" y="461058"/>
                  </a:lnTo>
                  <a:lnTo>
                    <a:pt x="1520983" y="459642"/>
                  </a:lnTo>
                  <a:lnTo>
                    <a:pt x="1543684" y="457677"/>
                  </a:lnTo>
                  <a:lnTo>
                    <a:pt x="1566386" y="455071"/>
                  </a:lnTo>
                  <a:lnTo>
                    <a:pt x="1589087" y="451707"/>
                  </a:lnTo>
                  <a:lnTo>
                    <a:pt x="1611788" y="447454"/>
                  </a:lnTo>
                  <a:lnTo>
                    <a:pt x="1634490" y="442163"/>
                  </a:lnTo>
                  <a:lnTo>
                    <a:pt x="1657191" y="435682"/>
                  </a:lnTo>
                  <a:lnTo>
                    <a:pt x="1679892" y="427858"/>
                  </a:lnTo>
                  <a:lnTo>
                    <a:pt x="1702593" y="418546"/>
                  </a:lnTo>
                  <a:lnTo>
                    <a:pt x="1725294" y="407621"/>
                  </a:lnTo>
                  <a:lnTo>
                    <a:pt x="1747996" y="394991"/>
                  </a:lnTo>
                  <a:lnTo>
                    <a:pt x="1770697" y="380605"/>
                  </a:lnTo>
                  <a:lnTo>
                    <a:pt x="1793398" y="364469"/>
                  </a:lnTo>
                  <a:lnTo>
                    <a:pt x="1816100" y="346656"/>
                  </a:lnTo>
                  <a:lnTo>
                    <a:pt x="1838801" y="327312"/>
                  </a:lnTo>
                  <a:lnTo>
                    <a:pt x="1861502" y="306668"/>
                  </a:lnTo>
                  <a:lnTo>
                    <a:pt x="1884203" y="285035"/>
                  </a:lnTo>
                  <a:lnTo>
                    <a:pt x="1906905" y="262808"/>
                  </a:lnTo>
                  <a:lnTo>
                    <a:pt x="1929606" y="240450"/>
                  </a:lnTo>
                  <a:lnTo>
                    <a:pt x="1952307" y="218487"/>
                  </a:lnTo>
                  <a:lnTo>
                    <a:pt x="1975008" y="197481"/>
                  </a:lnTo>
                  <a:lnTo>
                    <a:pt x="1997710" y="178016"/>
                  </a:lnTo>
                  <a:lnTo>
                    <a:pt x="2020411" y="160662"/>
                  </a:lnTo>
                  <a:lnTo>
                    <a:pt x="2043112" y="145955"/>
                  </a:lnTo>
                  <a:lnTo>
                    <a:pt x="2065813" y="134367"/>
                  </a:lnTo>
                  <a:lnTo>
                    <a:pt x="2088515" y="126279"/>
                  </a:lnTo>
                  <a:lnTo>
                    <a:pt x="2111216" y="121964"/>
                  </a:lnTo>
                  <a:lnTo>
                    <a:pt x="2133917" y="121569"/>
                  </a:lnTo>
                  <a:lnTo>
                    <a:pt x="2156618" y="125108"/>
                  </a:lnTo>
                  <a:lnTo>
                    <a:pt x="2179320" y="132459"/>
                  </a:lnTo>
                  <a:lnTo>
                    <a:pt x="2202021" y="143375"/>
                  </a:lnTo>
                  <a:lnTo>
                    <a:pt x="2224722" y="157493"/>
                  </a:lnTo>
                  <a:lnTo>
                    <a:pt x="2247423" y="174358"/>
                  </a:lnTo>
                  <a:lnTo>
                    <a:pt x="2270124" y="193447"/>
                  </a:lnTo>
                  <a:lnTo>
                    <a:pt x="2292826" y="214190"/>
                  </a:lnTo>
                  <a:lnTo>
                    <a:pt x="2315527" y="236008"/>
                  </a:lnTo>
                  <a:lnTo>
                    <a:pt x="2338228" y="258330"/>
                  </a:lnTo>
                  <a:lnTo>
                    <a:pt x="2360930" y="280624"/>
                  </a:lnTo>
                  <a:lnTo>
                    <a:pt x="2383631" y="302409"/>
                  </a:lnTo>
                  <a:lnTo>
                    <a:pt x="2406332" y="323279"/>
                  </a:lnTo>
                  <a:lnTo>
                    <a:pt x="2429033" y="342903"/>
                  </a:lnTo>
                  <a:lnTo>
                    <a:pt x="2451735" y="361037"/>
                  </a:lnTo>
                  <a:lnTo>
                    <a:pt x="2474436" y="377517"/>
                  </a:lnTo>
                  <a:lnTo>
                    <a:pt x="2497137" y="392255"/>
                  </a:lnTo>
                  <a:lnTo>
                    <a:pt x="2519838" y="405235"/>
                  </a:lnTo>
                  <a:lnTo>
                    <a:pt x="2542540" y="416497"/>
                  </a:lnTo>
                  <a:lnTo>
                    <a:pt x="2565241" y="426125"/>
                  </a:lnTo>
                  <a:lnTo>
                    <a:pt x="2587942" y="434241"/>
                  </a:lnTo>
                  <a:lnTo>
                    <a:pt x="2610643" y="440987"/>
                  </a:lnTo>
                  <a:lnTo>
                    <a:pt x="2633345" y="446517"/>
                  </a:lnTo>
                  <a:lnTo>
                    <a:pt x="2656046" y="450990"/>
                  </a:lnTo>
                  <a:lnTo>
                    <a:pt x="2678747" y="454559"/>
                  </a:lnTo>
                  <a:lnTo>
                    <a:pt x="2701448" y="457370"/>
                  </a:lnTo>
                  <a:lnTo>
                    <a:pt x="2724150" y="459556"/>
                  </a:lnTo>
                </a:path>
              </a:pathLst>
            </a:custGeom>
            <a:noFill/>
            <a:ln w="15875">
              <a:solidFill>
                <a:srgbClr val="126A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0" name="Released targets — native green tensor plates"/>
          <p:cNvGrpSpPr/>
          <p:nvPr/>
        </p:nvGrpSpPr>
        <p:grpSpPr>
          <a:xfrm>
            <a:off x="4314825" y="5410200"/>
            <a:ext cx="1905000" cy="647700"/>
            <a:chOff x="4314825" y="5619750"/>
            <a:chExt cx="1905000" cy="647700"/>
          </a:xfrm>
        </p:grpSpPr>
        <p:sp>
          <p:nvSpPr>
            <p:cNvPr id="181" name="released tensor layer 1 cell 1,1"/>
            <p:cNvSpPr/>
            <p:nvPr/>
          </p:nvSpPr>
          <p:spPr>
            <a:xfrm>
              <a:off x="4562475" y="5619750"/>
              <a:ext cx="276225" cy="228600"/>
            </a:xfrm>
            <a:prstGeom prst="rect">
              <a:avLst/>
            </a:prstGeom>
            <a:solidFill>
              <a:srgbClr val="E4EEE8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released tensor layer 1 cell 1,2"/>
            <p:cNvSpPr/>
            <p:nvPr/>
          </p:nvSpPr>
          <p:spPr>
            <a:xfrm>
              <a:off x="4838700" y="5619750"/>
              <a:ext cx="276225" cy="228600"/>
            </a:xfrm>
            <a:prstGeom prst="rect">
              <a:avLst/>
            </a:prstGeom>
            <a:solidFill>
              <a:srgbClr val="E4EEE8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released tensor layer 1 cell 1,3"/>
            <p:cNvSpPr/>
            <p:nvPr/>
          </p:nvSpPr>
          <p:spPr>
            <a:xfrm>
              <a:off x="5114925" y="5619750"/>
              <a:ext cx="276225" cy="228600"/>
            </a:xfrm>
            <a:prstGeom prst="rect">
              <a:avLst/>
            </a:prstGeom>
            <a:solidFill>
              <a:srgbClr val="E4EEE8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released tensor layer 1 cell 1,4"/>
            <p:cNvSpPr/>
            <p:nvPr/>
          </p:nvSpPr>
          <p:spPr>
            <a:xfrm>
              <a:off x="5391150" y="5619750"/>
              <a:ext cx="276225" cy="228600"/>
            </a:xfrm>
            <a:prstGeom prst="rect">
              <a:avLst/>
            </a:prstGeom>
            <a:solidFill>
              <a:srgbClr val="E4EEE8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released tensor layer 1 cell 1,5"/>
            <p:cNvSpPr/>
            <p:nvPr/>
          </p:nvSpPr>
          <p:spPr>
            <a:xfrm>
              <a:off x="5667375" y="5619750"/>
              <a:ext cx="276225" cy="228600"/>
            </a:xfrm>
            <a:prstGeom prst="rect">
              <a:avLst/>
            </a:prstGeom>
            <a:solidFill>
              <a:srgbClr val="E4EEE8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released tensor layer 1 cell 1,6"/>
            <p:cNvSpPr/>
            <p:nvPr/>
          </p:nvSpPr>
          <p:spPr>
            <a:xfrm>
              <a:off x="5943600" y="5619750"/>
              <a:ext cx="276225" cy="228600"/>
            </a:xfrm>
            <a:prstGeom prst="rect">
              <a:avLst/>
            </a:prstGeom>
            <a:solidFill>
              <a:srgbClr val="E4EEE8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released tensor layer 1 cell 2,1"/>
            <p:cNvSpPr/>
            <p:nvPr/>
          </p:nvSpPr>
          <p:spPr>
            <a:xfrm>
              <a:off x="4562475" y="5848350"/>
              <a:ext cx="276225" cy="228600"/>
            </a:xfrm>
            <a:prstGeom prst="rect">
              <a:avLst/>
            </a:prstGeom>
            <a:solidFill>
              <a:srgbClr val="E4EEE8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released tensor layer 1 cell 2,2"/>
            <p:cNvSpPr/>
            <p:nvPr/>
          </p:nvSpPr>
          <p:spPr>
            <a:xfrm>
              <a:off x="4838700" y="5848350"/>
              <a:ext cx="276225" cy="228600"/>
            </a:xfrm>
            <a:prstGeom prst="rect">
              <a:avLst/>
            </a:prstGeom>
            <a:solidFill>
              <a:srgbClr val="E4EEE8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released tensor layer 1 cell 2,3"/>
            <p:cNvSpPr/>
            <p:nvPr/>
          </p:nvSpPr>
          <p:spPr>
            <a:xfrm>
              <a:off x="5114925" y="5848350"/>
              <a:ext cx="276225" cy="228600"/>
            </a:xfrm>
            <a:prstGeom prst="rect">
              <a:avLst/>
            </a:prstGeom>
            <a:solidFill>
              <a:srgbClr val="E4EEE8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released tensor layer 1 cell 2,4"/>
            <p:cNvSpPr/>
            <p:nvPr/>
          </p:nvSpPr>
          <p:spPr>
            <a:xfrm>
              <a:off x="5391150" y="5848350"/>
              <a:ext cx="276225" cy="228600"/>
            </a:xfrm>
            <a:prstGeom prst="rect">
              <a:avLst/>
            </a:prstGeom>
            <a:solidFill>
              <a:srgbClr val="E4EEE8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released tensor layer 1 cell 2,5"/>
            <p:cNvSpPr/>
            <p:nvPr/>
          </p:nvSpPr>
          <p:spPr>
            <a:xfrm>
              <a:off x="5667375" y="5848350"/>
              <a:ext cx="276225" cy="228600"/>
            </a:xfrm>
            <a:prstGeom prst="rect">
              <a:avLst/>
            </a:prstGeom>
            <a:solidFill>
              <a:srgbClr val="E4EEE8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released tensor layer 1 cell 2,6"/>
            <p:cNvSpPr/>
            <p:nvPr/>
          </p:nvSpPr>
          <p:spPr>
            <a:xfrm>
              <a:off x="5943600" y="5848350"/>
              <a:ext cx="276225" cy="228600"/>
            </a:xfrm>
            <a:prstGeom prst="rect">
              <a:avLst/>
            </a:prstGeom>
            <a:solidFill>
              <a:srgbClr val="E4EEE8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released tensor layer 2 cell 1,1"/>
            <p:cNvSpPr/>
            <p:nvPr/>
          </p:nvSpPr>
          <p:spPr>
            <a:xfrm>
              <a:off x="4438650" y="5715000"/>
              <a:ext cx="276225" cy="228600"/>
            </a:xfrm>
            <a:prstGeom prst="rect">
              <a:avLst/>
            </a:prstGeom>
            <a:solidFill>
              <a:srgbClr val="D2E6D9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released tensor layer 2 cell 1,2"/>
            <p:cNvSpPr/>
            <p:nvPr/>
          </p:nvSpPr>
          <p:spPr>
            <a:xfrm>
              <a:off x="4714875" y="5715000"/>
              <a:ext cx="276225" cy="228600"/>
            </a:xfrm>
            <a:prstGeom prst="rect">
              <a:avLst/>
            </a:prstGeom>
            <a:solidFill>
              <a:srgbClr val="D2E6D9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released tensor layer 2 cell 1,3"/>
            <p:cNvSpPr/>
            <p:nvPr/>
          </p:nvSpPr>
          <p:spPr>
            <a:xfrm>
              <a:off x="4991100" y="5715000"/>
              <a:ext cx="276225" cy="228600"/>
            </a:xfrm>
            <a:prstGeom prst="rect">
              <a:avLst/>
            </a:prstGeom>
            <a:solidFill>
              <a:srgbClr val="D2E6D9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released tensor layer 2 cell 1,4"/>
            <p:cNvSpPr/>
            <p:nvPr/>
          </p:nvSpPr>
          <p:spPr>
            <a:xfrm>
              <a:off x="5267325" y="5715000"/>
              <a:ext cx="276225" cy="228600"/>
            </a:xfrm>
            <a:prstGeom prst="rect">
              <a:avLst/>
            </a:prstGeom>
            <a:solidFill>
              <a:srgbClr val="D2E6D9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released tensor layer 2 cell 1,5"/>
            <p:cNvSpPr/>
            <p:nvPr/>
          </p:nvSpPr>
          <p:spPr>
            <a:xfrm>
              <a:off x="5543550" y="5715000"/>
              <a:ext cx="276225" cy="228600"/>
            </a:xfrm>
            <a:prstGeom prst="rect">
              <a:avLst/>
            </a:prstGeom>
            <a:solidFill>
              <a:srgbClr val="D2E6D9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released tensor layer 2 cell 1,6"/>
            <p:cNvSpPr/>
            <p:nvPr/>
          </p:nvSpPr>
          <p:spPr>
            <a:xfrm>
              <a:off x="5819775" y="5715000"/>
              <a:ext cx="276225" cy="228600"/>
            </a:xfrm>
            <a:prstGeom prst="rect">
              <a:avLst/>
            </a:prstGeom>
            <a:solidFill>
              <a:srgbClr val="D2E6D9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released tensor layer 2 cell 2,1"/>
            <p:cNvSpPr/>
            <p:nvPr/>
          </p:nvSpPr>
          <p:spPr>
            <a:xfrm>
              <a:off x="4438650" y="5943600"/>
              <a:ext cx="276225" cy="228600"/>
            </a:xfrm>
            <a:prstGeom prst="rect">
              <a:avLst/>
            </a:prstGeom>
            <a:solidFill>
              <a:srgbClr val="D2E6D9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released tensor layer 2 cell 2,2"/>
            <p:cNvSpPr/>
            <p:nvPr/>
          </p:nvSpPr>
          <p:spPr>
            <a:xfrm>
              <a:off x="4714875" y="5943600"/>
              <a:ext cx="276225" cy="228600"/>
            </a:xfrm>
            <a:prstGeom prst="rect">
              <a:avLst/>
            </a:prstGeom>
            <a:solidFill>
              <a:srgbClr val="D2E6D9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released tensor layer 2 cell 2,3"/>
            <p:cNvSpPr/>
            <p:nvPr/>
          </p:nvSpPr>
          <p:spPr>
            <a:xfrm>
              <a:off x="4991100" y="5943600"/>
              <a:ext cx="276225" cy="228600"/>
            </a:xfrm>
            <a:prstGeom prst="rect">
              <a:avLst/>
            </a:prstGeom>
            <a:solidFill>
              <a:srgbClr val="D2E6D9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released tensor layer 2 cell 2,4"/>
            <p:cNvSpPr/>
            <p:nvPr/>
          </p:nvSpPr>
          <p:spPr>
            <a:xfrm>
              <a:off x="5267325" y="5943600"/>
              <a:ext cx="276225" cy="228600"/>
            </a:xfrm>
            <a:prstGeom prst="rect">
              <a:avLst/>
            </a:prstGeom>
            <a:solidFill>
              <a:srgbClr val="D2E6D9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released tensor layer 2 cell 2,5"/>
            <p:cNvSpPr/>
            <p:nvPr/>
          </p:nvSpPr>
          <p:spPr>
            <a:xfrm>
              <a:off x="5543550" y="5943600"/>
              <a:ext cx="276225" cy="228600"/>
            </a:xfrm>
            <a:prstGeom prst="rect">
              <a:avLst/>
            </a:prstGeom>
            <a:solidFill>
              <a:srgbClr val="D2E6D9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released tensor layer 2 cell 2,6"/>
            <p:cNvSpPr/>
            <p:nvPr/>
          </p:nvSpPr>
          <p:spPr>
            <a:xfrm>
              <a:off x="5819775" y="5943600"/>
              <a:ext cx="276225" cy="228600"/>
            </a:xfrm>
            <a:prstGeom prst="rect">
              <a:avLst/>
            </a:prstGeom>
            <a:solidFill>
              <a:srgbClr val="D2E6D9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released tensor layer 3 cell 1,1"/>
            <p:cNvSpPr/>
            <p:nvPr/>
          </p:nvSpPr>
          <p:spPr>
            <a:xfrm>
              <a:off x="4314825" y="5810250"/>
              <a:ext cx="276225" cy="228600"/>
            </a:xfrm>
            <a:prstGeom prst="rect">
              <a:avLst/>
            </a:prstGeom>
            <a:solidFill>
              <a:srgbClr val="B9DCC6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released tensor layer 3 cell 1,2"/>
            <p:cNvSpPr/>
            <p:nvPr/>
          </p:nvSpPr>
          <p:spPr>
            <a:xfrm>
              <a:off x="4591050" y="5810250"/>
              <a:ext cx="276225" cy="228600"/>
            </a:xfrm>
            <a:prstGeom prst="rect">
              <a:avLst/>
            </a:prstGeom>
            <a:solidFill>
              <a:srgbClr val="B9DCC6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released tensor layer 3 cell 1,3"/>
            <p:cNvSpPr/>
            <p:nvPr/>
          </p:nvSpPr>
          <p:spPr>
            <a:xfrm>
              <a:off x="4867275" y="5810250"/>
              <a:ext cx="276225" cy="228600"/>
            </a:xfrm>
            <a:prstGeom prst="rect">
              <a:avLst/>
            </a:prstGeom>
            <a:solidFill>
              <a:srgbClr val="B9DCC6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released tensor layer 3 cell 1,4"/>
            <p:cNvSpPr/>
            <p:nvPr/>
          </p:nvSpPr>
          <p:spPr>
            <a:xfrm>
              <a:off x="5143500" y="5810250"/>
              <a:ext cx="276225" cy="228600"/>
            </a:xfrm>
            <a:prstGeom prst="rect">
              <a:avLst/>
            </a:prstGeom>
            <a:solidFill>
              <a:srgbClr val="B9DCC6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released tensor layer 3 cell 1,5"/>
            <p:cNvSpPr/>
            <p:nvPr/>
          </p:nvSpPr>
          <p:spPr>
            <a:xfrm>
              <a:off x="5419725" y="5810250"/>
              <a:ext cx="276225" cy="228600"/>
            </a:xfrm>
            <a:prstGeom prst="rect">
              <a:avLst/>
            </a:prstGeom>
            <a:solidFill>
              <a:srgbClr val="B9DCC6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released tensor layer 3 cell 1,6"/>
            <p:cNvSpPr/>
            <p:nvPr/>
          </p:nvSpPr>
          <p:spPr>
            <a:xfrm>
              <a:off x="5695950" y="5810250"/>
              <a:ext cx="276225" cy="228600"/>
            </a:xfrm>
            <a:prstGeom prst="rect">
              <a:avLst/>
            </a:prstGeom>
            <a:solidFill>
              <a:srgbClr val="B9DCC6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released tensor layer 3 cell 2,1"/>
            <p:cNvSpPr/>
            <p:nvPr/>
          </p:nvSpPr>
          <p:spPr>
            <a:xfrm>
              <a:off x="4314825" y="6038850"/>
              <a:ext cx="276225" cy="228600"/>
            </a:xfrm>
            <a:prstGeom prst="rect">
              <a:avLst/>
            </a:prstGeom>
            <a:solidFill>
              <a:srgbClr val="B9DCC6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released tensor layer 3 cell 2,2"/>
            <p:cNvSpPr/>
            <p:nvPr/>
          </p:nvSpPr>
          <p:spPr>
            <a:xfrm>
              <a:off x="4591050" y="6038850"/>
              <a:ext cx="276225" cy="228600"/>
            </a:xfrm>
            <a:prstGeom prst="rect">
              <a:avLst/>
            </a:prstGeom>
            <a:solidFill>
              <a:srgbClr val="B9DCC6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released tensor layer 3 cell 2,3"/>
            <p:cNvSpPr/>
            <p:nvPr/>
          </p:nvSpPr>
          <p:spPr>
            <a:xfrm>
              <a:off x="4867275" y="6038850"/>
              <a:ext cx="276225" cy="228600"/>
            </a:xfrm>
            <a:prstGeom prst="rect">
              <a:avLst/>
            </a:prstGeom>
            <a:solidFill>
              <a:srgbClr val="B9DCC6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released tensor layer 3 cell 2,4"/>
            <p:cNvSpPr/>
            <p:nvPr/>
          </p:nvSpPr>
          <p:spPr>
            <a:xfrm>
              <a:off x="5143500" y="6038850"/>
              <a:ext cx="276225" cy="228600"/>
            </a:xfrm>
            <a:prstGeom prst="rect">
              <a:avLst/>
            </a:prstGeom>
            <a:solidFill>
              <a:srgbClr val="B9DCC6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released tensor layer 3 cell 2,5"/>
            <p:cNvSpPr/>
            <p:nvPr/>
          </p:nvSpPr>
          <p:spPr>
            <a:xfrm>
              <a:off x="5419725" y="6038850"/>
              <a:ext cx="276225" cy="228600"/>
            </a:xfrm>
            <a:prstGeom prst="rect">
              <a:avLst/>
            </a:prstGeom>
            <a:solidFill>
              <a:srgbClr val="B9DCC6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released tensor layer 3 cell 2,6"/>
            <p:cNvSpPr/>
            <p:nvPr/>
          </p:nvSpPr>
          <p:spPr>
            <a:xfrm>
              <a:off x="5695950" y="6038850"/>
              <a:ext cx="276225" cy="228600"/>
            </a:xfrm>
            <a:prstGeom prst="rect">
              <a:avLst/>
            </a:prstGeom>
            <a:solidFill>
              <a:srgbClr val="B9DCC6"/>
            </a:solidFill>
            <a:ln w="7620">
              <a:solidFill>
                <a:srgbClr val="779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7" name="Delayed targets — released green, pending amber"/>
          <p:cNvGrpSpPr/>
          <p:nvPr/>
        </p:nvGrpSpPr>
        <p:grpSpPr>
          <a:xfrm>
            <a:off x="11944350" y="5553075"/>
            <a:ext cx="2133600" cy="400050"/>
            <a:chOff x="11944350" y="5762625"/>
            <a:chExt cx="2133600" cy="400050"/>
          </a:xfrm>
        </p:grpSpPr>
        <p:sp>
          <p:nvSpPr>
            <p:cNvPr id="218" name="Released target"/>
            <p:cNvSpPr/>
            <p:nvPr/>
          </p:nvSpPr>
          <p:spPr>
            <a:xfrm>
              <a:off x="11944350" y="5762625"/>
              <a:ext cx="381000" cy="400050"/>
            </a:xfrm>
            <a:prstGeom prst="rect">
              <a:avLst/>
            </a:prstGeom>
            <a:solidFill>
              <a:srgbClr val="C5E1CF"/>
            </a:solidFill>
            <a:ln w="7620">
              <a:solidFill>
                <a:srgbClr val="7AA8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Released target"/>
            <p:cNvSpPr/>
            <p:nvPr/>
          </p:nvSpPr>
          <p:spPr>
            <a:xfrm>
              <a:off x="12382500" y="5762625"/>
              <a:ext cx="381000" cy="400050"/>
            </a:xfrm>
            <a:prstGeom prst="rect">
              <a:avLst/>
            </a:prstGeom>
            <a:solidFill>
              <a:srgbClr val="C5E1CF"/>
            </a:solidFill>
            <a:ln w="7620">
              <a:solidFill>
                <a:srgbClr val="7AA8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Pending target"/>
            <p:cNvSpPr/>
            <p:nvPr/>
          </p:nvSpPr>
          <p:spPr>
            <a:xfrm>
              <a:off x="12820650" y="5762625"/>
              <a:ext cx="381000" cy="400050"/>
            </a:xfrm>
            <a:prstGeom prst="rect">
              <a:avLst/>
            </a:prstGeom>
            <a:solidFill>
              <a:srgbClr val="F1D7A5"/>
            </a:solidFill>
            <a:ln w="7620">
              <a:solidFill>
                <a:srgbClr val="B99A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1" name="Unavailable-label dash"/>
            <p:cNvCxnSpPr/>
            <p:nvPr/>
          </p:nvCxnSpPr>
          <p:spPr>
            <a:xfrm>
              <a:off x="12944475" y="5962650"/>
              <a:ext cx="133350" cy="0"/>
            </a:xfrm>
            <a:prstGeom prst="line">
              <a:avLst/>
            </a:prstGeom>
            <a:ln w="13334">
              <a:solidFill>
                <a:srgbClr val="9C7F4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Pending target"/>
            <p:cNvSpPr/>
            <p:nvPr/>
          </p:nvSpPr>
          <p:spPr>
            <a:xfrm>
              <a:off x="13258800" y="5762625"/>
              <a:ext cx="381000" cy="400050"/>
            </a:xfrm>
            <a:prstGeom prst="rect">
              <a:avLst/>
            </a:prstGeom>
            <a:solidFill>
              <a:srgbClr val="F1D7A5"/>
            </a:solidFill>
            <a:ln w="7620">
              <a:solidFill>
                <a:srgbClr val="B99A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3" name="Unavailable-label dash"/>
            <p:cNvCxnSpPr/>
            <p:nvPr/>
          </p:nvCxnSpPr>
          <p:spPr>
            <a:xfrm>
              <a:off x="13382625" y="5962650"/>
              <a:ext cx="133350" cy="0"/>
            </a:xfrm>
            <a:prstGeom prst="line">
              <a:avLst/>
            </a:prstGeom>
            <a:ln w="13334">
              <a:solidFill>
                <a:srgbClr val="9C7F4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4" name="Pending target"/>
            <p:cNvSpPr/>
            <p:nvPr/>
          </p:nvSpPr>
          <p:spPr>
            <a:xfrm>
              <a:off x="13696950" y="5762625"/>
              <a:ext cx="381000" cy="400050"/>
            </a:xfrm>
            <a:prstGeom prst="rect">
              <a:avLst/>
            </a:prstGeom>
            <a:solidFill>
              <a:srgbClr val="F1D7A5"/>
            </a:solidFill>
            <a:ln w="7620">
              <a:solidFill>
                <a:srgbClr val="B99A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5" name="Unavailable-label dash"/>
            <p:cNvCxnSpPr/>
            <p:nvPr/>
          </p:nvCxnSpPr>
          <p:spPr>
            <a:xfrm>
              <a:off x="13820775" y="5962650"/>
              <a:ext cx="133350" cy="0"/>
            </a:xfrm>
            <a:prstGeom prst="line">
              <a:avLst/>
            </a:prstGeom>
            <a:ln w="13334">
              <a:solidFill>
                <a:srgbClr val="9C7F4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6" name="Native delayed-feedback clock"/>
          <p:cNvGrpSpPr/>
          <p:nvPr/>
        </p:nvGrpSpPr>
        <p:grpSpPr>
          <a:xfrm>
            <a:off x="14311312" y="5586412"/>
            <a:ext cx="333375" cy="333375"/>
            <a:chOff x="14311312" y="5795962"/>
            <a:chExt cx="333375" cy="333375"/>
          </a:xfrm>
        </p:grpSpPr>
        <p:sp>
          <p:nvSpPr>
            <p:cNvPr id="227" name="Oval 226"/>
            <p:cNvSpPr/>
            <p:nvPr/>
          </p:nvSpPr>
          <p:spPr>
            <a:xfrm>
              <a:off x="14311312" y="5795962"/>
              <a:ext cx="333375" cy="333375"/>
            </a:xfrm>
            <a:prstGeom prst="ellipse">
              <a:avLst/>
            </a:prstGeom>
            <a:solidFill>
              <a:srgbClr val="FFFFFF"/>
            </a:solidFill>
            <a:ln w="11429">
              <a:solidFill>
                <a:srgbClr val="6676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8" name="Clock tick"/>
            <p:cNvCxnSpPr/>
            <p:nvPr/>
          </p:nvCxnSpPr>
          <p:spPr>
            <a:xfrm flipV="1">
              <a:off x="14478000" y="5808345"/>
              <a:ext cx="0" cy="20955"/>
            </a:xfrm>
            <a:prstGeom prst="line">
              <a:avLst/>
            </a:prstGeom>
            <a:ln w="6985">
              <a:solidFill>
                <a:srgbClr val="66766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lock tick"/>
            <p:cNvCxnSpPr/>
            <p:nvPr/>
          </p:nvCxnSpPr>
          <p:spPr>
            <a:xfrm flipV="1">
              <a:off x="14544675" y="5829017"/>
              <a:ext cx="10477" cy="18148"/>
            </a:xfrm>
            <a:prstGeom prst="line">
              <a:avLst/>
            </a:prstGeom>
            <a:ln w="6985">
              <a:solidFill>
                <a:srgbClr val="66766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lock tick"/>
            <p:cNvCxnSpPr/>
            <p:nvPr/>
          </p:nvCxnSpPr>
          <p:spPr>
            <a:xfrm flipV="1">
              <a:off x="14593484" y="5885497"/>
              <a:ext cx="18148" cy="10478"/>
            </a:xfrm>
            <a:prstGeom prst="line">
              <a:avLst/>
            </a:prstGeom>
            <a:ln w="6985">
              <a:solidFill>
                <a:srgbClr val="66766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lock tick"/>
            <p:cNvCxnSpPr/>
            <p:nvPr/>
          </p:nvCxnSpPr>
          <p:spPr>
            <a:xfrm>
              <a:off x="14611350" y="5962650"/>
              <a:ext cx="20955" cy="0"/>
            </a:xfrm>
            <a:prstGeom prst="line">
              <a:avLst/>
            </a:prstGeom>
            <a:ln w="6985">
              <a:solidFill>
                <a:srgbClr val="66766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lock tick"/>
            <p:cNvCxnSpPr/>
            <p:nvPr/>
          </p:nvCxnSpPr>
          <p:spPr>
            <a:xfrm>
              <a:off x="14593484" y="6029325"/>
              <a:ext cx="18148" cy="10477"/>
            </a:xfrm>
            <a:prstGeom prst="line">
              <a:avLst/>
            </a:prstGeom>
            <a:ln w="6985">
              <a:solidFill>
                <a:srgbClr val="66766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lock tick"/>
            <p:cNvCxnSpPr/>
            <p:nvPr/>
          </p:nvCxnSpPr>
          <p:spPr>
            <a:xfrm>
              <a:off x="14544675" y="6078134"/>
              <a:ext cx="10477" cy="18148"/>
            </a:xfrm>
            <a:prstGeom prst="line">
              <a:avLst/>
            </a:prstGeom>
            <a:ln w="6985">
              <a:solidFill>
                <a:srgbClr val="66766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lock tick"/>
            <p:cNvCxnSpPr/>
            <p:nvPr/>
          </p:nvCxnSpPr>
          <p:spPr>
            <a:xfrm>
              <a:off x="14478000" y="6096000"/>
              <a:ext cx="0" cy="20955"/>
            </a:xfrm>
            <a:prstGeom prst="line">
              <a:avLst/>
            </a:prstGeom>
            <a:ln w="6985">
              <a:solidFill>
                <a:srgbClr val="66766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lock tick"/>
            <p:cNvCxnSpPr/>
            <p:nvPr/>
          </p:nvCxnSpPr>
          <p:spPr>
            <a:xfrm flipH="1">
              <a:off x="14400847" y="6078134"/>
              <a:ext cx="10478" cy="18148"/>
            </a:xfrm>
            <a:prstGeom prst="line">
              <a:avLst/>
            </a:prstGeom>
            <a:ln w="6985">
              <a:solidFill>
                <a:srgbClr val="66766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lock tick"/>
            <p:cNvCxnSpPr/>
            <p:nvPr/>
          </p:nvCxnSpPr>
          <p:spPr>
            <a:xfrm flipH="1">
              <a:off x="14344367" y="6029325"/>
              <a:ext cx="18148" cy="10477"/>
            </a:xfrm>
            <a:prstGeom prst="line">
              <a:avLst/>
            </a:prstGeom>
            <a:ln w="6985">
              <a:solidFill>
                <a:srgbClr val="66766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lock tick"/>
            <p:cNvCxnSpPr/>
            <p:nvPr/>
          </p:nvCxnSpPr>
          <p:spPr>
            <a:xfrm flipH="1">
              <a:off x="14323695" y="5962650"/>
              <a:ext cx="20955" cy="0"/>
            </a:xfrm>
            <a:prstGeom prst="line">
              <a:avLst/>
            </a:prstGeom>
            <a:ln w="6985">
              <a:solidFill>
                <a:srgbClr val="66766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lock tick"/>
            <p:cNvCxnSpPr/>
            <p:nvPr/>
          </p:nvCxnSpPr>
          <p:spPr>
            <a:xfrm flipH="1" flipV="1">
              <a:off x="14344367" y="5885497"/>
              <a:ext cx="18148" cy="10478"/>
            </a:xfrm>
            <a:prstGeom prst="line">
              <a:avLst/>
            </a:prstGeom>
            <a:ln w="6985">
              <a:solidFill>
                <a:srgbClr val="66766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lock tick"/>
            <p:cNvCxnSpPr/>
            <p:nvPr/>
          </p:nvCxnSpPr>
          <p:spPr>
            <a:xfrm flipH="1" flipV="1">
              <a:off x="14400847" y="5829017"/>
              <a:ext cx="10478" cy="18148"/>
            </a:xfrm>
            <a:prstGeom prst="line">
              <a:avLst/>
            </a:prstGeom>
            <a:ln w="6985">
              <a:solidFill>
                <a:srgbClr val="66766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lock hand"/>
            <p:cNvCxnSpPr/>
            <p:nvPr/>
          </p:nvCxnSpPr>
          <p:spPr>
            <a:xfrm flipV="1">
              <a:off x="14478000" y="5857875"/>
              <a:ext cx="0" cy="104775"/>
            </a:xfrm>
            <a:prstGeom prst="line">
              <a:avLst/>
            </a:prstGeom>
            <a:ln w="12382">
              <a:solidFill>
                <a:srgbClr val="51615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lock hand"/>
            <p:cNvCxnSpPr/>
            <p:nvPr/>
          </p:nvCxnSpPr>
          <p:spPr>
            <a:xfrm>
              <a:off x="14478000" y="5962650"/>
              <a:ext cx="95250" cy="0"/>
            </a:xfrm>
            <a:prstGeom prst="line">
              <a:avLst/>
            </a:prstGeom>
            <a:ln w="12382">
              <a:solidFill>
                <a:srgbClr val="51615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2" name="Supervision available"/>
          <p:cNvSpPr txBox="1"/>
          <p:nvPr/>
        </p:nvSpPr>
        <p:spPr>
          <a:xfrm>
            <a:off x="628650" y="6467475"/>
            <a:ext cx="6115050" cy="40862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defRPr sz="1950" b="0">
                <a:solidFill>
                  <a:srgbClr val="59675F"/>
                </a:solidFill>
                <a:latin typeface="Times New Roman"/>
              </a:defRPr>
            </a:pPr>
            <a:r>
              <a:t>Supervision available</a:t>
            </a:r>
          </a:p>
        </p:txBody>
      </p:sp>
      <p:sp>
        <p:nvSpPr>
          <p:cNvPr id="243" name="Predict before the new feedback arrives"/>
          <p:cNvSpPr txBox="1"/>
          <p:nvPr/>
        </p:nvSpPr>
        <p:spPr>
          <a:xfrm>
            <a:off x="8467725" y="6467475"/>
            <a:ext cx="6115050" cy="40862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defRPr sz="1950" b="0">
                <a:solidFill>
                  <a:srgbClr val="59675F"/>
                </a:solidFill>
                <a:latin typeface="Times New Roman"/>
              </a:defRPr>
            </a:pPr>
            <a:r>
              <a:t>Predict before the new feedback arrives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H7 · WWW green-gray palette</dc:title>
  <dc:subject>H7 topology and enlarged nodes; WWW-inspired green-gray palette, all native vectors</dc:subject>
  <dc:creator/>
  <cp:keywords/>
  <dc:description>Schematic illustration, not measured experimental curves. Native vectors replace the previous bitmap components to allow full PowerPoint editing.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